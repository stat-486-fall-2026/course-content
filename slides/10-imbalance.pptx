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20"/>
  </p:notesMasterIdLst>
  <p:sldIdLst>
    <p:sldId id="256" r:id="rId2"/>
    <p:sldId id="259" r:id="rId3"/>
    <p:sldId id="260" r:id="rId4"/>
    <p:sldId id="261" r:id="rId5"/>
    <p:sldId id="262" r:id="rId6"/>
    <p:sldId id="263" r:id="rId7"/>
    <p:sldId id="264" r:id="rId8"/>
    <p:sldId id="265" r:id="rId9"/>
    <p:sldId id="266" r:id="rId10"/>
    <p:sldId id="275" r:id="rId11"/>
    <p:sldId id="272" r:id="rId12"/>
    <p:sldId id="267" r:id="rId13"/>
    <p:sldId id="268" r:id="rId14"/>
    <p:sldId id="273" r:id="rId15"/>
    <p:sldId id="269" r:id="rId16"/>
    <p:sldId id="270" r:id="rId17"/>
    <p:sldId id="274"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139" d="100"/>
          <a:sy n="139" d="100"/>
        </p:scale>
        <p:origin x="100" y="5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9353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Class imbalance occurs when one class is much less frequent than another.</a:t>
            </a:r>
            <a:r>
              <a:rPr lang="en-US"/>
              <a:t> Minority outcomes can include </a:t>
            </a:r>
            <a:r>
              <a:t>fraud, equipment failure, positive medical </a:t>
            </a:r>
            <a:r>
              <a:rPr lang="en-US"/>
              <a:t>screens</a:t>
            </a:r>
            <a:r>
              <a:t>, or security </a:t>
            </a:r>
            <a:r>
              <a:rPr lang="en-US"/>
              <a:t>intrusions</a:t>
            </a:r>
            <a:r>
              <a:t>. Imbalance is a property of the data-generating process. The modeling challenge is useful minority-class behavior without distorting deployment.</a:t>
            </a:r>
            <a:r>
              <a:rPr lang="en-US"/>
              <a:t> Ask students about </a:t>
            </a:r>
            <a:r>
              <a:t>the </a:t>
            </a:r>
            <a:r>
              <a:rPr lang="en-US"/>
              <a:t>consequences </a:t>
            </a:r>
            <a:r>
              <a:t>of </a:t>
            </a:r>
            <a:r>
              <a:rPr lang="en-US"/>
              <a:t>false negatives </a:t>
            </a:r>
            <a:r>
              <a:t>versus false </a:t>
            </a:r>
            <a:r>
              <a:rPr lang="en-US"/>
              <a:t>positives. The suggested </a:t>
            </a:r>
            <a:r>
              <a:t>prevalences</a:t>
            </a:r>
            <a:r>
              <a:rPr lang="en-US"/>
              <a:t> in the source are illustrative examples, not universal empirical rates.</a:t>
            </a:r>
            <a:endParaRPr/>
          </a:p>
          <a:p>
            <a:endParaRPr/>
          </a:p>
          <a:p>
            <a:r>
              <a:t>[Sources]</a:t>
            </a:r>
          </a:p>
          <a:p>
            <a:r>
              <a:t>User-provided class_imbalance_slide_content.md, </a:t>
            </a:r>
            <a:r>
              <a:rPr lang="en-US"/>
              <a:t>Slide </a:t>
            </a:r>
            <a:r>
              <a:t>1.</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 hypothetical dataset with </a:t>
            </a:r>
            <a:r>
              <a:t>95% negative cases</a:t>
            </a:r>
            <a:r>
              <a:rPr lang="en-US"/>
              <a:t> gives an always-negative </a:t>
            </a:r>
            <a:r>
              <a:t>classifier 95% accuracy</a:t>
            </a:r>
            <a:r>
              <a:rPr lang="en-US"/>
              <a:t> and </a:t>
            </a:r>
            <a:r>
              <a:t>0% positive </a:t>
            </a:r>
            <a:r>
              <a:rPr lang="en-US"/>
              <a:t>recall</a:t>
            </a:r>
            <a:r>
              <a:t>.</a:t>
            </a:r>
            <a:r>
              <a:rPr lang="en-US"/>
              <a:t> Accuracy </a:t>
            </a:r>
            <a:r>
              <a:t>averages over classes according to prevalence.</a:t>
            </a:r>
            <a:r>
              <a:rPr lang="en-US"/>
              <a:t> Choose </a:t>
            </a:r>
            <a:r>
              <a:t>minority recall, precision, F1, balanced accuracy, PR-AUC, ROC-AUC, expected cost, or a domain-specific operating point. A useful ranking </a:t>
            </a:r>
            <a:r>
              <a:rPr lang="en-US"/>
              <a:t>can </a:t>
            </a:r>
            <a:r>
              <a:t>still </a:t>
            </a:r>
            <a:r>
              <a:rPr lang="en-US"/>
              <a:t>need </a:t>
            </a:r>
            <a:r>
              <a:t>threshold adjustment. The supplied </a:t>
            </a:r>
            <a:r>
              <a:rPr lang="en-US"/>
              <a:t>image is a separate illustrative example with </a:t>
            </a:r>
            <a:r>
              <a:t>6.2% minority prevalence</a:t>
            </a:r>
            <a:r>
              <a:rPr lang="en-US"/>
              <a:t> and baseline accuracy rounded to 0.94</a:t>
            </a:r>
            <a:r>
              <a:t>. </a:t>
            </a:r>
            <a:r>
              <a:rPr lang="en-US"/>
              <a:t>Precision </a:t>
            </a:r>
            <a:r>
              <a:t>is undefined when </a:t>
            </a:r>
            <a:r>
              <a:rPr lang="en-US"/>
              <a:t>there are </a:t>
            </a:r>
            <a:r>
              <a:t>no positive predictions; the supplied </a:t>
            </a:r>
            <a:r>
              <a:rPr lang="en-US"/>
              <a:t>figure </a:t>
            </a:r>
            <a:r>
              <a:t>records zero by convention.</a:t>
            </a:r>
          </a:p>
          <a:p>
            <a:endParaRPr lang="en-US"/>
          </a:p>
          <a:p>
            <a:r>
              <a:t>[Sources]</a:t>
            </a:r>
          </a:p>
          <a:p>
            <a:r>
              <a:t>User-provided class_imbalance_slide_content.md, </a:t>
            </a:r>
            <a:r>
              <a:rPr lang="en-US"/>
              <a:t>Slide </a:t>
            </a:r>
            <a:r>
              <a:t>2.</a:t>
            </a:r>
          </a:p>
          <a:p>
            <a:r>
              <a:rPr lang="en-US"/>
              <a:t>User-provided </a:t>
            </a:r>
            <a:r>
              <a:t>01_accuracy_can_mislead.png.</a:t>
            </a:r>
            <a:endParaRPr lang="en-US"/>
          </a:p>
          <a:p>
            <a:r>
              <a:rPr lang="en-US"/>
              <a:t>[/Sources]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Distinguish original, training, and deployment distributions. </a:t>
            </a:r>
            <a:r>
              <a:t>Original </a:t>
            </a:r>
            <a:r>
              <a:rPr lang="en-US"/>
              <a:t>means </a:t>
            </a:r>
            <a:r>
              <a:t>observed class prevalence and feature distribution before intervention.</a:t>
            </a:r>
            <a:r>
              <a:rPr lang="en-US"/>
              <a:t> </a:t>
            </a:r>
            <a:r>
              <a:t>Training </a:t>
            </a:r>
            <a:r>
              <a:rPr lang="en-US"/>
              <a:t>means </a:t>
            </a:r>
            <a:r>
              <a:t>the </a:t>
            </a:r>
            <a:r>
              <a:rPr lang="en-US"/>
              <a:t>rows and weights </a:t>
            </a:r>
            <a:r>
              <a:t>after weighting, undersampling, oversampling, or synthesis.</a:t>
            </a:r>
            <a:r>
              <a:rPr lang="en-US"/>
              <a:t> </a:t>
            </a:r>
            <a:r>
              <a:t>Deployment </a:t>
            </a:r>
            <a:r>
              <a:rPr lang="en-US"/>
              <a:t>means </a:t>
            </a:r>
            <a:r>
              <a:t>the cases and prevalence encountered </a:t>
            </a:r>
            <a:r>
              <a:rPr lang="en-US"/>
              <a:t>in use</a:t>
            </a:r>
            <a:r>
              <a:t>. Resampling changes the training distribution</a:t>
            </a:r>
            <a:r>
              <a:rPr lang="en-US"/>
              <a:t>, </a:t>
            </a:r>
            <a:r>
              <a:t>not</a:t>
            </a:r>
            <a:r>
              <a:rPr lang="en-US"/>
              <a:t> real-world prevalence</a:t>
            </a:r>
            <a:r>
              <a:t>.</a:t>
            </a:r>
            <a:r>
              <a:rPr lang="en-US"/>
              <a:t> Preserve </a:t>
            </a:r>
            <a:r>
              <a:t>the expected deployment distribution </a:t>
            </a:r>
            <a:r>
              <a:rPr lang="en-US"/>
              <a:t>in a held-out test set</a:t>
            </a:r>
            <a:r>
              <a:t>. </a:t>
            </a:r>
            <a:r>
              <a:rPr lang="en-US"/>
              <a:t>When</a:t>
            </a:r>
            <a:r>
              <a:t> training prevalence </a:t>
            </a:r>
            <a:r>
              <a:rPr lang="en-US"/>
              <a:t>changes </a:t>
            </a:r>
            <a:r>
              <a:t>substantially, raw predicted probabilities may </a:t>
            </a:r>
            <a:r>
              <a:rPr lang="en-US"/>
              <a:t>require </a:t>
            </a:r>
            <a:r>
              <a:t>calibration</a:t>
            </a:r>
            <a:r>
              <a:rPr lang="en-US"/>
              <a:t>,</a:t>
            </a:r>
            <a:r>
              <a:t> or a threshold </a:t>
            </a:r>
            <a:r>
              <a:rPr lang="en-US"/>
              <a:t>selected </a:t>
            </a:r>
            <a:r>
              <a:t>on validation data </a:t>
            </a:r>
            <a:r>
              <a:rPr lang="en-US"/>
              <a:t>that reflect </a:t>
            </a:r>
            <a:r>
              <a:t>deployment prevalence. </a:t>
            </a:r>
            <a:r>
              <a:rPr lang="en-US"/>
              <a:t>The supplied </a:t>
            </a:r>
            <a:r>
              <a:t>class-count </a:t>
            </a:r>
            <a:r>
              <a:rPr lang="en-US"/>
              <a:t>image is illustrative</a:t>
            </a:r>
            <a:r>
              <a:t>.</a:t>
            </a:r>
          </a:p>
          <a:p>
            <a:endParaRPr/>
          </a:p>
          <a:p>
            <a:r>
              <a:t>[Sources]</a:t>
            </a:r>
          </a:p>
          <a:p>
            <a:r>
              <a:t>User-provided class_imbalance_slide_content.md, </a:t>
            </a:r>
            <a:r>
              <a:rPr lang="en-US"/>
              <a:t>Slide </a:t>
            </a:r>
            <a:r>
              <a:t>3.</a:t>
            </a:r>
          </a:p>
          <a:p>
            <a:r>
              <a:rPr lang="en-US"/>
              <a:t>User-provided </a:t>
            </a:r>
            <a:r>
              <a:t>02_resampling_class_counts.png.</a:t>
            </a:r>
          </a:p>
          <a:p>
            <a:r>
              <a:rPr lang="en-US"/>
              <a:t>[/Sources]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Establish </a:t>
            </a:r>
            <a:r>
              <a:rPr lang="en-US"/>
              <a:t>an unmodified </a:t>
            </a:r>
            <a:r>
              <a:t>baseline and report minority-relevant metrics. Confirm labels, investigate label noise, and improve features before </a:t>
            </a:r>
            <a:r>
              <a:rPr lang="en-US"/>
              <a:t>attributing all difficulty to </a:t>
            </a:r>
            <a:r>
              <a:t>imbalance.</a:t>
            </a:r>
            <a:r>
              <a:rPr lang="en-US"/>
              <a:t> More </a:t>
            </a:r>
            <a:r>
              <a:t>real</a:t>
            </a:r>
            <a:r>
              <a:rPr lang="en-US"/>
              <a:t> minority cases provide </a:t>
            </a:r>
            <a:r>
              <a:t>information that duplication cannot.</a:t>
            </a:r>
            <a:r>
              <a:rPr lang="en-US"/>
              <a:t> Select a </a:t>
            </a:r>
            <a:r>
              <a:t>threshold </a:t>
            </a:r>
            <a:r>
              <a:rPr lang="en-US"/>
              <a:t>on </a:t>
            </a:r>
            <a:r>
              <a:t>validation data</a:t>
            </a:r>
            <a:r>
              <a:rPr lang="en-US"/>
              <a:t> using </a:t>
            </a:r>
            <a:r>
              <a:t>costs, </a:t>
            </a:r>
            <a:r>
              <a:rPr lang="en-US"/>
              <a:t>review </a:t>
            </a:r>
            <a:r>
              <a:t>capacity, and the desired </a:t>
            </a:r>
            <a:r>
              <a:rPr lang="en-US"/>
              <a:t>precision/</a:t>
            </a:r>
            <a:r>
              <a:t>recall tradeoff.</a:t>
            </a:r>
            <a:r>
              <a:rPr lang="en-US"/>
              <a:t> The fraud-team example is hypothetical: analysts can investigate at most </a:t>
            </a:r>
            <a:r>
              <a:t>200 </a:t>
            </a:r>
            <a:r>
              <a:rPr lang="en-US"/>
              <a:t>model-flagged cases </a:t>
            </a:r>
            <a:r>
              <a:t>per day</a:t>
            </a:r>
            <a:r>
              <a:rPr lang="en-US"/>
              <a:t>. This is an operational review-capacity limit, not a number of confirmed fraud cases or a performance score. Select the </a:t>
            </a:r>
            <a:r>
              <a:t>threshold </a:t>
            </a:r>
            <a:r>
              <a:rPr lang="en-US"/>
              <a:t>on validation data to maximize </a:t>
            </a:r>
            <a:r>
              <a:t>expected value subject to </a:t>
            </a:r>
            <a:r>
              <a:rPr lang="en-US"/>
              <a:t>expected daily alert volume staying within </a:t>
            </a:r>
            <a:r>
              <a:t>that capacity</a:t>
            </a:r>
            <a:r>
              <a:rPr lang="en-US"/>
              <a:t>. An alert identifies possible fraud for review. A fixed threshold does not guarantee exactly 200 alerts each day, because incoming volume and scores can vary</a:t>
            </a:r>
            <a:r>
              <a:t>.</a:t>
            </a:r>
          </a:p>
          <a:p>
            <a:endParaRPr/>
          </a:p>
          <a:p>
            <a:r>
              <a:t>[Sources]</a:t>
            </a:r>
          </a:p>
          <a:p>
            <a:r>
              <a:t>User-provided class_imbalance_slide_content.md, </a:t>
            </a:r>
            <a:r>
              <a:rPr lang="en-US"/>
              <a:t>Slide</a:t>
            </a:r>
            <a:r>
              <a:t> 4.</a:t>
            </a:r>
          </a:p>
          <a:p>
            <a:r>
              <a:t>[/Sources]</a:t>
            </a:r>
          </a:p>
          <a:p>
            <a:endParaRPr lang="en-US"/>
          </a:p>
          <a:p>
            <a:r>
              <a:rPr lang="en-US"/>
              <a:t>Threshold interpretation: for a fixed model and fixed evaluation cases, flag a case when its score meets or exceeds the cutoff. Lowering the cutoff expands the flagged set, so alert volume and recall cannot decrease. Raising it contracts the flagged set, so workload falls but more positives may be missed. These are directional relationships, with possible ties, rather than guaranteed strict changes at every cutoff. Choose a cutoff on representative validation data using error costs and expected deployment volume. The 200-alert capacity is illustrative. Monitor deployment volume because a fixed cutoff does not enforce a hard daily cap. Baseline fitting, label checks, feature quality, and collection of real minority observations remain important preparatory steps.</a:t>
            </a:r>
          </a:p>
          <a:p>
            <a:endParaRPr lang="en-US"/>
          </a:p>
          <a:p>
            <a:r>
              <a:rPr lang="en-US"/>
              <a:t>Metric selection linked to the question on slide 2: Which costs more: a missed case or a false alarm? Treat the minority event of interest as positive. Recall = TP/(TP+FN) measures the fraction of actual positives detected. Precision = TP/(TP+FP) measures the fraction of positive alerts that are true positives. When missed positives are costly, prioritize recall subject to acceptable false alarms and workload. When false alerts are costly, prioritize precision while monitoring recall. Lowering the cutoff for a fixed set of scores expands the alert set and cannot lower recall. Test a higher threshold when seeking more reliable alerts, but validate precision rather than assuming monotonic improvement.</a:t>
            </a:r>
          </a:p>
          <a:p>
            <a:endParaRPr lang="en-US"/>
          </a:p>
          <a:p>
            <a:r>
              <a:rPr lang="en-US"/>
              <a:t>If false-negative and false-positive costs are available, compare C_FN*FN + C_FP*FP across candidate cutoffs on representative validation data, using consistent sample sizes or per-case normalization. Keep expected deployment prevalence and alert capacity in view. The 200-alert limit remains illustrative. Weighting and resampling change training, whereas the decision objective determines the metric and final threshold. Compare these training approaches under the same cost and capacity objective; none automatically solves an asymmetric error-cost problem.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Random undersampling removes a subset of </a:t>
            </a:r>
            <a:r>
              <a:rPr lang="en-US"/>
              <a:t>majority </a:t>
            </a:r>
            <a:r>
              <a:t>observations.</a:t>
            </a:r>
            <a:r>
              <a:rPr lang="en-US"/>
              <a:t> It gives </a:t>
            </a:r>
            <a:r>
              <a:t>the learner </a:t>
            </a:r>
            <a:r>
              <a:rPr lang="en-US"/>
              <a:t>more reason to </a:t>
            </a:r>
            <a:r>
              <a:t>attend to the minority class and </a:t>
            </a:r>
            <a:r>
              <a:rPr lang="en-US"/>
              <a:t>reduces majority </a:t>
            </a:r>
            <a:r>
              <a:t>dominance.</a:t>
            </a:r>
            <a:r>
              <a:rPr lang="en-US"/>
              <a:t> It can decrease </a:t>
            </a:r>
            <a:r>
              <a:t>fitting</a:t>
            </a:r>
            <a:r>
              <a:rPr lang="en-US"/>
              <a:t> time </a:t>
            </a:r>
            <a:r>
              <a:t>and </a:t>
            </a:r>
            <a:r>
              <a:rPr lang="en-US"/>
              <a:t>improve </a:t>
            </a:r>
            <a:r>
              <a:t>minority recall.</a:t>
            </a:r>
            <a:r>
              <a:rPr lang="en-US"/>
              <a:t> Discarded </a:t>
            </a:r>
            <a:r>
              <a:t>majority </a:t>
            </a:r>
            <a:r>
              <a:rPr lang="en-US"/>
              <a:t>cases </a:t>
            </a:r>
            <a:r>
              <a:t>may contain useful structure, especially near </a:t>
            </a:r>
            <a:r>
              <a:rPr lang="en-US"/>
              <a:t>a </a:t>
            </a:r>
            <a:r>
              <a:t>boundary.</a:t>
            </a:r>
            <a:r>
              <a:rPr lang="en-US"/>
              <a:t> The strongest use case </a:t>
            </a:r>
            <a:r>
              <a:t>is </a:t>
            </a:r>
            <a:r>
              <a:rPr lang="en-US"/>
              <a:t>a huge, redundant </a:t>
            </a:r>
            <a:r>
              <a:t>majority class relative to </a:t>
            </a:r>
            <a:r>
              <a:rPr lang="en-US"/>
              <a:t>computation </a:t>
            </a:r>
            <a:r>
              <a:t>needs.</a:t>
            </a:r>
          </a:p>
          <a:p>
            <a:endParaRPr/>
          </a:p>
          <a:p>
            <a:r>
              <a:t>[Sources]</a:t>
            </a:r>
          </a:p>
          <a:p>
            <a:r>
              <a:t>User-provided class_imbalance_slide_content.md, </a:t>
            </a:r>
            <a:r>
              <a:rPr lang="en-US"/>
              <a:t>Slide</a:t>
            </a:r>
            <a:r>
              <a:t> 5.</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Random oversampling duplicates </a:t>
            </a:r>
            <a:r>
              <a:rPr lang="en-US"/>
              <a:t>minority </a:t>
            </a:r>
            <a:r>
              <a:t>observations until the classes are closer to balanced. It preserves all original majority observations and increases minority influence.</a:t>
            </a:r>
            <a:r>
              <a:rPr lang="en-US"/>
              <a:t> It is </a:t>
            </a:r>
            <a:r>
              <a:t>simple, model-agnostic, and often an effective baseline.</a:t>
            </a:r>
            <a:r>
              <a:rPr lang="en-US"/>
              <a:t> Exact </a:t>
            </a:r>
            <a:r>
              <a:t>duplicates can promote overfitting</a:t>
            </a:r>
            <a:r>
              <a:rPr lang="en-US"/>
              <a:t> in </a:t>
            </a:r>
            <a:r>
              <a:t>flexible models </a:t>
            </a:r>
            <a:r>
              <a:rPr lang="en-US"/>
              <a:t>or </a:t>
            </a:r>
            <a:r>
              <a:t>very small minority samples.</a:t>
            </a:r>
            <a:r>
              <a:rPr lang="en-US"/>
              <a:t> Apply oversampling </a:t>
            </a:r>
            <a:r>
              <a:t>only </a:t>
            </a:r>
            <a:r>
              <a:rPr lang="en-US"/>
              <a:t>to </a:t>
            </a:r>
            <a:r>
              <a:t>training data, </a:t>
            </a:r>
            <a:r>
              <a:rPr lang="en-US"/>
              <a:t>after splitting and inside each cross-validation fold</a:t>
            </a:r>
            <a:r>
              <a:t>.</a:t>
            </a:r>
          </a:p>
          <a:p>
            <a:endParaRPr/>
          </a:p>
          <a:p>
            <a:r>
              <a:t>[Sources]</a:t>
            </a:r>
          </a:p>
          <a:p>
            <a:r>
              <a:t>User-provided class_imbalance_slide_content.md, </a:t>
            </a:r>
            <a:r>
              <a:rPr lang="en-US"/>
              <a:t>Slide</a:t>
            </a:r>
            <a:r>
              <a:t> 6.</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Class </a:t>
            </a:r>
            <a:r>
              <a:t>weighting increases the loss assigned to minority </a:t>
            </a:r>
            <a:r>
              <a:rPr lang="en-US"/>
              <a:t>errors without changing rows</a:t>
            </a:r>
            <a:r>
              <a:t>.</a:t>
            </a:r>
            <a:r>
              <a:rPr lang="en-US"/>
              <a:t> Weighted </a:t>
            </a:r>
            <a:r>
              <a:t>binary cross-entropy</a:t>
            </a:r>
            <a:r>
              <a:rPr lang="en-US"/>
              <a:t>: L = -</a:t>
            </a:r>
            <a:r>
              <a:t>sum</a:t>
            </a:r>
            <a:r>
              <a:rPr lang="en-US"/>
              <a:t> from i=1 to </a:t>
            </a:r>
            <a:r>
              <a:t>n</a:t>
            </a:r>
            <a:r>
              <a:rPr lang="en-US"/>
              <a:t> of [w1*yi*</a:t>
            </a:r>
            <a:r>
              <a:t>log</a:t>
            </a:r>
            <a:r>
              <a:rPr lang="en-US"/>
              <a:t>(pi)</a:t>
            </a:r>
            <a:r>
              <a:t> +</a:t>
            </a:r>
            <a:r>
              <a:rPr lang="en-US"/>
              <a:t> w0*(1-yi)*</a:t>
            </a:r>
            <a:r>
              <a:t>log(</a:t>
            </a:r>
            <a:r>
              <a:rPr lang="en-US"/>
              <a:t>1-pi)]. Class </a:t>
            </a:r>
            <a:r>
              <a:t>1</a:t>
            </a:r>
            <a:r>
              <a:rPr lang="en-US"/>
              <a:t> is the minority class. A larger w1 increases the influence of positive-class </a:t>
            </a:r>
            <a:r>
              <a:t>errors. Many estimators support LogisticRegression(class</a:t>
            </a:r>
            <a:r>
              <a:rPr lang="en-US"/>
              <a:t>_</a:t>
            </a:r>
            <a:r>
              <a:t>weight="balanced") or a sample</a:t>
            </a:r>
            <a:r>
              <a:rPr lang="en-US"/>
              <a:t>_</a:t>
            </a:r>
            <a:r>
              <a:t>weight vector.</a:t>
            </a:r>
            <a:r>
              <a:rPr lang="en-US"/>
              <a:t> Weighting retains </a:t>
            </a:r>
            <a:r>
              <a:t>observations and avoids synthetic rows. Weights encode a modeling preference or cost ratio</a:t>
            </a:r>
            <a:r>
              <a:rPr lang="en-US"/>
              <a:t>. Tune </a:t>
            </a:r>
            <a:r>
              <a:t>and validate rather than </a:t>
            </a:r>
            <a:r>
              <a:rPr lang="en-US"/>
              <a:t>assume the </a:t>
            </a:r>
            <a:r>
              <a:t>default is optimal.</a:t>
            </a:r>
          </a:p>
          <a:p>
            <a:endParaRPr/>
          </a:p>
          <a:p>
            <a:r>
              <a:t>[Sources]</a:t>
            </a:r>
          </a:p>
          <a:p>
            <a:r>
              <a:t>User-provided class_imbalance_slide_content.md, </a:t>
            </a:r>
            <a:r>
              <a:rPr lang="en-US"/>
              <a:t>Slide </a:t>
            </a:r>
            <a:r>
              <a:t>7.</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SMOTE creates synthetic examples rather than </a:t>
            </a:r>
            <a:r>
              <a:rPr lang="en-US"/>
              <a:t>exact duplicates</a:t>
            </a:r>
            <a:r>
              <a:t>.</a:t>
            </a:r>
            <a:r>
              <a:rPr lang="en-US"/>
              <a:t> Given </a:t>
            </a:r>
            <a:r>
              <a:t>minority point x</a:t>
            </a:r>
            <a:r>
              <a:rPr lang="en-US"/>
              <a:t>_</a:t>
            </a:r>
            <a:r>
              <a:t>i and minority </a:t>
            </a:r>
            <a:r>
              <a:rPr lang="en-US"/>
              <a:t>neighbor </a:t>
            </a:r>
            <a:r>
              <a:t>x</a:t>
            </a:r>
            <a:r>
              <a:rPr lang="en-US"/>
              <a:t>_nn, </a:t>
            </a:r>
            <a:r>
              <a:t>x</a:t>
            </a:r>
            <a:r>
              <a:rPr lang="en-US"/>
              <a:t>_new = </a:t>
            </a:r>
            <a:r>
              <a:t>x</a:t>
            </a:r>
            <a:r>
              <a:rPr lang="en-US"/>
              <a:t>_</a:t>
            </a:r>
            <a:r>
              <a:t>i</a:t>
            </a:r>
            <a:r>
              <a:rPr lang="en-US"/>
              <a:t> + </a:t>
            </a:r>
            <a:r>
              <a:t>lambda</a:t>
            </a:r>
            <a:r>
              <a:rPr lang="en-US"/>
              <a:t>*(</a:t>
            </a:r>
            <a:r>
              <a:t>x</a:t>
            </a:r>
            <a:r>
              <a:rPr lang="en-US"/>
              <a:t>_nn - </a:t>
            </a:r>
            <a:r>
              <a:t>x</a:t>
            </a:r>
            <a:r>
              <a:rPr lang="en-US"/>
              <a:t>_</a:t>
            </a:r>
            <a:r>
              <a:t>i</a:t>
            </a:r>
            <a:r>
              <a:rPr lang="en-US"/>
              <a:t>), where </a:t>
            </a:r>
            <a:r>
              <a:t>lambda</a:t>
            </a:r>
            <a:r>
              <a:rPr lang="en-US"/>
              <a:t> follows Uniform</a:t>
            </a:r>
            <a:r>
              <a:t>(0,1).</a:t>
            </a:r>
            <a:r>
              <a:rPr lang="en-US"/>
              <a:t> The </a:t>
            </a:r>
            <a:r>
              <a:t>synthetic point lies on the </a:t>
            </a:r>
            <a:r>
              <a:rPr lang="en-US"/>
              <a:t>connecting </a:t>
            </a:r>
            <a:r>
              <a:t>segment. This can smooth sparse minority </a:t>
            </a:r>
            <a:r>
              <a:rPr lang="en-US"/>
              <a:t>regions</a:t>
            </a:r>
            <a:r>
              <a:t>, but interpolation </a:t>
            </a:r>
            <a:r>
              <a:rPr lang="en-US"/>
              <a:t>must produce </a:t>
            </a:r>
            <a:r>
              <a:t>plausible cases. Standardize numeric variables before distance-based methods</a:t>
            </a:r>
            <a:r>
              <a:rPr lang="en-US"/>
              <a:t>. Use </a:t>
            </a:r>
            <a:r>
              <a:t>mixed-type </a:t>
            </a:r>
            <a:r>
              <a:rPr lang="en-US"/>
              <a:t>or </a:t>
            </a:r>
            <a:r>
              <a:t>categorical </a:t>
            </a:r>
            <a:r>
              <a:rPr lang="en-US"/>
              <a:t>methods where needed</a:t>
            </a:r>
            <a:r>
              <a:t>. </a:t>
            </a:r>
            <a:r>
              <a:rPr lang="en-US"/>
              <a:t>The supplied geometry figure is illustrative</a:t>
            </a:r>
            <a:r>
              <a:t>.</a:t>
            </a:r>
          </a:p>
          <a:p>
            <a:endParaRPr/>
          </a:p>
          <a:p>
            <a:r>
              <a:t>[Sources]</a:t>
            </a:r>
          </a:p>
          <a:p>
            <a:r>
              <a:t>User-provided class_imbalance_slide_content.md, </a:t>
            </a:r>
            <a:r>
              <a:rPr lang="en-US"/>
              <a:t>Slide </a:t>
            </a:r>
            <a:r>
              <a:t>8.</a:t>
            </a:r>
          </a:p>
          <a:p>
            <a:r>
              <a:rPr lang="en-US"/>
              <a:t>User-provided </a:t>
            </a:r>
            <a:r>
              <a:t>03_smote_geometry.png.</a:t>
            </a:r>
          </a:p>
          <a:p>
            <a:r>
              <a:rPr lang="en-US"/>
              <a:t>[/Sources]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Text"/>
          <p:cNvSpPr>
            <a:spLocks noGrp="1"/>
          </p:cNvSpPr>
          <p:nvPr>
            <p:ph type="body" idx="1"/>
          </p:nvPr>
        </p:nvSpPr>
        <p:spPr/>
        <p:txBody>
          <a:bodyPr/>
          <a:lstStyle/>
          <a:p>
            <a:r>
              <a:t>SMOTE mathematical detail. Choose a minority observation x_i and a minority neighbor x_j. Conditional on the selected pair, draw a scalar lambda uniformly on (0,1) and use the same scalar for every feature coordinate. The generated vector is x_new = x_i + lambda(x_j - x_i). Rearranging gives a convex combination, (1-lambda)x_i + lambda*x_j. Since E[lambda]=1/2, E[x_new | x_i,x_j]=(x_i+x_j)/2. This is a conditional expectation for a fixed pair, not a claim about the whole synthetic distribution.</a:t>
            </a:r>
          </a:p>
          <a:p>
            <a:endParaRPr/>
          </a:p>
          <a:p>
            <a:r>
              <a:t>Illustrative calculation, not observed data: (1,2)+0.25*((5,6)-(1,2))=(2,3). Coordinates assume a numeric feature space appropriate for interpolation. Scale numeric features within the training pipeline and resample training data only, as discussed in the surrounding slides.</a:t>
            </a:r>
          </a:p>
          <a:p>
            <a:endParaRPr/>
          </a:p>
          <a:p>
            <a:r>
              <a:t>[Sources]</a:t>
            </a:r>
          </a:p>
          <a:p>
            <a:r>
              <a:t>User-provided class_imbalance_slide_content.md, Slide 8; existing slide 9 speaker notes. Convex-combination identity and conditional mean derived algebraically from the supplied interpolation formula. Worked example is illustrative.</a:t>
            </a:r>
          </a:p>
          <a:p>
            <a:r>
              <a:t>[/Sources]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Text"/>
          <p:cNvSpPr>
            <a:spLocks noGrp="1"/>
          </p:cNvSpPr>
          <p:nvPr>
            <p:ph type="body" idx="1"/>
          </p:nvPr>
        </p:nvSpPr>
        <p:spPr/>
        <p:txBody>
          <a:bodyPr/>
          <a:lstStyle/>
          <a:p>
            <a:r>
              <a:t>Illustrative decision boundaries for the untreated baseline, class weighting, and SMOTE in the training pipeline. The black curve marks the learned 0.5 decision boundary. The comparison illustrates how training interventions change minority predictions. It does not establish a universal ranking of methods.</a:t>
            </a:r>
          </a:p>
          <a:p>
            <a:endParaRPr/>
          </a:p>
          <a:p>
            <a:r>
              <a:t>[Sources]</a:t>
            </a:r>
          </a:p>
          <a:p>
            <a:r>
              <a:t>User-provided 04_decision_boundaries.png.</a:t>
            </a:r>
          </a:p>
          <a:p>
            <a:r>
              <a:t>[/Sources]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Borderline-SMOTE emphasizes minority </a:t>
            </a:r>
            <a:r>
              <a:rPr lang="en-US"/>
              <a:t>cases </a:t>
            </a:r>
            <a:r>
              <a:t>near </a:t>
            </a:r>
            <a:r>
              <a:rPr lang="en-US"/>
              <a:t>a </a:t>
            </a:r>
            <a:r>
              <a:t>decision boundary when boundary coverage is the concern.</a:t>
            </a:r>
            <a:r>
              <a:rPr lang="en-US"/>
              <a:t> </a:t>
            </a:r>
            <a:r>
              <a:t>ADASYN</a:t>
            </a:r>
            <a:r>
              <a:rPr lang="en-US"/>
              <a:t> allocates </a:t>
            </a:r>
            <a:r>
              <a:t>more </a:t>
            </a:r>
            <a:r>
              <a:rPr lang="en-US"/>
              <a:t>synthesis to hard </a:t>
            </a:r>
            <a:r>
              <a:t>minority regions</a:t>
            </a:r>
            <a:r>
              <a:rPr lang="en-US"/>
              <a:t>, but </a:t>
            </a:r>
            <a:r>
              <a:t>may amplify noise.</a:t>
            </a:r>
            <a:r>
              <a:rPr lang="en-US"/>
              <a:t> </a:t>
            </a:r>
            <a:r>
              <a:t>KMeans-SMOTE clusters </a:t>
            </a:r>
            <a:r>
              <a:rPr lang="en-US"/>
              <a:t>first </a:t>
            </a:r>
            <a:r>
              <a:t>and allocates </a:t>
            </a:r>
            <a:r>
              <a:rPr lang="en-US"/>
              <a:t>synthesis </a:t>
            </a:r>
            <a:r>
              <a:t>to suitable regions</a:t>
            </a:r>
            <a:r>
              <a:rPr lang="en-US"/>
              <a:t>, useful </a:t>
            </a:r>
            <a:r>
              <a:t>when minority </a:t>
            </a:r>
            <a:r>
              <a:rPr lang="en-US"/>
              <a:t>observations </a:t>
            </a:r>
            <a:r>
              <a:t>form multiple clusters.</a:t>
            </a:r>
            <a:r>
              <a:rPr lang="en-US"/>
              <a:t> </a:t>
            </a:r>
            <a:r>
              <a:t>SMOTE-NC handles numeric and categorical features; SMOTEN</a:t>
            </a:r>
            <a:r>
              <a:rPr lang="en-US"/>
              <a:t> handles </a:t>
            </a:r>
            <a:r>
              <a:t>categorical features. These are alternatives to compare</a:t>
            </a:r>
            <a:r>
              <a:rPr lang="en-US"/>
              <a:t>, </a:t>
            </a:r>
            <a:r>
              <a:t>not </a:t>
            </a:r>
            <a:r>
              <a:rPr lang="en-US"/>
              <a:t>guaranteed improvements </a:t>
            </a:r>
            <a:r>
              <a:t>over weighting or random oversampling.</a:t>
            </a:r>
          </a:p>
          <a:p>
            <a:endParaRPr/>
          </a:p>
          <a:p>
            <a:r>
              <a:t>[Sources]</a:t>
            </a:r>
          </a:p>
          <a:p>
            <a:r>
              <a:t>User-provided class_imbalance_slide_content.md, </a:t>
            </a:r>
            <a:r>
              <a:rPr lang="en-US"/>
              <a:t>Slide</a:t>
            </a:r>
            <a:r>
              <a:t> 9.</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Tomek links identify close opposite-class pairs</a:t>
            </a:r>
            <a:r>
              <a:rPr lang="en-US"/>
              <a:t>. Removing </a:t>
            </a:r>
            <a:r>
              <a:t>selected </a:t>
            </a:r>
            <a:r>
              <a:rPr lang="en-US"/>
              <a:t>cases </a:t>
            </a:r>
            <a:r>
              <a:t>can clean ambiguous overlap.</a:t>
            </a:r>
            <a:r>
              <a:rPr lang="en-US"/>
              <a:t> </a:t>
            </a:r>
            <a:r>
              <a:t>Edited Nearest Neighbors removes </a:t>
            </a:r>
            <a:r>
              <a:rPr lang="en-US"/>
              <a:t>cases whose labels </a:t>
            </a:r>
            <a:r>
              <a:t>disagree with their neighbors.</a:t>
            </a:r>
            <a:r>
              <a:rPr lang="en-US"/>
              <a:t> </a:t>
            </a:r>
            <a:r>
              <a:t>SMOTE </a:t>
            </a:r>
            <a:r>
              <a:rPr lang="en-US"/>
              <a:t>plus </a:t>
            </a:r>
            <a:r>
              <a:t>Tomek links combines synthesis with </a:t>
            </a:r>
            <a:r>
              <a:rPr lang="en-US"/>
              <a:t>boundary cleaning. SMOTE plus ENN uses </a:t>
            </a:r>
            <a:r>
              <a:t>a stronger </a:t>
            </a:r>
            <a:r>
              <a:rPr lang="en-US"/>
              <a:t>neighborhood-cleaning </a:t>
            </a:r>
            <a:r>
              <a:t>step. Cleaning can help in noisy, overlapping settings but </a:t>
            </a:r>
            <a:r>
              <a:rPr lang="en-US"/>
              <a:t>may </a:t>
            </a:r>
            <a:r>
              <a:t>remove legitimate difficult cases. Inspect the data and validate on an untouched distribution</a:t>
            </a:r>
            <a:r>
              <a:rPr lang="en-US"/>
              <a:t>. Hybrids introduce </a:t>
            </a:r>
            <a:r>
              <a:t>more tuning choices and </a:t>
            </a:r>
            <a:r>
              <a:rPr lang="en-US"/>
              <a:t>overfitting opportunities</a:t>
            </a:r>
            <a:r>
              <a:t>.</a:t>
            </a:r>
          </a:p>
          <a:p>
            <a:endParaRPr/>
          </a:p>
          <a:p>
            <a:r>
              <a:t>[Sources]</a:t>
            </a:r>
          </a:p>
          <a:p>
            <a:r>
              <a:t>User-provided class_imbalance_slide_content.md, </a:t>
            </a:r>
            <a:r>
              <a:rPr lang="en-US"/>
              <a:t>Slide</a:t>
            </a:r>
            <a:r>
              <a:t> 10.</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Text"/>
          <p:cNvSpPr>
            <a:spLocks noGrp="1"/>
          </p:cNvSpPr>
          <p:nvPr>
            <p:ph type="body" idx="1"/>
          </p:nvPr>
        </p:nvSpPr>
        <p:spPr/>
        <p:txBody>
          <a:bodyPr/>
          <a:lstStyle/>
          <a:p>
            <a:r>
              <a:t>The supplied workflow compares splitting first and resampling within each training fold against resampling the full dataset before splitting. Fit the model on the transformed training partition, then score untouched validation/test data. This visual precedes the existing pipeline implementation slide.</a:t>
            </a:r>
          </a:p>
          <a:p>
            <a:endParaRPr/>
          </a:p>
          <a:p>
            <a:r>
              <a:t>[Sources]</a:t>
            </a:r>
          </a:p>
          <a:p>
            <a:r>
              <a:t>User-provided 06_resampling_leakage_workflow.png.</a:t>
            </a:r>
          </a:p>
          <a:p>
            <a:r>
              <a:t>[/Sources]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Split before learned preprocessing</a:t>
            </a:r>
            <a:r>
              <a:rPr lang="en-US"/>
              <a:t> or resampling</a:t>
            </a:r>
            <a:r>
              <a:t>. Use </a:t>
            </a:r>
            <a:r>
              <a:rPr lang="en-US"/>
              <a:t>stratification </a:t>
            </a:r>
            <a:r>
              <a:t>so </a:t>
            </a:r>
            <a:r>
              <a:rPr lang="en-US"/>
              <a:t>the </a:t>
            </a:r>
            <a:r>
              <a:t>minority prevalence is represented.</a:t>
            </a:r>
            <a:r>
              <a:rPr lang="en-US"/>
              <a:t> Within each </a:t>
            </a:r>
            <a:r>
              <a:t>cross-validation</a:t>
            </a:r>
            <a:r>
              <a:rPr lang="en-US"/>
              <a:t> fold</a:t>
            </a:r>
            <a:r>
              <a:t>, fit </a:t>
            </a:r>
            <a:r>
              <a:rPr lang="en-US"/>
              <a:t>scaling, resampling, and classification </a:t>
            </a:r>
            <a:r>
              <a:t>only on that fold’s training partition. Use imblearn.pipeline.Pipeline.</a:t>
            </a:r>
            <a:r>
              <a:rPr lang="en-US"/>
              <a:t> Duplicates and </a:t>
            </a:r>
            <a:r>
              <a:t>synthetic descendants of training </a:t>
            </a:r>
            <a:r>
              <a:rPr lang="en-US"/>
              <a:t>observations must never enter </a:t>
            </a:r>
            <a:r>
              <a:t>validation or test </a:t>
            </a:r>
            <a:r>
              <a:rPr lang="en-US"/>
              <a:t>sets</a:t>
            </a:r>
            <a:r>
              <a:t>.</a:t>
            </a:r>
            <a:endParaRPr lang="en-US"/>
          </a:p>
          <a:p>
            <a:endParaRPr lang="en-US"/>
          </a:p>
          <a:p>
            <a:r>
              <a:t>from imblearn.pipeline import Pipeline</a:t>
            </a:r>
          </a:p>
          <a:p>
            <a:r>
              <a:t>from imblearn.over</a:t>
            </a:r>
            <a:r>
              <a:rPr lang="en-US"/>
              <a:t>_</a:t>
            </a:r>
            <a:r>
              <a:t>sampling import SMOTE</a:t>
            </a:r>
          </a:p>
          <a:p>
            <a:r>
              <a:t>from sklearn.preprocessing import StandardScaler</a:t>
            </a:r>
          </a:p>
          <a:p>
            <a:r>
              <a:t>from sklearn.linear</a:t>
            </a:r>
            <a:r>
              <a:rPr lang="en-US"/>
              <a:t>_</a:t>
            </a:r>
            <a:r>
              <a:t>model import LogisticRegression</a:t>
            </a:r>
          </a:p>
          <a:p>
            <a:endParaRPr lang="en-US"/>
          </a:p>
          <a:p>
            <a:r>
              <a:t>model = Pipeline</a:t>
            </a:r>
            <a:r>
              <a:rPr lang="en-US"/>
              <a:t>([</a:t>
            </a:r>
            <a:endParaRPr/>
          </a:p>
          <a:p>
            <a:r>
              <a:t>    ("scale", StandardScaler()),</a:t>
            </a:r>
          </a:p>
          <a:p>
            <a:r>
              <a:t>    ("smote", SMOTE(random</a:t>
            </a:r>
            <a:r>
              <a:rPr lang="en-US"/>
              <a:t>_</a:t>
            </a:r>
            <a:r>
              <a:t>state=42)),</a:t>
            </a:r>
          </a:p>
          <a:p>
            <a:r>
              <a:t>    ("classifier", LogisticRegression(max</a:t>
            </a:r>
            <a:r>
              <a:rPr lang="en-US"/>
              <a:t>_</a:t>
            </a:r>
            <a:r>
              <a:t>iter=2000)),</a:t>
            </a:r>
          </a:p>
          <a:p>
            <a:r>
              <a:rPr lang="en-US"/>
              <a:t>])</a:t>
            </a:r>
            <a:endParaRPr/>
          </a:p>
          <a:p>
            <a:endParaRPr/>
          </a:p>
          <a:p>
            <a:r>
              <a:t>[Sources]</a:t>
            </a:r>
          </a:p>
          <a:p>
            <a:r>
              <a:t>User-provided class_imbalance_slide_content.md, </a:t>
            </a:r>
            <a:r>
              <a:rPr lang="en-US"/>
              <a:t>Slide</a:t>
            </a:r>
            <a:r>
              <a:t> 11.</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Compare methods using </a:t>
            </a:r>
            <a:r>
              <a:t>mechanism</a:t>
            </a:r>
            <a:r>
              <a:rPr lang="en-US"/>
              <a:t>, primary </a:t>
            </a:r>
            <a:r>
              <a:t>benefit</a:t>
            </a:r>
            <a:r>
              <a:rPr lang="en-US"/>
              <a:t>, </a:t>
            </a:r>
            <a:r>
              <a:t>risk </a:t>
            </a:r>
            <a:r>
              <a:rPr lang="en-US"/>
              <a:t>or </a:t>
            </a:r>
            <a:r>
              <a:t>limitation</a:t>
            </a:r>
            <a:r>
              <a:rPr lang="en-US"/>
              <a:t>, and </a:t>
            </a:r>
            <a:r>
              <a:t>best-use scenario</a:t>
            </a:r>
            <a:r>
              <a:rPr lang="en-US"/>
              <a:t>. </a:t>
            </a:r>
            <a:r>
              <a:t>Random undersampling</a:t>
            </a:r>
            <a:r>
              <a:rPr lang="en-US"/>
              <a:t> removes </a:t>
            </a:r>
            <a:r>
              <a:t>majority rows</a:t>
            </a:r>
            <a:r>
              <a:rPr lang="en-US"/>
              <a:t> but may lose useful structure. </a:t>
            </a:r>
            <a:r>
              <a:t>Random oversampling retains majority data</a:t>
            </a:r>
            <a:r>
              <a:rPr lang="en-US"/>
              <a:t> but duplicates </a:t>
            </a:r>
            <a:r>
              <a:t>may overfit</a:t>
            </a:r>
            <a:r>
              <a:rPr lang="en-US"/>
              <a:t>. </a:t>
            </a:r>
            <a:r>
              <a:t>Class weighting</a:t>
            </a:r>
            <a:r>
              <a:rPr lang="en-US"/>
              <a:t> retains </a:t>
            </a:r>
            <a:r>
              <a:t>original rows</a:t>
            </a:r>
            <a:r>
              <a:rPr lang="en-US"/>
              <a:t> but requires task-appropriate weights and </a:t>
            </a:r>
            <a:r>
              <a:t>calibration</a:t>
            </a:r>
            <a:r>
              <a:rPr lang="en-US"/>
              <a:t> checks. </a:t>
            </a:r>
            <a:r>
              <a:t>SMOTE</a:t>
            </a:r>
            <a:r>
              <a:rPr lang="en-US"/>
              <a:t> adds nonduplicate </a:t>
            </a:r>
            <a:r>
              <a:t>variation</a:t>
            </a:r>
            <a:r>
              <a:rPr lang="en-US"/>
              <a:t> but may generate </a:t>
            </a:r>
            <a:r>
              <a:t>implausible</a:t>
            </a:r>
            <a:r>
              <a:rPr lang="en-US"/>
              <a:t> or </a:t>
            </a:r>
            <a:r>
              <a:t>overlapping examples</a:t>
            </a:r>
            <a:r>
              <a:rPr lang="en-US"/>
              <a:t>. </a:t>
            </a:r>
            <a:r>
              <a:t>Borderline-SMOTE</a:t>
            </a:r>
            <a:r>
              <a:rPr lang="en-US"/>
              <a:t> focuses on </a:t>
            </a:r>
            <a:r>
              <a:t>boundary </a:t>
            </a:r>
            <a:r>
              <a:rPr lang="en-US"/>
              <a:t>errors but is sensitive </a:t>
            </a:r>
            <a:r>
              <a:t>to noise</a:t>
            </a:r>
            <a:r>
              <a:rPr lang="en-US"/>
              <a:t>. </a:t>
            </a:r>
            <a:r>
              <a:t>ADASYN</a:t>
            </a:r>
            <a:r>
              <a:rPr lang="en-US"/>
              <a:t> adapts </a:t>
            </a:r>
            <a:r>
              <a:t>to local difficulty</a:t>
            </a:r>
            <a:r>
              <a:rPr lang="en-US"/>
              <a:t> but may </a:t>
            </a:r>
            <a:r>
              <a:t>amplify noisy or mislabeled regions</a:t>
            </a:r>
            <a:r>
              <a:rPr lang="en-US"/>
              <a:t>.</a:t>
            </a:r>
            <a:endParaRPr/>
          </a:p>
          <a:p>
            <a:endParaRPr/>
          </a:p>
          <a:p>
            <a:r>
              <a:t>[Sources]</a:t>
            </a:r>
          </a:p>
          <a:p>
            <a:r>
              <a:t>User-provided class_imbalance_slide_content.md, </a:t>
            </a:r>
            <a:r>
              <a:rPr lang="en-US"/>
              <a:t>Slide</a:t>
            </a:r>
            <a:r>
              <a:t> 12.</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Text"/>
          <p:cNvSpPr>
            <a:spLocks noGrp="1"/>
          </p:cNvSpPr>
          <p:nvPr>
            <p:ph type="body" idx="1"/>
          </p:nvPr>
        </p:nvSpPr>
        <p:spPr/>
        <p:txBody>
          <a:bodyPr/>
          <a:lstStyle/>
          <a:p>
            <a:r>
              <a:t>Illustrative simulated-data test-set comparison at a common 0.5 threshold. The test set retains original minority prevalence. Weighting and resampling increase recall and balanced accuracy in this example while reducing precision and F1 relative to the untreated classifier. ROC-AUC values all round to 0.88. Results depend on the simulated data and threshold. These figures are not a universal performance ranking.</a:t>
            </a:r>
          </a:p>
          <a:p>
            <a:endParaRPr/>
          </a:p>
          <a:p>
            <a:r>
              <a:t>[Sources]</a:t>
            </a:r>
          </a:p>
          <a:p>
            <a:r>
              <a:t>User-provided 05_performance_comparison.png.</a:t>
            </a:r>
          </a:p>
          <a:p>
            <a:r>
              <a:t>[/Sources]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the positive class, likely deployment prevalence, and </a:t>
            </a:r>
            <a:r>
              <a:rPr lang="en-US"/>
              <a:t>false-negative/false-positive </a:t>
            </a:r>
            <a:r>
              <a:t>consequences. Build an unmodified baseline</a:t>
            </a:r>
            <a:r>
              <a:rPr lang="en-US"/>
              <a:t>. Inspect </a:t>
            </a:r>
            <a:r>
              <a:t>recall, precision, PR-AUC, balanced accuracy, calibration, and threshold-specific performance. Try threshold selection and weighting before or alongside resampling. Compare a small justified set </a:t>
            </a:r>
            <a:r>
              <a:rPr lang="en-US"/>
              <a:t>including </a:t>
            </a:r>
            <a:r>
              <a:t>weighting, random </a:t>
            </a:r>
            <a:r>
              <a:rPr lang="en-US"/>
              <a:t>resampling</a:t>
            </a:r>
            <a:r>
              <a:t>, and one or two SMOTE-family methods. Use stratified cross-validation with preprocessing</a:t>
            </a:r>
            <a:r>
              <a:rPr lang="en-US"/>
              <a:t> and </a:t>
            </a:r>
            <a:r>
              <a:t>resampling inside </a:t>
            </a:r>
            <a:r>
              <a:rPr lang="en-US"/>
              <a:t>the </a:t>
            </a:r>
            <a:r>
              <a:t>pipeline</a:t>
            </a:r>
            <a:r>
              <a:rPr lang="en-US"/>
              <a:t>, reserving </a:t>
            </a:r>
            <a:r>
              <a:t>a final untouched test set.</a:t>
            </a:r>
            <a:r>
              <a:rPr lang="en-US"/>
              <a:t> Select </a:t>
            </a:r>
            <a:r>
              <a:t>the method and threshold that meet the deployment objective</a:t>
            </a:r>
            <a:r>
              <a:rPr lang="en-US"/>
              <a:t> rather than </a:t>
            </a:r>
            <a:r>
              <a:t>merely </a:t>
            </a:r>
            <a:r>
              <a:rPr lang="en-US"/>
              <a:t>balancing </a:t>
            </a:r>
            <a:r>
              <a:t>the training table. Balancing is a tool, not a substitute for a </a:t>
            </a:r>
            <a:r>
              <a:rPr lang="en-US"/>
              <a:t>clear </a:t>
            </a:r>
            <a:r>
              <a:t>objective, representative validation, or careful error analysis.</a:t>
            </a:r>
          </a:p>
          <a:p>
            <a:endParaRPr/>
          </a:p>
          <a:p>
            <a:r>
              <a:t>[Sources]</a:t>
            </a:r>
          </a:p>
          <a:p>
            <a:r>
              <a:t>User-provided class_imbalance_slide_content.md, </a:t>
            </a:r>
            <a:r>
              <a:rPr lang="en-US"/>
              <a:t>Slide</a:t>
            </a:r>
            <a:r>
              <a:t> 13.</a:t>
            </a:r>
          </a:p>
          <a:p>
            <a:r>
              <a:t>[/Sources]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10/13/2026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8143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10/13/2026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97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10/13/2026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96029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10/13/2026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9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10/13/2026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27209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10/13/2026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194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10/13/2026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040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10/13/2026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910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10/13/2026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766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10/13/2026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9836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10/13/2026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5788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10/13/2026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45446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6" name="Picture 5">
            <a:extLst>
              <a:ext uri="{FF2B5EF4-FFF2-40B4-BE49-F238E27FC236}">
                <a16:creationId xmlns:a16="http://schemas.microsoft.com/office/drawing/2014/main" id="{E0AADA6B-8A68-D1E3-DF0B-E4BA46B9DC36}"/>
              </a:ext>
            </a:extLst>
          </p:cNvPr>
          <p:cNvPicPr>
            <a:picLocks noChangeAspect="1"/>
          </p:cNvPicPr>
          <p:nvPr/>
        </p:nvPicPr>
        <p:blipFill>
          <a:blip r:embed="rId2"/>
          <a:srcRect t="9091" r="9091"/>
          <a:stretch>
            <a:fillRect/>
          </a:stretch>
        </p:blipFill>
        <p:spPr>
          <a:xfrm>
            <a:off x="20" y="10"/>
            <a:ext cx="12191980" cy="6857990"/>
          </a:xfrm>
          <a:prstGeom prst="rect">
            <a:avLst/>
          </a:prstGeom>
        </p:spPr>
      </p:pic>
      <p:sp>
        <p:nvSpPr>
          <p:cNvPr id="21" name="Rectangle 20">
            <a:extLst>
              <a:ext uri="{FF2B5EF4-FFF2-40B4-BE49-F238E27FC236}">
                <a16:creationId xmlns:a16="http://schemas.microsoft.com/office/drawing/2014/main" id="{1103FDB8-D911-F8F8-F9EC-FB7FF5435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4324"/>
            <a:ext cx="12192000" cy="2573677"/>
          </a:xfrm>
          <a:prstGeom prst="rect">
            <a:avLst/>
          </a:prstGeom>
          <a:gradFill>
            <a:gsLst>
              <a:gs pos="0">
                <a:schemeClr val="bg1">
                  <a:alpha val="0"/>
                </a:schemeClr>
              </a:gs>
              <a:gs pos="46000">
                <a:schemeClr val="bg1">
                  <a:alpha val="17000"/>
                </a:schemeClr>
              </a:gs>
              <a:gs pos="65000">
                <a:schemeClr val="bg1">
                  <a:alpha val="29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09F3EC0C-B664-18E2-FAA6-07592A24EF44}"/>
              </a:ext>
            </a:extLst>
          </p:cNvPr>
          <p:cNvSpPr>
            <a:spLocks noGrp="1"/>
          </p:cNvSpPr>
          <p:nvPr>
            <p:ph type="ctrTitle"/>
          </p:nvPr>
        </p:nvSpPr>
        <p:spPr>
          <a:xfrm>
            <a:off x="320040" y="5702710"/>
            <a:ext cx="7983068" cy="974347"/>
          </a:xfrm>
          <a:ln>
            <a:noFill/>
          </a:ln>
        </p:spPr>
        <p:txBody>
          <a:bodyPr anchor="ctr">
            <a:normAutofit/>
          </a:bodyPr>
          <a:lstStyle/>
          <a:p>
            <a:r>
              <a:rPr lang="en-US" sz="3600" dirty="0"/>
              <a:t>Imbalance</a:t>
            </a:r>
          </a:p>
        </p:txBody>
      </p:sp>
      <p:sp>
        <p:nvSpPr>
          <p:cNvPr id="3" name="Subtitle 2">
            <a:extLst>
              <a:ext uri="{FF2B5EF4-FFF2-40B4-BE49-F238E27FC236}">
                <a16:creationId xmlns:a16="http://schemas.microsoft.com/office/drawing/2014/main" id="{A11A06C2-C984-559B-6247-4CE552425B27}"/>
              </a:ext>
            </a:extLst>
          </p:cNvPr>
          <p:cNvSpPr>
            <a:spLocks noGrp="1"/>
          </p:cNvSpPr>
          <p:nvPr>
            <p:ph type="subTitle" idx="1"/>
          </p:nvPr>
        </p:nvSpPr>
        <p:spPr>
          <a:xfrm>
            <a:off x="8303108" y="5702710"/>
            <a:ext cx="3633535" cy="974347"/>
          </a:xfrm>
        </p:spPr>
        <p:txBody>
          <a:bodyPr anchor="ctr">
            <a:normAutofit/>
          </a:bodyPr>
          <a:lstStyle/>
          <a:p>
            <a:pPr algn="r"/>
            <a:endParaRPr lang="en-US" sz="1800"/>
          </a:p>
        </p:txBody>
      </p:sp>
    </p:spTree>
    <p:extLst>
      <p:ext uri="{BB962C8B-B14F-4D97-AF65-F5344CB8AC3E}">
        <p14:creationId xmlns:p14="http://schemas.microsoft.com/office/powerpoint/2010/main" val="12842478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Rare outcomes, important decisions</a:t>
            </a:r>
          </a:p>
        </p:txBody>
      </p:sp>
      <p:sp>
        <p:nvSpPr>
          <p:cNvPr id="3" name="TextBox 2"/>
          <p:cNvSpPr txBox="1"/>
          <p:nvPr/>
        </p:nvSpPr>
        <p:spPr>
          <a:xfrm>
            <a:off x="804672" y="2194560"/>
            <a:ext cx="10515600" cy="1869358"/>
          </a:xfrm>
          <a:prstGeom prst="rect">
            <a:avLst/>
          </a:prstGeom>
          <a:noFill/>
        </p:spPr>
        <p:txBody>
          <a:bodyPr wrap="square" lIns="0" tIns="0" rIns="0" bIns="0">
            <a:spAutoFit/>
          </a:bodyPr>
          <a:lstStyle/>
          <a:p>
            <a:pPr marL="228600" indent="-228600">
              <a:lnSpc>
                <a:spcPct val="110000"/>
              </a:lnSpc>
              <a:spcBef>
                <a:spcPts val="0"/>
              </a:spcBef>
              <a:spcAft>
                <a:spcPts val="1400"/>
              </a:spcAft>
              <a:buChar char="•"/>
              <a:defRPr sz="2000" b="0">
                <a:solidFill>
                  <a:srgbClr val="000000"/>
                </a:solidFill>
                <a:latin typeface="Calisto MT"/>
              </a:defRPr>
            </a:pPr>
            <a:r>
              <a:t>Class imbalance means one class </a:t>
            </a:r>
            <a:r>
              <a:rPr lang="en-US"/>
              <a:t>is </a:t>
            </a:r>
            <a:r>
              <a:t>much </a:t>
            </a:r>
            <a:r>
              <a:rPr lang="en-US"/>
              <a:t>rarer </a:t>
            </a:r>
            <a:r>
              <a:t>than another.</a:t>
            </a:r>
            <a:endParaRPr lang="en-US"/>
          </a:p>
          <a:p>
            <a:pPr marL="228600" indent="-228600">
              <a:lnSpc>
                <a:spcPct val="110000"/>
              </a:lnSpc>
              <a:spcBef>
                <a:spcPts val="0"/>
              </a:spcBef>
              <a:spcAft>
                <a:spcPts val="1400"/>
              </a:spcAft>
              <a:buChar char="•"/>
              <a:defRPr sz="2000">
                <a:solidFill>
                  <a:srgbClr val="000000"/>
                </a:solidFill>
                <a:latin typeface="Calisto MT"/>
              </a:defRPr>
            </a:pPr>
            <a:r>
              <a:t>The minority class </a:t>
            </a:r>
            <a:r>
              <a:rPr lang="en-US"/>
              <a:t>often matters most</a:t>
            </a:r>
            <a:r>
              <a:t>, </a:t>
            </a:r>
            <a:r>
              <a:rPr lang="en-US"/>
              <a:t>as in fraud or </a:t>
            </a:r>
            <a:r>
              <a:t>equipment failure.</a:t>
            </a:r>
            <a:endParaRPr lang="en-US"/>
          </a:p>
          <a:p>
            <a:pPr marL="228600" indent="-228600">
              <a:lnSpc>
                <a:spcPct val="110000"/>
              </a:lnSpc>
              <a:spcBef>
                <a:spcPts val="0"/>
              </a:spcBef>
              <a:spcAft>
                <a:spcPts val="1400"/>
              </a:spcAft>
              <a:buChar char="•"/>
              <a:defRPr sz="2000">
                <a:solidFill>
                  <a:srgbClr val="000000"/>
                </a:solidFill>
                <a:latin typeface="Calisto MT"/>
              </a:defRPr>
            </a:pPr>
            <a:r>
              <a:t>Imbalance </a:t>
            </a:r>
            <a:r>
              <a:rPr lang="en-US"/>
              <a:t>can reflect </a:t>
            </a:r>
            <a:r>
              <a:t>the </a:t>
            </a:r>
            <a:r>
              <a:rPr lang="en-US"/>
              <a:t>real world without indicating </a:t>
            </a:r>
            <a:r>
              <a:t>a data error.</a:t>
            </a:r>
            <a:endParaRPr lang="en-US"/>
          </a:p>
          <a:p>
            <a:pPr marL="228600" indent="-228600">
              <a:lnSpc>
                <a:spcPct val="110000"/>
              </a:lnSpc>
              <a:spcBef>
                <a:spcPts val="0"/>
              </a:spcBef>
              <a:spcAft>
                <a:spcPts val="1400"/>
              </a:spcAft>
              <a:buChar char="•"/>
              <a:defRPr sz="2000">
                <a:solidFill>
                  <a:srgbClr val="000000"/>
                </a:solidFill>
                <a:latin typeface="Calisto MT"/>
              </a:defRPr>
            </a:pPr>
            <a:r>
              <a:rPr lang="en-US"/>
              <a:t>Learn minority patterns that remain </a:t>
            </a:r>
            <a:r>
              <a:t>useful </a:t>
            </a:r>
            <a:r>
              <a:rPr lang="en-US"/>
              <a:t>in</a:t>
            </a:r>
            <a:r>
              <a:t> deployment.</a:t>
            </a:r>
            <a:endParaRPr lang="en-US"/>
          </a:p>
        </p:txBody>
      </p:sp>
      <p:sp>
        <p:nvSpPr>
          <p:cNvPr id="4" name="TextBox 3"/>
          <p:cNvSpPr txBox="1"/>
          <p:nvPr/>
        </p:nvSpPr>
        <p:spPr>
          <a:xfrm>
            <a:off x="822960" y="5257800"/>
            <a:ext cx="10469880" cy="356764"/>
          </a:xfrm>
          <a:prstGeom prst="rect">
            <a:avLst/>
          </a:prstGeom>
          <a:noFill/>
        </p:spPr>
        <p:txBody>
          <a:bodyPr wrap="square" lIns="0" tIns="0" rIns="0" bIns="0">
            <a:spAutoFit/>
          </a:bodyPr>
          <a:lstStyle/>
          <a:p>
            <a:pPr>
              <a:lnSpc>
                <a:spcPct val="108000"/>
              </a:lnSpc>
              <a:spcAft>
                <a:spcPts val="700"/>
              </a:spcAft>
              <a:defRPr sz="2300" b="1">
                <a:solidFill>
                  <a:srgbClr val="000000"/>
                </a:solidFill>
                <a:latin typeface="Calisto MT"/>
              </a:defRPr>
            </a:pPr>
            <a:r>
              <a:rPr lang="en-US"/>
              <a:t>Which </a:t>
            </a:r>
            <a:r>
              <a:t>costs more: a </a:t>
            </a:r>
            <a:r>
              <a:rPr lang="en-US"/>
              <a:t>missed </a:t>
            </a:r>
            <a:r>
              <a:t>case or a false alarm?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High accuracy can hide missed cases</a:t>
            </a:r>
          </a:p>
        </p:txBody>
      </p:sp>
      <p:pic>
        <p:nvPicPr>
          <p:cNvPr id="3" name="Picture 2" descr="01 accuracy can mislead.png"/>
          <p:cNvPicPr>
            <a:picLocks noChangeAspect="1"/>
          </p:cNvPicPr>
          <p:nvPr/>
        </p:nvPicPr>
        <p:blipFill>
          <a:blip r:embed="rId3"/>
          <a:stretch>
            <a:fillRect/>
          </a:stretch>
        </p:blipFill>
        <p:spPr>
          <a:xfrm>
            <a:off x="1467227" y="2029968"/>
            <a:ext cx="4618489" cy="3154680"/>
          </a:xfrm>
          <a:prstGeom prst="rect">
            <a:avLst/>
          </a:prstGeom>
        </p:spPr>
      </p:pic>
      <p:sp>
        <p:nvSpPr>
          <p:cNvPr id="4" name="TextBox 3"/>
          <p:cNvSpPr txBox="1"/>
          <p:nvPr/>
        </p:nvSpPr>
        <p:spPr>
          <a:xfrm>
            <a:off x="7040880" y="2148840"/>
            <a:ext cx="4206240" cy="3127248"/>
          </a:xfrm>
          <a:prstGeom prst="rect">
            <a:avLst/>
          </a:prstGeom>
          <a:noFill/>
        </p:spPr>
        <p:txBody>
          <a:bodyPr wrap="square" lIns="0" tIns="0" rIns="0" bIns="0">
            <a:spAutoFit/>
          </a:bodyPr>
          <a:lstStyle/>
          <a:p>
            <a:pPr marL="228600" indent="-228600">
              <a:lnSpc>
                <a:spcPct val="110000"/>
              </a:lnSpc>
              <a:spcBef>
                <a:spcPts val="0"/>
              </a:spcBef>
              <a:spcAft>
                <a:spcPts val="1400"/>
              </a:spcAft>
              <a:buChar char="•"/>
              <a:defRPr sz="2000" b="0">
                <a:solidFill>
                  <a:srgbClr val="000000"/>
                </a:solidFill>
                <a:latin typeface="Calisto MT"/>
              </a:defRPr>
            </a:pPr>
            <a:r>
              <a:t>With 95% negatives, always predicting negative gives 95% accuracy and 0% positive recall.</a:t>
            </a:r>
            <a:endParaRPr lang="en-US"/>
          </a:p>
          <a:p>
            <a:pPr marL="228600" indent="-228600">
              <a:lnSpc>
                <a:spcPct val="110000"/>
              </a:lnSpc>
              <a:spcBef>
                <a:spcPts val="0"/>
              </a:spcBef>
              <a:spcAft>
                <a:spcPts val="1400"/>
              </a:spcAft>
              <a:buChar char="•"/>
              <a:defRPr sz="2000">
                <a:solidFill>
                  <a:srgbClr val="000000"/>
                </a:solidFill>
                <a:latin typeface="Calisto MT"/>
              </a:defRPr>
            </a:pPr>
            <a:r>
              <a:t>Accuracy weights class performance by prevalence.</a:t>
            </a:r>
            <a:endParaRPr lang="en-US"/>
          </a:p>
          <a:p>
            <a:pPr marL="228600" indent="-228600">
              <a:lnSpc>
                <a:spcPct val="110000"/>
              </a:lnSpc>
              <a:spcBef>
                <a:spcPts val="0"/>
              </a:spcBef>
              <a:spcAft>
                <a:spcPts val="1400"/>
              </a:spcAft>
              <a:buChar char="•"/>
              <a:defRPr sz="2000">
                <a:solidFill>
                  <a:srgbClr val="000000"/>
                </a:solidFill>
                <a:latin typeface="Calisto MT"/>
              </a:defRPr>
            </a:pPr>
            <a:r>
              <a:rPr lang="en-US"/>
              <a:t>A high AUC can still require threshold adjustment for </a:t>
            </a:r>
            <a:r>
              <a:t>a </a:t>
            </a:r>
            <a:r>
              <a:rPr lang="en-US"/>
              <a:t>useful precision/recall tradeoff</a:t>
            </a:r>
            <a:r>
              <a:t>.</a:t>
            </a:r>
            <a:endParaRPr lang="en-US"/>
          </a:p>
        </p:txBody>
      </p:sp>
      <p:sp>
        <p:nvSpPr>
          <p:cNvPr id="5" name="TextBox 4"/>
          <p:cNvSpPr txBox="1"/>
          <p:nvPr/>
        </p:nvSpPr>
        <p:spPr>
          <a:xfrm>
            <a:off x="822960" y="5266944"/>
            <a:ext cx="6080760" cy="248401"/>
          </a:xfrm>
          <a:prstGeom prst="rect">
            <a:avLst/>
          </a:prstGeom>
          <a:noFill/>
        </p:spPr>
        <p:txBody>
          <a:bodyPr wrap="square" lIns="0" tIns="0" rIns="0" bIns="0">
            <a:spAutoFit/>
          </a:bodyPr>
          <a:lstStyle/>
          <a:p>
            <a:pPr>
              <a:lnSpc>
                <a:spcPct val="108000"/>
              </a:lnSpc>
              <a:spcAft>
                <a:spcPts val="700"/>
              </a:spcAft>
              <a:defRPr sz="1600" b="0">
                <a:solidFill>
                  <a:srgbClr val="000000"/>
                </a:solidFill>
                <a:latin typeface="Calisto MT"/>
              </a:defRPr>
            </a:pPr>
            <a:r>
              <a:rPr lang="en-US"/>
              <a:t>Illustrative figure</a:t>
            </a:r>
            <a:r>
              <a:t>: 6.2% minority prevalence.</a:t>
            </a:r>
          </a:p>
        </p:txBody>
      </p:sp>
      <p:sp>
        <p:nvSpPr>
          <p:cNvPr id="6" name="TextBox 5"/>
          <p:cNvSpPr txBox="1"/>
          <p:nvPr/>
        </p:nvSpPr>
        <p:spPr>
          <a:xfrm>
            <a:off x="822960" y="5614416"/>
            <a:ext cx="10469880" cy="457200"/>
          </a:xfrm>
          <a:prstGeom prst="rect">
            <a:avLst/>
          </a:prstGeom>
          <a:noFill/>
        </p:spPr>
        <p:txBody>
          <a:bodyPr wrap="square" lIns="0" tIns="0" rIns="0" bIns="0">
            <a:spAutoFit/>
          </a:bodyPr>
          <a:lstStyle/>
          <a:p>
            <a:pPr>
              <a:defRPr sz="2000">
                <a:solidFill>
                  <a:srgbClr val="000000"/>
                </a:solidFill>
                <a:latin typeface="Calisto MT"/>
              </a:defRPr>
            </a:pPr>
            <a:r>
              <a:t>Metrics: recall, precision, F1, balanced accuracy, PR-AUC, ROC-AUC, and expected cost.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Original, training, and deployment data</a:t>
            </a:r>
          </a:p>
        </p:txBody>
      </p:sp>
      <p:pic>
        <p:nvPicPr>
          <p:cNvPr id="3" name="Picture 2" descr="02 resampling class counts.png"/>
          <p:cNvPicPr>
            <a:picLocks noChangeAspect="1"/>
          </p:cNvPicPr>
          <p:nvPr/>
        </p:nvPicPr>
        <p:blipFill>
          <a:blip r:embed="rId3"/>
          <a:stretch>
            <a:fillRect/>
          </a:stretch>
        </p:blipFill>
        <p:spPr>
          <a:xfrm>
            <a:off x="786384" y="2669868"/>
            <a:ext cx="7315200" cy="3164182"/>
          </a:xfrm>
          <a:prstGeom prst="rect">
            <a:avLst/>
          </a:prstGeom>
        </p:spPr>
      </p:pic>
      <p:sp>
        <p:nvSpPr>
          <p:cNvPr id="4" name="TextBox 3"/>
          <p:cNvSpPr txBox="1"/>
          <p:nvPr/>
        </p:nvSpPr>
        <p:spPr>
          <a:xfrm>
            <a:off x="822960" y="2011680"/>
            <a:ext cx="7315200" cy="548640"/>
          </a:xfrm>
          <a:prstGeom prst="rect">
            <a:avLst/>
          </a:prstGeom>
          <a:noFill/>
        </p:spPr>
        <p:txBody>
          <a:bodyPr wrap="square" lIns="0" tIns="0" rIns="0" bIns="0">
            <a:spAutoFit/>
          </a:bodyPr>
          <a:lstStyle/>
          <a:p>
            <a:pPr>
              <a:lnSpc>
                <a:spcPct val="108000"/>
              </a:lnSpc>
              <a:spcAft>
                <a:spcPts val="700"/>
              </a:spcAft>
              <a:defRPr sz="2300" b="1">
                <a:solidFill>
                  <a:srgbClr val="000000"/>
                </a:solidFill>
                <a:latin typeface="Calisto MT"/>
              </a:defRPr>
            </a:pPr>
            <a:r>
              <a:t>Resampling changes the training distribution.</a:t>
            </a:r>
          </a:p>
        </p:txBody>
      </p:sp>
      <p:sp>
        <p:nvSpPr>
          <p:cNvPr id="5" name="TextBox 4"/>
          <p:cNvSpPr txBox="1"/>
          <p:nvPr/>
        </p:nvSpPr>
        <p:spPr>
          <a:xfrm>
            <a:off x="8366760" y="2057400"/>
            <a:ext cx="2926080" cy="365760"/>
          </a:xfrm>
          <a:prstGeom prst="rect">
            <a:avLst/>
          </a:prstGeom>
          <a:noFill/>
        </p:spPr>
        <p:txBody>
          <a:bodyPr wrap="square" lIns="0" tIns="0" rIns="0" bIns="0">
            <a:spAutoFit/>
          </a:bodyPr>
          <a:lstStyle/>
          <a:p>
            <a:pPr>
              <a:lnSpc>
                <a:spcPct val="108000"/>
              </a:lnSpc>
              <a:spcAft>
                <a:spcPts val="700"/>
              </a:spcAft>
              <a:defRPr sz="2200" b="1">
                <a:solidFill>
                  <a:srgbClr val="000000"/>
                </a:solidFill>
                <a:latin typeface="Calisto MT"/>
              </a:defRPr>
            </a:pPr>
            <a:r>
              <a:t>Original</a:t>
            </a:r>
          </a:p>
        </p:txBody>
      </p:sp>
      <p:sp>
        <p:nvSpPr>
          <p:cNvPr id="6" name="TextBox 5"/>
          <p:cNvSpPr txBox="1"/>
          <p:nvPr/>
        </p:nvSpPr>
        <p:spPr>
          <a:xfrm>
            <a:off x="8366760" y="2478024"/>
            <a:ext cx="2926080" cy="822960"/>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t>Observed prevalence and feature distribution.</a:t>
            </a:r>
          </a:p>
        </p:txBody>
      </p:sp>
      <p:sp>
        <p:nvSpPr>
          <p:cNvPr id="7" name="TextBox 6"/>
          <p:cNvSpPr txBox="1"/>
          <p:nvPr/>
        </p:nvSpPr>
        <p:spPr>
          <a:xfrm>
            <a:off x="8366760" y="3246120"/>
            <a:ext cx="2926080" cy="365760"/>
          </a:xfrm>
          <a:prstGeom prst="rect">
            <a:avLst/>
          </a:prstGeom>
          <a:noFill/>
        </p:spPr>
        <p:txBody>
          <a:bodyPr wrap="square" lIns="0" tIns="0" rIns="0" bIns="0">
            <a:spAutoFit/>
          </a:bodyPr>
          <a:lstStyle/>
          <a:p>
            <a:pPr>
              <a:lnSpc>
                <a:spcPct val="108000"/>
              </a:lnSpc>
              <a:spcAft>
                <a:spcPts val="700"/>
              </a:spcAft>
              <a:defRPr sz="2200" b="1">
                <a:solidFill>
                  <a:srgbClr val="000000"/>
                </a:solidFill>
                <a:latin typeface="Calisto MT"/>
              </a:defRPr>
            </a:pPr>
            <a:r>
              <a:t>Training</a:t>
            </a:r>
          </a:p>
        </p:txBody>
      </p:sp>
      <p:sp>
        <p:nvSpPr>
          <p:cNvPr id="8" name="TextBox 7"/>
          <p:cNvSpPr txBox="1"/>
          <p:nvPr/>
        </p:nvSpPr>
        <p:spPr>
          <a:xfrm>
            <a:off x="8366760" y="3666744"/>
            <a:ext cx="2926080" cy="822960"/>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t>Rows or weights after the learning intervention.</a:t>
            </a:r>
          </a:p>
        </p:txBody>
      </p:sp>
      <p:sp>
        <p:nvSpPr>
          <p:cNvPr id="9" name="TextBox 8"/>
          <p:cNvSpPr txBox="1"/>
          <p:nvPr/>
        </p:nvSpPr>
        <p:spPr>
          <a:xfrm>
            <a:off x="8366760" y="4434840"/>
            <a:ext cx="2926080" cy="365760"/>
          </a:xfrm>
          <a:prstGeom prst="rect">
            <a:avLst/>
          </a:prstGeom>
          <a:noFill/>
        </p:spPr>
        <p:txBody>
          <a:bodyPr wrap="square" lIns="0" tIns="0" rIns="0" bIns="0">
            <a:spAutoFit/>
          </a:bodyPr>
          <a:lstStyle/>
          <a:p>
            <a:pPr>
              <a:lnSpc>
                <a:spcPct val="108000"/>
              </a:lnSpc>
              <a:spcAft>
                <a:spcPts val="700"/>
              </a:spcAft>
              <a:defRPr sz="2200" b="1">
                <a:solidFill>
                  <a:srgbClr val="000000"/>
                </a:solidFill>
                <a:latin typeface="Calisto MT"/>
              </a:defRPr>
            </a:pPr>
            <a:r>
              <a:t>Deployment</a:t>
            </a:r>
          </a:p>
        </p:txBody>
      </p:sp>
      <p:sp>
        <p:nvSpPr>
          <p:cNvPr id="10" name="TextBox 9"/>
          <p:cNvSpPr txBox="1"/>
          <p:nvPr/>
        </p:nvSpPr>
        <p:spPr>
          <a:xfrm>
            <a:off x="8366760" y="4855464"/>
            <a:ext cx="2926080" cy="975267"/>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rPr lang="en-US"/>
              <a:t>Keep test data untouched </a:t>
            </a:r>
            <a:r>
              <a:t>and </a:t>
            </a:r>
            <a:r>
              <a:rPr lang="en-US"/>
              <a:t>representative of deployment</a:t>
            </a:r>
            <a: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US"/>
              <a:t>Error costs guide metric choice</a:t>
            </a:r>
            <a:endParaRPr/>
          </a:p>
        </p:txBody>
      </p:sp>
      <p:sp>
        <p:nvSpPr>
          <p:cNvPr id="3" name="TextBox 2"/>
          <p:cNvSpPr txBox="1"/>
          <p:nvPr/>
        </p:nvSpPr>
        <p:spPr>
          <a:xfrm>
            <a:off x="822960" y="2057400"/>
            <a:ext cx="10515600" cy="378180"/>
          </a:xfrm>
          <a:prstGeom prst="rect">
            <a:avLst/>
          </a:prstGeom>
          <a:noFill/>
        </p:spPr>
        <p:txBody>
          <a:bodyPr wrap="square" lIns="0" tIns="0" rIns="0" bIns="0">
            <a:spAutoFit/>
          </a:bodyPr>
          <a:lstStyle/>
          <a:p>
            <a:pPr marL="0" indent="0">
              <a:lnSpc>
                <a:spcPct val="110000"/>
              </a:lnSpc>
              <a:spcBef>
                <a:spcPts val="0"/>
              </a:spcBef>
              <a:spcAft>
                <a:spcPts val="800"/>
              </a:spcAft>
              <a:buNone/>
              <a:defRPr sz="2400" b="0">
                <a:solidFill>
                  <a:srgbClr val="000000"/>
                </a:solidFill>
                <a:latin typeface="Calisto MT"/>
              </a:defRPr>
            </a:pPr>
            <a:r>
              <a:rPr lang="en-US"/>
              <a:t>Which costs more: a missed case or a false alarm?</a:t>
            </a:r>
          </a:p>
        </p:txBody>
      </p:sp>
      <p:sp>
        <p:nvSpPr>
          <p:cNvPr id="4" name="TextBox 3"/>
          <p:cNvSpPr txBox="1"/>
          <p:nvPr/>
        </p:nvSpPr>
        <p:spPr>
          <a:xfrm>
            <a:off x="822960" y="2971800"/>
            <a:ext cx="4846320" cy="393506"/>
          </a:xfrm>
          <a:prstGeom prst="rect">
            <a:avLst/>
          </a:prstGeom>
          <a:noFill/>
        </p:spPr>
        <p:txBody>
          <a:bodyPr wrap="square" lIns="0" tIns="0" rIns="0" bIns="0">
            <a:spAutoFit/>
          </a:bodyPr>
          <a:lstStyle/>
          <a:p>
            <a:pPr marL="0" indent="0">
              <a:lnSpc>
                <a:spcPct val="110000"/>
              </a:lnSpc>
              <a:spcAft>
                <a:spcPts val="800"/>
              </a:spcAft>
              <a:buNone/>
              <a:defRPr sz="2500" b="1">
                <a:solidFill>
                  <a:srgbClr val="000000"/>
                </a:solidFill>
                <a:latin typeface="Calisto MT"/>
              </a:defRPr>
            </a:pPr>
            <a:r>
              <a:rPr lang="en-US"/>
              <a:t>Missed cases cost more</a:t>
            </a:r>
          </a:p>
        </p:txBody>
      </p:sp>
      <p:sp>
        <p:nvSpPr>
          <p:cNvPr id="5" name="TextBox 4"/>
          <p:cNvSpPr txBox="1"/>
          <p:nvPr/>
        </p:nvSpPr>
        <p:spPr>
          <a:xfrm>
            <a:off x="822960" y="3639312"/>
            <a:ext cx="4892040" cy="1247008"/>
          </a:xfrm>
          <a:prstGeom prst="rect">
            <a:avLst/>
          </a:prstGeom>
          <a:noFill/>
        </p:spPr>
        <p:txBody>
          <a:bodyPr wrap="square" lIns="0" tIns="0" rIns="0" bIns="0">
            <a:spAutoFit/>
          </a:bodyPr>
          <a:lstStyle/>
          <a:p>
            <a:pPr marL="0" indent="0">
              <a:lnSpc>
                <a:spcPct val="110000"/>
              </a:lnSpc>
              <a:spcAft>
                <a:spcPts val="800"/>
              </a:spcAft>
              <a:buNone/>
              <a:defRPr sz="2100" b="0">
                <a:solidFill>
                  <a:srgbClr val="000000"/>
                </a:solidFill>
                <a:latin typeface="Calisto MT"/>
              </a:defRPr>
            </a:pPr>
            <a:r>
              <a:rPr lang="en-US"/>
              <a:t>Recall: share of positives detected.</a:t>
            </a:r>
          </a:p>
          <a:p>
            <a:pPr marL="0" indent="0">
              <a:lnSpc>
                <a:spcPct val="110000"/>
              </a:lnSpc>
              <a:spcAft>
                <a:spcPts val="800"/>
              </a:spcAft>
              <a:buNone/>
              <a:defRPr sz="2100" b="0">
                <a:solidFill>
                  <a:srgbClr val="000000"/>
                </a:solidFill>
                <a:latin typeface="Calisto MT"/>
              </a:defRPr>
            </a:pPr>
            <a:r>
              <a:rPr lang="en-US"/>
              <a:t>Test a lower threshold.</a:t>
            </a:r>
          </a:p>
          <a:p>
            <a:pPr marL="0" indent="0">
              <a:lnSpc>
                <a:spcPct val="110000"/>
              </a:lnSpc>
              <a:spcAft>
                <a:spcPts val="800"/>
              </a:spcAft>
              <a:buNone/>
              <a:defRPr sz="2100" b="0">
                <a:solidFill>
                  <a:srgbClr val="000000"/>
                </a:solidFill>
                <a:latin typeface="Calisto MT"/>
              </a:defRPr>
            </a:pPr>
            <a:r>
              <a:rPr lang="en-US"/>
              <a:t>Check false alarms and workload.</a:t>
            </a:r>
          </a:p>
        </p:txBody>
      </p:sp>
      <p:sp>
        <p:nvSpPr>
          <p:cNvPr id="6" name="TextBox 5"/>
          <p:cNvSpPr txBox="1"/>
          <p:nvPr/>
        </p:nvSpPr>
        <p:spPr>
          <a:xfrm>
            <a:off x="6400800" y="2971800"/>
            <a:ext cx="4846320" cy="393506"/>
          </a:xfrm>
          <a:prstGeom prst="rect">
            <a:avLst/>
          </a:prstGeom>
          <a:noFill/>
        </p:spPr>
        <p:txBody>
          <a:bodyPr wrap="square" lIns="0" tIns="0" rIns="0" bIns="0">
            <a:spAutoFit/>
          </a:bodyPr>
          <a:lstStyle/>
          <a:p>
            <a:pPr marL="0" indent="0">
              <a:lnSpc>
                <a:spcPct val="110000"/>
              </a:lnSpc>
              <a:spcAft>
                <a:spcPts val="800"/>
              </a:spcAft>
              <a:buNone/>
              <a:defRPr sz="2500" b="1">
                <a:solidFill>
                  <a:srgbClr val="000000"/>
                </a:solidFill>
                <a:latin typeface="Calisto MT"/>
              </a:defRPr>
            </a:pPr>
            <a:r>
              <a:rPr lang="en-US"/>
              <a:t>False alarms cost more</a:t>
            </a:r>
          </a:p>
        </p:txBody>
      </p:sp>
      <p:sp>
        <p:nvSpPr>
          <p:cNvPr id="7" name="TextBox 6"/>
          <p:cNvSpPr txBox="1"/>
          <p:nvPr/>
        </p:nvSpPr>
        <p:spPr>
          <a:xfrm>
            <a:off x="6400800" y="3639312"/>
            <a:ext cx="4846320" cy="1247008"/>
          </a:xfrm>
          <a:prstGeom prst="rect">
            <a:avLst/>
          </a:prstGeom>
          <a:noFill/>
        </p:spPr>
        <p:txBody>
          <a:bodyPr wrap="square" lIns="0" tIns="0" rIns="0" bIns="0">
            <a:spAutoFit/>
          </a:bodyPr>
          <a:lstStyle/>
          <a:p>
            <a:pPr marL="0" indent="0">
              <a:lnSpc>
                <a:spcPct val="110000"/>
              </a:lnSpc>
              <a:spcAft>
                <a:spcPts val="800"/>
              </a:spcAft>
              <a:buNone/>
              <a:defRPr sz="2100" b="0">
                <a:solidFill>
                  <a:srgbClr val="000000"/>
                </a:solidFill>
                <a:latin typeface="Calisto MT"/>
              </a:defRPr>
            </a:pPr>
            <a:r>
              <a:rPr lang="en-US"/>
              <a:t>Precision: share of </a:t>
            </a:r>
            <a:r>
              <a:t>alerts </a:t>
            </a:r>
            <a:r>
              <a:rPr lang="en-US"/>
              <a:t>that are true.</a:t>
            </a:r>
          </a:p>
          <a:p>
            <a:pPr marL="0" indent="0">
              <a:lnSpc>
                <a:spcPct val="110000"/>
              </a:lnSpc>
              <a:spcAft>
                <a:spcPts val="800"/>
              </a:spcAft>
              <a:buNone/>
              <a:defRPr sz="2100" b="0">
                <a:solidFill>
                  <a:srgbClr val="000000"/>
                </a:solidFill>
                <a:latin typeface="Calisto MT"/>
              </a:defRPr>
            </a:pPr>
            <a:r>
              <a:rPr lang="en-US"/>
              <a:t>Test a higher threshold.</a:t>
            </a:r>
          </a:p>
          <a:p>
            <a:pPr marL="0" indent="0">
              <a:lnSpc>
                <a:spcPct val="110000"/>
              </a:lnSpc>
              <a:spcAft>
                <a:spcPts val="800"/>
              </a:spcAft>
              <a:buNone/>
              <a:defRPr sz="2100" b="0">
                <a:solidFill>
                  <a:srgbClr val="000000"/>
                </a:solidFill>
                <a:latin typeface="Calisto MT"/>
              </a:defRPr>
            </a:pPr>
            <a:r>
              <a:rPr lang="en-US"/>
              <a:t>Check </a:t>
            </a:r>
            <a:r>
              <a:t>missed</a:t>
            </a:r>
            <a:r>
              <a:rPr lang="en-US"/>
              <a:t> positives.</a:t>
            </a:r>
          </a:p>
        </p:txBody>
      </p:sp>
      <p:sp>
        <p:nvSpPr>
          <p:cNvPr id="8" name="TextBox 7"/>
          <p:cNvSpPr txBox="1"/>
          <p:nvPr/>
        </p:nvSpPr>
        <p:spPr>
          <a:xfrm>
            <a:off x="822960" y="5212080"/>
            <a:ext cx="10515600" cy="330603"/>
          </a:xfrm>
          <a:prstGeom prst="rect">
            <a:avLst/>
          </a:prstGeom>
          <a:noFill/>
        </p:spPr>
        <p:txBody>
          <a:bodyPr wrap="square" lIns="0" tIns="0" rIns="0" bIns="0">
            <a:spAutoFit/>
          </a:bodyPr>
          <a:lstStyle/>
          <a:p>
            <a:pPr marL="0" indent="0">
              <a:lnSpc>
                <a:spcPct val="110000"/>
              </a:lnSpc>
              <a:spcAft>
                <a:spcPts val="800"/>
              </a:spcAft>
              <a:buNone/>
              <a:defRPr sz="2100" b="1">
                <a:solidFill>
                  <a:srgbClr val="000000"/>
                </a:solidFill>
                <a:latin typeface="Calisto MT"/>
              </a:defRPr>
            </a:pPr>
            <a:r>
              <a:rPr lang="en-US"/>
              <a:t>Both costs known? Compare expected error cost on validation data</a:t>
            </a:r>
            <a:r>
              <a:t>.</a:t>
            </a:r>
            <a:endParaRPr lang="en-US"/>
          </a:p>
        </p:txBody>
      </p:sp>
      <p:sp>
        <p:nvSpPr>
          <p:cNvPr id="9" name="TextBox 8"/>
          <p:cNvSpPr txBox="1"/>
          <p:nvPr/>
        </p:nvSpPr>
        <p:spPr>
          <a:xfrm>
            <a:off x="822960" y="5669280"/>
            <a:ext cx="10515600" cy="315086"/>
          </a:xfrm>
          <a:prstGeom prst="rect">
            <a:avLst/>
          </a:prstGeom>
          <a:noFill/>
        </p:spPr>
        <p:txBody>
          <a:bodyPr wrap="square" lIns="0" tIns="0" rIns="0" bIns="0">
            <a:spAutoFit/>
          </a:bodyPr>
          <a:lstStyle/>
          <a:p>
            <a:pPr marL="0" indent="0">
              <a:lnSpc>
                <a:spcPct val="110000"/>
              </a:lnSpc>
              <a:spcAft>
                <a:spcPts val="800"/>
              </a:spcAft>
              <a:buNone/>
              <a:defRPr sz="2000" b="0">
                <a:solidFill>
                  <a:srgbClr val="000000"/>
                </a:solidFill>
                <a:latin typeface="Calisto MT"/>
              </a:defRPr>
            </a:pPr>
            <a:r>
              <a:rPr lang="en-US"/>
              <a:t>Review limit? Choose </a:t>
            </a:r>
            <a:r>
              <a:t>a cutoff </a:t>
            </a:r>
            <a:r>
              <a:rPr lang="en-US"/>
              <a:t>within </a:t>
            </a:r>
            <a:r>
              <a:t>capacity</a:t>
            </a:r>
            <a:r>
              <a:rPr lang="en-US"/>
              <a:t>, such as 200 alerts per day</a:t>
            </a:r>
            <a: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Random undersampling</a:t>
            </a:r>
          </a:p>
        </p:txBody>
      </p:sp>
      <p:sp>
        <p:nvSpPr>
          <p:cNvPr id="3" name="TextBox 2"/>
          <p:cNvSpPr txBox="1"/>
          <p:nvPr/>
        </p:nvSpPr>
        <p:spPr>
          <a:xfrm>
            <a:off x="822960" y="2148840"/>
            <a:ext cx="10515600" cy="502920"/>
          </a:xfrm>
          <a:prstGeom prst="rect">
            <a:avLst/>
          </a:prstGeom>
          <a:noFill/>
        </p:spPr>
        <p:txBody>
          <a:bodyPr wrap="square" lIns="0" tIns="0" rIns="0" bIns="0">
            <a:spAutoFit/>
          </a:bodyPr>
          <a:lstStyle/>
          <a:p>
            <a:pPr>
              <a:lnSpc>
                <a:spcPct val="108000"/>
              </a:lnSpc>
              <a:spcAft>
                <a:spcPts val="700"/>
              </a:spcAft>
              <a:defRPr sz="2600" b="1">
                <a:solidFill>
                  <a:srgbClr val="000000"/>
                </a:solidFill>
                <a:latin typeface="Calisto MT"/>
              </a:defRPr>
            </a:pPr>
            <a:r>
              <a:t>Remove majority-class rows</a:t>
            </a:r>
          </a:p>
        </p:txBody>
      </p:sp>
      <p:sp>
        <p:nvSpPr>
          <p:cNvPr id="4" name="TextBox 3"/>
          <p:cNvSpPr txBox="1"/>
          <p:nvPr/>
        </p:nvSpPr>
        <p:spPr>
          <a:xfrm>
            <a:off x="822960" y="2971800"/>
            <a:ext cx="4983480" cy="411480"/>
          </a:xfrm>
          <a:prstGeom prst="rect">
            <a:avLst/>
          </a:prstGeom>
          <a:noFill/>
        </p:spPr>
        <p:txBody>
          <a:bodyPr wrap="square" lIns="0" tIns="0" rIns="0" bIns="0">
            <a:spAutoFit/>
          </a:bodyPr>
          <a:lstStyle/>
          <a:p>
            <a:pPr>
              <a:lnSpc>
                <a:spcPct val="108000"/>
              </a:lnSpc>
              <a:spcAft>
                <a:spcPts val="700"/>
              </a:spcAft>
              <a:defRPr sz="2300" b="1">
                <a:solidFill>
                  <a:srgbClr val="000000"/>
                </a:solidFill>
                <a:latin typeface="Calisto MT"/>
              </a:defRPr>
            </a:pPr>
            <a:r>
              <a:t>Benefit</a:t>
            </a:r>
          </a:p>
        </p:txBody>
      </p:sp>
      <p:sp>
        <p:nvSpPr>
          <p:cNvPr id="5" name="TextBox 4"/>
          <p:cNvSpPr txBox="1"/>
          <p:nvPr/>
        </p:nvSpPr>
        <p:spPr>
          <a:xfrm>
            <a:off x="822960" y="3538728"/>
            <a:ext cx="4983480" cy="1024063"/>
          </a:xfrm>
          <a:prstGeom prst="rect">
            <a:avLst/>
          </a:prstGeom>
          <a:noFill/>
        </p:spPr>
        <p:txBody>
          <a:bodyPr wrap="square" lIns="0" tIns="0" rIns="0" bIns="0">
            <a:spAutoFit/>
          </a:bodyPr>
          <a:lstStyle/>
          <a:p>
            <a:pPr>
              <a:lnSpc>
                <a:spcPct val="108000"/>
              </a:lnSpc>
              <a:spcAft>
                <a:spcPts val="700"/>
              </a:spcAft>
              <a:defRPr sz="2100" b="0">
                <a:solidFill>
                  <a:srgbClr val="000000"/>
                </a:solidFill>
                <a:latin typeface="Calisto MT"/>
              </a:defRPr>
            </a:pPr>
            <a:r>
              <a:rPr lang="en-US"/>
              <a:t>Smaller </a:t>
            </a:r>
            <a:r>
              <a:t>training </a:t>
            </a:r>
            <a:r>
              <a:rPr lang="en-US"/>
              <a:t>sets </a:t>
            </a:r>
            <a:r>
              <a:t>fit faster</a:t>
            </a:r>
            <a:r>
              <a:rPr lang="en-US"/>
              <a:t>,</a:t>
            </a:r>
            <a:r>
              <a:t> reduce majority-class dominance</a:t>
            </a:r>
            <a:r>
              <a:rPr lang="en-US"/>
              <a:t>, and may improve minority recall</a:t>
            </a:r>
            <a:r>
              <a:t>.</a:t>
            </a:r>
          </a:p>
        </p:txBody>
      </p:sp>
      <p:sp>
        <p:nvSpPr>
          <p:cNvPr id="6" name="TextBox 5"/>
          <p:cNvSpPr txBox="1"/>
          <p:nvPr/>
        </p:nvSpPr>
        <p:spPr>
          <a:xfrm>
            <a:off x="6309360" y="2971800"/>
            <a:ext cx="4983480" cy="411480"/>
          </a:xfrm>
          <a:prstGeom prst="rect">
            <a:avLst/>
          </a:prstGeom>
          <a:noFill/>
        </p:spPr>
        <p:txBody>
          <a:bodyPr wrap="square" lIns="0" tIns="0" rIns="0" bIns="0">
            <a:spAutoFit/>
          </a:bodyPr>
          <a:lstStyle/>
          <a:p>
            <a:pPr>
              <a:lnSpc>
                <a:spcPct val="108000"/>
              </a:lnSpc>
              <a:spcAft>
                <a:spcPts val="700"/>
              </a:spcAft>
              <a:defRPr sz="2300" b="1">
                <a:solidFill>
                  <a:srgbClr val="000000"/>
                </a:solidFill>
                <a:latin typeface="Calisto MT"/>
              </a:defRPr>
            </a:pPr>
            <a:r>
              <a:t>Tradeoff</a:t>
            </a:r>
          </a:p>
        </p:txBody>
      </p:sp>
      <p:sp>
        <p:nvSpPr>
          <p:cNvPr id="7" name="TextBox 6"/>
          <p:cNvSpPr txBox="1"/>
          <p:nvPr/>
        </p:nvSpPr>
        <p:spPr>
          <a:xfrm>
            <a:off x="6309360" y="3538728"/>
            <a:ext cx="4983480" cy="1234440"/>
          </a:xfrm>
          <a:prstGeom prst="rect">
            <a:avLst/>
          </a:prstGeom>
          <a:noFill/>
        </p:spPr>
        <p:txBody>
          <a:bodyPr wrap="square" lIns="0" tIns="0" rIns="0" bIns="0">
            <a:spAutoFit/>
          </a:bodyPr>
          <a:lstStyle/>
          <a:p>
            <a:pPr>
              <a:lnSpc>
                <a:spcPct val="108000"/>
              </a:lnSpc>
              <a:spcAft>
                <a:spcPts val="700"/>
              </a:spcAft>
              <a:defRPr sz="2100" b="0">
                <a:solidFill>
                  <a:srgbClr val="000000"/>
                </a:solidFill>
                <a:latin typeface="Calisto MT"/>
              </a:defRPr>
            </a:pPr>
            <a:r>
              <a:t>Discarded majority cases may contain useful structure, especially near the class boundary.</a:t>
            </a:r>
          </a:p>
        </p:txBody>
      </p:sp>
      <p:sp>
        <p:nvSpPr>
          <p:cNvPr id="8" name="TextBox 7"/>
          <p:cNvSpPr txBox="1"/>
          <p:nvPr/>
        </p:nvSpPr>
        <p:spPr>
          <a:xfrm>
            <a:off x="822960" y="5257800"/>
            <a:ext cx="10469880" cy="685800"/>
          </a:xfrm>
          <a:prstGeom prst="rect">
            <a:avLst/>
          </a:prstGeom>
          <a:noFill/>
        </p:spPr>
        <p:txBody>
          <a:bodyPr wrap="square" lIns="0" tIns="0" rIns="0" bIns="0">
            <a:spAutoFit/>
          </a:bodyPr>
          <a:lstStyle/>
          <a:p>
            <a:pPr>
              <a:lnSpc>
                <a:spcPct val="108000"/>
              </a:lnSpc>
              <a:spcAft>
                <a:spcPts val="700"/>
              </a:spcAft>
              <a:defRPr sz="2100" b="0">
                <a:solidFill>
                  <a:srgbClr val="000000"/>
                </a:solidFill>
                <a:latin typeface="Calisto MT"/>
              </a:defRPr>
            </a:pPr>
            <a:r>
              <a:t>Best fit: an extremely large, redundant majority class relative to computation needs.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Random oversampling</a:t>
            </a:r>
          </a:p>
        </p:txBody>
      </p:sp>
      <p:sp>
        <p:nvSpPr>
          <p:cNvPr id="3" name="TextBox 2"/>
          <p:cNvSpPr txBox="1"/>
          <p:nvPr/>
        </p:nvSpPr>
        <p:spPr>
          <a:xfrm>
            <a:off x="804672" y="2194560"/>
            <a:ext cx="10515600" cy="1351267"/>
          </a:xfrm>
          <a:prstGeom prst="rect">
            <a:avLst/>
          </a:prstGeom>
          <a:noFill/>
        </p:spPr>
        <p:txBody>
          <a:bodyPr wrap="square" lIns="0" tIns="0" rIns="0" bIns="0">
            <a:spAutoFit/>
          </a:bodyPr>
          <a:lstStyle/>
          <a:p>
            <a:pPr marL="228600" indent="-228600">
              <a:lnSpc>
                <a:spcPct val="110000"/>
              </a:lnSpc>
              <a:spcBef>
                <a:spcPts val="0"/>
              </a:spcBef>
              <a:spcAft>
                <a:spcPts val="1400"/>
              </a:spcAft>
              <a:buChar char="•"/>
              <a:defRPr sz="2000" b="0">
                <a:solidFill>
                  <a:srgbClr val="000000"/>
                </a:solidFill>
                <a:latin typeface="Calisto MT"/>
              </a:defRPr>
            </a:pPr>
            <a:r>
              <a:t>Duplicate minority examples to </a:t>
            </a:r>
            <a:r>
              <a:rPr lang="en-US"/>
              <a:t>balance training </a:t>
            </a:r>
            <a:r>
              <a:t>influence.</a:t>
            </a:r>
            <a:endParaRPr lang="en-US"/>
          </a:p>
          <a:p>
            <a:pPr marL="228600" indent="-228600">
              <a:lnSpc>
                <a:spcPct val="110000"/>
              </a:lnSpc>
              <a:spcBef>
                <a:spcPts val="0"/>
              </a:spcBef>
              <a:spcAft>
                <a:spcPts val="1400"/>
              </a:spcAft>
              <a:buChar char="•"/>
              <a:defRPr sz="2000">
                <a:solidFill>
                  <a:srgbClr val="000000"/>
                </a:solidFill>
                <a:latin typeface="Calisto MT"/>
              </a:defRPr>
            </a:pPr>
            <a:r>
              <a:rPr lang="en-US"/>
              <a:t>Simple </a:t>
            </a:r>
            <a:r>
              <a:t>and </a:t>
            </a:r>
            <a:r>
              <a:rPr lang="en-US"/>
              <a:t>model-agnostic. Keeps all majority observations</a:t>
            </a:r>
            <a:r>
              <a:t>.</a:t>
            </a:r>
            <a:endParaRPr lang="en-US"/>
          </a:p>
          <a:p>
            <a:pPr marL="228600" indent="-228600">
              <a:lnSpc>
                <a:spcPct val="110000"/>
              </a:lnSpc>
              <a:spcBef>
                <a:spcPts val="0"/>
              </a:spcBef>
              <a:spcAft>
                <a:spcPts val="1400"/>
              </a:spcAft>
              <a:buChar char="•"/>
              <a:defRPr sz="2000">
                <a:solidFill>
                  <a:srgbClr val="000000"/>
                </a:solidFill>
                <a:latin typeface="Calisto MT"/>
              </a:defRPr>
            </a:pPr>
            <a:r>
              <a:rPr lang="en-US"/>
              <a:t>Duplicates </a:t>
            </a:r>
            <a:r>
              <a:t>can </a:t>
            </a:r>
            <a:r>
              <a:rPr lang="en-US"/>
              <a:t>overfit </a:t>
            </a:r>
            <a:r>
              <a:t>flexible models or </a:t>
            </a:r>
            <a:r>
              <a:rPr lang="en-US"/>
              <a:t>tiny </a:t>
            </a:r>
            <a:r>
              <a:t>minority </a:t>
            </a:r>
            <a:r>
              <a:rPr lang="en-US"/>
              <a:t>samples</a:t>
            </a:r>
            <a:r>
              <a:t>.</a:t>
            </a:r>
            <a:endParaRPr lang="en-US"/>
          </a:p>
        </p:txBody>
      </p:sp>
      <p:sp>
        <p:nvSpPr>
          <p:cNvPr id="4" name="TextBox 3"/>
          <p:cNvSpPr txBox="1"/>
          <p:nvPr/>
        </p:nvSpPr>
        <p:spPr>
          <a:xfrm>
            <a:off x="822960" y="5166360"/>
            <a:ext cx="10469880" cy="372281"/>
          </a:xfrm>
          <a:prstGeom prst="rect">
            <a:avLst/>
          </a:prstGeom>
          <a:noFill/>
        </p:spPr>
        <p:txBody>
          <a:bodyPr wrap="square" lIns="0" tIns="0" rIns="0" bIns="0">
            <a:spAutoFit/>
          </a:bodyPr>
          <a:lstStyle/>
          <a:p>
            <a:pPr>
              <a:lnSpc>
                <a:spcPct val="108000"/>
              </a:lnSpc>
              <a:spcAft>
                <a:spcPts val="700"/>
              </a:spcAft>
              <a:defRPr sz="2400" b="1">
                <a:solidFill>
                  <a:srgbClr val="000000"/>
                </a:solidFill>
                <a:latin typeface="Calisto MT"/>
              </a:defRPr>
            </a:pPr>
            <a:r>
              <a:rPr lang="en-US"/>
              <a:t>Oversample </a:t>
            </a:r>
            <a:r>
              <a:t>only within each </a:t>
            </a:r>
            <a:r>
              <a:rPr lang="en-US"/>
              <a:t>training</a:t>
            </a:r>
            <a:r>
              <a:t> fold.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Class weighting and error costs</a:t>
            </a:r>
          </a:p>
        </p:txBody>
      </p:sp>
      <p:sp>
        <p:nvSpPr>
          <p:cNvPr id="3" name="TextBox 2"/>
          <p:cNvSpPr txBox="1"/>
          <p:nvPr/>
        </p:nvSpPr>
        <p:spPr>
          <a:xfrm>
            <a:off x="822960" y="2057400"/>
            <a:ext cx="10515600" cy="548640"/>
          </a:xfrm>
          <a:prstGeom prst="rect">
            <a:avLst/>
          </a:prstGeom>
          <a:noFill/>
        </p:spPr>
        <p:txBody>
          <a:bodyPr wrap="square" lIns="0" tIns="0" rIns="0" bIns="0">
            <a:spAutoFit/>
          </a:bodyPr>
          <a:lstStyle/>
          <a:p>
            <a:pPr>
              <a:lnSpc>
                <a:spcPct val="108000"/>
              </a:lnSpc>
              <a:spcAft>
                <a:spcPts val="700"/>
              </a:spcAft>
              <a:defRPr sz="2200" b="0">
                <a:solidFill>
                  <a:srgbClr val="000000"/>
                </a:solidFill>
                <a:latin typeface="Calisto MT"/>
              </a:defRPr>
            </a:pPr>
            <a:r>
              <a:t>Increase the loss attached to minority-class errors without changing the rows.</a:t>
            </a:r>
          </a:p>
        </p:txBody>
      </p:sp>
      <p:sp>
        <p:nvSpPr>
          <p:cNvPr id="4" name="TextBox 3"/>
          <p:cNvSpPr txBox="1"/>
          <p:nvPr/>
        </p:nvSpPr>
        <p:spPr>
          <a:xfrm>
            <a:off x="932688" y="2880360"/>
            <a:ext cx="10332720" cy="777240"/>
          </a:xfrm>
          <a:prstGeom prst="rect">
            <a:avLst/>
          </a:prstGeom>
          <a:noFill/>
        </p:spPr>
        <p:txBody>
          <a:bodyPr wrap="square" lIns="0" tIns="0" rIns="0" bIns="0">
            <a:spAutoFit/>
          </a:bodyPr>
          <a:lstStyle/>
          <a:p>
            <a:pPr>
              <a:lnSpc>
                <a:spcPct val="108000"/>
              </a:lnSpc>
              <a:spcAft>
                <a:spcPts val="700"/>
              </a:spcAft>
              <a:defRPr sz="2500" b="0">
                <a:solidFill>
                  <a:srgbClr val="000000"/>
                </a:solidFill>
                <a:latin typeface="Cambria Math"/>
              </a:defRPr>
            </a:pPr>
            <a:r>
              <a:t>L = −∑ᵢ₌₁ⁿ [w₁yᵢ log(pᵢ) + w₀(1 − yᵢ) log(1 − pᵢ)]</a:t>
            </a:r>
          </a:p>
        </p:txBody>
      </p:sp>
      <p:sp>
        <p:nvSpPr>
          <p:cNvPr id="5" name="TextBox 4"/>
          <p:cNvSpPr txBox="1"/>
          <p:nvPr/>
        </p:nvSpPr>
        <p:spPr>
          <a:xfrm>
            <a:off x="804672" y="3840480"/>
            <a:ext cx="10515600" cy="1689822"/>
          </a:xfrm>
          <a:prstGeom prst="rect">
            <a:avLst/>
          </a:prstGeom>
          <a:noFill/>
        </p:spPr>
        <p:txBody>
          <a:bodyPr wrap="square" lIns="0" tIns="0" rIns="0" bIns="0">
            <a:spAutoFit/>
          </a:bodyPr>
          <a:lstStyle/>
          <a:p>
            <a:pPr marL="228600" indent="-228600">
              <a:lnSpc>
                <a:spcPct val="110000"/>
              </a:lnSpc>
              <a:spcBef>
                <a:spcPts val="0"/>
              </a:spcBef>
              <a:spcAft>
                <a:spcPts val="1400"/>
              </a:spcAft>
              <a:buChar char="•"/>
              <a:defRPr sz="2000" b="0">
                <a:solidFill>
                  <a:srgbClr val="000000"/>
                </a:solidFill>
                <a:latin typeface="Calisto MT"/>
              </a:defRPr>
            </a:pPr>
            <a:r>
              <a:t>Larger w₁ makes positive-class errors more influential during training.</a:t>
            </a:r>
            <a:endParaRPr lang="en-US"/>
          </a:p>
          <a:p>
            <a:pPr marL="228600" indent="-228600">
              <a:lnSpc>
                <a:spcPct val="110000"/>
              </a:lnSpc>
              <a:spcBef>
                <a:spcPts val="0"/>
              </a:spcBef>
              <a:spcAft>
                <a:spcPts val="1400"/>
              </a:spcAft>
              <a:buChar char="•"/>
              <a:defRPr sz="2000">
                <a:solidFill>
                  <a:srgbClr val="000000"/>
                </a:solidFill>
                <a:latin typeface="Calisto MT"/>
              </a:defRPr>
            </a:pPr>
            <a:r>
              <a:t>Use class_weight="balanced" or sample_weight where the estimator supports it.</a:t>
            </a:r>
            <a:endParaRPr lang="en-US"/>
          </a:p>
          <a:p>
            <a:pPr marL="228600" indent="-228600">
              <a:lnSpc>
                <a:spcPct val="110000"/>
              </a:lnSpc>
              <a:spcBef>
                <a:spcPts val="0"/>
              </a:spcBef>
              <a:spcAft>
                <a:spcPts val="1400"/>
              </a:spcAft>
              <a:buChar char="•"/>
              <a:defRPr sz="2000">
                <a:solidFill>
                  <a:srgbClr val="000000"/>
                </a:solidFill>
                <a:latin typeface="Calisto MT"/>
              </a:defRPr>
            </a:pPr>
            <a:r>
              <a:t>Keep all observations and avoid synthetic rows. Tune weights against the task, then validate calibration and threshold performance.</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SMOTE: synthetic minority examples</a:t>
            </a:r>
          </a:p>
        </p:txBody>
      </p:sp>
      <p:pic>
        <p:nvPicPr>
          <p:cNvPr id="3" name="Picture 2" descr="03 smote geometry.png"/>
          <p:cNvPicPr>
            <a:picLocks noChangeAspect="1"/>
          </p:cNvPicPr>
          <p:nvPr/>
        </p:nvPicPr>
        <p:blipFill>
          <a:blip r:embed="rId3"/>
          <a:stretch>
            <a:fillRect/>
          </a:stretch>
        </p:blipFill>
        <p:spPr>
          <a:xfrm>
            <a:off x="809327" y="2011680"/>
            <a:ext cx="5925145" cy="4023360"/>
          </a:xfrm>
          <a:prstGeom prst="rect">
            <a:avLst/>
          </a:prstGeom>
        </p:spPr>
      </p:pic>
      <p:sp>
        <p:nvSpPr>
          <p:cNvPr id="4" name="TextBox 3"/>
          <p:cNvSpPr txBox="1"/>
          <p:nvPr/>
        </p:nvSpPr>
        <p:spPr>
          <a:xfrm>
            <a:off x="7086600" y="2148840"/>
            <a:ext cx="4160520" cy="3732625"/>
          </a:xfrm>
          <a:prstGeom prst="rect">
            <a:avLst/>
          </a:prstGeom>
          <a:noFill/>
        </p:spPr>
        <p:txBody>
          <a:bodyPr wrap="square" lIns="0" tIns="0" rIns="0" bIns="0">
            <a:spAutoFit/>
          </a:bodyPr>
          <a:lstStyle/>
          <a:p>
            <a:pPr marL="228600" indent="-228600">
              <a:lnSpc>
                <a:spcPct val="110000"/>
              </a:lnSpc>
              <a:spcBef>
                <a:spcPts val="0"/>
              </a:spcBef>
              <a:spcAft>
                <a:spcPts val="1400"/>
              </a:spcAft>
              <a:buChar char="•"/>
              <a:defRPr sz="1900" b="0">
                <a:solidFill>
                  <a:srgbClr val="000000"/>
                </a:solidFill>
                <a:latin typeface="Calisto MT"/>
              </a:defRPr>
            </a:pPr>
            <a:r>
              <a:t>Interpolate minority </a:t>
            </a:r>
            <a:r>
              <a:rPr lang="en-US"/>
              <a:t>neighbors to add variation </a:t>
            </a:r>
            <a:r>
              <a:t>and </a:t>
            </a:r>
            <a:r>
              <a:rPr lang="en-US"/>
              <a:t>smooth sparse </a:t>
            </a:r>
            <a:r>
              <a:t>minority </a:t>
            </a:r>
            <a:r>
              <a:rPr lang="en-US"/>
              <a:t>regions</a:t>
            </a:r>
            <a:r>
              <a:t>.</a:t>
            </a:r>
            <a:endParaRPr lang="en-US"/>
          </a:p>
          <a:p>
            <a:pPr marL="228600" indent="-228600">
              <a:lnSpc>
                <a:spcPct val="110000"/>
              </a:lnSpc>
              <a:spcBef>
                <a:spcPts val="0"/>
              </a:spcBef>
              <a:spcAft>
                <a:spcPts val="1400"/>
              </a:spcAft>
              <a:buChar char="•"/>
              <a:defRPr sz="1900">
                <a:solidFill>
                  <a:srgbClr val="000000"/>
                </a:solidFill>
                <a:latin typeface="Calisto MT"/>
              </a:defRPr>
            </a:pPr>
            <a:r>
              <a:t>The new point lies on the segment connecting the two examples.</a:t>
            </a:r>
            <a:endParaRPr lang="en-US"/>
          </a:p>
          <a:p>
            <a:pPr marL="228600" indent="-228600">
              <a:lnSpc>
                <a:spcPct val="110000"/>
              </a:lnSpc>
              <a:spcBef>
                <a:spcPts val="0"/>
              </a:spcBef>
              <a:spcAft>
                <a:spcPts val="1400"/>
              </a:spcAft>
              <a:buChar char="•"/>
              <a:defRPr sz="1900">
                <a:solidFill>
                  <a:srgbClr val="000000"/>
                </a:solidFill>
                <a:latin typeface="Calisto MT"/>
              </a:defRPr>
            </a:pPr>
            <a:r>
              <a:t>Interpolation must create plausible cases. Scale numeric features before distance-based synthesis.</a:t>
            </a:r>
            <a:endParaRPr lang="en-US"/>
          </a:p>
          <a:p>
            <a:pPr marL="228600" indent="-228600">
              <a:lnSpc>
                <a:spcPct val="110000"/>
              </a:lnSpc>
              <a:spcBef>
                <a:spcPts val="0"/>
              </a:spcBef>
              <a:spcAft>
                <a:spcPts val="1400"/>
              </a:spcAft>
              <a:buChar char="•"/>
              <a:defRPr sz="1900">
                <a:solidFill>
                  <a:srgbClr val="000000"/>
                </a:solidFill>
                <a:latin typeface="Calisto MT"/>
              </a:defRPr>
            </a:pPr>
            <a:r>
              <a:t>Use an appropriate method for categorical or mixed data.</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SMOTE: interpolation mathematics</a:t>
            </a:r>
          </a:p>
        </p:txBody>
      </p:sp>
      <p:sp>
        <p:nvSpPr>
          <p:cNvPr id="3" name="TextBox 2"/>
          <p:cNvSpPr txBox="1"/>
          <p:nvPr/>
        </p:nvSpPr>
        <p:spPr>
          <a:xfrm>
            <a:off x="822960" y="2011680"/>
            <a:ext cx="10515600" cy="438912"/>
          </a:xfrm>
          <a:prstGeom prst="rect">
            <a:avLst/>
          </a:prstGeom>
          <a:noFill/>
        </p:spPr>
        <p:txBody>
          <a:bodyPr wrap="square" lIns="0" tIns="0" rIns="0" bIns="0">
            <a:spAutoFit/>
          </a:bodyPr>
          <a:lstStyle/>
          <a:p>
            <a:pPr>
              <a:lnSpc>
                <a:spcPct val="106000"/>
              </a:lnSpc>
              <a:spcAft>
                <a:spcPts val="800"/>
              </a:spcAft>
              <a:defRPr sz="2000" b="0">
                <a:solidFill>
                  <a:srgbClr val="000000"/>
                </a:solidFill>
                <a:latin typeface="Calisto MT"/>
              </a:defRPr>
            </a:pPr>
            <a:r>
              <a:t>Let xᵢ ∈ ℝᵈ be a minority observation and xⱼ a minority neighbor.</a:t>
            </a:r>
          </a:p>
        </p:txBody>
      </p:sp>
      <p:sp>
        <p:nvSpPr>
          <p:cNvPr id="4" name="TextBox 3"/>
          <p:cNvSpPr txBox="1"/>
          <p:nvPr/>
        </p:nvSpPr>
        <p:spPr>
          <a:xfrm>
            <a:off x="822960" y="2615184"/>
            <a:ext cx="3108960" cy="502920"/>
          </a:xfrm>
          <a:prstGeom prst="rect">
            <a:avLst/>
          </a:prstGeom>
          <a:noFill/>
        </p:spPr>
        <p:txBody>
          <a:bodyPr wrap="square" lIns="0" tIns="0" rIns="0" bIns="0">
            <a:spAutoFit/>
          </a:bodyPr>
          <a:lstStyle/>
          <a:p>
            <a:pPr>
              <a:lnSpc>
                <a:spcPct val="106000"/>
              </a:lnSpc>
              <a:spcAft>
                <a:spcPts val="800"/>
              </a:spcAft>
              <a:defRPr sz="2500" b="0">
                <a:solidFill>
                  <a:srgbClr val="000000"/>
                </a:solidFill>
                <a:latin typeface="Cambria Math"/>
              </a:defRPr>
            </a:pPr>
            <a:r>
              <a:t>λ ∼ Uniform(0, 1)</a:t>
            </a:r>
          </a:p>
        </p:txBody>
      </p:sp>
      <p:sp>
        <p:nvSpPr>
          <p:cNvPr id="5" name="TextBox 4"/>
          <p:cNvSpPr txBox="1"/>
          <p:nvPr/>
        </p:nvSpPr>
        <p:spPr>
          <a:xfrm>
            <a:off x="822960" y="3163824"/>
            <a:ext cx="10515600" cy="424219"/>
          </a:xfrm>
          <a:prstGeom prst="rect">
            <a:avLst/>
          </a:prstGeom>
          <a:noFill/>
        </p:spPr>
        <p:txBody>
          <a:bodyPr wrap="square" lIns="0" tIns="0" rIns="0" bIns="0">
            <a:spAutoFit/>
          </a:bodyPr>
          <a:lstStyle/>
          <a:p>
            <a:pPr>
              <a:lnSpc>
                <a:spcPct val="106000"/>
              </a:lnSpc>
              <a:spcAft>
                <a:spcPts val="800"/>
              </a:spcAft>
              <a:defRPr sz="2800" b="0">
                <a:solidFill>
                  <a:srgbClr val="000000"/>
                </a:solidFill>
                <a:latin typeface="Cambria Math"/>
              </a:defRPr>
            </a:pPr>
            <a:r>
              <a:rPr lang="en-US"/>
              <a:t>z</a:t>
            </a:r>
            <a:r>
              <a:t> = xᵢ + λ(xⱼ − xᵢ) = (1 − λ)xᵢ + λxⱼ</a:t>
            </a:r>
          </a:p>
        </p:txBody>
      </p:sp>
      <p:sp>
        <p:nvSpPr>
          <p:cNvPr id="6" name="TextBox 5"/>
          <p:cNvSpPr txBox="1"/>
          <p:nvPr/>
        </p:nvSpPr>
        <p:spPr>
          <a:xfrm>
            <a:off x="822960" y="3803904"/>
            <a:ext cx="10515600" cy="305853"/>
          </a:xfrm>
          <a:prstGeom prst="rect">
            <a:avLst/>
          </a:prstGeom>
          <a:noFill/>
        </p:spPr>
        <p:txBody>
          <a:bodyPr wrap="square" lIns="0" tIns="0" rIns="0" bIns="0">
            <a:spAutoFit/>
          </a:bodyPr>
          <a:lstStyle/>
          <a:p>
            <a:pPr>
              <a:lnSpc>
                <a:spcPct val="106000"/>
              </a:lnSpc>
              <a:spcAft>
                <a:spcPts val="800"/>
              </a:spcAft>
              <a:defRPr sz="2000" b="0">
                <a:solidFill>
                  <a:srgbClr val="000000"/>
                </a:solidFill>
                <a:latin typeface="Calisto MT"/>
              </a:defRPr>
            </a:pPr>
            <a:r>
              <a:rPr lang="en-US"/>
              <a:t>The synthetic point z is a </a:t>
            </a:r>
            <a:r>
              <a:t>convex combination</a:t>
            </a:r>
            <a:r>
              <a:rPr lang="en-US"/>
              <a:t> of </a:t>
            </a:r>
            <a:r>
              <a:t>the two</a:t>
            </a:r>
            <a:r>
              <a:rPr lang="en-US"/>
              <a:t> minority</a:t>
            </a:r>
            <a:r>
              <a:t> observations.</a:t>
            </a:r>
          </a:p>
        </p:txBody>
      </p:sp>
      <p:sp>
        <p:nvSpPr>
          <p:cNvPr id="7" name="TextBox 6"/>
          <p:cNvSpPr txBox="1"/>
          <p:nvPr/>
        </p:nvSpPr>
        <p:spPr>
          <a:xfrm>
            <a:off x="822960" y="4572000"/>
            <a:ext cx="5029200" cy="384048"/>
          </a:xfrm>
          <a:prstGeom prst="rect">
            <a:avLst/>
          </a:prstGeom>
          <a:noFill/>
        </p:spPr>
        <p:txBody>
          <a:bodyPr wrap="square" lIns="0" tIns="0" rIns="0" bIns="0">
            <a:spAutoFit/>
          </a:bodyPr>
          <a:lstStyle/>
          <a:p>
            <a:pPr>
              <a:lnSpc>
                <a:spcPct val="106000"/>
              </a:lnSpc>
              <a:spcAft>
                <a:spcPts val="800"/>
              </a:spcAft>
              <a:defRPr sz="2200" b="1">
                <a:solidFill>
                  <a:srgbClr val="000000"/>
                </a:solidFill>
                <a:latin typeface="Calisto MT"/>
              </a:defRPr>
            </a:pPr>
            <a:r>
              <a:t>Illustrative calculation</a:t>
            </a:r>
          </a:p>
        </p:txBody>
      </p:sp>
      <p:sp>
        <p:nvSpPr>
          <p:cNvPr id="8" name="TextBox 7"/>
          <p:cNvSpPr txBox="1"/>
          <p:nvPr/>
        </p:nvSpPr>
        <p:spPr>
          <a:xfrm>
            <a:off x="822960" y="5093208"/>
            <a:ext cx="5486400" cy="731867"/>
          </a:xfrm>
          <a:prstGeom prst="rect">
            <a:avLst/>
          </a:prstGeom>
          <a:noFill/>
        </p:spPr>
        <p:txBody>
          <a:bodyPr wrap="square" lIns="0" tIns="0" rIns="0" bIns="0">
            <a:spAutoFit/>
          </a:bodyPr>
          <a:lstStyle/>
          <a:p>
            <a:pPr>
              <a:lnSpc>
                <a:spcPct val="106000"/>
              </a:lnSpc>
              <a:spcAft>
                <a:spcPts val="800"/>
              </a:spcAft>
              <a:defRPr sz="2000" b="0">
                <a:solidFill>
                  <a:srgbClr val="000000"/>
                </a:solidFill>
                <a:latin typeface="Cambria Math"/>
              </a:defRPr>
            </a:pPr>
            <a:r>
              <a:t>xᵢ = (1, 2),   xⱼ = (5, 6),   λ = 0.25</a:t>
            </a:r>
          </a:p>
          <a:p>
            <a:pPr>
              <a:lnSpc>
                <a:spcPct val="106000"/>
              </a:lnSpc>
              <a:spcAft>
                <a:spcPts val="800"/>
              </a:spcAft>
              <a:defRPr sz="2000" b="0">
                <a:solidFill>
                  <a:srgbClr val="000000"/>
                </a:solidFill>
                <a:latin typeface="Cambria Math"/>
              </a:defRPr>
            </a:pPr>
            <a:r>
              <a:rPr lang="en-US"/>
              <a:t>z</a:t>
            </a:r>
            <a:r>
              <a:t> = (1, 2) + 0.25(4, 4) = (2, 3)</a:t>
            </a:r>
          </a:p>
        </p:txBody>
      </p:sp>
      <p:sp>
        <p:nvSpPr>
          <p:cNvPr id="9" name="TextBox 8"/>
          <p:cNvSpPr txBox="1"/>
          <p:nvPr/>
        </p:nvSpPr>
        <p:spPr>
          <a:xfrm>
            <a:off x="6629400" y="4572000"/>
            <a:ext cx="4663440" cy="384048"/>
          </a:xfrm>
          <a:prstGeom prst="rect">
            <a:avLst/>
          </a:prstGeom>
          <a:noFill/>
        </p:spPr>
        <p:txBody>
          <a:bodyPr wrap="square" lIns="0" tIns="0" rIns="0" bIns="0">
            <a:spAutoFit/>
          </a:bodyPr>
          <a:lstStyle/>
          <a:p>
            <a:pPr>
              <a:lnSpc>
                <a:spcPct val="106000"/>
              </a:lnSpc>
              <a:spcAft>
                <a:spcPts val="800"/>
              </a:spcAft>
              <a:defRPr sz="2200" b="1">
                <a:solidFill>
                  <a:srgbClr val="000000"/>
                </a:solidFill>
                <a:latin typeface="Calisto MT"/>
              </a:defRPr>
            </a:pPr>
            <a:r>
              <a:t>Conditional mean</a:t>
            </a:r>
          </a:p>
        </p:txBody>
      </p:sp>
      <p:sp>
        <p:nvSpPr>
          <p:cNvPr id="10" name="TextBox 9"/>
          <p:cNvSpPr txBox="1"/>
          <p:nvPr/>
        </p:nvSpPr>
        <p:spPr>
          <a:xfrm>
            <a:off x="6629400" y="5093208"/>
            <a:ext cx="4709160" cy="348493"/>
          </a:xfrm>
          <a:prstGeom prst="rect">
            <a:avLst/>
          </a:prstGeom>
          <a:noFill/>
        </p:spPr>
        <p:txBody>
          <a:bodyPr wrap="square" lIns="0" tIns="0" rIns="0" bIns="0">
            <a:spAutoFit/>
          </a:bodyPr>
          <a:lstStyle/>
          <a:p>
            <a:pPr>
              <a:lnSpc>
                <a:spcPct val="106000"/>
              </a:lnSpc>
              <a:spcAft>
                <a:spcPts val="800"/>
              </a:spcAft>
              <a:defRPr sz="2300" b="0">
                <a:solidFill>
                  <a:srgbClr val="000000"/>
                </a:solidFill>
                <a:latin typeface="Cambria Math"/>
              </a:defRPr>
            </a:pPr>
            <a:r>
              <a:t>E[</a:t>
            </a:r>
            <a:r>
              <a:rPr lang="en-US"/>
              <a:t>z</a:t>
            </a:r>
            <a:r>
              <a:t> ∣ xᵢ, xⱼ] = ½(xᵢ + xⱼ)</a:t>
            </a:r>
          </a:p>
        </p:txBody>
      </p:sp>
      <p:sp>
        <p:nvSpPr>
          <p:cNvPr id="11" name="TextBox 10"/>
          <p:cNvSpPr txBox="1"/>
          <p:nvPr/>
        </p:nvSpPr>
        <p:spPr>
          <a:xfrm>
            <a:off x="6629400" y="5605272"/>
            <a:ext cx="4663440" cy="275332"/>
          </a:xfrm>
          <a:prstGeom prst="rect">
            <a:avLst/>
          </a:prstGeom>
          <a:noFill/>
        </p:spPr>
        <p:txBody>
          <a:bodyPr wrap="square" lIns="0" tIns="0" rIns="0" bIns="0">
            <a:spAutoFit/>
          </a:bodyPr>
          <a:lstStyle/>
          <a:p>
            <a:pPr>
              <a:lnSpc>
                <a:spcPct val="106000"/>
              </a:lnSpc>
              <a:spcAft>
                <a:spcPts val="800"/>
              </a:spcAft>
              <a:defRPr sz="1800" b="0">
                <a:solidFill>
                  <a:srgbClr val="000000"/>
                </a:solidFill>
                <a:latin typeface="Calisto MT"/>
              </a:defRPr>
            </a:pPr>
            <a:r>
              <a:rPr lang="en-US"/>
              <a:t>The midpoint of </a:t>
            </a:r>
            <a:r>
              <a:t>the </a:t>
            </a:r>
            <a:r>
              <a:rPr lang="en-US"/>
              <a:t>selected pair</a:t>
            </a:r>
            <a: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Decision boundaries after treatment</a:t>
            </a:r>
          </a:p>
        </p:txBody>
      </p:sp>
      <p:pic>
        <p:nvPicPr>
          <p:cNvPr id="3" name="Picture 2" descr="Illustrative decision boundaries for the untreated baseline, class weighting, and SMOTE in the training pipeline. The black curve marks the learned 0.5 decision boundary. The comparison illustrates how training interventions change minority predictions. It does not establish a universal ranking of methods."/>
          <p:cNvPicPr>
            <a:picLocks noChangeAspect="1"/>
          </p:cNvPicPr>
          <p:nvPr/>
        </p:nvPicPr>
        <p:blipFill>
          <a:blip r:embed="rId3"/>
          <a:stretch>
            <a:fillRect/>
          </a:stretch>
        </p:blipFill>
        <p:spPr>
          <a:xfrm>
            <a:off x="1310417" y="1801368"/>
            <a:ext cx="9558972" cy="42062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SMOTE variants</a:t>
            </a:r>
          </a:p>
        </p:txBody>
      </p:sp>
      <p:sp>
        <p:nvSpPr>
          <p:cNvPr id="3" name="TextBox 2"/>
          <p:cNvSpPr txBox="1"/>
          <p:nvPr/>
        </p:nvSpPr>
        <p:spPr>
          <a:xfrm>
            <a:off x="822960" y="2057400"/>
            <a:ext cx="2743200" cy="548640"/>
          </a:xfrm>
          <a:prstGeom prst="rect">
            <a:avLst/>
          </a:prstGeom>
          <a:noFill/>
        </p:spPr>
        <p:txBody>
          <a:bodyPr wrap="square" lIns="0" tIns="0" rIns="0" bIns="0">
            <a:spAutoFit/>
          </a:bodyPr>
          <a:lstStyle/>
          <a:p>
            <a:pPr>
              <a:lnSpc>
                <a:spcPct val="108000"/>
              </a:lnSpc>
              <a:spcAft>
                <a:spcPts val="700"/>
              </a:spcAft>
              <a:defRPr sz="2100" b="1">
                <a:solidFill>
                  <a:srgbClr val="000000"/>
                </a:solidFill>
                <a:latin typeface="Calisto MT"/>
              </a:defRPr>
            </a:pPr>
            <a:r>
              <a:t>Borderline-SMOTE</a:t>
            </a:r>
          </a:p>
        </p:txBody>
      </p:sp>
      <p:sp>
        <p:nvSpPr>
          <p:cNvPr id="4" name="TextBox 3"/>
          <p:cNvSpPr txBox="1"/>
          <p:nvPr/>
        </p:nvSpPr>
        <p:spPr>
          <a:xfrm>
            <a:off x="3703320" y="2057400"/>
            <a:ext cx="7498079" cy="658368"/>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t>Focuses on minority points near the decision boundary</a:t>
            </a:r>
            <a:r>
              <a:rPr lang="en-US"/>
              <a:t> when boundary coverage matters</a:t>
            </a:r>
            <a:r>
              <a:t>.</a:t>
            </a:r>
          </a:p>
        </p:txBody>
      </p:sp>
      <p:sp>
        <p:nvSpPr>
          <p:cNvPr id="5" name="TextBox 4"/>
          <p:cNvSpPr txBox="1"/>
          <p:nvPr/>
        </p:nvSpPr>
        <p:spPr>
          <a:xfrm>
            <a:off x="822960" y="2880360"/>
            <a:ext cx="2743200" cy="548640"/>
          </a:xfrm>
          <a:prstGeom prst="rect">
            <a:avLst/>
          </a:prstGeom>
          <a:noFill/>
        </p:spPr>
        <p:txBody>
          <a:bodyPr wrap="square" lIns="0" tIns="0" rIns="0" bIns="0">
            <a:spAutoFit/>
          </a:bodyPr>
          <a:lstStyle/>
          <a:p>
            <a:pPr>
              <a:lnSpc>
                <a:spcPct val="108000"/>
              </a:lnSpc>
              <a:spcAft>
                <a:spcPts val="700"/>
              </a:spcAft>
              <a:defRPr sz="2100" b="1">
                <a:solidFill>
                  <a:srgbClr val="000000"/>
                </a:solidFill>
                <a:latin typeface="Calisto MT"/>
              </a:defRPr>
            </a:pPr>
            <a:r>
              <a:t>ADASYN</a:t>
            </a:r>
          </a:p>
        </p:txBody>
      </p:sp>
      <p:sp>
        <p:nvSpPr>
          <p:cNvPr id="6" name="TextBox 5"/>
          <p:cNvSpPr txBox="1"/>
          <p:nvPr/>
        </p:nvSpPr>
        <p:spPr>
          <a:xfrm>
            <a:off x="3703320" y="2880360"/>
            <a:ext cx="7498079" cy="658368"/>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t>Adds more samples in difficult minority regions, with a risk of amplifying noise.</a:t>
            </a:r>
          </a:p>
        </p:txBody>
      </p:sp>
      <p:sp>
        <p:nvSpPr>
          <p:cNvPr id="7" name="TextBox 6"/>
          <p:cNvSpPr txBox="1"/>
          <p:nvPr/>
        </p:nvSpPr>
        <p:spPr>
          <a:xfrm>
            <a:off x="822960" y="3703320"/>
            <a:ext cx="2743200" cy="548640"/>
          </a:xfrm>
          <a:prstGeom prst="rect">
            <a:avLst/>
          </a:prstGeom>
          <a:noFill/>
        </p:spPr>
        <p:txBody>
          <a:bodyPr wrap="square" lIns="0" tIns="0" rIns="0" bIns="0">
            <a:spAutoFit/>
          </a:bodyPr>
          <a:lstStyle/>
          <a:p>
            <a:pPr>
              <a:lnSpc>
                <a:spcPct val="108000"/>
              </a:lnSpc>
              <a:spcAft>
                <a:spcPts val="700"/>
              </a:spcAft>
              <a:defRPr sz="2100" b="1">
                <a:solidFill>
                  <a:srgbClr val="000000"/>
                </a:solidFill>
                <a:latin typeface="Calisto MT"/>
              </a:defRPr>
            </a:pPr>
            <a:r>
              <a:t>KMeans-SMOTE</a:t>
            </a:r>
          </a:p>
        </p:txBody>
      </p:sp>
      <p:sp>
        <p:nvSpPr>
          <p:cNvPr id="8" name="TextBox 7"/>
          <p:cNvSpPr txBox="1"/>
          <p:nvPr/>
        </p:nvSpPr>
        <p:spPr>
          <a:xfrm>
            <a:off x="3703320" y="3703320"/>
            <a:ext cx="7498079" cy="658368"/>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t>Clusters </a:t>
            </a:r>
            <a:r>
              <a:rPr lang="en-US"/>
              <a:t>before </a:t>
            </a:r>
            <a:r>
              <a:t>synthesis</a:t>
            </a:r>
            <a:r>
              <a:rPr lang="en-US"/>
              <a:t>, allocating samples</a:t>
            </a:r>
            <a:r>
              <a:t> to suitable </a:t>
            </a:r>
            <a:r>
              <a:rPr lang="en-US"/>
              <a:t>regions when </a:t>
            </a:r>
            <a:r>
              <a:t>minority </a:t>
            </a:r>
            <a:r>
              <a:rPr lang="en-US"/>
              <a:t>data form multiple clusters</a:t>
            </a:r>
            <a:r>
              <a:t>.</a:t>
            </a:r>
          </a:p>
        </p:txBody>
      </p:sp>
      <p:sp>
        <p:nvSpPr>
          <p:cNvPr id="9" name="TextBox 8"/>
          <p:cNvSpPr txBox="1"/>
          <p:nvPr/>
        </p:nvSpPr>
        <p:spPr>
          <a:xfrm>
            <a:off x="822960" y="4526280"/>
            <a:ext cx="2743200" cy="548640"/>
          </a:xfrm>
          <a:prstGeom prst="rect">
            <a:avLst/>
          </a:prstGeom>
          <a:noFill/>
        </p:spPr>
        <p:txBody>
          <a:bodyPr wrap="square" lIns="0" tIns="0" rIns="0" bIns="0">
            <a:spAutoFit/>
          </a:bodyPr>
          <a:lstStyle/>
          <a:p>
            <a:pPr>
              <a:lnSpc>
                <a:spcPct val="108000"/>
              </a:lnSpc>
              <a:spcAft>
                <a:spcPts val="700"/>
              </a:spcAft>
              <a:defRPr sz="2100" b="1">
                <a:solidFill>
                  <a:srgbClr val="000000"/>
                </a:solidFill>
                <a:latin typeface="Calisto MT"/>
              </a:defRPr>
            </a:pPr>
            <a:r>
              <a:t>SMOTE-NC / SMOTEN</a:t>
            </a:r>
          </a:p>
        </p:txBody>
      </p:sp>
      <p:sp>
        <p:nvSpPr>
          <p:cNvPr id="10" name="TextBox 9"/>
          <p:cNvSpPr txBox="1"/>
          <p:nvPr/>
        </p:nvSpPr>
        <p:spPr>
          <a:xfrm>
            <a:off x="3703320" y="4526280"/>
            <a:ext cx="7498079" cy="658368"/>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t>SMOTE-NC handles numeric and categorical features. SMOTEN handles categorical features.</a:t>
            </a:r>
          </a:p>
        </p:txBody>
      </p:sp>
      <p:sp>
        <p:nvSpPr>
          <p:cNvPr id="11" name="TextBox 10"/>
          <p:cNvSpPr txBox="1"/>
          <p:nvPr/>
        </p:nvSpPr>
        <p:spPr>
          <a:xfrm>
            <a:off x="822960" y="5522976"/>
            <a:ext cx="10424160" cy="411480"/>
          </a:xfrm>
          <a:prstGeom prst="rect">
            <a:avLst/>
          </a:prstGeom>
          <a:noFill/>
        </p:spPr>
        <p:txBody>
          <a:bodyPr wrap="square" lIns="0" tIns="0" rIns="0" bIns="0">
            <a:spAutoFit/>
          </a:bodyPr>
          <a:lstStyle/>
          <a:p>
            <a:pPr>
              <a:lnSpc>
                <a:spcPct val="108000"/>
              </a:lnSpc>
              <a:spcAft>
                <a:spcPts val="700"/>
              </a:spcAft>
              <a:defRPr sz="1900" b="1">
                <a:solidFill>
                  <a:srgbClr val="000000"/>
                </a:solidFill>
                <a:latin typeface="Calisto MT"/>
              </a:defRPr>
            </a:pPr>
            <a:r>
              <a:t>Compare these alternatives against weighting and random oversampling.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Cleaning and hybrid approaches</a:t>
            </a:r>
          </a:p>
        </p:txBody>
      </p:sp>
      <p:sp>
        <p:nvSpPr>
          <p:cNvPr id="3" name="TextBox 2"/>
          <p:cNvSpPr txBox="1"/>
          <p:nvPr/>
        </p:nvSpPr>
        <p:spPr>
          <a:xfrm>
            <a:off x="822960" y="2148840"/>
            <a:ext cx="4983480" cy="502920"/>
          </a:xfrm>
          <a:prstGeom prst="rect">
            <a:avLst/>
          </a:prstGeom>
          <a:noFill/>
        </p:spPr>
        <p:txBody>
          <a:bodyPr wrap="square" lIns="0" tIns="0" rIns="0" bIns="0">
            <a:spAutoFit/>
          </a:bodyPr>
          <a:lstStyle/>
          <a:p>
            <a:pPr>
              <a:lnSpc>
                <a:spcPct val="108000"/>
              </a:lnSpc>
              <a:spcAft>
                <a:spcPts val="700"/>
              </a:spcAft>
              <a:defRPr sz="2400" b="1">
                <a:solidFill>
                  <a:srgbClr val="000000"/>
                </a:solidFill>
                <a:latin typeface="Calisto MT"/>
              </a:defRPr>
            </a:pPr>
            <a:r>
              <a:t>Tomek links</a:t>
            </a:r>
          </a:p>
        </p:txBody>
      </p:sp>
      <p:sp>
        <p:nvSpPr>
          <p:cNvPr id="4" name="TextBox 3"/>
          <p:cNvSpPr txBox="1"/>
          <p:nvPr/>
        </p:nvSpPr>
        <p:spPr>
          <a:xfrm>
            <a:off x="822960" y="2852928"/>
            <a:ext cx="4983480" cy="1325880"/>
          </a:xfrm>
          <a:prstGeom prst="rect">
            <a:avLst/>
          </a:prstGeom>
          <a:noFill/>
        </p:spPr>
        <p:txBody>
          <a:bodyPr wrap="square" lIns="0" tIns="0" rIns="0" bIns="0">
            <a:spAutoFit/>
          </a:bodyPr>
          <a:lstStyle/>
          <a:p>
            <a:pPr>
              <a:lnSpc>
                <a:spcPct val="108000"/>
              </a:lnSpc>
              <a:spcAft>
                <a:spcPts val="700"/>
              </a:spcAft>
              <a:defRPr sz="2100" b="0">
                <a:solidFill>
                  <a:srgbClr val="000000"/>
                </a:solidFill>
                <a:latin typeface="Calisto MT"/>
              </a:defRPr>
            </a:pPr>
            <a:r>
              <a:t>Find close opposite-class pairs. Removing selected examples can clean overlap near the boundary.</a:t>
            </a:r>
          </a:p>
        </p:txBody>
      </p:sp>
      <p:sp>
        <p:nvSpPr>
          <p:cNvPr id="5" name="TextBox 4"/>
          <p:cNvSpPr txBox="1"/>
          <p:nvPr/>
        </p:nvSpPr>
        <p:spPr>
          <a:xfrm>
            <a:off x="822960" y="4251960"/>
            <a:ext cx="4983480" cy="914400"/>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t>SMOTE + Tomek links: synthesis followed by overlap cleaning.</a:t>
            </a:r>
          </a:p>
        </p:txBody>
      </p:sp>
      <p:sp>
        <p:nvSpPr>
          <p:cNvPr id="6" name="TextBox 5"/>
          <p:cNvSpPr txBox="1"/>
          <p:nvPr/>
        </p:nvSpPr>
        <p:spPr>
          <a:xfrm>
            <a:off x="6309360" y="2148840"/>
            <a:ext cx="4983480" cy="502920"/>
          </a:xfrm>
          <a:prstGeom prst="rect">
            <a:avLst/>
          </a:prstGeom>
          <a:noFill/>
        </p:spPr>
        <p:txBody>
          <a:bodyPr wrap="square" lIns="0" tIns="0" rIns="0" bIns="0">
            <a:spAutoFit/>
          </a:bodyPr>
          <a:lstStyle/>
          <a:p>
            <a:pPr>
              <a:lnSpc>
                <a:spcPct val="108000"/>
              </a:lnSpc>
              <a:spcAft>
                <a:spcPts val="700"/>
              </a:spcAft>
              <a:defRPr sz="2400" b="1">
                <a:solidFill>
                  <a:srgbClr val="000000"/>
                </a:solidFill>
                <a:latin typeface="Calisto MT"/>
              </a:defRPr>
            </a:pPr>
            <a:r>
              <a:t>Edited Nearest Neighbors</a:t>
            </a:r>
          </a:p>
        </p:txBody>
      </p:sp>
      <p:sp>
        <p:nvSpPr>
          <p:cNvPr id="7" name="TextBox 6"/>
          <p:cNvSpPr txBox="1"/>
          <p:nvPr/>
        </p:nvSpPr>
        <p:spPr>
          <a:xfrm>
            <a:off x="6309360" y="2852928"/>
            <a:ext cx="4983480" cy="1325880"/>
          </a:xfrm>
          <a:prstGeom prst="rect">
            <a:avLst/>
          </a:prstGeom>
          <a:noFill/>
        </p:spPr>
        <p:txBody>
          <a:bodyPr wrap="square" lIns="0" tIns="0" rIns="0" bIns="0">
            <a:spAutoFit/>
          </a:bodyPr>
          <a:lstStyle/>
          <a:p>
            <a:pPr>
              <a:lnSpc>
                <a:spcPct val="108000"/>
              </a:lnSpc>
              <a:spcAft>
                <a:spcPts val="700"/>
              </a:spcAft>
              <a:defRPr sz="2100" b="0">
                <a:solidFill>
                  <a:srgbClr val="000000"/>
                </a:solidFill>
                <a:latin typeface="Calisto MT"/>
              </a:defRPr>
            </a:pPr>
            <a:r>
              <a:t>Remove examples whose labels disagree with their nearest neighbors to reduce local noise.</a:t>
            </a:r>
          </a:p>
        </p:txBody>
      </p:sp>
      <p:sp>
        <p:nvSpPr>
          <p:cNvPr id="8" name="TextBox 7"/>
          <p:cNvSpPr txBox="1"/>
          <p:nvPr/>
        </p:nvSpPr>
        <p:spPr>
          <a:xfrm>
            <a:off x="6309360" y="4251960"/>
            <a:ext cx="4983480" cy="914400"/>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t>SMOTE + ENN: synthesis followed by stronger neighborhood cleaning.</a:t>
            </a:r>
          </a:p>
        </p:txBody>
      </p:sp>
      <p:sp>
        <p:nvSpPr>
          <p:cNvPr id="9" name="TextBox 8"/>
          <p:cNvSpPr txBox="1"/>
          <p:nvPr/>
        </p:nvSpPr>
        <p:spPr>
          <a:xfrm>
            <a:off x="822960" y="5486400"/>
            <a:ext cx="10469880" cy="411480"/>
          </a:xfrm>
          <a:prstGeom prst="rect">
            <a:avLst/>
          </a:prstGeom>
          <a:noFill/>
        </p:spPr>
        <p:txBody>
          <a:bodyPr wrap="square" lIns="0" tIns="0" rIns="0" bIns="0">
            <a:spAutoFit/>
          </a:bodyPr>
          <a:lstStyle/>
          <a:p>
            <a:pPr>
              <a:lnSpc>
                <a:spcPct val="108000"/>
              </a:lnSpc>
              <a:spcAft>
                <a:spcPts val="700"/>
              </a:spcAft>
              <a:defRPr sz="2000" b="1">
                <a:solidFill>
                  <a:srgbClr val="000000"/>
                </a:solidFill>
                <a:latin typeface="Calisto MT"/>
              </a:defRPr>
            </a:pPr>
            <a:r>
              <a:t>Cleaning can remove legitimate difficult cases. Validate on untouched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Correct and incorrect resampling</a:t>
            </a:r>
          </a:p>
        </p:txBody>
      </p:sp>
      <p:pic>
        <p:nvPicPr>
          <p:cNvPr id="3" name="Picture 2" descr="The supplied workflow compares splitting first and resampling within each training fold against resampling the full dataset before splitting. Fit the model on the transformed training partition, then score untouched validation/test data. This visual precedes the existing pipeline implementation slide."/>
          <p:cNvPicPr>
            <a:picLocks noChangeAspect="1"/>
          </p:cNvPicPr>
          <p:nvPr/>
        </p:nvPicPr>
        <p:blipFill>
          <a:blip r:embed="rId3"/>
          <a:stretch>
            <a:fillRect/>
          </a:stretch>
        </p:blipFill>
        <p:spPr>
          <a:xfrm>
            <a:off x="1863426" y="1801368"/>
            <a:ext cx="8452954" cy="42062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Leakage-safe resampling</a:t>
            </a:r>
          </a:p>
        </p:txBody>
      </p:sp>
      <p:sp>
        <p:nvSpPr>
          <p:cNvPr id="3" name="TextBox 2"/>
          <p:cNvSpPr txBox="1"/>
          <p:nvPr/>
        </p:nvSpPr>
        <p:spPr>
          <a:xfrm>
            <a:off x="822960" y="2103120"/>
            <a:ext cx="4572000" cy="3382593"/>
          </a:xfrm>
          <a:prstGeom prst="rect">
            <a:avLst/>
          </a:prstGeom>
          <a:noFill/>
        </p:spPr>
        <p:txBody>
          <a:bodyPr wrap="square" lIns="0" tIns="0" rIns="0" bIns="0">
            <a:spAutoFit/>
          </a:bodyPr>
          <a:lstStyle/>
          <a:p>
            <a:pPr marL="228600" indent="-228600">
              <a:lnSpc>
                <a:spcPct val="110000"/>
              </a:lnSpc>
              <a:spcBef>
                <a:spcPts val="0"/>
              </a:spcBef>
              <a:spcAft>
                <a:spcPts val="1400"/>
              </a:spcAft>
              <a:buChar char="•"/>
              <a:defRPr sz="2000" b="0">
                <a:solidFill>
                  <a:srgbClr val="000000"/>
                </a:solidFill>
                <a:latin typeface="Calisto MT"/>
              </a:defRPr>
            </a:pPr>
            <a:r>
              <a:t>Split training and test data before any learned preprocessing or resampling.</a:t>
            </a:r>
            <a:endParaRPr lang="en-US"/>
          </a:p>
          <a:p>
            <a:pPr marL="228600" indent="-228600">
              <a:lnSpc>
                <a:spcPct val="110000"/>
              </a:lnSpc>
              <a:spcBef>
                <a:spcPts val="0"/>
              </a:spcBef>
              <a:spcAft>
                <a:spcPts val="1400"/>
              </a:spcAft>
              <a:buChar char="•"/>
              <a:defRPr sz="2000">
                <a:solidFill>
                  <a:srgbClr val="000000"/>
                </a:solidFill>
                <a:latin typeface="Calisto MT"/>
              </a:defRPr>
            </a:pPr>
            <a:r>
              <a:t>Use stratified splits. Fit the scaler and resampler only on each fold’s training partition.</a:t>
            </a:r>
            <a:endParaRPr lang="en-US"/>
          </a:p>
          <a:p>
            <a:pPr marL="228600" indent="-228600">
              <a:lnSpc>
                <a:spcPct val="110000"/>
              </a:lnSpc>
              <a:spcBef>
                <a:spcPts val="0"/>
              </a:spcBef>
              <a:spcAft>
                <a:spcPts val="1400"/>
              </a:spcAft>
              <a:buChar char="•"/>
              <a:defRPr sz="2000">
                <a:solidFill>
                  <a:srgbClr val="000000"/>
                </a:solidFill>
                <a:latin typeface="Calisto MT"/>
              </a:defRPr>
            </a:pPr>
            <a:r>
              <a:t>Score the untouched validation fold. Keep duplicates and synthetic descendants out of validation and test data.</a:t>
            </a:r>
            <a:endParaRPr lang="en-US"/>
          </a:p>
        </p:txBody>
      </p:sp>
      <p:sp>
        <p:nvSpPr>
          <p:cNvPr id="4" name="TextBox 3"/>
          <p:cNvSpPr txBox="1"/>
          <p:nvPr/>
        </p:nvSpPr>
        <p:spPr>
          <a:xfrm>
            <a:off x="5715000" y="2148840"/>
            <a:ext cx="5623560" cy="3474720"/>
          </a:xfrm>
          <a:prstGeom prst="rect">
            <a:avLst/>
          </a:prstGeom>
          <a:noFill/>
        </p:spPr>
        <p:txBody>
          <a:bodyPr wrap="square" lIns="0" tIns="0" rIns="0" bIns="0">
            <a:spAutoFit/>
          </a:bodyPr>
          <a:lstStyle/>
          <a:p>
            <a:pPr>
              <a:lnSpc>
                <a:spcPct val="108000"/>
              </a:lnSpc>
              <a:spcAft>
                <a:spcPts val="700"/>
              </a:spcAft>
              <a:defRPr sz="1350" b="0">
                <a:solidFill>
                  <a:srgbClr val="000000"/>
                </a:solidFill>
                <a:latin typeface="Consolas"/>
              </a:defRPr>
            </a:pPr>
            <a:r>
              <a:t>from imblearn.pipeline import Pipeline</a:t>
            </a:r>
          </a:p>
          <a:p>
            <a:pPr>
              <a:lnSpc>
                <a:spcPct val="108000"/>
              </a:lnSpc>
              <a:spcAft>
                <a:spcPts val="700"/>
              </a:spcAft>
              <a:defRPr sz="1350" b="0">
                <a:solidFill>
                  <a:srgbClr val="000000"/>
                </a:solidFill>
                <a:latin typeface="Consolas"/>
              </a:defRPr>
            </a:pPr>
            <a:r>
              <a:t>from imblearn.over_sampling import SMOTE</a:t>
            </a:r>
          </a:p>
          <a:p>
            <a:pPr>
              <a:lnSpc>
                <a:spcPct val="108000"/>
              </a:lnSpc>
              <a:spcAft>
                <a:spcPts val="700"/>
              </a:spcAft>
              <a:defRPr sz="1350" b="0">
                <a:solidFill>
                  <a:srgbClr val="000000"/>
                </a:solidFill>
                <a:latin typeface="Consolas"/>
              </a:defRPr>
            </a:pPr>
            <a:r>
              <a:t>from sklearn.preprocessing import StandardScaler</a:t>
            </a:r>
          </a:p>
          <a:p>
            <a:pPr>
              <a:lnSpc>
                <a:spcPct val="108000"/>
              </a:lnSpc>
              <a:spcAft>
                <a:spcPts val="700"/>
              </a:spcAft>
              <a:defRPr sz="1350" b="0">
                <a:solidFill>
                  <a:srgbClr val="000000"/>
                </a:solidFill>
                <a:latin typeface="Consolas"/>
              </a:defRPr>
            </a:pPr>
            <a:r>
              <a:t>from sklearn.linear_model import LogisticRegression</a:t>
            </a:r>
          </a:p>
          <a:p>
            <a:pPr>
              <a:lnSpc>
                <a:spcPct val="108000"/>
              </a:lnSpc>
              <a:spcAft>
                <a:spcPts val="700"/>
              </a:spcAft>
              <a:defRPr sz="1350" b="0">
                <a:solidFill>
                  <a:srgbClr val="000000"/>
                </a:solidFill>
                <a:latin typeface="Consolas"/>
              </a:defRPr>
            </a:pPr>
            <a:endParaRPr/>
          </a:p>
          <a:p>
            <a:pPr>
              <a:lnSpc>
                <a:spcPct val="108000"/>
              </a:lnSpc>
              <a:spcAft>
                <a:spcPts val="700"/>
              </a:spcAft>
              <a:defRPr sz="1350" b="0">
                <a:solidFill>
                  <a:srgbClr val="000000"/>
                </a:solidFill>
                <a:latin typeface="Consolas"/>
              </a:defRPr>
            </a:pPr>
            <a:r>
              <a:t>model = Pipeline([</a:t>
            </a:r>
          </a:p>
          <a:p>
            <a:pPr>
              <a:lnSpc>
                <a:spcPct val="108000"/>
              </a:lnSpc>
              <a:spcAft>
                <a:spcPts val="700"/>
              </a:spcAft>
              <a:defRPr sz="1350" b="0">
                <a:solidFill>
                  <a:srgbClr val="000000"/>
                </a:solidFill>
                <a:latin typeface="Consolas"/>
              </a:defRPr>
            </a:pPr>
            <a:r>
              <a:t>    ("scale", StandardScaler()),</a:t>
            </a:r>
          </a:p>
          <a:p>
            <a:pPr>
              <a:lnSpc>
                <a:spcPct val="108000"/>
              </a:lnSpc>
              <a:spcAft>
                <a:spcPts val="700"/>
              </a:spcAft>
              <a:defRPr sz="1350" b="0">
                <a:solidFill>
                  <a:srgbClr val="000000"/>
                </a:solidFill>
                <a:latin typeface="Consolas"/>
              </a:defRPr>
            </a:pPr>
            <a:r>
              <a:t>    ("smote", SMOTE(random_state=42)),</a:t>
            </a:r>
          </a:p>
          <a:p>
            <a:pPr>
              <a:lnSpc>
                <a:spcPct val="108000"/>
              </a:lnSpc>
              <a:spcAft>
                <a:spcPts val="700"/>
              </a:spcAft>
              <a:defRPr sz="1350" b="0">
                <a:solidFill>
                  <a:srgbClr val="000000"/>
                </a:solidFill>
                <a:latin typeface="Consolas"/>
              </a:defRPr>
            </a:pPr>
            <a:r>
              <a:t>    ("classifier",</a:t>
            </a:r>
          </a:p>
          <a:p>
            <a:pPr>
              <a:lnSpc>
                <a:spcPct val="108000"/>
              </a:lnSpc>
              <a:spcAft>
                <a:spcPts val="700"/>
              </a:spcAft>
              <a:defRPr sz="1350" b="0">
                <a:solidFill>
                  <a:srgbClr val="000000"/>
                </a:solidFill>
                <a:latin typeface="Consolas"/>
              </a:defRPr>
            </a:pPr>
            <a:r>
              <a:t>     LogisticRegression(max_iter=2000)),</a:t>
            </a:r>
          </a:p>
          <a:p>
            <a:pPr>
              <a:lnSpc>
                <a:spcPct val="108000"/>
              </a:lnSpc>
              <a:spcAft>
                <a:spcPts val="700"/>
              </a:spcAft>
              <a:defRPr sz="1350" b="0">
                <a:solidFill>
                  <a:srgbClr val="000000"/>
                </a:solidFill>
                <a:latin typeface="Consolas"/>
              </a:defRPr>
            </a:pPr>
            <a:r>
              <a:t>])</a:t>
            </a:r>
          </a:p>
        </p:txBody>
      </p:sp>
      <p:sp>
        <p:nvSpPr>
          <p:cNvPr id="5" name="TextBox 4"/>
          <p:cNvSpPr txBox="1"/>
          <p:nvPr/>
        </p:nvSpPr>
        <p:spPr>
          <a:xfrm>
            <a:off x="5715000" y="5486400"/>
            <a:ext cx="5577840" cy="411480"/>
          </a:xfrm>
          <a:prstGeom prst="rect">
            <a:avLst/>
          </a:prstGeom>
          <a:noFill/>
        </p:spPr>
        <p:txBody>
          <a:bodyPr wrap="square" lIns="0" tIns="0" rIns="0" bIns="0">
            <a:spAutoFit/>
          </a:bodyPr>
          <a:lstStyle/>
          <a:p>
            <a:pPr>
              <a:lnSpc>
                <a:spcPct val="108000"/>
              </a:lnSpc>
              <a:spcAft>
                <a:spcPts val="700"/>
              </a:spcAft>
              <a:defRPr sz="1900" b="1">
                <a:solidFill>
                  <a:srgbClr val="000000"/>
                </a:solidFill>
                <a:latin typeface="Calisto MT"/>
              </a:defRPr>
            </a:pPr>
            <a:r>
              <a:t>Pass this pipeline to cross-validation.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Method comparison for deployment</a:t>
            </a:r>
          </a:p>
        </p:txBody>
      </p:sp>
      <p:graphicFrame>
        <p:nvGraphicFramePr>
          <p:cNvPr id="3" name="Table 2"/>
          <p:cNvGraphicFramePr>
            <a:graphicFrameLocks noGrp="1"/>
          </p:cNvGraphicFramePr>
          <p:nvPr/>
        </p:nvGraphicFramePr>
        <p:xfrm>
          <a:off x="804672" y="2039112"/>
          <a:ext cx="10570464" cy="3930090"/>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gridCol w="2478024">
                  <a:extLst>
                    <a:ext uri="{9D8B030D-6E8A-4147-A177-3AD203B41FA5}">
                      <a16:colId xmlns:a16="http://schemas.microsoft.com/office/drawing/2014/main" val="20004"/>
                    </a:ext>
                  </a:extLst>
                </a:gridCol>
              </a:tblGrid>
              <a:tr h="429768">
                <a:tc>
                  <a:txBody>
                    <a:bodyPr/>
                    <a:lstStyle/>
                    <a:p>
                      <a:pPr>
                        <a:lnSpc>
                          <a:spcPct val="100000"/>
                        </a:lnSpc>
                        <a:spcAft>
                          <a:spcPts val="0"/>
                        </a:spcAft>
                        <a:defRPr sz="1600" b="1">
                          <a:solidFill>
                            <a:srgbClr val="FFFFFF"/>
                          </a:solidFill>
                          <a:latin typeface="Calisto MT"/>
                        </a:defRPr>
                      </a:pPr>
                      <a:r>
                        <a:t>Method</a:t>
                      </a:r>
                    </a:p>
                  </a:txBody>
                  <a:tcPr marL="82296" marR="82296" marT="32004" marB="32004" anchor="ctr">
                    <a:solidFill>
                      <a:srgbClr val="1C1C32"/>
                    </a:solidFill>
                  </a:tcPr>
                </a:tc>
                <a:tc>
                  <a:txBody>
                    <a:bodyPr/>
                    <a:lstStyle/>
                    <a:p>
                      <a:pPr>
                        <a:lnSpc>
                          <a:spcPct val="100000"/>
                        </a:lnSpc>
                        <a:spcAft>
                          <a:spcPts val="0"/>
                        </a:spcAft>
                        <a:defRPr sz="1600" b="1">
                          <a:solidFill>
                            <a:srgbClr val="FFFFFF"/>
                          </a:solidFill>
                          <a:latin typeface="Calisto MT"/>
                        </a:defRPr>
                      </a:pPr>
                      <a:r>
                        <a:t>Mechanism</a:t>
                      </a:r>
                    </a:p>
                  </a:txBody>
                  <a:tcPr marL="82296" marR="82296" marT="32004" marB="32004" anchor="ctr">
                    <a:solidFill>
                      <a:srgbClr val="1C1C32"/>
                    </a:solidFill>
                  </a:tcPr>
                </a:tc>
                <a:tc>
                  <a:txBody>
                    <a:bodyPr/>
                    <a:lstStyle/>
                    <a:p>
                      <a:pPr>
                        <a:lnSpc>
                          <a:spcPct val="100000"/>
                        </a:lnSpc>
                        <a:spcAft>
                          <a:spcPts val="0"/>
                        </a:spcAft>
                        <a:defRPr sz="1600" b="1">
                          <a:solidFill>
                            <a:srgbClr val="FFFFFF"/>
                          </a:solidFill>
                          <a:latin typeface="Calisto MT"/>
                        </a:defRPr>
                      </a:pPr>
                      <a:r>
                        <a:t>Benefit</a:t>
                      </a:r>
                    </a:p>
                  </a:txBody>
                  <a:tcPr marL="82296" marR="82296" marT="32004" marB="32004" anchor="ctr">
                    <a:solidFill>
                      <a:srgbClr val="1C1C32"/>
                    </a:solidFill>
                  </a:tcPr>
                </a:tc>
                <a:tc>
                  <a:txBody>
                    <a:bodyPr/>
                    <a:lstStyle/>
                    <a:p>
                      <a:pPr>
                        <a:lnSpc>
                          <a:spcPct val="100000"/>
                        </a:lnSpc>
                        <a:spcAft>
                          <a:spcPts val="0"/>
                        </a:spcAft>
                        <a:defRPr sz="1600" b="1">
                          <a:solidFill>
                            <a:srgbClr val="FFFFFF"/>
                          </a:solidFill>
                          <a:latin typeface="Calisto MT"/>
                        </a:defRPr>
                      </a:pPr>
                      <a:r>
                        <a:t>Risk / limitation</a:t>
                      </a:r>
                    </a:p>
                  </a:txBody>
                  <a:tcPr marL="82296" marR="82296" marT="32004" marB="32004" anchor="ctr">
                    <a:solidFill>
                      <a:srgbClr val="1C1C32"/>
                    </a:solidFill>
                  </a:tcPr>
                </a:tc>
                <a:tc>
                  <a:txBody>
                    <a:bodyPr/>
                    <a:lstStyle/>
                    <a:p>
                      <a:pPr>
                        <a:lnSpc>
                          <a:spcPct val="100000"/>
                        </a:lnSpc>
                        <a:spcAft>
                          <a:spcPts val="0"/>
                        </a:spcAft>
                        <a:defRPr sz="1600" b="1">
                          <a:solidFill>
                            <a:srgbClr val="FFFFFF"/>
                          </a:solidFill>
                          <a:latin typeface="Calisto MT"/>
                        </a:defRPr>
                      </a:pPr>
                      <a:r>
                        <a:t>Best-use scenario</a:t>
                      </a:r>
                    </a:p>
                  </a:txBody>
                  <a:tcPr marL="82296" marR="82296" marT="32004" marB="32004" anchor="ctr">
                    <a:solidFill>
                      <a:srgbClr val="1C1C32"/>
                    </a:solidFill>
                  </a:tcPr>
                </a:tc>
                <a:extLst>
                  <a:ext uri="{0D108BD9-81ED-4DB2-BD59-A6C34878D82A}">
                    <a16:rowId xmlns:a16="http://schemas.microsoft.com/office/drawing/2014/main" val="10000"/>
                  </a:ext>
                </a:extLst>
              </a:tr>
              <a:tr h="583387">
                <a:tc>
                  <a:txBody>
                    <a:bodyPr/>
                    <a:lstStyle/>
                    <a:p>
                      <a:pPr>
                        <a:lnSpc>
                          <a:spcPct val="100000"/>
                        </a:lnSpc>
                        <a:spcAft>
                          <a:spcPts val="0"/>
                        </a:spcAft>
                        <a:defRPr sz="1500" b="1">
                          <a:solidFill>
                            <a:srgbClr val="000000"/>
                          </a:solidFill>
                          <a:latin typeface="Calisto MT"/>
                        </a:defRPr>
                      </a:pPr>
                      <a:r>
                        <a:t>Random</a:t>
                      </a:r>
                    </a:p>
                    <a:p>
                      <a:pPr>
                        <a:lnSpc>
                          <a:spcPct val="100000"/>
                        </a:lnSpc>
                        <a:spcAft>
                          <a:spcPts val="0"/>
                        </a:spcAft>
                        <a:defRPr sz="1500" b="1">
                          <a:solidFill>
                            <a:srgbClr val="000000"/>
                          </a:solidFill>
                          <a:latin typeface="Calisto MT"/>
                        </a:defRPr>
                      </a:pPr>
                      <a:r>
                        <a:t>undersampling</a:t>
                      </a:r>
                    </a:p>
                  </a:txBody>
                  <a:tcPr marL="82296" marR="82296" marT="32004" marB="32004" anchor="ctr">
                    <a:solidFill>
                      <a:srgbClr val="F8F4F1"/>
                    </a:solidFill>
                  </a:tcPr>
                </a:tc>
                <a:tc>
                  <a:txBody>
                    <a:bodyPr/>
                    <a:lstStyle/>
                    <a:p>
                      <a:pPr>
                        <a:lnSpc>
                          <a:spcPct val="100000"/>
                        </a:lnSpc>
                        <a:spcAft>
                          <a:spcPts val="0"/>
                        </a:spcAft>
                        <a:defRPr sz="1500" b="0">
                          <a:solidFill>
                            <a:srgbClr val="000000"/>
                          </a:solidFill>
                          <a:latin typeface="Calisto MT"/>
                        </a:defRPr>
                      </a:pPr>
                      <a:r>
                        <a:t>Remove majority rows</a:t>
                      </a:r>
                    </a:p>
                  </a:txBody>
                  <a:tcPr marL="82296" marR="82296" marT="32004" marB="32004" anchor="ctr">
                    <a:solidFill>
                      <a:srgbClr val="F8F4F1"/>
                    </a:solidFill>
                  </a:tcPr>
                </a:tc>
                <a:tc>
                  <a:txBody>
                    <a:bodyPr/>
                    <a:lstStyle/>
                    <a:p>
                      <a:pPr>
                        <a:lnSpc>
                          <a:spcPct val="100000"/>
                        </a:lnSpc>
                        <a:spcAft>
                          <a:spcPts val="0"/>
                        </a:spcAft>
                        <a:defRPr sz="1500" b="0">
                          <a:solidFill>
                            <a:srgbClr val="000000"/>
                          </a:solidFill>
                          <a:latin typeface="Calisto MT"/>
                        </a:defRPr>
                      </a:pPr>
                      <a:r>
                        <a:t>Faster fitting, less dominance</a:t>
                      </a:r>
                    </a:p>
                  </a:txBody>
                  <a:tcPr marL="82296" marR="82296" marT="32004" marB="32004" anchor="ctr">
                    <a:solidFill>
                      <a:srgbClr val="F8F4F1"/>
                    </a:solidFill>
                  </a:tcPr>
                </a:tc>
                <a:tc>
                  <a:txBody>
                    <a:bodyPr/>
                    <a:lstStyle/>
                    <a:p>
                      <a:pPr>
                        <a:lnSpc>
                          <a:spcPct val="100000"/>
                        </a:lnSpc>
                        <a:spcAft>
                          <a:spcPts val="0"/>
                        </a:spcAft>
                        <a:defRPr sz="1500" b="0">
                          <a:solidFill>
                            <a:srgbClr val="000000"/>
                          </a:solidFill>
                          <a:latin typeface="Calisto MT"/>
                        </a:defRPr>
                      </a:pPr>
                      <a:r>
                        <a:t>Loses useful majority structure</a:t>
                      </a:r>
                    </a:p>
                  </a:txBody>
                  <a:tcPr marL="82296" marR="82296" marT="32004" marB="32004" anchor="ctr">
                    <a:solidFill>
                      <a:srgbClr val="F8F4F1"/>
                    </a:solidFill>
                  </a:tcPr>
                </a:tc>
                <a:tc>
                  <a:txBody>
                    <a:bodyPr/>
                    <a:lstStyle/>
                    <a:p>
                      <a:pPr>
                        <a:lnSpc>
                          <a:spcPct val="100000"/>
                        </a:lnSpc>
                        <a:spcAft>
                          <a:spcPts val="0"/>
                        </a:spcAft>
                        <a:defRPr sz="1500" b="0">
                          <a:solidFill>
                            <a:srgbClr val="000000"/>
                          </a:solidFill>
                          <a:latin typeface="Calisto MT"/>
                        </a:defRPr>
                      </a:pPr>
                      <a:r>
                        <a:t>Huge, redundant majority class</a:t>
                      </a:r>
                    </a:p>
                  </a:txBody>
                  <a:tcPr marL="82296" marR="82296" marT="32004" marB="32004" anchor="ctr">
                    <a:solidFill>
                      <a:srgbClr val="F8F4F1"/>
                    </a:solidFill>
                  </a:tcPr>
                </a:tc>
                <a:extLst>
                  <a:ext uri="{0D108BD9-81ED-4DB2-BD59-A6C34878D82A}">
                    <a16:rowId xmlns:a16="http://schemas.microsoft.com/office/drawing/2014/main" val="10001"/>
                  </a:ext>
                </a:extLst>
              </a:tr>
              <a:tr h="583387">
                <a:tc>
                  <a:txBody>
                    <a:bodyPr/>
                    <a:lstStyle/>
                    <a:p>
                      <a:pPr>
                        <a:lnSpc>
                          <a:spcPct val="100000"/>
                        </a:lnSpc>
                        <a:spcAft>
                          <a:spcPts val="0"/>
                        </a:spcAft>
                        <a:defRPr sz="1500" b="1">
                          <a:solidFill>
                            <a:srgbClr val="000000"/>
                          </a:solidFill>
                          <a:latin typeface="Calisto MT"/>
                        </a:defRPr>
                      </a:pPr>
                      <a:r>
                        <a:t>Random</a:t>
                      </a:r>
                    </a:p>
                    <a:p>
                      <a:pPr>
                        <a:lnSpc>
                          <a:spcPct val="100000"/>
                        </a:lnSpc>
                        <a:spcAft>
                          <a:spcPts val="0"/>
                        </a:spcAft>
                        <a:defRPr sz="1500" b="1">
                          <a:solidFill>
                            <a:srgbClr val="000000"/>
                          </a:solidFill>
                          <a:latin typeface="Calisto MT"/>
                        </a:defRPr>
                      </a:pPr>
                      <a:r>
                        <a:t>oversampling</a:t>
                      </a:r>
                    </a:p>
                  </a:txBody>
                  <a:tcPr marL="82296" marR="82296" marT="32004" marB="32004" anchor="ctr">
                    <a:solidFill>
                      <a:srgbClr val="FFFFFF"/>
                    </a:solidFill>
                  </a:tcPr>
                </a:tc>
                <a:tc>
                  <a:txBody>
                    <a:bodyPr/>
                    <a:lstStyle/>
                    <a:p>
                      <a:pPr>
                        <a:lnSpc>
                          <a:spcPct val="100000"/>
                        </a:lnSpc>
                        <a:spcAft>
                          <a:spcPts val="0"/>
                        </a:spcAft>
                        <a:defRPr sz="1500" b="0">
                          <a:solidFill>
                            <a:srgbClr val="000000"/>
                          </a:solidFill>
                          <a:latin typeface="Calisto MT"/>
                        </a:defRPr>
                      </a:pPr>
                      <a:r>
                        <a:t>Duplicate minority rows</a:t>
                      </a:r>
                    </a:p>
                  </a:txBody>
                  <a:tcPr marL="82296" marR="82296" marT="32004" marB="32004" anchor="ctr">
                    <a:solidFill>
                      <a:srgbClr val="FFFFFF"/>
                    </a:solidFill>
                  </a:tcPr>
                </a:tc>
                <a:tc>
                  <a:txBody>
                    <a:bodyPr/>
                    <a:lstStyle/>
                    <a:p>
                      <a:pPr>
                        <a:lnSpc>
                          <a:spcPct val="100000"/>
                        </a:lnSpc>
                        <a:spcAft>
                          <a:spcPts val="0"/>
                        </a:spcAft>
                        <a:defRPr sz="1500" b="0">
                          <a:solidFill>
                            <a:srgbClr val="000000"/>
                          </a:solidFill>
                          <a:latin typeface="Calisto MT"/>
                        </a:defRPr>
                      </a:pPr>
                      <a:r>
                        <a:t>Simple, keeps all majority rows</a:t>
                      </a:r>
                    </a:p>
                  </a:txBody>
                  <a:tcPr marL="82296" marR="82296" marT="32004" marB="32004" anchor="ctr">
                    <a:solidFill>
                      <a:srgbClr val="FFFFFF"/>
                    </a:solidFill>
                  </a:tcPr>
                </a:tc>
                <a:tc>
                  <a:txBody>
                    <a:bodyPr/>
                    <a:lstStyle/>
                    <a:p>
                      <a:pPr>
                        <a:lnSpc>
                          <a:spcPct val="100000"/>
                        </a:lnSpc>
                        <a:spcAft>
                          <a:spcPts val="0"/>
                        </a:spcAft>
                        <a:defRPr sz="1500" b="0">
                          <a:solidFill>
                            <a:srgbClr val="000000"/>
                          </a:solidFill>
                          <a:latin typeface="Calisto MT"/>
                        </a:defRPr>
                      </a:pPr>
                      <a:r>
                        <a:t>Duplicates may overfit</a:t>
                      </a:r>
                    </a:p>
                  </a:txBody>
                  <a:tcPr marL="82296" marR="82296" marT="32004" marB="32004" anchor="ctr">
                    <a:solidFill>
                      <a:srgbClr val="FFFFFF"/>
                    </a:solidFill>
                  </a:tcPr>
                </a:tc>
                <a:tc>
                  <a:txBody>
                    <a:bodyPr/>
                    <a:lstStyle/>
                    <a:p>
                      <a:pPr>
                        <a:lnSpc>
                          <a:spcPct val="100000"/>
                        </a:lnSpc>
                        <a:spcAft>
                          <a:spcPts val="0"/>
                        </a:spcAft>
                        <a:defRPr sz="1500" b="0">
                          <a:solidFill>
                            <a:srgbClr val="000000"/>
                          </a:solidFill>
                          <a:latin typeface="Calisto MT"/>
                        </a:defRPr>
                      </a:pPr>
                      <a:r>
                        <a:t>Quick baseline for small or medium data</a:t>
                      </a:r>
                    </a:p>
                  </a:txBody>
                  <a:tcPr marL="82296" marR="82296" marT="32004" marB="32004" anchor="ctr">
                    <a:solidFill>
                      <a:srgbClr val="FFFFFF"/>
                    </a:solidFill>
                  </a:tcPr>
                </a:tc>
                <a:extLst>
                  <a:ext uri="{0D108BD9-81ED-4DB2-BD59-A6C34878D82A}">
                    <a16:rowId xmlns:a16="http://schemas.microsoft.com/office/drawing/2014/main" val="10002"/>
                  </a:ext>
                </a:extLst>
              </a:tr>
              <a:tr h="583387">
                <a:tc>
                  <a:txBody>
                    <a:bodyPr/>
                    <a:lstStyle/>
                    <a:p>
                      <a:pPr>
                        <a:lnSpc>
                          <a:spcPct val="100000"/>
                        </a:lnSpc>
                        <a:spcAft>
                          <a:spcPts val="0"/>
                        </a:spcAft>
                        <a:defRPr sz="1500" b="1">
                          <a:solidFill>
                            <a:srgbClr val="000000"/>
                          </a:solidFill>
                          <a:latin typeface="Calisto MT"/>
                        </a:defRPr>
                      </a:pPr>
                      <a:r>
                        <a:t>Class</a:t>
                      </a:r>
                    </a:p>
                    <a:p>
                      <a:pPr>
                        <a:lnSpc>
                          <a:spcPct val="100000"/>
                        </a:lnSpc>
                        <a:spcAft>
                          <a:spcPts val="0"/>
                        </a:spcAft>
                        <a:defRPr sz="1500" b="1">
                          <a:solidFill>
                            <a:srgbClr val="000000"/>
                          </a:solidFill>
                          <a:latin typeface="Calisto MT"/>
                        </a:defRPr>
                      </a:pPr>
                      <a:r>
                        <a:t>weighting</a:t>
                      </a:r>
                    </a:p>
                  </a:txBody>
                  <a:tcPr marL="82296" marR="82296" marT="32004" marB="32004" anchor="ctr">
                    <a:solidFill>
                      <a:srgbClr val="F8F4F1"/>
                    </a:solidFill>
                  </a:tcPr>
                </a:tc>
                <a:tc>
                  <a:txBody>
                    <a:bodyPr/>
                    <a:lstStyle/>
                    <a:p>
                      <a:pPr>
                        <a:lnSpc>
                          <a:spcPct val="100000"/>
                        </a:lnSpc>
                        <a:spcAft>
                          <a:spcPts val="0"/>
                        </a:spcAft>
                        <a:defRPr sz="1500" b="0">
                          <a:solidFill>
                            <a:srgbClr val="000000"/>
                          </a:solidFill>
                          <a:latin typeface="Calisto MT"/>
                        </a:defRPr>
                      </a:pPr>
                      <a:r>
                        <a:t>Increase minority error loss</a:t>
                      </a:r>
                    </a:p>
                  </a:txBody>
                  <a:tcPr marL="82296" marR="82296" marT="32004" marB="32004" anchor="ctr">
                    <a:solidFill>
                      <a:srgbClr val="F8F4F1"/>
                    </a:solidFill>
                  </a:tcPr>
                </a:tc>
                <a:tc>
                  <a:txBody>
                    <a:bodyPr/>
                    <a:lstStyle/>
                    <a:p>
                      <a:pPr>
                        <a:lnSpc>
                          <a:spcPct val="100000"/>
                        </a:lnSpc>
                        <a:spcAft>
                          <a:spcPts val="0"/>
                        </a:spcAft>
                        <a:defRPr sz="1500" b="0">
                          <a:solidFill>
                            <a:srgbClr val="000000"/>
                          </a:solidFill>
                          <a:latin typeface="Calisto MT"/>
                        </a:defRPr>
                      </a:pPr>
                      <a:r>
                        <a:t>Keeps all original rows</a:t>
                      </a:r>
                    </a:p>
                  </a:txBody>
                  <a:tcPr marL="82296" marR="82296" marT="32004" marB="32004" anchor="ctr">
                    <a:solidFill>
                      <a:srgbClr val="F8F4F1"/>
                    </a:solidFill>
                  </a:tcPr>
                </a:tc>
                <a:tc>
                  <a:txBody>
                    <a:bodyPr/>
                    <a:lstStyle/>
                    <a:p>
                      <a:pPr>
                        <a:lnSpc>
                          <a:spcPct val="100000"/>
                        </a:lnSpc>
                        <a:spcAft>
                          <a:spcPts val="0"/>
                        </a:spcAft>
                        <a:defRPr sz="1500" b="0">
                          <a:solidFill>
                            <a:srgbClr val="000000"/>
                          </a:solidFill>
                          <a:latin typeface="Calisto MT"/>
                        </a:defRPr>
                      </a:pPr>
                      <a:r>
                        <a:t>Tune weights and calibration</a:t>
                      </a:r>
                    </a:p>
                  </a:txBody>
                  <a:tcPr marL="82296" marR="82296" marT="32004" marB="32004" anchor="ctr">
                    <a:solidFill>
                      <a:srgbClr val="F8F4F1"/>
                    </a:solidFill>
                  </a:tcPr>
                </a:tc>
                <a:tc>
                  <a:txBody>
                    <a:bodyPr/>
                    <a:lstStyle/>
                    <a:p>
                      <a:pPr>
                        <a:lnSpc>
                          <a:spcPct val="100000"/>
                        </a:lnSpc>
                        <a:spcAft>
                          <a:spcPts val="0"/>
                        </a:spcAft>
                        <a:defRPr sz="1500" b="0">
                          <a:solidFill>
                            <a:srgbClr val="000000"/>
                          </a:solidFill>
                          <a:latin typeface="Calisto MT"/>
                        </a:defRPr>
                      </a:pPr>
                      <a:r>
                        <a:t>First intervention for many classifiers</a:t>
                      </a:r>
                    </a:p>
                  </a:txBody>
                  <a:tcPr marL="82296" marR="82296" marT="32004" marB="32004" anchor="ctr">
                    <a:solidFill>
                      <a:srgbClr val="F8F4F1"/>
                    </a:solidFill>
                  </a:tcPr>
                </a:tc>
                <a:extLst>
                  <a:ext uri="{0D108BD9-81ED-4DB2-BD59-A6C34878D82A}">
                    <a16:rowId xmlns:a16="http://schemas.microsoft.com/office/drawing/2014/main" val="10003"/>
                  </a:ext>
                </a:extLst>
              </a:tr>
              <a:tr h="583387">
                <a:tc>
                  <a:txBody>
                    <a:bodyPr/>
                    <a:lstStyle/>
                    <a:p>
                      <a:pPr>
                        <a:lnSpc>
                          <a:spcPct val="100000"/>
                        </a:lnSpc>
                        <a:spcAft>
                          <a:spcPts val="0"/>
                        </a:spcAft>
                        <a:defRPr sz="1500" b="1">
                          <a:solidFill>
                            <a:srgbClr val="000000"/>
                          </a:solidFill>
                          <a:latin typeface="Calisto MT"/>
                        </a:defRPr>
                      </a:pPr>
                      <a:r>
                        <a:t>SMOTE</a:t>
                      </a:r>
                    </a:p>
                  </a:txBody>
                  <a:tcPr marL="82296" marR="82296" marT="32004" marB="32004" anchor="ctr">
                    <a:solidFill>
                      <a:srgbClr val="FFFFFF"/>
                    </a:solidFill>
                  </a:tcPr>
                </a:tc>
                <a:tc>
                  <a:txBody>
                    <a:bodyPr/>
                    <a:lstStyle/>
                    <a:p>
                      <a:pPr>
                        <a:lnSpc>
                          <a:spcPct val="100000"/>
                        </a:lnSpc>
                        <a:spcAft>
                          <a:spcPts val="0"/>
                        </a:spcAft>
                        <a:defRPr sz="1500" b="0">
                          <a:solidFill>
                            <a:srgbClr val="000000"/>
                          </a:solidFill>
                          <a:latin typeface="Calisto MT"/>
                        </a:defRPr>
                      </a:pPr>
                      <a:r>
                        <a:t>Interpolate minority neighbors</a:t>
                      </a:r>
                    </a:p>
                  </a:txBody>
                  <a:tcPr marL="82296" marR="82296" marT="32004" marB="32004" anchor="ctr">
                    <a:solidFill>
                      <a:srgbClr val="FFFFFF"/>
                    </a:solidFill>
                  </a:tcPr>
                </a:tc>
                <a:tc>
                  <a:txBody>
                    <a:bodyPr/>
                    <a:lstStyle/>
                    <a:p>
                      <a:pPr>
                        <a:lnSpc>
                          <a:spcPct val="100000"/>
                        </a:lnSpc>
                        <a:spcAft>
                          <a:spcPts val="0"/>
                        </a:spcAft>
                        <a:defRPr sz="1500" b="0">
                          <a:solidFill>
                            <a:srgbClr val="000000"/>
                          </a:solidFill>
                          <a:latin typeface="Calisto MT"/>
                        </a:defRPr>
                      </a:pPr>
                      <a:r>
                        <a:t>Adds nonduplicate variation</a:t>
                      </a:r>
                    </a:p>
                  </a:txBody>
                  <a:tcPr marL="82296" marR="82296" marT="32004" marB="32004" anchor="ctr">
                    <a:solidFill>
                      <a:srgbClr val="FFFFFF"/>
                    </a:solidFill>
                  </a:tcPr>
                </a:tc>
                <a:tc>
                  <a:txBody>
                    <a:bodyPr/>
                    <a:lstStyle/>
                    <a:p>
                      <a:pPr>
                        <a:lnSpc>
                          <a:spcPct val="100000"/>
                        </a:lnSpc>
                        <a:spcAft>
                          <a:spcPts val="0"/>
                        </a:spcAft>
                        <a:defRPr sz="1500" b="0">
                          <a:solidFill>
                            <a:srgbClr val="000000"/>
                          </a:solidFill>
                          <a:latin typeface="Calisto MT"/>
                        </a:defRPr>
                      </a:pPr>
                      <a:r>
                        <a:t>Implausible or overlapping cases</a:t>
                      </a:r>
                    </a:p>
                  </a:txBody>
                  <a:tcPr marL="82296" marR="82296" marT="32004" marB="32004" anchor="ctr">
                    <a:solidFill>
                      <a:srgbClr val="FFFFFF"/>
                    </a:solidFill>
                  </a:tcPr>
                </a:tc>
                <a:tc>
                  <a:txBody>
                    <a:bodyPr/>
                    <a:lstStyle/>
                    <a:p>
                      <a:pPr>
                        <a:lnSpc>
                          <a:spcPct val="100000"/>
                        </a:lnSpc>
                        <a:spcAft>
                          <a:spcPts val="0"/>
                        </a:spcAft>
                        <a:defRPr sz="1500" b="0">
                          <a:solidFill>
                            <a:srgbClr val="000000"/>
                          </a:solidFill>
                          <a:latin typeface="Calisto MT"/>
                        </a:defRPr>
                      </a:pPr>
                      <a:r>
                        <a:t>Numeric, sufficiently dense neighborhoods</a:t>
                      </a:r>
                    </a:p>
                  </a:txBody>
                  <a:tcPr marL="82296" marR="82296" marT="32004" marB="32004" anchor="ctr">
                    <a:solidFill>
                      <a:srgbClr val="FFFFFF"/>
                    </a:solidFill>
                  </a:tcPr>
                </a:tc>
                <a:extLst>
                  <a:ext uri="{0D108BD9-81ED-4DB2-BD59-A6C34878D82A}">
                    <a16:rowId xmlns:a16="http://schemas.microsoft.com/office/drawing/2014/main" val="10004"/>
                  </a:ext>
                </a:extLst>
              </a:tr>
              <a:tr h="583387">
                <a:tc>
                  <a:txBody>
                    <a:bodyPr/>
                    <a:lstStyle/>
                    <a:p>
                      <a:pPr>
                        <a:lnSpc>
                          <a:spcPct val="100000"/>
                        </a:lnSpc>
                        <a:spcAft>
                          <a:spcPts val="0"/>
                        </a:spcAft>
                        <a:defRPr sz="1500" b="1">
                          <a:solidFill>
                            <a:srgbClr val="000000"/>
                          </a:solidFill>
                          <a:latin typeface="Calisto MT"/>
                        </a:defRPr>
                      </a:pPr>
                      <a:r>
                        <a:t>Borderline-</a:t>
                      </a:r>
                    </a:p>
                    <a:p>
                      <a:pPr>
                        <a:lnSpc>
                          <a:spcPct val="100000"/>
                        </a:lnSpc>
                        <a:spcAft>
                          <a:spcPts val="0"/>
                        </a:spcAft>
                        <a:defRPr sz="1500" b="1">
                          <a:solidFill>
                            <a:srgbClr val="000000"/>
                          </a:solidFill>
                          <a:latin typeface="Calisto MT"/>
                        </a:defRPr>
                      </a:pPr>
                      <a:r>
                        <a:t>SMOTE</a:t>
                      </a:r>
                    </a:p>
                  </a:txBody>
                  <a:tcPr marL="82296" marR="82296" marT="32004" marB="32004" anchor="ctr">
                    <a:solidFill>
                      <a:srgbClr val="F8F4F1"/>
                    </a:solidFill>
                  </a:tcPr>
                </a:tc>
                <a:tc>
                  <a:txBody>
                    <a:bodyPr/>
                    <a:lstStyle/>
                    <a:p>
                      <a:pPr>
                        <a:lnSpc>
                          <a:spcPct val="100000"/>
                        </a:lnSpc>
                        <a:spcAft>
                          <a:spcPts val="0"/>
                        </a:spcAft>
                        <a:defRPr sz="1500" b="0">
                          <a:solidFill>
                            <a:srgbClr val="000000"/>
                          </a:solidFill>
                          <a:latin typeface="Calisto MT"/>
                        </a:defRPr>
                      </a:pPr>
                      <a:r>
                        <a:t>Synthesize near boundary</a:t>
                      </a:r>
                    </a:p>
                  </a:txBody>
                  <a:tcPr marL="82296" marR="82296" marT="32004" marB="32004" anchor="ctr">
                    <a:solidFill>
                      <a:srgbClr val="F8F4F1"/>
                    </a:solidFill>
                  </a:tcPr>
                </a:tc>
                <a:tc>
                  <a:txBody>
                    <a:bodyPr/>
                    <a:lstStyle/>
                    <a:p>
                      <a:pPr>
                        <a:lnSpc>
                          <a:spcPct val="100000"/>
                        </a:lnSpc>
                        <a:spcAft>
                          <a:spcPts val="0"/>
                        </a:spcAft>
                        <a:defRPr sz="1500" b="0">
                          <a:solidFill>
                            <a:srgbClr val="000000"/>
                          </a:solidFill>
                          <a:latin typeface="Calisto MT"/>
                        </a:defRPr>
                      </a:pPr>
                      <a:r>
                        <a:t>Emphasizes difficult boundary cases</a:t>
                      </a:r>
                    </a:p>
                  </a:txBody>
                  <a:tcPr marL="82296" marR="82296" marT="32004" marB="32004" anchor="ctr">
                    <a:solidFill>
                      <a:srgbClr val="F8F4F1"/>
                    </a:solidFill>
                  </a:tcPr>
                </a:tc>
                <a:tc>
                  <a:txBody>
                    <a:bodyPr/>
                    <a:lstStyle/>
                    <a:p>
                      <a:pPr>
                        <a:lnSpc>
                          <a:spcPct val="100000"/>
                        </a:lnSpc>
                        <a:spcAft>
                          <a:spcPts val="0"/>
                        </a:spcAft>
                        <a:defRPr sz="1500" b="0">
                          <a:solidFill>
                            <a:srgbClr val="000000"/>
                          </a:solidFill>
                          <a:latin typeface="Calisto MT"/>
                        </a:defRPr>
                      </a:pPr>
                      <a:r>
                        <a:t>Sensitive to noise and overlap</a:t>
                      </a:r>
                    </a:p>
                  </a:txBody>
                  <a:tcPr marL="82296" marR="82296" marT="32004" marB="32004" anchor="ctr">
                    <a:solidFill>
                      <a:srgbClr val="F8F4F1"/>
                    </a:solidFill>
                  </a:tcPr>
                </a:tc>
                <a:tc>
                  <a:txBody>
                    <a:bodyPr/>
                    <a:lstStyle/>
                    <a:p>
                      <a:pPr>
                        <a:lnSpc>
                          <a:spcPct val="100000"/>
                        </a:lnSpc>
                        <a:spcAft>
                          <a:spcPts val="0"/>
                        </a:spcAft>
                        <a:defRPr sz="1500" b="0">
                          <a:solidFill>
                            <a:srgbClr val="000000"/>
                          </a:solidFill>
                          <a:latin typeface="Calisto MT"/>
                        </a:defRPr>
                      </a:pPr>
                      <a:r>
                        <a:t>Boundary errors dominate</a:t>
                      </a:r>
                    </a:p>
                  </a:txBody>
                  <a:tcPr marL="82296" marR="82296" marT="32004" marB="32004" anchor="ctr">
                    <a:solidFill>
                      <a:srgbClr val="F8F4F1"/>
                    </a:solidFill>
                  </a:tcPr>
                </a:tc>
                <a:extLst>
                  <a:ext uri="{0D108BD9-81ED-4DB2-BD59-A6C34878D82A}">
                    <a16:rowId xmlns:a16="http://schemas.microsoft.com/office/drawing/2014/main" val="10005"/>
                  </a:ext>
                </a:extLst>
              </a:tr>
              <a:tr h="583387">
                <a:tc>
                  <a:txBody>
                    <a:bodyPr/>
                    <a:lstStyle/>
                    <a:p>
                      <a:pPr>
                        <a:lnSpc>
                          <a:spcPct val="100000"/>
                        </a:lnSpc>
                        <a:spcAft>
                          <a:spcPts val="0"/>
                        </a:spcAft>
                        <a:defRPr sz="1500" b="1">
                          <a:solidFill>
                            <a:srgbClr val="000000"/>
                          </a:solidFill>
                          <a:latin typeface="Calisto MT"/>
                        </a:defRPr>
                      </a:pPr>
                      <a:r>
                        <a:t>ADASYN</a:t>
                      </a:r>
                    </a:p>
                  </a:txBody>
                  <a:tcPr marL="82296" marR="82296" marT="32004" marB="32004" anchor="ctr">
                    <a:solidFill>
                      <a:srgbClr val="FFFFFF"/>
                    </a:solidFill>
                  </a:tcPr>
                </a:tc>
                <a:tc>
                  <a:txBody>
                    <a:bodyPr/>
                    <a:lstStyle/>
                    <a:p>
                      <a:pPr>
                        <a:lnSpc>
                          <a:spcPct val="100000"/>
                        </a:lnSpc>
                        <a:spcAft>
                          <a:spcPts val="0"/>
                        </a:spcAft>
                        <a:defRPr sz="1500" b="0">
                          <a:solidFill>
                            <a:srgbClr val="000000"/>
                          </a:solidFill>
                          <a:latin typeface="Calisto MT"/>
                        </a:defRPr>
                      </a:pPr>
                      <a:r>
                        <a:t>Synthesize in hard regions</a:t>
                      </a:r>
                    </a:p>
                  </a:txBody>
                  <a:tcPr marL="82296" marR="82296" marT="32004" marB="32004" anchor="ctr">
                    <a:solidFill>
                      <a:srgbClr val="FFFFFF"/>
                    </a:solidFill>
                  </a:tcPr>
                </a:tc>
                <a:tc>
                  <a:txBody>
                    <a:bodyPr/>
                    <a:lstStyle/>
                    <a:p>
                      <a:pPr>
                        <a:lnSpc>
                          <a:spcPct val="100000"/>
                        </a:lnSpc>
                        <a:spcAft>
                          <a:spcPts val="0"/>
                        </a:spcAft>
                        <a:defRPr sz="1500" b="0">
                          <a:solidFill>
                            <a:srgbClr val="000000"/>
                          </a:solidFill>
                          <a:latin typeface="Calisto MT"/>
                        </a:defRPr>
                      </a:pPr>
                      <a:r>
                        <a:t>Adapts to local difficulty</a:t>
                      </a:r>
                    </a:p>
                  </a:txBody>
                  <a:tcPr marL="82296" marR="82296" marT="32004" marB="32004" anchor="ctr">
                    <a:solidFill>
                      <a:srgbClr val="FFFFFF"/>
                    </a:solidFill>
                  </a:tcPr>
                </a:tc>
                <a:tc>
                  <a:txBody>
                    <a:bodyPr/>
                    <a:lstStyle/>
                    <a:p>
                      <a:pPr>
                        <a:lnSpc>
                          <a:spcPct val="100000"/>
                        </a:lnSpc>
                        <a:spcAft>
                          <a:spcPts val="0"/>
                        </a:spcAft>
                        <a:defRPr sz="1500" b="0">
                          <a:solidFill>
                            <a:srgbClr val="000000"/>
                          </a:solidFill>
                          <a:latin typeface="Calisto MT"/>
                        </a:defRPr>
                      </a:pPr>
                      <a:r>
                        <a:t>May amplify label noise</a:t>
                      </a:r>
                    </a:p>
                  </a:txBody>
                  <a:tcPr marL="82296" marR="82296" marT="32004" marB="32004" anchor="ctr">
                    <a:solidFill>
                      <a:srgbClr val="FFFFFF"/>
                    </a:solidFill>
                  </a:tcPr>
                </a:tc>
                <a:tc>
                  <a:txBody>
                    <a:bodyPr/>
                    <a:lstStyle/>
                    <a:p>
                      <a:pPr>
                        <a:lnSpc>
                          <a:spcPct val="100000"/>
                        </a:lnSpc>
                        <a:spcAft>
                          <a:spcPts val="0"/>
                        </a:spcAft>
                        <a:defRPr sz="1500" b="0">
                          <a:solidFill>
                            <a:srgbClr val="000000"/>
                          </a:solidFill>
                          <a:latin typeface="Calisto MT"/>
                        </a:defRPr>
                      </a:pPr>
                      <a:r>
                        <a:t>Uneven minority-region difficulty</a:t>
                      </a:r>
                    </a:p>
                  </a:txBody>
                  <a:tcPr marL="82296" marR="82296" marT="32004" marB="32004" anchor="c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Performance at a common threshold</a:t>
            </a:r>
          </a:p>
        </p:txBody>
      </p:sp>
      <p:pic>
        <p:nvPicPr>
          <p:cNvPr id="3" name="Picture 2" descr="Illustrative simulated-data test-set comparison at a common 0.5 threshold. The test set retains original minority prevalence. Weighting and resampling increase recall and balanced accuracy in this example while reducing precision and F1 relative to the untreated classifier. ROC-AUC values all round to 0.88. Results depend on the simulated data and threshold. These figures are not a universal performance ranking."/>
          <p:cNvPicPr>
            <a:picLocks noChangeAspect="1"/>
          </p:cNvPicPr>
          <p:nvPr/>
        </p:nvPicPr>
        <p:blipFill>
          <a:blip r:embed="rId3"/>
          <a:stretch>
            <a:fillRect/>
          </a:stretch>
        </p:blipFill>
        <p:spPr>
          <a:xfrm>
            <a:off x="2506060" y="1801368"/>
            <a:ext cx="7167687" cy="42062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A practical workflow</a:t>
            </a:r>
          </a:p>
        </p:txBody>
      </p:sp>
      <p:sp>
        <p:nvSpPr>
          <p:cNvPr id="3" name="TextBox 2"/>
          <p:cNvSpPr txBox="1"/>
          <p:nvPr/>
        </p:nvSpPr>
        <p:spPr>
          <a:xfrm>
            <a:off x="822960" y="2011680"/>
            <a:ext cx="3291840" cy="548640"/>
          </a:xfrm>
          <a:prstGeom prst="rect">
            <a:avLst/>
          </a:prstGeom>
          <a:noFill/>
        </p:spPr>
        <p:txBody>
          <a:bodyPr wrap="square" lIns="0" tIns="0" rIns="0" bIns="0">
            <a:spAutoFit/>
          </a:bodyPr>
          <a:lstStyle/>
          <a:p>
            <a:pPr>
              <a:lnSpc>
                <a:spcPct val="108000"/>
              </a:lnSpc>
              <a:spcAft>
                <a:spcPts val="700"/>
              </a:spcAft>
              <a:defRPr sz="2000" b="1">
                <a:solidFill>
                  <a:srgbClr val="000000"/>
                </a:solidFill>
                <a:latin typeface="Calisto MT"/>
              </a:defRPr>
            </a:pPr>
            <a:r>
              <a:t>1  Define the decision</a:t>
            </a:r>
          </a:p>
        </p:txBody>
      </p:sp>
      <p:sp>
        <p:nvSpPr>
          <p:cNvPr id="4" name="TextBox 3"/>
          <p:cNvSpPr txBox="1"/>
          <p:nvPr/>
        </p:nvSpPr>
        <p:spPr>
          <a:xfrm>
            <a:off x="4297680" y="2011680"/>
            <a:ext cx="6949440" cy="640080"/>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t>Specify the positive class, deployment prevalence, and error consequences.</a:t>
            </a:r>
          </a:p>
        </p:txBody>
      </p:sp>
      <p:sp>
        <p:nvSpPr>
          <p:cNvPr id="5" name="TextBox 4"/>
          <p:cNvSpPr txBox="1"/>
          <p:nvPr/>
        </p:nvSpPr>
        <p:spPr>
          <a:xfrm>
            <a:off x="822960" y="2761488"/>
            <a:ext cx="3291840" cy="548640"/>
          </a:xfrm>
          <a:prstGeom prst="rect">
            <a:avLst/>
          </a:prstGeom>
          <a:noFill/>
        </p:spPr>
        <p:txBody>
          <a:bodyPr wrap="square" lIns="0" tIns="0" rIns="0" bIns="0">
            <a:spAutoFit/>
          </a:bodyPr>
          <a:lstStyle/>
          <a:p>
            <a:pPr>
              <a:lnSpc>
                <a:spcPct val="108000"/>
              </a:lnSpc>
              <a:spcAft>
                <a:spcPts val="700"/>
              </a:spcAft>
              <a:defRPr sz="2000" b="1">
                <a:solidFill>
                  <a:srgbClr val="000000"/>
                </a:solidFill>
                <a:latin typeface="Calisto MT"/>
              </a:defRPr>
            </a:pPr>
            <a:r>
              <a:t>2  Establish the baseline</a:t>
            </a:r>
          </a:p>
        </p:txBody>
      </p:sp>
      <p:sp>
        <p:nvSpPr>
          <p:cNvPr id="6" name="TextBox 5"/>
          <p:cNvSpPr txBox="1"/>
          <p:nvPr/>
        </p:nvSpPr>
        <p:spPr>
          <a:xfrm>
            <a:off x="4297680" y="2761488"/>
            <a:ext cx="6949440" cy="640080"/>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t>Inspect recall, precision, PR-AUC, balanced accuracy, calibration, and thresholds.</a:t>
            </a:r>
          </a:p>
        </p:txBody>
      </p:sp>
      <p:sp>
        <p:nvSpPr>
          <p:cNvPr id="7" name="TextBox 6"/>
          <p:cNvSpPr txBox="1"/>
          <p:nvPr/>
        </p:nvSpPr>
        <p:spPr>
          <a:xfrm>
            <a:off x="822960" y="3511296"/>
            <a:ext cx="3291840" cy="548640"/>
          </a:xfrm>
          <a:prstGeom prst="rect">
            <a:avLst/>
          </a:prstGeom>
          <a:noFill/>
        </p:spPr>
        <p:txBody>
          <a:bodyPr wrap="square" lIns="0" tIns="0" rIns="0" bIns="0">
            <a:spAutoFit/>
          </a:bodyPr>
          <a:lstStyle/>
          <a:p>
            <a:pPr>
              <a:lnSpc>
                <a:spcPct val="108000"/>
              </a:lnSpc>
              <a:spcAft>
                <a:spcPts val="700"/>
              </a:spcAft>
              <a:defRPr sz="2000" b="1">
                <a:solidFill>
                  <a:srgbClr val="000000"/>
                </a:solidFill>
                <a:latin typeface="Calisto MT"/>
              </a:defRPr>
            </a:pPr>
            <a:r>
              <a:t>3  Compare a small set</a:t>
            </a:r>
          </a:p>
        </p:txBody>
      </p:sp>
      <p:sp>
        <p:nvSpPr>
          <p:cNvPr id="8" name="TextBox 7"/>
          <p:cNvSpPr txBox="1"/>
          <p:nvPr/>
        </p:nvSpPr>
        <p:spPr>
          <a:xfrm>
            <a:off x="4297680" y="3511296"/>
            <a:ext cx="6949440" cy="640080"/>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rPr lang="en-US"/>
              <a:t>Compare </a:t>
            </a:r>
            <a:r>
              <a:t>thresholds</a:t>
            </a:r>
            <a:r>
              <a:rPr lang="en-US"/>
              <a:t>, weighting, random over/undersampling,</a:t>
            </a:r>
            <a:r>
              <a:t> and </a:t>
            </a:r>
            <a:r>
              <a:rPr lang="en-US"/>
              <a:t>one or two SMOTE-family methods</a:t>
            </a:r>
            <a:r>
              <a:t>.</a:t>
            </a:r>
          </a:p>
        </p:txBody>
      </p:sp>
      <p:sp>
        <p:nvSpPr>
          <p:cNvPr id="9" name="TextBox 8"/>
          <p:cNvSpPr txBox="1"/>
          <p:nvPr/>
        </p:nvSpPr>
        <p:spPr>
          <a:xfrm>
            <a:off x="822960" y="4261104"/>
            <a:ext cx="3291840" cy="548640"/>
          </a:xfrm>
          <a:prstGeom prst="rect">
            <a:avLst/>
          </a:prstGeom>
          <a:noFill/>
        </p:spPr>
        <p:txBody>
          <a:bodyPr wrap="square" lIns="0" tIns="0" rIns="0" bIns="0">
            <a:spAutoFit/>
          </a:bodyPr>
          <a:lstStyle/>
          <a:p>
            <a:pPr>
              <a:lnSpc>
                <a:spcPct val="108000"/>
              </a:lnSpc>
              <a:spcAft>
                <a:spcPts val="700"/>
              </a:spcAft>
              <a:defRPr sz="2000" b="1">
                <a:solidFill>
                  <a:srgbClr val="000000"/>
                </a:solidFill>
                <a:latin typeface="Calisto MT"/>
              </a:defRPr>
            </a:pPr>
            <a:r>
              <a:t>4  Validate the full pipeline</a:t>
            </a:r>
          </a:p>
        </p:txBody>
      </p:sp>
      <p:sp>
        <p:nvSpPr>
          <p:cNvPr id="10" name="TextBox 9"/>
          <p:cNvSpPr txBox="1"/>
          <p:nvPr/>
        </p:nvSpPr>
        <p:spPr>
          <a:xfrm>
            <a:off x="4297680" y="4261104"/>
            <a:ext cx="6949440" cy="640080"/>
          </a:xfrm>
          <a:prstGeom prst="rect">
            <a:avLst/>
          </a:prstGeom>
          <a:noFill/>
        </p:spPr>
        <p:txBody>
          <a:bodyPr wrap="square" lIns="0" tIns="0" rIns="0" bIns="0">
            <a:spAutoFit/>
          </a:bodyPr>
          <a:lstStyle/>
          <a:p>
            <a:pPr>
              <a:lnSpc>
                <a:spcPct val="108000"/>
              </a:lnSpc>
              <a:spcAft>
                <a:spcPts val="700"/>
              </a:spcAft>
              <a:defRPr sz="2000" b="0">
                <a:solidFill>
                  <a:srgbClr val="000000"/>
                </a:solidFill>
                <a:latin typeface="Calisto MT"/>
              </a:defRPr>
            </a:pPr>
            <a:r>
              <a:t>Use stratified cross-validation and reserve an untouched final test set.</a:t>
            </a:r>
          </a:p>
        </p:txBody>
      </p:sp>
      <p:sp>
        <p:nvSpPr>
          <p:cNvPr id="11" name="TextBox 10"/>
          <p:cNvSpPr txBox="1"/>
          <p:nvPr/>
        </p:nvSpPr>
        <p:spPr>
          <a:xfrm>
            <a:off x="822960" y="5413248"/>
            <a:ext cx="10515600" cy="530352"/>
          </a:xfrm>
          <a:prstGeom prst="rect">
            <a:avLst/>
          </a:prstGeom>
          <a:noFill/>
        </p:spPr>
        <p:txBody>
          <a:bodyPr wrap="square" lIns="0" tIns="0" rIns="0" bIns="0">
            <a:spAutoFit/>
          </a:bodyPr>
          <a:lstStyle/>
          <a:p>
            <a:pPr>
              <a:lnSpc>
                <a:spcPct val="108000"/>
              </a:lnSpc>
              <a:spcAft>
                <a:spcPts val="700"/>
              </a:spcAft>
              <a:defRPr sz="2400" b="1">
                <a:solidFill>
                  <a:srgbClr val="000000"/>
                </a:solidFill>
                <a:latin typeface="Calisto MT"/>
              </a:defRPr>
            </a:pPr>
            <a:r>
              <a:t>Choose the method and threshold that meet the deployment objective.</a:t>
            </a:r>
          </a:p>
        </p:txBody>
      </p:sp>
    </p:spTree>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569</TotalTime>
  <Words>3406</Words>
  <Application>Microsoft Office PowerPoint</Application>
  <PresentationFormat>Widescreen</PresentationFormat>
  <Paragraphs>261</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Calisto MT</vt:lpstr>
      <vt:lpstr>Univers Condensed</vt:lpstr>
      <vt:lpstr>ChronicleVTI</vt:lpstr>
      <vt:lpstr>Imbalance</vt:lpstr>
      <vt:lpstr>Rare outcomes, important decisions</vt:lpstr>
      <vt:lpstr>High accuracy can hide missed cases</vt:lpstr>
      <vt:lpstr>Original, training, and deployment data</vt:lpstr>
      <vt:lpstr>Error costs guide metric choice</vt:lpstr>
      <vt:lpstr>Random undersampling</vt:lpstr>
      <vt:lpstr>Random oversampling</vt:lpstr>
      <vt:lpstr>Class weighting and error costs</vt:lpstr>
      <vt:lpstr>SMOTE: synthetic minority examples</vt:lpstr>
      <vt:lpstr>SMOTE: interpolation mathematics</vt:lpstr>
      <vt:lpstr>Decision boundaries after treatment</vt:lpstr>
      <vt:lpstr>SMOTE variants</vt:lpstr>
      <vt:lpstr>Cleaning and hybrid approaches</vt:lpstr>
      <vt:lpstr>Correct and incorrect resampling</vt:lpstr>
      <vt:lpstr>Leakage-safe resampling</vt:lpstr>
      <vt:lpstr>Method comparison for deployment</vt:lpstr>
      <vt:lpstr>Performance at a common threshold</vt:lpstr>
      <vt:lpstr>A practical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Rhodes</dc:creator>
  <cp:lastModifiedBy>Jake Rhodes</cp:lastModifiedBy>
  <cp:revision>29</cp:revision>
  <dcterms:created xsi:type="dcterms:W3CDTF">2025-10-28T15:32:43Z</dcterms:created>
  <dcterms:modified xsi:type="dcterms:W3CDTF">2026-10-13T19:44:03Z</dcterms:modified>
</cp:coreProperties>
</file>