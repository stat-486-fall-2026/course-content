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20"/>
  </p:notesMasterIdLst>
  <p:sldIdLst>
    <p:sldId id="256" r:id="rId2"/>
    <p:sldId id="295" r:id="rId3"/>
    <p:sldId id="294" r:id="rId4"/>
    <p:sldId id="288" r:id="rId5"/>
    <p:sldId id="289" r:id="rId6"/>
    <p:sldId id="291" r:id="rId7"/>
    <p:sldId id="297" r:id="rId8"/>
    <p:sldId id="296" r:id="rId9"/>
    <p:sldId id="259" r:id="rId10"/>
    <p:sldId id="260" r:id="rId11"/>
    <p:sldId id="261" r:id="rId12"/>
    <p:sldId id="301" r:id="rId13"/>
    <p:sldId id="262" r:id="rId14"/>
    <p:sldId id="298" r:id="rId15"/>
    <p:sldId id="263" r:id="rId16"/>
    <p:sldId id="299" r:id="rId17"/>
    <p:sldId id="292" r:id="rId18"/>
    <p:sldId id="26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4660"/>
  </p:normalViewPr>
  <p:slideViewPr>
    <p:cSldViewPr snapToGrid="0">
      <p:cViewPr varScale="1">
        <p:scale>
          <a:sx n="74" d="100"/>
          <a:sy n="74" d="100"/>
        </p:scale>
        <p:origin x="3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320152-7289-42ED-97D3-BBB411F9F8C0}"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F0E3D6-3C77-45F1-B7E2-5B66F3D24A72}" type="slidenum">
              <a:rPr lang="en-US" smtClean="0"/>
              <a:t>‹#›</a:t>
            </a:fld>
            <a:endParaRPr lang="en-US"/>
          </a:p>
        </p:txBody>
      </p:sp>
    </p:spTree>
    <p:extLst>
      <p:ext uri="{BB962C8B-B14F-4D97-AF65-F5344CB8AC3E}">
        <p14:creationId xmlns:p14="http://schemas.microsoft.com/office/powerpoint/2010/main" val="3564873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Today: logistic regression as the bridge from linear models to classification. The whole lecture is one idea — keep the linear score, change what we do with it.</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t>Signpost. Tell students that everything in Part 1 is model definition — no fitting yet.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t>Fix notation before any math. Introduce the Default/balance example here — it returns on the odds, loss, and worked-example slides. Linear regression is not wrong so much as mismatched.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Stress that z is a latent score on the whole real line. The sigmoid is the smooth monotone squashing function that makes the log-odds linear. </a:t>
            </a:r>
            <a:r>
              <a:rPr lang="en-US"/>
              <a:t>Close by previewing </a:t>
            </a:r>
            <a:r>
              <a:rPr lang="en-US" dirty="0"/>
              <a:t>the </a:t>
            </a:r>
            <a:r>
              <a:rPr lang="en-US"/>
              <a:t>logit as </a:t>
            </a:r>
            <a:r>
              <a:rPr lang="en-US" dirty="0"/>
              <a:t>the </a:t>
            </a:r>
            <a:r>
              <a:rPr lang="en-US"/>
              <a:t>inverse.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t>Have students read the left panel first and say out loud what is wrong with it. Point at the region where the linear fit dips below zero. This motivates the sigmoid on the next slide.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t>Define odds concretely with </a:t>
            </a:r>
            <a:r>
              <a:rPr lang="en-US" dirty="0"/>
              <a:t>the </a:t>
            </a:r>
            <a:r>
              <a:rPr lang="en-US"/>
              <a:t>Default numbers before writing </a:t>
            </a:r>
            <a:r>
              <a:rPr lang="en-US" dirty="0"/>
              <a:t>the </a:t>
            </a:r>
            <a:r>
              <a:rPr lang="en-US"/>
              <a:t>logit</a:t>
            </a:r>
            <a:r>
              <a:rPr lang="en-US" dirty="0"/>
              <a:t>. </a:t>
            </a:r>
            <a:r>
              <a:rPr lang="en-US"/>
              <a:t>The punchline: </a:t>
            </a:r>
            <a:r>
              <a:rPr lang="en-US" dirty="0"/>
              <a:t>the </a:t>
            </a:r>
            <a:r>
              <a:rPr lang="en-US"/>
              <a:t>model is linear, but </a:t>
            </a:r>
            <a:r>
              <a:rPr lang="en-US" dirty="0"/>
              <a:t>in log-odds, </a:t>
            </a:r>
            <a:r>
              <a:rPr lang="en-US"/>
              <a:t>not </a:t>
            </a:r>
            <a:r>
              <a:rPr lang="en-US" dirty="0"/>
              <a:t>probability.</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t>This is the interpretability payoff and the most exam-relevant idea. Additive in log-odds, multiplicative in odds. Spend real time on the trap: odds ratios are constant, probability changes are not.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t>Signpost. The model is now fully specified; everything in Part 2 is estimation.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The Bernoulli assumption is what earns us a likelihood — loss, optimization, </a:t>
            </a:r>
            <a:r>
              <a:rPr lang="en-US"/>
              <a:t>and </a:t>
            </a:r>
            <a:r>
              <a:rPr lang="en-US" dirty="0"/>
              <a:t>inference</a:t>
            </a:r>
            <a:r>
              <a:rPr lang="en-US"/>
              <a:t> all follow </a:t>
            </a:r>
            <a:r>
              <a:rPr lang="en-US" dirty="0"/>
              <a:t>from this</a:t>
            </a:r>
            <a:r>
              <a:rPr lang="en-US"/>
              <a:t> one</a:t>
            </a:r>
            <a:r>
              <a:rPr lang="en-US" dirty="0"/>
              <a:t> line.</a:t>
            </a: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Show the exponent trick</a:t>
            </a:r>
            <a:r>
              <a:rPr lang="en-US"/>
              <a:t>, then</a:t>
            </a:r>
            <a:r>
              <a:rPr lang="en-US" dirty="0"/>
              <a:t> make the punchline explicit: maximum likelihood and minimum cross-entropy are the same optimization</a:t>
            </a:r>
            <a:r>
              <a:rPr lang="en-US"/>
              <a:t>. Use a badly-scored Default customer to make the loss concrete</a:t>
            </a:r>
            <a:r>
              <a:rPr lang="en-US" dirty="0"/>
              <a:t>.</a:t>
            </a:r>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Convexity is </a:t>
            </a:r>
            <a:r>
              <a:rPr lang="en-US"/>
              <a:t>why </a:t>
            </a:r>
            <a:r>
              <a:rPr lang="en-US" dirty="0"/>
              <a:t>we can be relaxed about initialization and local minima. Contrast with neural networks</a:t>
            </a:r>
            <a:r>
              <a:rPr lang="en-US"/>
              <a:t>. Flag the regularization preview so </a:t>
            </a:r>
            <a:r>
              <a:rPr lang="en-US" dirty="0"/>
              <a:t>the </a:t>
            </a:r>
            <a:r>
              <a:rPr lang="en-US"/>
              <a:t>closing slide </a:t>
            </a:r>
            <a:r>
              <a:rPr lang="en-US" dirty="0"/>
              <a:t>is </a:t>
            </a:r>
            <a:r>
              <a:rPr lang="en-US"/>
              <a:t>not a surprise</a:t>
            </a:r>
            <a:r>
              <a:rPr lang="en-US" dirty="0"/>
              <a:t>.</a:t>
            </a: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The (p − y) form is the memorable takeaway: same update shape as linear regression, with probabilities in place of fitted values.</a:t>
            </a:r>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t>Signpost. The model is fitted; everything left is deployment and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t>Separate </a:t>
            </a:r>
            <a:r>
              <a:rPr lang="en-US" dirty="0"/>
              <a:t>the </a:t>
            </a:r>
            <a:r>
              <a:rPr lang="en-US"/>
              <a:t>model </a:t>
            </a:r>
            <a:r>
              <a:rPr lang="en-US" dirty="0"/>
              <a:t>from </a:t>
            </a:r>
            <a:r>
              <a:rPr lang="en-US"/>
              <a:t>the decision rule. Emphasize </a:t>
            </a:r>
            <a:r>
              <a:rPr lang="en-US" dirty="0"/>
              <a:t>that</a:t>
            </a:r>
            <a:r>
              <a:rPr lang="en-US"/>
              <a:t> τ is chosen after fitting and can be changed freely</a:t>
            </a:r>
            <a:r>
              <a:rPr lang="en-US" dirty="0"/>
              <a:t>.</a:t>
            </a: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t>Ask the class which errors are expensive in their own domain, then set τ from that. Define false positive and false negative explicitly before the ROC preview.</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Work </a:t>
            </a:r>
            <a:r>
              <a:rPr lang="en-US"/>
              <a:t>steps 1–3 </a:t>
            </a:r>
            <a:r>
              <a:rPr lang="en-US" dirty="0"/>
              <a:t>on the board</a:t>
            </a:r>
            <a:r>
              <a:rPr lang="en-US"/>
              <a:t>, then give the class two minutes on the closing questions. Answers: at x = 4.0, z = 1.0 and p ≈ 0.73 ⇒ predict default; any τ below about 0.047 flips the $2,000 case</a:t>
            </a:r>
            <a:r>
              <a:rPr lang="en-US" dirty="0"/>
              <a:t>. Numbers are illustrative, </a:t>
            </a:r>
            <a:r>
              <a:rPr lang="en-US"/>
              <a:t>in the spirit of </a:t>
            </a:r>
            <a:r>
              <a:rPr lang="en-US" dirty="0"/>
              <a:t>the </a:t>
            </a:r>
            <a:r>
              <a:rPr lang="en-US"/>
              <a:t>Default example in James et al</a:t>
            </a:r>
            <a:r>
              <a:rPr lang="en-US" dirty="0"/>
              <a:t>.</a:t>
            </a:r>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t>Walk </a:t>
            </a:r>
            <a:r>
              <a:rPr lang="en-US" dirty="0"/>
              <a:t>the seven steps backwards — from a class decision back to the linear score — to check each link</a:t>
            </a:r>
            <a:r>
              <a:rPr lang="en-US"/>
              <a:t>. Then read the three capability statements as the study checklist</a:t>
            </a:r>
            <a:r>
              <a:rPr lang="en-US" dirty="0"/>
              <a:t>.</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10/20/2026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18143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10/20/2026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20972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10/20/2026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96029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10/20/2026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491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10/20/2026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27209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10/20/2026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01947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10/20/2026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90403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10/20/2026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59102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10/20/2026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47665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10/20/2026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98365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10/20/2026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75788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10/20/2026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7454468"/>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n-lt"/>
              <a:ea typeface="+mn-ea"/>
              <a:cs typeface="+mn-cs"/>
            </a:endParaRPr>
          </a:p>
        </p:txBody>
      </p:sp>
      <p:pic>
        <p:nvPicPr>
          <p:cNvPr id="5" name="Picture 4">
            <a:extLst>
              <a:ext uri="{FF2B5EF4-FFF2-40B4-BE49-F238E27FC236}">
                <a16:creationId xmlns:a16="http://schemas.microsoft.com/office/drawing/2014/main" id="{0A34C5D5-5929-828B-FB4D-1FE239A2D870}"/>
              </a:ext>
            </a:extLst>
          </p:cNvPr>
          <p:cNvPicPr>
            <a:picLocks noChangeAspect="1"/>
          </p:cNvPicPr>
          <p:nvPr/>
        </p:nvPicPr>
        <p:blipFill>
          <a:blip r:embed="rId3"/>
          <a:srcRect t="12357" r="9091" b="11034"/>
          <a:stretch>
            <a:fillRect/>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id="{1103FDB8-D911-F8F8-F9EC-FB7FF5435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4324"/>
            <a:ext cx="12192000" cy="2573677"/>
          </a:xfrm>
          <a:prstGeom prst="rect">
            <a:avLst/>
          </a:prstGeom>
          <a:gradFill>
            <a:gsLst>
              <a:gs pos="0">
                <a:schemeClr val="bg1">
                  <a:alpha val="0"/>
                </a:schemeClr>
              </a:gs>
              <a:gs pos="46000">
                <a:schemeClr val="bg1">
                  <a:alpha val="17000"/>
                </a:schemeClr>
              </a:gs>
              <a:gs pos="65000">
                <a:schemeClr val="bg1">
                  <a:alpha val="29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n-lt"/>
              <a:ea typeface="+mn-ea"/>
              <a:cs typeface="+mn-cs"/>
            </a:endParaRPr>
          </a:p>
        </p:txBody>
      </p:sp>
      <p:sp>
        <p:nvSpPr>
          <p:cNvPr id="2" name="Title 1">
            <a:extLst>
              <a:ext uri="{FF2B5EF4-FFF2-40B4-BE49-F238E27FC236}">
                <a16:creationId xmlns:a16="http://schemas.microsoft.com/office/drawing/2014/main" id="{09F3EC0C-B664-18E2-FAA6-07592A24EF44}"/>
              </a:ext>
            </a:extLst>
          </p:cNvPr>
          <p:cNvSpPr>
            <a:spLocks noGrp="1"/>
          </p:cNvSpPr>
          <p:nvPr>
            <p:ph type="ctrTitle"/>
          </p:nvPr>
        </p:nvSpPr>
        <p:spPr>
          <a:xfrm>
            <a:off x="320040" y="5702710"/>
            <a:ext cx="7983068" cy="974347"/>
          </a:xfrm>
          <a:ln>
            <a:noFill/>
          </a:ln>
        </p:spPr>
        <p:txBody>
          <a:bodyPr anchor="ctr">
            <a:normAutofit/>
          </a:bodyPr>
          <a:lstStyle/>
          <a:p>
            <a:r>
              <a:rPr lang="en-US" sz="3600"/>
              <a:t>Logistic Regression</a:t>
            </a:r>
            <a:endParaRPr lang="en-US" sz="3600" dirty="0"/>
          </a:p>
        </p:txBody>
      </p:sp>
      <p:sp>
        <p:nvSpPr>
          <p:cNvPr id="3" name="Subtitle 2">
            <a:extLst>
              <a:ext uri="{FF2B5EF4-FFF2-40B4-BE49-F238E27FC236}">
                <a16:creationId xmlns:a16="http://schemas.microsoft.com/office/drawing/2014/main" id="{A11A06C2-C984-559B-6247-4CE552425B27}"/>
              </a:ext>
            </a:extLst>
          </p:cNvPr>
          <p:cNvSpPr>
            <a:spLocks noGrp="1"/>
          </p:cNvSpPr>
          <p:nvPr>
            <p:ph type="subTitle" idx="1"/>
          </p:nvPr>
        </p:nvSpPr>
        <p:spPr>
          <a:xfrm>
            <a:off x="8303108" y="5702710"/>
            <a:ext cx="3633535" cy="974347"/>
          </a:xfrm>
        </p:spPr>
        <p:txBody>
          <a:bodyPr anchor="ctr">
            <a:normAutofit/>
          </a:bodyPr>
          <a:lstStyle/>
          <a:p>
            <a:pPr algn="r"/>
            <a:endParaRPr lang="en-US" sz="1800"/>
          </a:p>
        </p:txBody>
      </p:sp>
    </p:spTree>
    <p:extLst>
      <p:ext uri="{BB962C8B-B14F-4D97-AF65-F5344CB8AC3E}">
        <p14:creationId xmlns:p14="http://schemas.microsoft.com/office/powerpoint/2010/main" val="12842478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9500000" cy="646331"/>
          </a:xfrm>
          <a:prstGeom prst="rect">
            <a:avLst/>
          </a:prstGeom>
          <a:noFill/>
        </p:spPr>
        <p:txBody>
          <a:bodyPr wrap="none">
            <a:spAutoFit/>
          </a:bodyPr>
          <a:lstStyle/>
          <a:p>
            <a:pPr>
              <a:defRPr sz="3200" b="1"/>
            </a:pPr>
            <a:r>
              <a:rPr lang="en-US" sz="3200" b="1" cap="all">
                <a:solidFill>
                  <a:srgbClr val="13131A"/>
                </a:solidFill>
                <a:latin typeface="+mj-lt"/>
              </a:rPr>
              <a:t>Part 1 — Setting Up the Model</a:t>
            </a:r>
          </a:p>
        </p:txBody>
      </p:sp>
      <p:sp>
        <p:nvSpPr>
          <p:cNvPr id="4" name="TextBox 3"/>
          <p:cNvSpPr txBox="1"/>
          <p:nvPr/>
        </p:nvSpPr>
        <p:spPr>
          <a:xfrm>
            <a:off x="1981200" y="2100000"/>
            <a:ext cx="8229600" cy="1805623"/>
          </a:xfrm>
          <a:prstGeom prst="rect">
            <a:avLst/>
          </a:prstGeom>
          <a:noFill/>
        </p:spPr>
        <p:txBody>
          <a:bodyPr wrap="square">
            <a:spAutoFit/>
          </a:bodyPr>
          <a:lstStyle/>
          <a:p>
            <a:pPr>
              <a:spcBef>
                <a:spcPts val="500"/>
              </a:spcBef>
              <a:spcAft>
                <a:spcPts val="500"/>
              </a:spcAft>
            </a:pPr>
            <a:r>
              <a:rPr lang="en-US" sz="1800" b="1" dirty="0">
                <a:solidFill>
                  <a:srgbClr val="13131A"/>
                </a:solidFill>
              </a:rPr>
              <a:t>From a binary outcome to a probability model.</a:t>
            </a:r>
            <a:endParaRPr lang="en-US" sz="1800" dirty="0"/>
          </a:p>
          <a:p>
            <a:pPr>
              <a:spcBef>
                <a:spcPts val="500"/>
              </a:spcBef>
              <a:spcAft>
                <a:spcPts val="500"/>
              </a:spcAft>
            </a:pPr>
            <a:r>
              <a:rPr lang="en-US" sz="1500" dirty="0">
                <a:solidFill>
                  <a:srgbClr val="13131A"/>
                </a:solidFill>
              </a:rPr>
              <a:t>•  Why is linear regression the wrong tool here?</a:t>
            </a:r>
          </a:p>
          <a:p>
            <a:pPr>
              <a:spcBef>
                <a:spcPts val="500"/>
              </a:spcBef>
              <a:spcAft>
                <a:spcPts val="500"/>
              </a:spcAft>
            </a:pPr>
            <a:r>
              <a:rPr lang="en-US" sz="1500" dirty="0">
                <a:solidFill>
                  <a:srgbClr val="13131A"/>
                </a:solidFill>
              </a:rPr>
              <a:t>	Unbounded predictions: ŷ ∈ (−∞, ∞), not [0,1]</a:t>
            </a:r>
            <a:endParaRPr lang="en-US" sz="1500" dirty="0"/>
          </a:p>
          <a:p>
            <a:pPr>
              <a:spcBef>
                <a:spcPts val="500"/>
              </a:spcBef>
              <a:spcAft>
                <a:spcPts val="500"/>
              </a:spcAft>
            </a:pPr>
            <a:r>
              <a:rPr lang="en-US" sz="1500" dirty="0">
                <a:solidFill>
                  <a:srgbClr val="13131A"/>
                </a:solidFill>
              </a:rPr>
              <a:t>	Wrong error model: assumes Gaussian noise, not Bernoulli</a:t>
            </a:r>
            <a:endParaRPr lang="en-US" sz="1500" dirty="0"/>
          </a:p>
          <a:p>
            <a:pPr>
              <a:spcBef>
                <a:spcPts val="500"/>
              </a:spcBef>
              <a:spcAft>
                <a:spcPts val="500"/>
              </a:spcAft>
            </a:pPr>
            <a:r>
              <a:rPr lang="en-US" sz="1500" dirty="0">
                <a:solidFill>
                  <a:srgbClr val="13131A"/>
                </a:solidFill>
              </a:rPr>
              <a:t>•  We need a function that maps a real-valued score into (0,1)?</a:t>
            </a:r>
            <a:endParaRPr lang="en-US" sz="1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9500000" cy="646331"/>
          </a:xfrm>
          <a:prstGeom prst="rect">
            <a:avLst/>
          </a:prstGeom>
          <a:noFill/>
        </p:spPr>
        <p:txBody>
          <a:bodyPr wrap="none">
            <a:spAutoFit/>
          </a:bodyPr>
          <a:lstStyle/>
          <a:p>
            <a:pPr>
              <a:defRPr sz="3600" b="1"/>
            </a:pPr>
            <a:r>
              <a:rPr lang="en-US" sz="3600" b="1" cap="all">
                <a:solidFill>
                  <a:srgbClr val="13131A"/>
                </a:solidFill>
                <a:latin typeface="+mj-lt"/>
              </a:rPr>
              <a:t>Motivation: Binary Outcomes</a:t>
            </a:r>
          </a:p>
        </p:txBody>
      </p:sp>
      <p:sp>
        <p:nvSpPr>
          <p:cNvPr id="4" name="TextBox 3"/>
          <p:cNvSpPr txBox="1"/>
          <p:nvPr/>
        </p:nvSpPr>
        <p:spPr>
          <a:xfrm>
            <a:off x="1981200" y="1950000"/>
            <a:ext cx="8229600" cy="2508379"/>
          </a:xfrm>
          <a:prstGeom prst="rect">
            <a:avLst/>
          </a:prstGeom>
          <a:noFill/>
        </p:spPr>
        <p:txBody>
          <a:bodyPr wrap="square">
            <a:spAutoFit/>
          </a:bodyPr>
          <a:lstStyle/>
          <a:p>
            <a:pPr>
              <a:spcBef>
                <a:spcPts val="500"/>
              </a:spcBef>
              <a:spcAft>
                <a:spcPts val="500"/>
              </a:spcAft>
            </a:pPr>
            <a:r>
              <a:rPr lang="en-US" sz="1600" dirty="0">
                <a:solidFill>
                  <a:srgbClr val="13131A"/>
                </a:solidFill>
              </a:rPr>
              <a:t>Goal: predict a binary outcome y ∈ {0,1} from a feature vector x ∈ ℝᵖ</a:t>
            </a:r>
            <a:endParaRPr lang="en-US" sz="1600" dirty="0"/>
          </a:p>
          <a:p>
            <a:pPr>
              <a:spcBef>
                <a:spcPts val="500"/>
              </a:spcBef>
              <a:spcAft>
                <a:spcPts val="500"/>
              </a:spcAft>
            </a:pPr>
            <a:r>
              <a:rPr lang="en-US" sz="1500" dirty="0">
                <a:solidFill>
                  <a:srgbClr val="13131A"/>
                </a:solidFill>
              </a:rPr>
              <a:t>Running example: predicting credit-card default (y = 1) from account balance.</a:t>
            </a:r>
            <a:endParaRPr lang="en-US" sz="1500" dirty="0"/>
          </a:p>
          <a:p>
            <a:pPr>
              <a:spcBef>
                <a:spcPts val="500"/>
              </a:spcBef>
              <a:spcAft>
                <a:spcPts val="500"/>
              </a:spcAft>
            </a:pPr>
            <a:r>
              <a:rPr lang="en-US" sz="1600" b="1" dirty="0">
                <a:solidFill>
                  <a:srgbClr val="13131A"/>
                </a:solidFill>
              </a:rPr>
              <a:t>Notation used throughout</a:t>
            </a:r>
            <a:endParaRPr lang="en-US" sz="1600" dirty="0"/>
          </a:p>
          <a:p>
            <a:pPr marL="285750" indent="-285750">
              <a:spcBef>
                <a:spcPts val="500"/>
              </a:spcBef>
              <a:spcAft>
                <a:spcPts val="500"/>
              </a:spcAft>
              <a:buFont typeface="Arial" panose="020B0604020202020204" pitchFamily="34" charset="0"/>
              <a:buChar char="•"/>
            </a:pPr>
            <a:r>
              <a:rPr lang="en-US" sz="1500" dirty="0">
                <a:solidFill>
                  <a:srgbClr val="13131A"/>
                </a:solidFill>
              </a:rPr>
              <a:t>x = (x₁, …, xₚ): features (predictors) measured on one observation</a:t>
            </a:r>
            <a:endParaRPr lang="en-US" sz="1500" dirty="0"/>
          </a:p>
          <a:p>
            <a:pPr marL="285750" indent="-285750">
              <a:spcBef>
                <a:spcPts val="500"/>
              </a:spcBef>
              <a:spcAft>
                <a:spcPts val="500"/>
              </a:spcAft>
              <a:buFont typeface="Arial" panose="020B0604020202020204" pitchFamily="34" charset="0"/>
              <a:buChar char="•"/>
            </a:pPr>
            <a:r>
              <a:rPr lang="en-US" sz="1500" dirty="0">
                <a:solidFill>
                  <a:srgbClr val="13131A"/>
                </a:solidFill>
              </a:rPr>
              <a:t>w ∈ ℝᵖ: weights (coefficients), one per feature</a:t>
            </a:r>
            <a:endParaRPr lang="en-US" sz="1500" dirty="0"/>
          </a:p>
          <a:p>
            <a:pPr marL="285750" indent="-285750">
              <a:spcBef>
                <a:spcPts val="500"/>
              </a:spcBef>
              <a:spcAft>
                <a:spcPts val="500"/>
              </a:spcAft>
              <a:buFont typeface="Arial" panose="020B0604020202020204" pitchFamily="34" charset="0"/>
              <a:buChar char="•"/>
            </a:pPr>
            <a:r>
              <a:rPr lang="en-US" sz="1500" dirty="0">
                <a:solidFill>
                  <a:srgbClr val="13131A"/>
                </a:solidFill>
              </a:rPr>
              <a:t>b ∈ ℝ: bias (intercept)</a:t>
            </a:r>
            <a:endParaRPr lang="en-US" sz="1500" dirty="0"/>
          </a:p>
          <a:p>
            <a:pPr marL="285750" indent="-285750">
              <a:spcBef>
                <a:spcPts val="500"/>
              </a:spcBef>
              <a:spcAft>
                <a:spcPts val="500"/>
              </a:spcAft>
              <a:buFont typeface="Arial" panose="020B0604020202020204" pitchFamily="34" charset="0"/>
              <a:buChar char="•"/>
            </a:pPr>
            <a:r>
              <a:rPr lang="en-US" sz="1500" dirty="0">
                <a:solidFill>
                  <a:srgbClr val="13131A"/>
                </a:solidFill>
              </a:rPr>
              <a:t>p = P(y = 1 | x): probability the outcome is 1, given the features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9500000" cy="646331"/>
          </a:xfrm>
          <a:prstGeom prst="rect">
            <a:avLst/>
          </a:prstGeom>
          <a:noFill/>
        </p:spPr>
        <p:txBody>
          <a:bodyPr wrap="none">
            <a:spAutoFit/>
          </a:bodyPr>
          <a:lstStyle/>
          <a:p>
            <a:pPr>
              <a:defRPr sz="3600" b="1"/>
            </a:pPr>
            <a:r>
              <a:rPr lang="en-US" sz="3600" b="1" cap="all">
                <a:solidFill>
                  <a:srgbClr val="13131A"/>
                </a:solidFill>
                <a:latin typeface="+mj-lt"/>
              </a:rPr>
              <a:t>From Linear Scores to Probabilities</a:t>
            </a:r>
          </a:p>
        </p:txBody>
      </p:sp>
      <p:sp>
        <p:nvSpPr>
          <p:cNvPr id="4" name="TextBox 3"/>
          <p:cNvSpPr txBox="1"/>
          <p:nvPr/>
        </p:nvSpPr>
        <p:spPr>
          <a:xfrm>
            <a:off x="1981200" y="1900000"/>
            <a:ext cx="5100000" cy="4083169"/>
          </a:xfrm>
          <a:prstGeom prst="rect">
            <a:avLst/>
          </a:prstGeom>
          <a:noFill/>
        </p:spPr>
        <p:txBody>
          <a:bodyPr wrap="square">
            <a:spAutoFit/>
          </a:bodyPr>
          <a:lstStyle/>
          <a:p>
            <a:pPr>
              <a:spcBef>
                <a:spcPts val="500"/>
              </a:spcBef>
              <a:spcAft>
                <a:spcPts val="500"/>
              </a:spcAft>
            </a:pPr>
            <a:r>
              <a:rPr lang="en-US" sz="1500" b="1" dirty="0">
                <a:solidFill>
                  <a:srgbClr val="13131A"/>
                </a:solidFill>
              </a:rPr>
              <a:t>Linear predictor (score):</a:t>
            </a:r>
            <a:endParaRPr lang="en-US" sz="1500" dirty="0"/>
          </a:p>
          <a:p>
            <a:pPr marL="285750" indent="-285750">
              <a:spcBef>
                <a:spcPts val="500"/>
              </a:spcBef>
              <a:spcAft>
                <a:spcPts val="500"/>
              </a:spcAft>
              <a:buFont typeface="Arial" panose="020B0604020202020204" pitchFamily="34" charset="0"/>
              <a:buChar char="•"/>
            </a:pPr>
            <a:r>
              <a:rPr lang="en-US" sz="1700" dirty="0">
                <a:solidFill>
                  <a:srgbClr val="13131A"/>
                </a:solidFill>
                <a:latin typeface="Cambria Math"/>
              </a:rPr>
              <a:t>z = </a:t>
            </a:r>
            <a:r>
              <a:rPr lang="en-US" sz="1700" dirty="0" err="1">
                <a:solidFill>
                  <a:srgbClr val="13131A"/>
                </a:solidFill>
                <a:latin typeface="Cambria Math"/>
              </a:rPr>
              <a:t>wᵀx</a:t>
            </a:r>
            <a:r>
              <a:rPr lang="en-US" sz="1700" dirty="0">
                <a:solidFill>
                  <a:srgbClr val="13131A"/>
                </a:solidFill>
                <a:latin typeface="Cambria Math"/>
              </a:rPr>
              <a:t> + b</a:t>
            </a:r>
            <a:endParaRPr lang="en-US" sz="1700" dirty="0"/>
          </a:p>
          <a:p>
            <a:pPr marL="742950" lvl="1" indent="-285750">
              <a:spcBef>
                <a:spcPts val="500"/>
              </a:spcBef>
              <a:spcAft>
                <a:spcPts val="500"/>
              </a:spcAft>
              <a:buFont typeface="Arial" panose="020B0604020202020204" pitchFamily="34" charset="0"/>
              <a:buChar char="•"/>
            </a:pPr>
            <a:r>
              <a:rPr lang="en-US" sz="1500" dirty="0">
                <a:solidFill>
                  <a:srgbClr val="13131A"/>
                </a:solidFill>
              </a:rPr>
              <a:t>In linear regression, z is out output! (prediction)</a:t>
            </a:r>
          </a:p>
          <a:p>
            <a:pPr marL="742950" lvl="1" indent="-285750">
              <a:spcBef>
                <a:spcPts val="500"/>
              </a:spcBef>
              <a:spcAft>
                <a:spcPts val="500"/>
              </a:spcAft>
              <a:buFont typeface="Arial" panose="020B0604020202020204" pitchFamily="34" charset="0"/>
              <a:buChar char="•"/>
            </a:pPr>
            <a:r>
              <a:rPr lang="en-US" sz="1500" dirty="0">
                <a:solidFill>
                  <a:srgbClr val="13131A"/>
                </a:solidFill>
              </a:rPr>
              <a:t>Here, it is a </a:t>
            </a:r>
            <a:r>
              <a:rPr lang="en-US" sz="1500" b="1" dirty="0">
                <a:solidFill>
                  <a:srgbClr val="13131A"/>
                </a:solidFill>
              </a:rPr>
              <a:t>latent score</a:t>
            </a:r>
            <a:endParaRPr lang="en-US" sz="1500" dirty="0"/>
          </a:p>
          <a:p>
            <a:pPr>
              <a:spcBef>
                <a:spcPts val="500"/>
              </a:spcBef>
              <a:spcAft>
                <a:spcPts val="500"/>
              </a:spcAft>
            </a:pPr>
            <a:r>
              <a:rPr lang="en-US" sz="1500" b="1" dirty="0">
                <a:solidFill>
                  <a:srgbClr val="13131A"/>
                </a:solidFill>
              </a:rPr>
              <a:t>We need a smooth, monotonic map from ℝ into (0,1):</a:t>
            </a:r>
            <a:endParaRPr lang="en-US" sz="1500" dirty="0"/>
          </a:p>
          <a:p>
            <a:pPr marL="285750" indent="-285750">
              <a:spcBef>
                <a:spcPts val="500"/>
              </a:spcBef>
              <a:spcAft>
                <a:spcPts val="500"/>
              </a:spcAft>
              <a:buFont typeface="Arial" panose="020B0604020202020204" pitchFamily="34" charset="0"/>
              <a:buChar char="•"/>
            </a:pPr>
            <a:r>
              <a:rPr lang="en-US" sz="1700" dirty="0">
                <a:solidFill>
                  <a:srgbClr val="13131A"/>
                </a:solidFill>
                <a:latin typeface="Cambria Math"/>
              </a:rPr>
              <a:t>σ(z) = 1 / (1 + e⁻ᶻ)</a:t>
            </a:r>
          </a:p>
          <a:p>
            <a:pPr marL="285750" indent="-285750">
              <a:spcBef>
                <a:spcPts val="500"/>
              </a:spcBef>
              <a:spcAft>
                <a:spcPts val="500"/>
              </a:spcAft>
              <a:buFont typeface="Arial" panose="020B0604020202020204" pitchFamily="34" charset="0"/>
              <a:buChar char="•"/>
            </a:pPr>
            <a:r>
              <a:rPr lang="en-US" sz="1700" dirty="0">
                <a:solidFill>
                  <a:srgbClr val="13131A"/>
                </a:solidFill>
                <a:latin typeface="Cambria Math"/>
              </a:rPr>
              <a:t>Sigmoid or Logistic function</a:t>
            </a:r>
            <a:endParaRPr lang="en-US" sz="1700" dirty="0"/>
          </a:p>
          <a:p>
            <a:pPr>
              <a:spcBef>
                <a:spcPts val="500"/>
              </a:spcBef>
              <a:spcAft>
                <a:spcPts val="500"/>
              </a:spcAft>
            </a:pPr>
            <a:r>
              <a:rPr lang="en-US" sz="1500" b="1" dirty="0">
                <a:solidFill>
                  <a:srgbClr val="13131A"/>
                </a:solidFill>
              </a:rPr>
              <a:t>Model:</a:t>
            </a:r>
            <a:endParaRPr lang="en-US" sz="1500" dirty="0"/>
          </a:p>
          <a:p>
            <a:pPr marL="285750" indent="-285750">
              <a:spcBef>
                <a:spcPts val="500"/>
              </a:spcBef>
              <a:spcAft>
                <a:spcPts val="500"/>
              </a:spcAft>
              <a:buFont typeface="Arial" panose="020B0604020202020204" pitchFamily="34" charset="0"/>
              <a:buChar char="•"/>
            </a:pPr>
            <a:r>
              <a:rPr lang="en-US" sz="1700" dirty="0">
                <a:solidFill>
                  <a:srgbClr val="13131A"/>
                </a:solidFill>
                <a:latin typeface="Cambria Math"/>
              </a:rPr>
              <a:t>P(y = 1 | x) = σ(</a:t>
            </a:r>
            <a:r>
              <a:rPr lang="en-US" sz="1700" dirty="0" err="1">
                <a:solidFill>
                  <a:srgbClr val="13131A"/>
                </a:solidFill>
                <a:latin typeface="Cambria Math"/>
              </a:rPr>
              <a:t>wᵀx</a:t>
            </a:r>
            <a:r>
              <a:rPr lang="en-US" sz="1700" dirty="0">
                <a:solidFill>
                  <a:srgbClr val="13131A"/>
                </a:solidFill>
                <a:latin typeface="Cambria Math"/>
              </a:rPr>
              <a:t> + b)</a:t>
            </a:r>
          </a:p>
          <a:p>
            <a:pPr marL="285750" indent="-285750">
              <a:spcBef>
                <a:spcPts val="500"/>
              </a:spcBef>
              <a:spcAft>
                <a:spcPts val="500"/>
              </a:spcAft>
              <a:buFont typeface="Arial" panose="020B0604020202020204" pitchFamily="34" charset="0"/>
              <a:buChar char="•"/>
            </a:pPr>
            <a:r>
              <a:rPr lang="en-US" sz="1700" dirty="0">
                <a:solidFill>
                  <a:srgbClr val="13131A"/>
                </a:solidFill>
                <a:latin typeface="Cambria Math"/>
              </a:rPr>
              <a:t>What is </a:t>
            </a:r>
            <a:r>
              <a:rPr lang="en-US" dirty="0">
                <a:solidFill>
                  <a:srgbClr val="13131A"/>
                </a:solidFill>
              </a:rPr>
              <a:t>P(y = 0 | x)?</a:t>
            </a:r>
            <a:endParaRPr lang="en-US" sz="1700" dirty="0"/>
          </a:p>
          <a:p>
            <a:pPr marL="285750" indent="-285750">
              <a:spcBef>
                <a:spcPts val="500"/>
              </a:spcBef>
              <a:spcAft>
                <a:spcPts val="500"/>
              </a:spcAft>
              <a:buFont typeface="Arial" panose="020B0604020202020204" pitchFamily="34" charset="0"/>
              <a:buChar char="•"/>
            </a:pPr>
            <a:r>
              <a:rPr lang="en-US" sz="1500" dirty="0">
                <a:solidFill>
                  <a:srgbClr val="13131A"/>
                </a:solidFill>
              </a:rPr>
              <a:t>By symmetry: P(y = 0 | x) = 1 − σ(z) = σ(−z)</a:t>
            </a:r>
            <a:endParaRPr lang="en-US" sz="1500" dirty="0"/>
          </a:p>
        </p:txBody>
      </p:sp>
      <p:pic>
        <p:nvPicPr>
          <p:cNvPr id="7" name="Sigmoid curve"/>
          <p:cNvPicPr/>
          <p:nvPr/>
        </p:nvPicPr>
        <p:blipFill>
          <a:blip r:embed="rId3"/>
          <a:stretch>
            <a:fillRect/>
          </a:stretch>
        </p:blipFill>
        <p:spPr>
          <a:xfrm>
            <a:off x="6975096" y="2653360"/>
            <a:ext cx="4208016" cy="29094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9500000" cy="646331"/>
          </a:xfrm>
          <a:prstGeom prst="rect">
            <a:avLst/>
          </a:prstGeom>
          <a:noFill/>
        </p:spPr>
        <p:txBody>
          <a:bodyPr wrap="none">
            <a:spAutoFit/>
          </a:bodyPr>
          <a:lstStyle/>
          <a:p>
            <a:pPr>
              <a:defRPr sz="3600" b="1"/>
            </a:pPr>
            <a:r>
              <a:rPr lang="en-US" sz="3600" b="1" cap="all">
                <a:solidFill>
                  <a:srgbClr val="13131A"/>
                </a:solidFill>
                <a:latin typeface="+mj-lt"/>
              </a:rPr>
              <a:t>Linear vs. Logistic, Side by Side</a:t>
            </a:r>
          </a:p>
        </p:txBody>
      </p:sp>
      <p:sp>
        <p:nvSpPr>
          <p:cNvPr id="4" name="TextBox 3"/>
          <p:cNvSpPr txBox="1"/>
          <p:nvPr/>
        </p:nvSpPr>
        <p:spPr>
          <a:xfrm>
            <a:off x="1981200" y="1790000"/>
            <a:ext cx="8229600" cy="862568"/>
          </a:xfrm>
          <a:prstGeom prst="rect">
            <a:avLst/>
          </a:prstGeom>
          <a:noFill/>
        </p:spPr>
        <p:txBody>
          <a:bodyPr wrap="square">
            <a:normAutofit lnSpcReduction="10000"/>
          </a:bodyPr>
          <a:lstStyle/>
          <a:p>
            <a:pPr>
              <a:spcBef>
                <a:spcPts val="500"/>
              </a:spcBef>
              <a:spcAft>
                <a:spcPts val="500"/>
              </a:spcAft>
            </a:pPr>
            <a:r>
              <a:rPr lang="en-US" sz="1500" dirty="0">
                <a:solidFill>
                  <a:srgbClr val="13131A"/>
                </a:solidFill>
              </a:rPr>
              <a:t>Both panels fit default probability against account balance.</a:t>
            </a:r>
            <a:endParaRPr lang="en-US" sz="1500" dirty="0"/>
          </a:p>
          <a:p>
            <a:pPr>
              <a:spcBef>
                <a:spcPts val="500"/>
              </a:spcBef>
              <a:spcAft>
                <a:spcPts val="500"/>
              </a:spcAft>
            </a:pPr>
            <a:r>
              <a:rPr lang="en-US" sz="1500" dirty="0">
                <a:solidFill>
                  <a:srgbClr val="13131A"/>
                </a:solidFill>
              </a:rPr>
              <a:t>Left: the linear fit leaves the [0,1] range, predicting negative probabilities at low balances.  Right: the sigmoid fit stays in (0,1) and bends where default risk actually changes.</a:t>
            </a:r>
            <a:endParaRPr lang="en-US" sz="1500" dirty="0"/>
          </a:p>
        </p:txBody>
      </p:sp>
      <p:pic>
        <p:nvPicPr>
          <p:cNvPr id="7" name="Linear versus logistic fit to the Default data"/>
          <p:cNvPicPr/>
          <p:nvPr/>
        </p:nvPicPr>
        <p:blipFill>
          <a:blip r:embed="rId3"/>
          <a:stretch>
            <a:fillRect/>
          </a:stretch>
        </p:blipFill>
        <p:spPr>
          <a:xfrm>
            <a:off x="2300000" y="2680000"/>
            <a:ext cx="7600000" cy="2954000"/>
          </a:xfrm>
          <a:prstGeom prst="rect">
            <a:avLst/>
          </a:prstGeom>
        </p:spPr>
      </p:pic>
      <p:sp>
        <p:nvSpPr>
          <p:cNvPr id="9" name="TextBox 9"/>
          <p:cNvSpPr txBox="1"/>
          <p:nvPr/>
        </p:nvSpPr>
        <p:spPr>
          <a:xfrm>
            <a:off x="1981200" y="5770000"/>
            <a:ext cx="8229600" cy="230000"/>
          </a:xfrm>
          <a:prstGeom prst="rect">
            <a:avLst/>
          </a:prstGeom>
          <a:noFill/>
        </p:spPr>
        <p:txBody>
          <a:bodyPr wrap="square">
            <a:spAutoFit/>
          </a:bodyPr>
          <a:lstStyle/>
          <a:p>
            <a:pPr>
              <a:spcBef>
                <a:spcPts val="500"/>
              </a:spcBef>
              <a:spcAft>
                <a:spcPts val="500"/>
              </a:spcAft>
            </a:pPr>
            <a:r>
              <a:rPr lang="en-US" sz="1100">
                <a:solidFill>
                  <a:srgbClr val="13131A"/>
                </a:solidFill>
              </a:rPr>
              <a:t>Figure from Introduction to Statistical Learning by James et al.</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9500000" cy="646331"/>
          </a:xfrm>
          <a:prstGeom prst="rect">
            <a:avLst/>
          </a:prstGeom>
          <a:noFill/>
        </p:spPr>
        <p:txBody>
          <a:bodyPr wrap="none">
            <a:spAutoFit/>
          </a:bodyPr>
          <a:lstStyle/>
          <a:p>
            <a:pPr>
              <a:defRPr sz="3600" b="1"/>
            </a:pPr>
            <a:r>
              <a:rPr lang="en-US" sz="3600" b="1" cap="all">
                <a:solidFill>
                  <a:srgbClr val="13131A"/>
                </a:solidFill>
                <a:latin typeface="+mj-lt"/>
              </a:rPr>
              <a:t>Odds and the Logit</a:t>
            </a:r>
          </a:p>
        </p:txBody>
      </p:sp>
      <p:sp>
        <p:nvSpPr>
          <p:cNvPr id="4" name="TextBox 3"/>
          <p:cNvSpPr txBox="1"/>
          <p:nvPr/>
        </p:nvSpPr>
        <p:spPr>
          <a:xfrm>
            <a:off x="1981200" y="1900000"/>
            <a:ext cx="3900000" cy="2518638"/>
          </a:xfrm>
          <a:prstGeom prst="rect">
            <a:avLst/>
          </a:prstGeom>
          <a:noFill/>
        </p:spPr>
        <p:txBody>
          <a:bodyPr wrap="square">
            <a:spAutoFit/>
          </a:bodyPr>
          <a:lstStyle/>
          <a:p>
            <a:pPr>
              <a:spcBef>
                <a:spcPts val="500"/>
              </a:spcBef>
              <a:spcAft>
                <a:spcPts val="500"/>
              </a:spcAft>
            </a:pPr>
            <a:r>
              <a:rPr lang="en-US" sz="1600" b="1" dirty="0">
                <a:solidFill>
                  <a:srgbClr val="13131A"/>
                </a:solidFill>
              </a:rPr>
              <a:t>Odds</a:t>
            </a:r>
            <a:endParaRPr lang="en-US" sz="1600" dirty="0"/>
          </a:p>
          <a:p>
            <a:pPr>
              <a:spcBef>
                <a:spcPts val="500"/>
              </a:spcBef>
              <a:spcAft>
                <a:spcPts val="500"/>
              </a:spcAft>
            </a:pPr>
            <a:r>
              <a:rPr lang="en-US" sz="1400" dirty="0">
                <a:solidFill>
                  <a:srgbClr val="13131A"/>
                </a:solidFill>
              </a:rPr>
              <a:t>The ratio of success to failure probability:</a:t>
            </a:r>
            <a:endParaRPr lang="en-US" sz="1400" dirty="0"/>
          </a:p>
          <a:p>
            <a:pPr>
              <a:spcBef>
                <a:spcPts val="500"/>
              </a:spcBef>
              <a:spcAft>
                <a:spcPts val="500"/>
              </a:spcAft>
            </a:pPr>
            <a:r>
              <a:rPr lang="en-US" sz="1500" dirty="0">
                <a:solidFill>
                  <a:srgbClr val="13131A"/>
                </a:solidFill>
                <a:latin typeface="Cambria Math"/>
              </a:rPr>
              <a:t>odds(x) = p / (1 − p)</a:t>
            </a:r>
            <a:endParaRPr lang="en-US" sz="1500" dirty="0"/>
          </a:p>
          <a:p>
            <a:pPr>
              <a:spcBef>
                <a:spcPts val="500"/>
              </a:spcBef>
              <a:spcAft>
                <a:spcPts val="500"/>
              </a:spcAft>
            </a:pPr>
            <a:r>
              <a:rPr lang="en-US" sz="1500" dirty="0">
                <a:solidFill>
                  <a:srgbClr val="13131A"/>
                </a:solidFill>
                <a:latin typeface="Cambria Math"/>
              </a:rPr>
              <a:t>p ∈ (0,1)  ⇒  odds ∈ (0, ∞)</a:t>
            </a:r>
            <a:endParaRPr lang="en-US" sz="1500" dirty="0"/>
          </a:p>
          <a:p>
            <a:pPr>
              <a:spcBef>
                <a:spcPts val="500"/>
              </a:spcBef>
              <a:spcAft>
                <a:spcPts val="500"/>
              </a:spcAft>
            </a:pPr>
            <a:r>
              <a:rPr lang="en-US" sz="1400" dirty="0">
                <a:solidFill>
                  <a:srgbClr val="13131A"/>
                </a:solidFill>
              </a:rPr>
              <a:t>A probability of 0.2 is odds of 0.25 — one default for every four non-defaults.</a:t>
            </a:r>
            <a:endParaRPr lang="en-US" sz="1400" dirty="0"/>
          </a:p>
          <a:p>
            <a:pPr>
              <a:spcBef>
                <a:spcPts val="500"/>
              </a:spcBef>
              <a:spcAft>
                <a:spcPts val="500"/>
              </a:spcAft>
            </a:pPr>
            <a:r>
              <a:rPr lang="en-US" sz="1400" dirty="0">
                <a:solidFill>
                  <a:srgbClr val="13131A"/>
                </a:solidFill>
              </a:rPr>
              <a:t>Odds rescale a probability onto (0, ∞), but they are still not linear in the features.</a:t>
            </a:r>
            <a:endParaRPr lang="en-US" sz="1400" dirty="0"/>
          </a:p>
        </p:txBody>
      </p:sp>
      <p:sp>
        <p:nvSpPr>
          <p:cNvPr id="5" name="TextBox 4"/>
          <p:cNvSpPr txBox="1"/>
          <p:nvPr/>
        </p:nvSpPr>
        <p:spPr>
          <a:xfrm>
            <a:off x="6310800" y="1900000"/>
            <a:ext cx="3900000" cy="2900000"/>
          </a:xfrm>
          <a:prstGeom prst="rect">
            <a:avLst/>
          </a:prstGeom>
          <a:noFill/>
        </p:spPr>
        <p:txBody>
          <a:bodyPr wrap="square">
            <a:spAutoFit/>
          </a:bodyPr>
          <a:lstStyle/>
          <a:p>
            <a:pPr>
              <a:spcBef>
                <a:spcPts val="500"/>
              </a:spcBef>
              <a:spcAft>
                <a:spcPts val="500"/>
              </a:spcAft>
            </a:pPr>
            <a:r>
              <a:rPr lang="en-US" sz="1600" b="1">
                <a:solidFill>
                  <a:srgbClr val="13131A"/>
                </a:solidFill>
              </a:rPr>
              <a:t>Log-odds (the logit)</a:t>
            </a:r>
            <a:endParaRPr lang="en-US" sz="1600"/>
          </a:p>
          <a:p>
            <a:pPr>
              <a:spcBef>
                <a:spcPts val="500"/>
              </a:spcBef>
              <a:spcAft>
                <a:spcPts val="500"/>
              </a:spcAft>
            </a:pPr>
            <a:r>
              <a:rPr lang="en-US" sz="1400">
                <a:solidFill>
                  <a:srgbClr val="13131A"/>
                </a:solidFill>
              </a:rPr>
              <a:t>The sigmoid and the logit are exact inverses — each undoes the other:</a:t>
            </a:r>
            <a:endParaRPr lang="en-US" sz="1400"/>
          </a:p>
          <a:p>
            <a:pPr>
              <a:spcBef>
                <a:spcPts val="500"/>
              </a:spcBef>
              <a:spcAft>
                <a:spcPts val="500"/>
              </a:spcAft>
            </a:pPr>
            <a:r>
              <a:rPr lang="en-US" sz="1500">
                <a:solidFill>
                  <a:srgbClr val="13131A"/>
                </a:solidFill>
                <a:latin typeface="Cambria Math"/>
              </a:rPr>
              <a:t>p = σ(wᵀx + b)   ⟺   logit(p) = wᵀx + b</a:t>
            </a:r>
            <a:endParaRPr lang="en-US" sz="1500"/>
          </a:p>
          <a:p>
            <a:pPr>
              <a:spcBef>
                <a:spcPts val="500"/>
              </a:spcBef>
              <a:spcAft>
                <a:spcPts val="500"/>
              </a:spcAft>
            </a:pPr>
            <a:r>
              <a:rPr lang="en-US" sz="1400">
                <a:solidFill>
                  <a:srgbClr val="13131A"/>
                </a:solidFill>
                <a:latin typeface="Cambria Math"/>
              </a:rPr>
              <a:t>where  logit(p) = log( p / (1 − p) )</a:t>
            </a:r>
            <a:endParaRPr lang="en-US" sz="1400"/>
          </a:p>
          <a:p>
            <a:pPr>
              <a:spcBef>
                <a:spcPts val="500"/>
              </a:spcBef>
              <a:spcAft>
                <a:spcPts val="500"/>
              </a:spcAft>
            </a:pPr>
            <a:r>
              <a:rPr lang="en-US" sz="1400">
                <a:solidFill>
                  <a:srgbClr val="13131A"/>
                </a:solidFill>
                <a:latin typeface="Cambria Math"/>
              </a:rPr>
              <a:t>and  σ(z) = 1 / (1 + e⁻ᶻ)</a:t>
            </a:r>
            <a:endParaRPr lang="en-US" sz="1400"/>
          </a:p>
          <a:p>
            <a:pPr>
              <a:spcBef>
                <a:spcPts val="500"/>
              </a:spcBef>
              <a:spcAft>
                <a:spcPts val="500"/>
              </a:spcAft>
            </a:pPr>
            <a:r>
              <a:rPr lang="en-US" sz="1400">
                <a:solidFill>
                  <a:srgbClr val="13131A"/>
                </a:solidFill>
              </a:rPr>
              <a:t>σ carries a log-odds score into a probability; the logit carries a probability back to the score.</a:t>
            </a:r>
            <a:endParaRPr lang="en-US" sz="1400"/>
          </a:p>
        </p:txBody>
      </p:sp>
      <p:sp>
        <p:nvSpPr>
          <p:cNvPr id="6" name="TextBox 5"/>
          <p:cNvSpPr txBox="1"/>
          <p:nvPr/>
        </p:nvSpPr>
        <p:spPr>
          <a:xfrm>
            <a:off x="1981200" y="5050000"/>
            <a:ext cx="8229600" cy="553998"/>
          </a:xfrm>
          <a:prstGeom prst="rect">
            <a:avLst/>
          </a:prstGeom>
          <a:noFill/>
        </p:spPr>
        <p:txBody>
          <a:bodyPr wrap="square">
            <a:spAutoFit/>
          </a:bodyPr>
          <a:lstStyle/>
          <a:p>
            <a:pPr>
              <a:spcBef>
                <a:spcPts val="500"/>
              </a:spcBef>
              <a:spcAft>
                <a:spcPts val="500"/>
              </a:spcAft>
            </a:pPr>
            <a:r>
              <a:rPr lang="en-US" sz="1500" dirty="0">
                <a:solidFill>
                  <a:srgbClr val="13131A"/>
                </a:solidFill>
              </a:rPr>
              <a:t>Taking the log is what makes the scale linear — logistic regression is a linear model on the log-odds scale.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9500000" cy="646331"/>
          </a:xfrm>
          <a:prstGeom prst="rect">
            <a:avLst/>
          </a:prstGeom>
          <a:noFill/>
        </p:spPr>
        <p:txBody>
          <a:bodyPr wrap="none">
            <a:spAutoFit/>
          </a:bodyPr>
          <a:lstStyle/>
          <a:p>
            <a:pPr>
              <a:defRPr sz="3600" b="1"/>
            </a:pPr>
            <a:r>
              <a:rPr lang="en-US" sz="3600" b="1" cap="all">
                <a:solidFill>
                  <a:srgbClr val="13131A"/>
                </a:solidFill>
                <a:latin typeface="+mj-lt"/>
              </a:rPr>
              <a:t>Reading the Coefficients</a:t>
            </a:r>
          </a:p>
        </p:txBody>
      </p:sp>
      <p:sp>
        <p:nvSpPr>
          <p:cNvPr id="4" name="TextBox 3"/>
          <p:cNvSpPr txBox="1"/>
          <p:nvPr/>
        </p:nvSpPr>
        <p:spPr>
          <a:xfrm>
            <a:off x="1981200" y="1880000"/>
            <a:ext cx="8229600" cy="4039567"/>
          </a:xfrm>
          <a:prstGeom prst="rect">
            <a:avLst/>
          </a:prstGeom>
          <a:noFill/>
        </p:spPr>
        <p:txBody>
          <a:bodyPr wrap="square">
            <a:spAutoFit/>
          </a:bodyPr>
          <a:lstStyle/>
          <a:p>
            <a:pPr>
              <a:spcBef>
                <a:spcPts val="200"/>
              </a:spcBef>
              <a:spcAft>
                <a:spcPts val="200"/>
              </a:spcAft>
              <a:buNone/>
            </a:pPr>
            <a:r>
              <a:rPr lang="en-US" sz="1400" dirty="0">
                <a:solidFill>
                  <a:srgbClr val="13131A"/>
                </a:solidFill>
              </a:rPr>
              <a:t>The log-odds is an ordinary linear equation:</a:t>
            </a:r>
            <a:endParaRPr lang="en-US" sz="1400" dirty="0"/>
          </a:p>
          <a:p>
            <a:pPr marL="342900" indent="0">
              <a:spcBef>
                <a:spcPts val="200"/>
              </a:spcBef>
              <a:spcAft>
                <a:spcPts val="200"/>
              </a:spcAft>
              <a:buNone/>
            </a:pPr>
            <a:r>
              <a:rPr lang="en-US" sz="1500" dirty="0">
                <a:solidFill>
                  <a:srgbClr val="13131A"/>
                </a:solidFill>
                <a:latin typeface="Cambria Math"/>
              </a:rPr>
              <a:t>logit(p) = log( p / (1 − p) ) = </a:t>
            </a:r>
            <a:r>
              <a:rPr lang="en-US" sz="1500" dirty="0" err="1">
                <a:solidFill>
                  <a:srgbClr val="13131A"/>
                </a:solidFill>
                <a:latin typeface="Cambria Math"/>
              </a:rPr>
              <a:t>wᵀx</a:t>
            </a:r>
            <a:r>
              <a:rPr lang="en-US" sz="1500" dirty="0">
                <a:solidFill>
                  <a:srgbClr val="13131A"/>
                </a:solidFill>
                <a:latin typeface="Cambria Math"/>
              </a:rPr>
              <a:t> + b</a:t>
            </a:r>
            <a:endParaRPr lang="en-US" sz="1500" dirty="0"/>
          </a:p>
          <a:p>
            <a:pPr marL="342900" indent="0">
              <a:spcBef>
                <a:spcPts val="200"/>
              </a:spcBef>
              <a:spcAft>
                <a:spcPts val="200"/>
              </a:spcAft>
              <a:buNone/>
            </a:pPr>
            <a:r>
              <a:rPr lang="en-US" sz="1400" dirty="0">
                <a:solidFill>
                  <a:srgbClr val="13131A"/>
                </a:solidFill>
              </a:rPr>
              <a:t>So read wⱼ exactly as a coefficient in linear regression — the change in the response for a one-unit increase in xⱼ, holding the others fixed. The only difference is that the response is the log-odds.</a:t>
            </a:r>
            <a:endParaRPr lang="en-US" sz="1400" dirty="0"/>
          </a:p>
          <a:p>
            <a:pPr>
              <a:spcBef>
                <a:spcPts val="300"/>
              </a:spcBef>
              <a:spcAft>
                <a:spcPts val="200"/>
              </a:spcAft>
              <a:buNone/>
            </a:pPr>
            <a:r>
              <a:rPr lang="en-US" sz="1400" dirty="0">
                <a:solidFill>
                  <a:srgbClr val="13131A"/>
                </a:solidFill>
              </a:rPr>
              <a:t>Exponentiate to move to the odds scale:</a:t>
            </a:r>
            <a:endParaRPr lang="en-US" sz="1400" dirty="0"/>
          </a:p>
          <a:p>
            <a:pPr marL="342900" indent="0">
              <a:spcBef>
                <a:spcPts val="200"/>
              </a:spcBef>
              <a:spcAft>
                <a:spcPts val="200"/>
              </a:spcAft>
              <a:buNone/>
            </a:pPr>
            <a:r>
              <a:rPr lang="en-US" sz="1500" dirty="0">
                <a:solidFill>
                  <a:srgbClr val="13131A"/>
                </a:solidFill>
                <a:latin typeface="Cambria Math"/>
              </a:rPr>
              <a:t>odds = p / (1 − p) = exp(</a:t>
            </a:r>
            <a:r>
              <a:rPr lang="en-US" sz="1500" dirty="0" err="1">
                <a:solidFill>
                  <a:srgbClr val="13131A"/>
                </a:solidFill>
                <a:latin typeface="Cambria Math"/>
              </a:rPr>
              <a:t>wᵀx</a:t>
            </a:r>
            <a:r>
              <a:rPr lang="en-US" sz="1500" dirty="0">
                <a:solidFill>
                  <a:srgbClr val="13131A"/>
                </a:solidFill>
                <a:latin typeface="Cambria Math"/>
              </a:rPr>
              <a:t> + b)</a:t>
            </a:r>
            <a:endParaRPr lang="en-US" sz="1500" dirty="0"/>
          </a:p>
          <a:p>
            <a:pPr marL="342900" indent="0">
              <a:spcBef>
                <a:spcPts val="200"/>
              </a:spcBef>
              <a:spcAft>
                <a:spcPts val="350"/>
              </a:spcAft>
              <a:buNone/>
            </a:pPr>
            <a:r>
              <a:rPr lang="en-US" sz="1400" dirty="0">
                <a:solidFill>
                  <a:srgbClr val="13131A"/>
                </a:solidFill>
              </a:rPr>
              <a:t>A one-unit increase in xⱼ therefore multiplies the odds by exp(wⱼ) — the odds ratio.</a:t>
            </a:r>
            <a:endParaRPr lang="en-US" sz="1400" dirty="0"/>
          </a:p>
          <a:p>
            <a:pPr>
              <a:spcBef>
                <a:spcPts val="350"/>
              </a:spcBef>
              <a:spcAft>
                <a:spcPts val="200"/>
              </a:spcAft>
              <a:buNone/>
            </a:pPr>
            <a:r>
              <a:rPr lang="en-US" sz="1500" b="1" dirty="0">
                <a:solidFill>
                  <a:srgbClr val="13131A"/>
                </a:solidFill>
              </a:rPr>
              <a:t>Rules of thumb</a:t>
            </a:r>
            <a:endParaRPr lang="en-US" sz="1500" dirty="0"/>
          </a:p>
          <a:p>
            <a:pPr marL="342900" indent="-342900">
              <a:spcBef>
                <a:spcPts val="200"/>
              </a:spcBef>
              <a:spcAft>
                <a:spcPts val="200"/>
              </a:spcAft>
              <a:buFont typeface="Arial" panose="020B0604020202020204" pitchFamily="34" charset="0"/>
              <a:buChar char="•"/>
            </a:pPr>
            <a:r>
              <a:rPr lang="en-US" sz="1400" dirty="0">
                <a:solidFill>
                  <a:srgbClr val="13131A"/>
                </a:solidFill>
              </a:rPr>
              <a:t>wⱼ &gt; 0 raises the probability of y = 1;  wⱼ &lt; 0 lowers it;  wⱼ = 0 means no effect</a:t>
            </a:r>
            <a:endParaRPr lang="en-US" sz="1400" dirty="0"/>
          </a:p>
          <a:p>
            <a:pPr marL="342900" indent="-342900">
              <a:spcBef>
                <a:spcPts val="200"/>
              </a:spcBef>
              <a:spcAft>
                <a:spcPts val="200"/>
              </a:spcAft>
              <a:buFont typeface="Arial" panose="020B0604020202020204" pitchFamily="34" charset="0"/>
              <a:buChar char="•"/>
            </a:pPr>
            <a:r>
              <a:rPr lang="en-US" sz="1400" dirty="0">
                <a:solidFill>
                  <a:srgbClr val="13131A"/>
                </a:solidFill>
              </a:rPr>
              <a:t>wⱼ = 0.7 ⇒ exp(0.7) ≈ 2, so each unit of xⱼ roughly doubles the odds</a:t>
            </a:r>
            <a:endParaRPr lang="en-US" sz="1400" dirty="0"/>
          </a:p>
          <a:p>
            <a:pPr marL="342900" indent="-342900">
              <a:spcBef>
                <a:spcPts val="200"/>
              </a:spcBef>
              <a:spcAft>
                <a:spcPts val="200"/>
              </a:spcAft>
              <a:buFont typeface="Arial" panose="020B0604020202020204" pitchFamily="34" charset="0"/>
              <a:buChar char="•"/>
            </a:pPr>
            <a:r>
              <a:rPr lang="en-US" sz="1400" dirty="0">
                <a:solidFill>
                  <a:srgbClr val="13131A"/>
                </a:solidFill>
              </a:rPr>
              <a:t>Default example: w = 2.0 for balance (in $1,000s) ⇒ exp(2.0) ≈ 7.4, so each extra $1,000 multiplies the odds of default by about 7.4</a:t>
            </a:r>
            <a:endParaRPr lang="en-US" sz="1400" dirty="0"/>
          </a:p>
          <a:p>
            <a:pPr>
              <a:spcBef>
                <a:spcPts val="350"/>
              </a:spcBef>
              <a:spcAft>
                <a:spcPts val="200"/>
              </a:spcAft>
              <a:buNone/>
            </a:pPr>
            <a:r>
              <a:rPr lang="en-US" sz="1500" b="1" dirty="0">
                <a:solidFill>
                  <a:srgbClr val="13131A"/>
                </a:solidFill>
              </a:rPr>
              <a:t>Note</a:t>
            </a:r>
            <a:endParaRPr lang="en-US" sz="1500" dirty="0"/>
          </a:p>
          <a:p>
            <a:pPr>
              <a:spcBef>
                <a:spcPts val="200"/>
              </a:spcBef>
              <a:spcAft>
                <a:spcPts val="200"/>
              </a:spcAft>
              <a:buNone/>
            </a:pPr>
            <a:r>
              <a:rPr lang="en-US" sz="1400" dirty="0">
                <a:solidFill>
                  <a:srgbClr val="13131A"/>
                </a:solidFill>
              </a:rPr>
              <a:t>Coefficients are not changes in probability — the same odds ratio moves a probability a lot near 0.5 and very little near 0 or 1.</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9500000" cy="646331"/>
          </a:xfrm>
          <a:prstGeom prst="rect">
            <a:avLst/>
          </a:prstGeom>
          <a:noFill/>
        </p:spPr>
        <p:txBody>
          <a:bodyPr wrap="none">
            <a:spAutoFit/>
          </a:bodyPr>
          <a:lstStyle/>
          <a:p>
            <a:pPr>
              <a:defRPr sz="3200" b="1"/>
            </a:pPr>
            <a:r>
              <a:rPr lang="en-US" sz="3200" b="1" cap="all">
                <a:solidFill>
                  <a:srgbClr val="13131A"/>
                </a:solidFill>
                <a:latin typeface="+mj-lt"/>
              </a:rPr>
              <a:t>Part 2 — Fitting the Model</a:t>
            </a:r>
          </a:p>
        </p:txBody>
      </p:sp>
      <p:sp>
        <p:nvSpPr>
          <p:cNvPr id="4" name="TextBox 3"/>
          <p:cNvSpPr txBox="1"/>
          <p:nvPr/>
        </p:nvSpPr>
        <p:spPr>
          <a:xfrm>
            <a:off x="1981200" y="2100000"/>
            <a:ext cx="8229600" cy="4083169"/>
          </a:xfrm>
          <a:prstGeom prst="rect">
            <a:avLst/>
          </a:prstGeom>
          <a:noFill/>
        </p:spPr>
        <p:txBody>
          <a:bodyPr wrap="square">
            <a:spAutoFit/>
          </a:bodyPr>
          <a:lstStyle/>
          <a:p>
            <a:pPr>
              <a:spcBef>
                <a:spcPts val="500"/>
              </a:spcBef>
              <a:spcAft>
                <a:spcPts val="500"/>
              </a:spcAft>
            </a:pPr>
            <a:r>
              <a:rPr lang="en-US" sz="1800" b="1">
                <a:solidFill>
                  <a:srgbClr val="13131A"/>
                </a:solidFill>
              </a:rPr>
              <a:t>From a model to fitted values of w and b.</a:t>
            </a:r>
            <a:endParaRPr lang="en-US" sz="1800"/>
          </a:p>
          <a:p>
            <a:pPr>
              <a:spcBef>
                <a:spcPts val="500"/>
              </a:spcBef>
              <a:spcAft>
                <a:spcPts val="500"/>
              </a:spcAft>
            </a:pPr>
            <a:r>
              <a:rPr lang="en-US" sz="1500">
                <a:solidFill>
                  <a:srgbClr val="13131A"/>
                </a:solidFill>
              </a:rPr>
              <a:t>•  What probability model generated the data?</a:t>
            </a:r>
            <a:endParaRPr lang="en-US" sz="1500"/>
          </a:p>
          <a:p>
            <a:pPr>
              <a:spcBef>
                <a:spcPts val="500"/>
              </a:spcBef>
              <a:spcAft>
                <a:spcPts val="500"/>
              </a:spcAft>
            </a:pPr>
            <a:r>
              <a:rPr lang="en-US" sz="1500">
                <a:solidFill>
                  <a:srgbClr val="13131A"/>
                </a:solidFill>
              </a:rPr>
              <a:t>•  What objective does that model imply?</a:t>
            </a:r>
            <a:endParaRPr lang="en-US" sz="1500"/>
          </a:p>
          <a:p>
            <a:pPr>
              <a:spcBef>
                <a:spcPts val="500"/>
              </a:spcBef>
              <a:spcAft>
                <a:spcPts val="500"/>
              </a:spcAft>
            </a:pPr>
            <a:r>
              <a:rPr lang="en-US" sz="1500">
                <a:solidFill>
                  <a:srgbClr val="13131A"/>
                </a:solidFill>
              </a:rPr>
              <a:t>•  How do we minimize it when there is no closed form?</a:t>
            </a:r>
            <a:endParaRPr lang="en-US" sz="15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9500000" cy="646331"/>
          </a:xfrm>
          <a:prstGeom prst="rect">
            <a:avLst/>
          </a:prstGeom>
          <a:noFill/>
        </p:spPr>
        <p:txBody>
          <a:bodyPr wrap="none">
            <a:spAutoFit/>
          </a:bodyPr>
          <a:lstStyle/>
          <a:p>
            <a:pPr>
              <a:defRPr sz="3600" b="1"/>
            </a:pPr>
            <a:r>
              <a:rPr lang="en-US" sz="3600" b="1" cap="all">
                <a:solidFill>
                  <a:srgbClr val="13131A"/>
                </a:solidFill>
                <a:latin typeface="+mj-lt"/>
              </a:rPr>
              <a:t>The Bernoulli Model</a:t>
            </a:r>
          </a:p>
        </p:txBody>
      </p:sp>
      <p:sp>
        <p:nvSpPr>
          <p:cNvPr id="4" name="TextBox 3"/>
          <p:cNvSpPr txBox="1"/>
          <p:nvPr/>
        </p:nvSpPr>
        <p:spPr>
          <a:xfrm>
            <a:off x="1981200" y="1950000"/>
            <a:ext cx="8229600" cy="2395528"/>
          </a:xfrm>
          <a:prstGeom prst="rect">
            <a:avLst/>
          </a:prstGeom>
          <a:noFill/>
        </p:spPr>
        <p:txBody>
          <a:bodyPr wrap="square">
            <a:spAutoFit/>
          </a:bodyPr>
          <a:lstStyle/>
          <a:p>
            <a:pPr>
              <a:spcBef>
                <a:spcPts val="500"/>
              </a:spcBef>
              <a:spcAft>
                <a:spcPts val="500"/>
              </a:spcAft>
            </a:pPr>
            <a:r>
              <a:rPr lang="en-US" sz="1500" dirty="0">
                <a:solidFill>
                  <a:srgbClr val="13131A"/>
                </a:solidFill>
              </a:rPr>
              <a:t>Explicitly model the data-generating process:</a:t>
            </a:r>
            <a:endParaRPr lang="en-US" sz="1500" dirty="0"/>
          </a:p>
          <a:p>
            <a:pPr>
              <a:spcBef>
                <a:spcPts val="500"/>
              </a:spcBef>
              <a:spcAft>
                <a:spcPts val="500"/>
              </a:spcAft>
            </a:pPr>
            <a:r>
              <a:rPr lang="en-US" sz="1700" dirty="0">
                <a:solidFill>
                  <a:srgbClr val="13131A"/>
                </a:solidFill>
                <a:latin typeface="Cambria Math"/>
              </a:rPr>
              <a:t>y | x  ~  Bernoulli(p),    p = σ(</a:t>
            </a:r>
            <a:r>
              <a:rPr lang="en-US" sz="1700" dirty="0" err="1">
                <a:solidFill>
                  <a:srgbClr val="13131A"/>
                </a:solidFill>
                <a:latin typeface="Cambria Math"/>
              </a:rPr>
              <a:t>wᵀx</a:t>
            </a:r>
            <a:r>
              <a:rPr lang="en-US" sz="1700" dirty="0">
                <a:solidFill>
                  <a:srgbClr val="13131A"/>
                </a:solidFill>
                <a:latin typeface="Cambria Math"/>
              </a:rPr>
              <a:t> + b)</a:t>
            </a:r>
            <a:endParaRPr lang="en-US" sz="1700" dirty="0"/>
          </a:p>
          <a:p>
            <a:pPr>
              <a:spcBef>
                <a:spcPts val="500"/>
              </a:spcBef>
              <a:spcAft>
                <a:spcPts val="500"/>
              </a:spcAft>
            </a:pPr>
            <a:r>
              <a:rPr lang="en-US" sz="1500" dirty="0">
                <a:solidFill>
                  <a:srgbClr val="13131A"/>
                </a:solidFill>
              </a:rPr>
              <a:t>A Bernoulli random variable equals 1 with probability p and 0 with probability 1 − p — a single weighted coin flip. Each customer either defaults or does not; the model sets the bias of that coin.</a:t>
            </a:r>
            <a:endParaRPr lang="en-US" sz="1500" dirty="0"/>
          </a:p>
          <a:p>
            <a:pPr>
              <a:spcBef>
                <a:spcPts val="500"/>
              </a:spcBef>
              <a:spcAft>
                <a:spcPts val="500"/>
              </a:spcAft>
            </a:pPr>
            <a:r>
              <a:rPr lang="en-US" sz="1600" b="1" dirty="0">
                <a:solidFill>
                  <a:srgbClr val="13131A"/>
                </a:solidFill>
              </a:rPr>
              <a:t>Why this choice</a:t>
            </a:r>
            <a:endParaRPr lang="en-US" sz="1600" dirty="0"/>
          </a:p>
          <a:p>
            <a:pPr marL="285750" indent="-285750">
              <a:spcBef>
                <a:spcPts val="500"/>
              </a:spcBef>
              <a:spcAft>
                <a:spcPts val="500"/>
              </a:spcAft>
              <a:buFont typeface="Arial" panose="020B0604020202020204" pitchFamily="34" charset="0"/>
              <a:buChar char="•"/>
            </a:pPr>
            <a:r>
              <a:rPr lang="en-US" sz="1500" dirty="0">
                <a:solidFill>
                  <a:srgbClr val="13131A"/>
                </a:solidFill>
              </a:rPr>
              <a:t>It matches the binary nature of the data</a:t>
            </a:r>
            <a:endParaRPr lang="en-US" sz="1500" dirty="0"/>
          </a:p>
          <a:p>
            <a:pPr marL="285750" indent="-285750">
              <a:spcBef>
                <a:spcPts val="500"/>
              </a:spcBef>
              <a:spcAft>
                <a:spcPts val="500"/>
              </a:spcAft>
              <a:buFont typeface="Arial" panose="020B0604020202020204" pitchFamily="34" charset="0"/>
              <a:buChar char="•"/>
            </a:pPr>
            <a:r>
              <a:rPr lang="en-US" sz="1500" dirty="0">
                <a:solidFill>
                  <a:srgbClr val="13131A"/>
                </a:solidFill>
              </a:rPr>
              <a:t>It gives a principled, likelihood-based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8257197" cy="646331"/>
          </a:xfrm>
          <a:prstGeom prst="rect">
            <a:avLst/>
          </a:prstGeom>
          <a:noFill/>
        </p:spPr>
        <p:txBody>
          <a:bodyPr wrap="none">
            <a:spAutoFit/>
          </a:bodyPr>
          <a:lstStyle/>
          <a:p>
            <a:pPr>
              <a:defRPr sz="3600" b="1"/>
            </a:pPr>
            <a:r>
              <a:rPr lang="en-US" sz="3600" b="1" cap="all">
                <a:solidFill>
                  <a:srgbClr val="13131A"/>
                </a:solidFill>
                <a:latin typeface="+mj-lt"/>
              </a:rPr>
              <a:t>From Likelihood to Cross-Entropy</a:t>
            </a:r>
          </a:p>
        </p:txBody>
      </p:sp>
      <p:sp>
        <p:nvSpPr>
          <p:cNvPr id="4" name="TextBox 3"/>
          <p:cNvSpPr txBox="1"/>
          <p:nvPr/>
        </p:nvSpPr>
        <p:spPr>
          <a:xfrm>
            <a:off x="1981200" y="1950000"/>
            <a:ext cx="8229600" cy="4090863"/>
          </a:xfrm>
          <a:prstGeom prst="rect">
            <a:avLst/>
          </a:prstGeom>
          <a:noFill/>
        </p:spPr>
        <p:txBody>
          <a:bodyPr wrap="square">
            <a:spAutoFit/>
          </a:bodyPr>
          <a:lstStyle/>
          <a:p>
            <a:pPr marL="285750" indent="-285750">
              <a:spcBef>
                <a:spcPts val="600"/>
              </a:spcBef>
              <a:spcAft>
                <a:spcPts val="300"/>
              </a:spcAft>
              <a:buClr>
                <a:srgbClr val="13131A"/>
              </a:buClr>
              <a:buFont typeface="Arial"/>
              <a:buChar char="•"/>
            </a:pPr>
            <a:r>
              <a:rPr lang="en-US" dirty="0">
                <a:solidFill>
                  <a:srgbClr val="13131A"/>
                </a:solidFill>
              </a:rPr>
              <a:t>Likelihood: how probable the observed data are under the model. For one observation:</a:t>
            </a:r>
            <a:endParaRPr lang="en-US" dirty="0"/>
          </a:p>
          <a:p>
            <a:pPr marL="742950" indent="0">
              <a:spcBef>
                <a:spcPts val="500"/>
              </a:spcBef>
              <a:spcAft>
                <a:spcPts val="500"/>
              </a:spcAft>
              <a:buNone/>
            </a:pPr>
            <a:r>
              <a:rPr lang="en-US" sz="2000" dirty="0">
                <a:solidFill>
                  <a:srgbClr val="13131A"/>
                </a:solidFill>
                <a:latin typeface="Cambria Math"/>
              </a:rPr>
              <a:t>P(y | x) = </a:t>
            </a:r>
            <a:r>
              <a:rPr lang="en-US" sz="2000" dirty="0" err="1">
                <a:solidFill>
                  <a:srgbClr val="13131A"/>
                </a:solidFill>
                <a:latin typeface="Cambria Math"/>
              </a:rPr>
              <a:t>pʸ</a:t>
            </a:r>
            <a:r>
              <a:rPr lang="en-US" sz="2000" dirty="0">
                <a:solidFill>
                  <a:srgbClr val="13131A"/>
                </a:solidFill>
                <a:latin typeface="Cambria Math"/>
              </a:rPr>
              <a:t> (1 − p)¹⁻ʸ</a:t>
            </a:r>
            <a:endParaRPr lang="en-US" sz="2000" dirty="0"/>
          </a:p>
          <a:p>
            <a:pPr marL="1028700" indent="-228600">
              <a:spcBef>
                <a:spcPts val="300"/>
              </a:spcBef>
              <a:spcAft>
                <a:spcPts val="400"/>
              </a:spcAft>
              <a:buClr>
                <a:srgbClr val="595966"/>
              </a:buClr>
              <a:buFont typeface="Arial"/>
              <a:buChar char="–"/>
            </a:pPr>
            <a:r>
              <a:rPr lang="en-US" dirty="0">
                <a:solidFill>
                  <a:srgbClr val="13131A"/>
                </a:solidFill>
              </a:rPr>
              <a:t>The exponents just select the right factor: p when y = 1, and 1 − p when y = 0.</a:t>
            </a:r>
            <a:endParaRPr lang="en-US" dirty="0"/>
          </a:p>
          <a:p>
            <a:pPr marL="285750" indent="-285750">
              <a:spcBef>
                <a:spcPts val="700"/>
              </a:spcBef>
              <a:spcAft>
                <a:spcPts val="300"/>
              </a:spcAft>
              <a:buClr>
                <a:srgbClr val="13131A"/>
              </a:buClr>
              <a:buFont typeface="Arial"/>
              <a:buChar char="•"/>
            </a:pPr>
            <a:r>
              <a:rPr lang="en-US" b="1" dirty="0">
                <a:solidFill>
                  <a:srgbClr val="13131A"/>
                </a:solidFill>
              </a:rPr>
              <a:t>Log-likelihood for n independent observations:</a:t>
            </a:r>
            <a:endParaRPr lang="en-US" dirty="0"/>
          </a:p>
          <a:p>
            <a:pPr marL="742950" indent="0">
              <a:spcBef>
                <a:spcPts val="500"/>
              </a:spcBef>
              <a:spcAft>
                <a:spcPts val="500"/>
              </a:spcAft>
              <a:buNone/>
            </a:pPr>
            <a:r>
              <a:rPr lang="en-US" sz="2000" dirty="0">
                <a:solidFill>
                  <a:srgbClr val="13131A"/>
                </a:solidFill>
                <a:latin typeface="Cambria Math"/>
              </a:rPr>
              <a:t>ℓ(w, b) = Σᵢ [ yᵢ log pᵢ + (1 − yᵢ) log(1 − pᵢ) ]</a:t>
            </a:r>
            <a:endParaRPr lang="en-US" sz="2000" dirty="0"/>
          </a:p>
          <a:p>
            <a:pPr marL="285750" indent="-285750">
              <a:spcBef>
                <a:spcPts val="700"/>
              </a:spcBef>
              <a:spcAft>
                <a:spcPts val="300"/>
              </a:spcAft>
              <a:buClr>
                <a:srgbClr val="13131A"/>
              </a:buClr>
              <a:buFont typeface="Arial"/>
              <a:buChar char="•"/>
            </a:pPr>
            <a:r>
              <a:rPr lang="en-US" b="1" dirty="0">
                <a:solidFill>
                  <a:srgbClr val="13131A"/>
                </a:solidFill>
              </a:rPr>
              <a:t>Loss = negative log-likelihood, also called cross-entropy loss:</a:t>
            </a:r>
            <a:endParaRPr lang="en-US" dirty="0"/>
          </a:p>
          <a:p>
            <a:pPr marL="742950" indent="0">
              <a:spcBef>
                <a:spcPts val="500"/>
              </a:spcBef>
              <a:spcAft>
                <a:spcPts val="500"/>
              </a:spcAft>
              <a:buNone/>
            </a:pPr>
            <a:r>
              <a:rPr lang="en-US" sz="2000" dirty="0">
                <a:solidFill>
                  <a:srgbClr val="13131A"/>
                </a:solidFill>
                <a:latin typeface="Cambria Math"/>
              </a:rPr>
              <a:t>ℒ(w, b) = − Σᵢ [ yᵢ log pᵢ + (1 − yᵢ) log(1 − pᵢ) ]</a:t>
            </a:r>
            <a:endParaRPr lang="en-US" sz="2000" dirty="0"/>
          </a:p>
          <a:p>
            <a:pPr marL="285750" indent="-285750">
              <a:spcBef>
                <a:spcPts val="700"/>
              </a:spcBef>
              <a:spcAft>
                <a:spcPts val="300"/>
              </a:spcAft>
              <a:buClr>
                <a:srgbClr val="13131A"/>
              </a:buClr>
              <a:buFont typeface="Arial"/>
              <a:buChar char="•"/>
            </a:pPr>
            <a:r>
              <a:rPr lang="en-US" dirty="0">
                <a:solidFill>
                  <a:srgbClr val="13131A"/>
                </a:solidFill>
              </a:rPr>
              <a:t>Maximizing the likelihood is exactly minimizing cross-entropy. A customer who defaulted but was given p ≈ 0 contributes a very large loss.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6445162" cy="646331"/>
          </a:xfrm>
          <a:prstGeom prst="rect">
            <a:avLst/>
          </a:prstGeom>
          <a:noFill/>
        </p:spPr>
        <p:txBody>
          <a:bodyPr wrap="none">
            <a:spAutoFit/>
          </a:bodyPr>
          <a:lstStyle/>
          <a:p>
            <a:pPr>
              <a:defRPr sz="3600" b="1"/>
            </a:pPr>
            <a:r>
              <a:rPr lang="en-US" sz="3600" b="1" cap="all">
                <a:solidFill>
                  <a:srgbClr val="13131A"/>
                </a:solidFill>
                <a:latin typeface="+mj-lt"/>
              </a:rPr>
              <a:t>Optimization I: The Problem</a:t>
            </a:r>
          </a:p>
        </p:txBody>
      </p:sp>
      <p:sp>
        <p:nvSpPr>
          <p:cNvPr id="4" name="TextBox 3"/>
          <p:cNvSpPr txBox="1"/>
          <p:nvPr/>
        </p:nvSpPr>
        <p:spPr>
          <a:xfrm>
            <a:off x="1981200" y="1950000"/>
            <a:ext cx="5900000" cy="3970318"/>
          </a:xfrm>
          <a:prstGeom prst="rect">
            <a:avLst/>
          </a:prstGeom>
          <a:noFill/>
        </p:spPr>
        <p:txBody>
          <a:bodyPr wrap="square">
            <a:spAutoFit/>
          </a:bodyPr>
          <a:lstStyle/>
          <a:p>
            <a:pPr>
              <a:spcBef>
                <a:spcPts val="500"/>
              </a:spcBef>
              <a:spcAft>
                <a:spcPts val="500"/>
              </a:spcAft>
            </a:pPr>
            <a:r>
              <a:rPr lang="en-US" b="1" dirty="0">
                <a:solidFill>
                  <a:srgbClr val="13131A"/>
                </a:solidFill>
              </a:rPr>
              <a:t>Objective:</a:t>
            </a:r>
            <a:endParaRPr lang="en-US" dirty="0"/>
          </a:p>
          <a:p>
            <a:pPr>
              <a:spcBef>
                <a:spcPts val="500"/>
              </a:spcBef>
              <a:spcAft>
                <a:spcPts val="500"/>
              </a:spcAft>
            </a:pPr>
            <a:r>
              <a:rPr lang="en-US" sz="2000" dirty="0">
                <a:solidFill>
                  <a:srgbClr val="13131A"/>
                </a:solidFill>
                <a:latin typeface="Cambria Math"/>
              </a:rPr>
              <a:t>min over (w, b):  ℒ(w, b)</a:t>
            </a:r>
            <a:endParaRPr lang="en-US" sz="2000" dirty="0"/>
          </a:p>
          <a:p>
            <a:pPr>
              <a:spcBef>
                <a:spcPts val="500"/>
              </a:spcBef>
              <a:spcAft>
                <a:spcPts val="500"/>
              </a:spcAft>
            </a:pPr>
            <a:r>
              <a:rPr lang="en-US" sz="2000" b="1" dirty="0">
                <a:solidFill>
                  <a:srgbClr val="13131A"/>
                </a:solidFill>
              </a:rPr>
              <a:t>Properties</a:t>
            </a:r>
            <a:endParaRPr lang="en-US" sz="2000" dirty="0"/>
          </a:p>
          <a:p>
            <a:pPr marL="285750" indent="-285750">
              <a:spcBef>
                <a:spcPts val="500"/>
              </a:spcBef>
              <a:spcAft>
                <a:spcPts val="500"/>
              </a:spcAft>
              <a:buFont typeface="Arial" panose="020B0604020202020204" pitchFamily="34" charset="0"/>
              <a:buChar char="•"/>
            </a:pPr>
            <a:r>
              <a:rPr lang="en-US" dirty="0">
                <a:solidFill>
                  <a:srgbClr val="13131A"/>
                </a:solidFill>
              </a:rPr>
              <a:t>Convex — the loss surface is one bowl, so any local minimum is the global one</a:t>
            </a:r>
            <a:endParaRPr lang="en-US" dirty="0"/>
          </a:p>
          <a:p>
            <a:pPr marL="285750" indent="-285750">
              <a:spcBef>
                <a:spcPts val="500"/>
              </a:spcBef>
              <a:spcAft>
                <a:spcPts val="500"/>
              </a:spcAft>
              <a:buFont typeface="Arial" panose="020B0604020202020204" pitchFamily="34" charset="0"/>
              <a:buChar char="•"/>
            </a:pPr>
            <a:r>
              <a:rPr lang="en-US" dirty="0">
                <a:solidFill>
                  <a:srgbClr val="13131A"/>
                </a:solidFill>
              </a:rPr>
              <a:t>No closed form — there is no normal equation, so we solve numerically</a:t>
            </a:r>
            <a:endParaRPr lang="en-US" dirty="0"/>
          </a:p>
          <a:p>
            <a:pPr>
              <a:spcBef>
                <a:spcPts val="500"/>
              </a:spcBef>
              <a:spcAft>
                <a:spcPts val="500"/>
              </a:spcAft>
            </a:pPr>
            <a:r>
              <a:rPr lang="en-US" dirty="0">
                <a:solidFill>
                  <a:srgbClr val="13131A"/>
                </a:solidFill>
              </a:rPr>
              <a:t>Methods: gradient descent, stochastic gradient descent (SGD), Newton’s method.</a:t>
            </a:r>
            <a:endParaRPr lang="en-US" dirty="0"/>
          </a:p>
          <a:p>
            <a:pPr>
              <a:spcBef>
                <a:spcPts val="500"/>
              </a:spcBef>
              <a:spcAft>
                <a:spcPts val="500"/>
              </a:spcAft>
            </a:pPr>
            <a:r>
              <a:rPr lang="en-US" dirty="0">
                <a:solidFill>
                  <a:srgbClr val="13131A"/>
                </a:solidFill>
              </a:rPr>
              <a:t>Can add an L1 or L2 penalty to this problem convex while controlling overfitting.</a:t>
            </a:r>
            <a:endParaRPr lang="en-US" dirty="0"/>
          </a:p>
        </p:txBody>
      </p:sp>
      <p:pic>
        <p:nvPicPr>
          <p:cNvPr id="7" name="Convex loss surface"/>
          <p:cNvPicPr/>
          <p:nvPr/>
        </p:nvPicPr>
        <p:blipFill>
          <a:blip r:embed="rId3"/>
          <a:stretch>
            <a:fillRect/>
          </a:stretch>
        </p:blipFill>
        <p:spPr>
          <a:xfrm>
            <a:off x="8250000" y="2300000"/>
            <a:ext cx="2900000" cy="2014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127E-D6DF-382F-49A1-1891ADEA51A0}"/>
              </a:ext>
            </a:extLst>
          </p:cNvPr>
          <p:cNvSpPr>
            <a:spLocks noGrp="1"/>
          </p:cNvSpPr>
          <p:nvPr>
            <p:ph type="title"/>
          </p:nvPr>
        </p:nvSpPr>
        <p:spPr>
          <a:xfrm>
            <a:off x="3169515" y="2926080"/>
            <a:ext cx="10691265" cy="1307592"/>
          </a:xfrm>
        </p:spPr>
        <p:txBody>
          <a:bodyPr/>
          <a:lstStyle/>
          <a:p>
            <a:r>
              <a:rPr lang="en-US" dirty="0"/>
              <a:t>Optimization Setup</a:t>
            </a:r>
          </a:p>
        </p:txBody>
      </p:sp>
    </p:spTree>
    <p:extLst>
      <p:ext uri="{BB962C8B-B14F-4D97-AF65-F5344CB8AC3E}">
        <p14:creationId xmlns:p14="http://schemas.microsoft.com/office/powerpoint/2010/main" val="1748380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7842147" cy="646331"/>
          </a:xfrm>
          <a:prstGeom prst="rect">
            <a:avLst/>
          </a:prstGeom>
          <a:noFill/>
        </p:spPr>
        <p:txBody>
          <a:bodyPr wrap="none">
            <a:spAutoFit/>
          </a:bodyPr>
          <a:lstStyle/>
          <a:p>
            <a:pPr>
              <a:defRPr sz="3600" b="1"/>
            </a:pPr>
            <a:r>
              <a:rPr lang="en-US" sz="3600" b="1" cap="all">
                <a:solidFill>
                  <a:srgbClr val="13131A"/>
                </a:solidFill>
                <a:latin typeface="+mj-lt"/>
              </a:rPr>
              <a:t>Optimization II: Gradient Descent</a:t>
            </a:r>
          </a:p>
        </p:txBody>
      </p:sp>
      <p:sp>
        <p:nvSpPr>
          <p:cNvPr id="4" name="TextBox 3"/>
          <p:cNvSpPr txBox="1"/>
          <p:nvPr/>
        </p:nvSpPr>
        <p:spPr>
          <a:xfrm>
            <a:off x="1981200" y="1950000"/>
            <a:ext cx="8229600" cy="4262705"/>
          </a:xfrm>
          <a:prstGeom prst="rect">
            <a:avLst/>
          </a:prstGeom>
          <a:noFill/>
        </p:spPr>
        <p:txBody>
          <a:bodyPr wrap="square">
            <a:spAutoFit/>
          </a:bodyPr>
          <a:lstStyle/>
          <a:p>
            <a:pPr>
              <a:spcBef>
                <a:spcPts val="500"/>
              </a:spcBef>
              <a:spcAft>
                <a:spcPts val="500"/>
              </a:spcAft>
            </a:pPr>
            <a:r>
              <a:rPr lang="en-US" b="1" dirty="0">
                <a:solidFill>
                  <a:srgbClr val="13131A"/>
                </a:solidFill>
              </a:rPr>
              <a:t>Gradient of the loss with respect to the weights:</a:t>
            </a:r>
            <a:endParaRPr lang="en-US" dirty="0"/>
          </a:p>
          <a:p>
            <a:pPr>
              <a:spcBef>
                <a:spcPts val="500"/>
              </a:spcBef>
              <a:spcAft>
                <a:spcPts val="500"/>
              </a:spcAft>
            </a:pPr>
            <a:r>
              <a:rPr lang="en-US" sz="2000" dirty="0">
                <a:solidFill>
                  <a:srgbClr val="13131A"/>
                </a:solidFill>
                <a:latin typeface="Cambria Math"/>
              </a:rPr>
              <a:t>∂ℒ/∂w = Σᵢ (pᵢ − yᵢ) xᵢ</a:t>
            </a:r>
            <a:endParaRPr lang="en-US" sz="2000" dirty="0"/>
          </a:p>
          <a:p>
            <a:pPr>
              <a:spcBef>
                <a:spcPts val="500"/>
              </a:spcBef>
              <a:spcAft>
                <a:spcPts val="500"/>
              </a:spcAft>
            </a:pPr>
            <a:r>
              <a:rPr lang="en-US" dirty="0">
                <a:solidFill>
                  <a:srgbClr val="13131A"/>
                </a:solidFill>
              </a:rPr>
              <a:t>Update rule: step downhill, w ← w − η · ∂ℒ/∂w, where η is the learning rate.</a:t>
            </a:r>
            <a:endParaRPr lang="en-US" dirty="0"/>
          </a:p>
          <a:p>
            <a:pPr>
              <a:spcBef>
                <a:spcPts val="500"/>
              </a:spcBef>
              <a:spcAft>
                <a:spcPts val="500"/>
              </a:spcAft>
            </a:pPr>
            <a:r>
              <a:rPr lang="en-US" sz="2000" b="1" dirty="0">
                <a:solidFill>
                  <a:srgbClr val="13131A"/>
                </a:solidFill>
              </a:rPr>
              <a:t>A direct parallel to linear regression</a:t>
            </a:r>
            <a:endParaRPr lang="en-US" sz="2000" dirty="0"/>
          </a:p>
          <a:p>
            <a:pPr marL="285750" indent="-285750">
              <a:spcBef>
                <a:spcPts val="500"/>
              </a:spcBef>
              <a:spcAft>
                <a:spcPts val="500"/>
              </a:spcAft>
              <a:buFont typeface="Arial" panose="020B0604020202020204" pitchFamily="34" charset="0"/>
              <a:buChar char="•"/>
            </a:pPr>
            <a:r>
              <a:rPr lang="en-US" dirty="0">
                <a:solidFill>
                  <a:srgbClr val="13131A"/>
                </a:solidFill>
              </a:rPr>
              <a:t>Linear regression: updates use residuals (ŷ − y)</a:t>
            </a:r>
            <a:endParaRPr lang="en-US" dirty="0"/>
          </a:p>
          <a:p>
            <a:pPr marL="285750" indent="-285750">
              <a:spcBef>
                <a:spcPts val="500"/>
              </a:spcBef>
              <a:spcAft>
                <a:spcPts val="500"/>
              </a:spcAft>
              <a:buFont typeface="Arial" panose="020B0604020202020204" pitchFamily="34" charset="0"/>
              <a:buChar char="•"/>
            </a:pPr>
            <a:r>
              <a:rPr lang="en-US" dirty="0">
                <a:solidFill>
                  <a:srgbClr val="13131A"/>
                </a:solidFill>
              </a:rPr>
              <a:t>Logistic regression: updates use probabilistic errors (p − y)</a:t>
            </a:r>
            <a:endParaRPr lang="en-US" dirty="0"/>
          </a:p>
          <a:p>
            <a:pPr>
              <a:spcBef>
                <a:spcPts val="500"/>
              </a:spcBef>
              <a:spcAft>
                <a:spcPts val="500"/>
              </a:spcAft>
            </a:pPr>
            <a:r>
              <a:rPr lang="en-US" sz="2000" b="1" dirty="0">
                <a:solidFill>
                  <a:srgbClr val="13131A"/>
                </a:solidFill>
              </a:rPr>
              <a:t>Interpretation</a:t>
            </a:r>
            <a:endParaRPr lang="en-US" sz="2000" dirty="0"/>
          </a:p>
          <a:p>
            <a:pPr marL="285750" indent="-285750">
              <a:spcBef>
                <a:spcPts val="500"/>
              </a:spcBef>
              <a:spcAft>
                <a:spcPts val="500"/>
              </a:spcAft>
              <a:buFont typeface="Arial" panose="020B0604020202020204" pitchFamily="34" charset="0"/>
              <a:buChar char="•"/>
            </a:pPr>
            <a:r>
              <a:rPr lang="en-US" dirty="0">
                <a:solidFill>
                  <a:srgbClr val="13131A"/>
                </a:solidFill>
              </a:rPr>
              <a:t>p &gt; y: the gradient pushes the prediction down toward 0</a:t>
            </a:r>
            <a:endParaRPr lang="en-US" dirty="0"/>
          </a:p>
          <a:p>
            <a:pPr marL="285750" indent="-285750">
              <a:spcBef>
                <a:spcPts val="500"/>
              </a:spcBef>
              <a:spcAft>
                <a:spcPts val="500"/>
              </a:spcAft>
              <a:buFont typeface="Arial" panose="020B0604020202020204" pitchFamily="34" charset="0"/>
              <a:buChar char="•"/>
            </a:pPr>
            <a:r>
              <a:rPr lang="en-US" dirty="0">
                <a:solidFill>
                  <a:srgbClr val="13131A"/>
                </a:solidFill>
              </a:rPr>
              <a:t>p &lt; y: the gradient pulls the prediction up toward 1</a:t>
            </a:r>
            <a:endParaRPr lang="en-US" dirty="0"/>
          </a:p>
          <a:p>
            <a:pPr marL="285750" indent="-285750">
              <a:spcBef>
                <a:spcPts val="500"/>
              </a:spcBef>
              <a:spcAft>
                <a:spcPts val="500"/>
              </a:spcAft>
              <a:buFont typeface="Arial" panose="020B0604020202020204" pitchFamily="34" charset="0"/>
              <a:buChar char="•"/>
            </a:pPr>
            <a:r>
              <a:rPr lang="en-US" dirty="0">
                <a:solidFill>
                  <a:srgbClr val="13131A"/>
                </a:solidFill>
              </a:rPr>
              <a:t>p ≈ y: the signal is small — that observation is already explained</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9500000" cy="646331"/>
          </a:xfrm>
          <a:prstGeom prst="rect">
            <a:avLst/>
          </a:prstGeom>
          <a:noFill/>
        </p:spPr>
        <p:txBody>
          <a:bodyPr wrap="none">
            <a:spAutoFit/>
          </a:bodyPr>
          <a:lstStyle/>
          <a:p>
            <a:pPr>
              <a:defRPr sz="3200" b="1"/>
            </a:pPr>
            <a:r>
              <a:rPr lang="en-US" sz="3200" b="1" cap="all">
                <a:solidFill>
                  <a:srgbClr val="13131A"/>
                </a:solidFill>
                <a:latin typeface="+mj-lt"/>
              </a:rPr>
              <a:t>Part 3 — Using the Model</a:t>
            </a:r>
          </a:p>
        </p:txBody>
      </p:sp>
      <p:sp>
        <p:nvSpPr>
          <p:cNvPr id="4" name="TextBox 3"/>
          <p:cNvSpPr txBox="1"/>
          <p:nvPr/>
        </p:nvSpPr>
        <p:spPr>
          <a:xfrm>
            <a:off x="1981200" y="2100000"/>
            <a:ext cx="8229600" cy="4083169"/>
          </a:xfrm>
          <a:prstGeom prst="rect">
            <a:avLst/>
          </a:prstGeom>
          <a:noFill/>
        </p:spPr>
        <p:txBody>
          <a:bodyPr wrap="square">
            <a:spAutoFit/>
          </a:bodyPr>
          <a:lstStyle/>
          <a:p>
            <a:pPr>
              <a:spcBef>
                <a:spcPts val="500"/>
              </a:spcBef>
              <a:spcAft>
                <a:spcPts val="500"/>
              </a:spcAft>
            </a:pPr>
            <a:r>
              <a:rPr lang="en-US" sz="1800" b="1">
                <a:solidFill>
                  <a:srgbClr val="13131A"/>
                </a:solidFill>
              </a:rPr>
              <a:t>From a fitted probability to a decision.</a:t>
            </a:r>
            <a:endParaRPr lang="en-US" sz="1800"/>
          </a:p>
          <a:p>
            <a:pPr>
              <a:spcBef>
                <a:spcPts val="500"/>
              </a:spcBef>
              <a:spcAft>
                <a:spcPts val="500"/>
              </a:spcAft>
            </a:pPr>
            <a:r>
              <a:rPr lang="en-US" sz="1500">
                <a:solidFill>
                  <a:srgbClr val="13131A"/>
                </a:solidFill>
              </a:rPr>
              <a:t>•  How does a probability become a predicted class?</a:t>
            </a:r>
            <a:endParaRPr lang="en-US" sz="1500"/>
          </a:p>
          <a:p>
            <a:pPr>
              <a:spcBef>
                <a:spcPts val="500"/>
              </a:spcBef>
              <a:spcAft>
                <a:spcPts val="500"/>
              </a:spcAft>
            </a:pPr>
            <a:r>
              <a:rPr lang="en-US" sz="1500">
                <a:solidFill>
                  <a:srgbClr val="13131A"/>
                </a:solidFill>
              </a:rPr>
              <a:t>•  Who decides the threshold, and on what grounds?</a:t>
            </a:r>
            <a:endParaRPr lang="en-US" sz="1500"/>
          </a:p>
          <a:p>
            <a:pPr>
              <a:spcBef>
                <a:spcPts val="500"/>
              </a:spcBef>
              <a:spcAft>
                <a:spcPts val="500"/>
              </a:spcAft>
            </a:pPr>
            <a:r>
              <a:rPr lang="en-US" sz="1500">
                <a:solidFill>
                  <a:srgbClr val="13131A"/>
                </a:solidFill>
              </a:rPr>
              <a:t>•  Can you run the whole pipeline yourself?</a:t>
            </a:r>
            <a:endParaRPr lang="en-US" sz="15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7888378" cy="646331"/>
          </a:xfrm>
          <a:prstGeom prst="rect">
            <a:avLst/>
          </a:prstGeom>
          <a:noFill/>
        </p:spPr>
        <p:txBody>
          <a:bodyPr wrap="none">
            <a:spAutoFit/>
          </a:bodyPr>
          <a:lstStyle/>
          <a:p>
            <a:pPr>
              <a:defRPr sz="3600" b="1"/>
            </a:pPr>
            <a:r>
              <a:rPr lang="en-US" sz="3600" b="1" cap="all">
                <a:solidFill>
                  <a:srgbClr val="13131A"/>
                </a:solidFill>
                <a:latin typeface="+mj-lt"/>
              </a:rPr>
              <a:t>Classification: The Decision Rule</a:t>
            </a:r>
          </a:p>
        </p:txBody>
      </p:sp>
      <p:sp>
        <p:nvSpPr>
          <p:cNvPr id="4" name="TextBox 3"/>
          <p:cNvSpPr txBox="1"/>
          <p:nvPr/>
        </p:nvSpPr>
        <p:spPr>
          <a:xfrm>
            <a:off x="1981200" y="1950000"/>
            <a:ext cx="8229600" cy="3416320"/>
          </a:xfrm>
          <a:prstGeom prst="rect">
            <a:avLst/>
          </a:prstGeom>
          <a:noFill/>
        </p:spPr>
        <p:txBody>
          <a:bodyPr wrap="square">
            <a:spAutoFit/>
          </a:bodyPr>
          <a:lstStyle/>
          <a:p>
            <a:pPr>
              <a:spcBef>
                <a:spcPts val="500"/>
              </a:spcBef>
              <a:spcAft>
                <a:spcPts val="500"/>
              </a:spcAft>
            </a:pPr>
            <a:r>
              <a:rPr lang="en-US" dirty="0">
                <a:solidFill>
                  <a:srgbClr val="13131A"/>
                </a:solidFill>
              </a:rPr>
              <a:t>Logistic regression outputs probabilities. Classification needs one more ingredient — a decision threshold τ:</a:t>
            </a:r>
            <a:endParaRPr lang="en-US" dirty="0"/>
          </a:p>
          <a:p>
            <a:pPr>
              <a:spcBef>
                <a:spcPts val="500"/>
              </a:spcBef>
              <a:spcAft>
                <a:spcPts val="500"/>
              </a:spcAft>
            </a:pPr>
            <a:r>
              <a:rPr lang="en-US" sz="2000" dirty="0">
                <a:solidFill>
                  <a:srgbClr val="13131A"/>
                </a:solidFill>
                <a:latin typeface="Cambria Math"/>
              </a:rPr>
              <a:t>ŷ = 1 if P(y = 1 | x) ≥ τ,   otherwise ŷ = 0</a:t>
            </a:r>
            <a:endParaRPr lang="en-US" sz="2000" dirty="0"/>
          </a:p>
          <a:p>
            <a:pPr>
              <a:spcBef>
                <a:spcPts val="500"/>
              </a:spcBef>
              <a:spcAft>
                <a:spcPts val="500"/>
              </a:spcAft>
            </a:pPr>
            <a:r>
              <a:rPr lang="en-US" dirty="0">
                <a:solidFill>
                  <a:srgbClr val="13131A"/>
                </a:solidFill>
              </a:rPr>
              <a:t>The standard choice is τ = 0.5, which is equivalent to classifying on the sign of the score z.</a:t>
            </a:r>
            <a:endParaRPr lang="en-US" dirty="0"/>
          </a:p>
          <a:p>
            <a:pPr>
              <a:spcBef>
                <a:spcPts val="500"/>
              </a:spcBef>
              <a:spcAft>
                <a:spcPts val="500"/>
              </a:spcAft>
            </a:pPr>
            <a:r>
              <a:rPr lang="en-US" sz="2000" b="1" dirty="0">
                <a:solidFill>
                  <a:srgbClr val="13131A"/>
                </a:solidFill>
              </a:rPr>
              <a:t>Why τ = 0.5 is only a default</a:t>
            </a:r>
            <a:endParaRPr lang="en-US" sz="2000" dirty="0"/>
          </a:p>
          <a:p>
            <a:pPr marL="285750" indent="-285750">
              <a:spcBef>
                <a:spcPts val="500"/>
              </a:spcBef>
              <a:spcAft>
                <a:spcPts val="500"/>
              </a:spcAft>
              <a:buFont typeface="Arial" panose="020B0604020202020204" pitchFamily="34" charset="0"/>
              <a:buChar char="•"/>
            </a:pPr>
            <a:r>
              <a:rPr lang="en-US" dirty="0">
                <a:solidFill>
                  <a:srgbClr val="13131A"/>
                </a:solidFill>
              </a:rPr>
              <a:t>It implicitly assumes a false positive and a false negative cost the same.</a:t>
            </a:r>
            <a:endParaRPr lang="en-US" dirty="0"/>
          </a:p>
          <a:p>
            <a:pPr marL="285750" indent="-285750">
              <a:spcBef>
                <a:spcPts val="500"/>
              </a:spcBef>
              <a:spcAft>
                <a:spcPts val="500"/>
              </a:spcAft>
              <a:buFont typeface="Arial" panose="020B0604020202020204" pitchFamily="34" charset="0"/>
              <a:buChar char="•"/>
            </a:pPr>
            <a:r>
              <a:rPr lang="en-US" dirty="0">
                <a:solidFill>
                  <a:srgbClr val="13131A"/>
                </a:solidFill>
              </a:rPr>
              <a:t>Nothing in the fitting procedure chose it — the model never saw τ.</a:t>
            </a:r>
            <a:endParaRPr lang="en-US" dirty="0"/>
          </a:p>
          <a:p>
            <a:pPr marL="285750" indent="-285750">
              <a:spcBef>
                <a:spcPts val="500"/>
              </a:spcBef>
              <a:spcAft>
                <a:spcPts val="500"/>
              </a:spcAft>
              <a:buFont typeface="Arial" panose="020B0604020202020204" pitchFamily="34" charset="0"/>
              <a:buChar char="•"/>
            </a:pPr>
            <a:r>
              <a:rPr lang="en-US" dirty="0">
                <a:solidFill>
                  <a:srgbClr val="13131A"/>
                </a:solidFill>
              </a:rPr>
              <a:t>Changing τ changes the predictions without refitting the model.</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9500000" cy="646331"/>
          </a:xfrm>
          <a:prstGeom prst="rect">
            <a:avLst/>
          </a:prstGeom>
          <a:noFill/>
        </p:spPr>
        <p:txBody>
          <a:bodyPr wrap="none">
            <a:spAutoFit/>
          </a:bodyPr>
          <a:lstStyle/>
          <a:p>
            <a:pPr>
              <a:defRPr sz="3600" b="1"/>
            </a:pPr>
            <a:r>
              <a:rPr lang="en-US" sz="3600" b="1" cap="all">
                <a:solidFill>
                  <a:srgbClr val="13131A"/>
                </a:solidFill>
                <a:latin typeface="+mj-lt"/>
              </a:rPr>
              <a:t>Choosing the Threshold</a:t>
            </a:r>
          </a:p>
        </p:txBody>
      </p:sp>
      <p:sp>
        <p:nvSpPr>
          <p:cNvPr id="4" name="TextBox 3"/>
          <p:cNvSpPr txBox="1"/>
          <p:nvPr/>
        </p:nvSpPr>
        <p:spPr>
          <a:xfrm>
            <a:off x="1981200" y="1950000"/>
            <a:ext cx="8229600" cy="3693319"/>
          </a:xfrm>
          <a:prstGeom prst="rect">
            <a:avLst/>
          </a:prstGeom>
          <a:noFill/>
        </p:spPr>
        <p:txBody>
          <a:bodyPr wrap="square">
            <a:spAutoFit/>
          </a:bodyPr>
          <a:lstStyle/>
          <a:p>
            <a:pPr>
              <a:spcBef>
                <a:spcPts val="500"/>
              </a:spcBef>
              <a:spcAft>
                <a:spcPts val="500"/>
              </a:spcAft>
            </a:pPr>
            <a:r>
              <a:rPr lang="en-US" sz="2000" b="1" dirty="0">
                <a:solidFill>
                  <a:srgbClr val="13131A"/>
                </a:solidFill>
              </a:rPr>
              <a:t>Set τ from the cost of each error type, not by habit.</a:t>
            </a:r>
            <a:endParaRPr lang="en-US" sz="2000" dirty="0"/>
          </a:p>
          <a:p>
            <a:pPr marL="285750" indent="-285750">
              <a:spcBef>
                <a:spcPts val="500"/>
              </a:spcBef>
              <a:spcAft>
                <a:spcPts val="500"/>
              </a:spcAft>
              <a:buFont typeface="Arial" panose="020B0604020202020204" pitchFamily="34" charset="0"/>
              <a:buChar char="•"/>
            </a:pPr>
            <a:r>
              <a:rPr lang="en-US" dirty="0">
                <a:solidFill>
                  <a:srgbClr val="13131A"/>
                </a:solidFill>
              </a:rPr>
              <a:t>Medical screening: a missed case (false negative) is far costlier than a false alarm, so lower τ — catch more positives and accept more false positives</a:t>
            </a:r>
            <a:endParaRPr lang="en-US" dirty="0"/>
          </a:p>
          <a:p>
            <a:pPr marL="285750" indent="-285750">
              <a:spcBef>
                <a:spcPts val="500"/>
              </a:spcBef>
              <a:spcAft>
                <a:spcPts val="500"/>
              </a:spcAft>
              <a:buFont typeface="Arial" panose="020B0604020202020204" pitchFamily="34" charset="0"/>
              <a:buChar char="•"/>
            </a:pPr>
            <a:r>
              <a:rPr lang="en-US" dirty="0">
                <a:solidFill>
                  <a:srgbClr val="13131A"/>
                </a:solidFill>
              </a:rPr>
              <a:t>Fraud review: each flag costs analyst time, so raise τ to protect precision</a:t>
            </a:r>
            <a:endParaRPr lang="en-US" dirty="0"/>
          </a:p>
          <a:p>
            <a:pPr marL="285750" indent="-285750">
              <a:spcBef>
                <a:spcPts val="500"/>
              </a:spcBef>
              <a:spcAft>
                <a:spcPts val="500"/>
              </a:spcAft>
              <a:buFont typeface="Arial" panose="020B0604020202020204" pitchFamily="34" charset="0"/>
              <a:buChar char="•"/>
            </a:pPr>
            <a:r>
              <a:rPr lang="en-US" dirty="0">
                <a:solidFill>
                  <a:srgbClr val="13131A"/>
                </a:solidFill>
              </a:rPr>
              <a:t>Credit default: a lender who loses more on a bad loan than on a declined application should lower τ</a:t>
            </a:r>
            <a:endParaRPr lang="en-US" dirty="0"/>
          </a:p>
          <a:p>
            <a:pPr>
              <a:spcBef>
                <a:spcPts val="500"/>
              </a:spcBef>
              <a:spcAft>
                <a:spcPts val="500"/>
              </a:spcAft>
            </a:pPr>
            <a:r>
              <a:rPr lang="en-US" sz="2000" b="1" dirty="0">
                <a:solidFill>
                  <a:srgbClr val="13131A"/>
                </a:solidFill>
              </a:rPr>
              <a:t>Types of mistakes</a:t>
            </a:r>
            <a:endParaRPr lang="en-US" sz="2000" dirty="0"/>
          </a:p>
          <a:p>
            <a:pPr>
              <a:spcBef>
                <a:spcPts val="500"/>
              </a:spcBef>
              <a:spcAft>
                <a:spcPts val="500"/>
              </a:spcAft>
            </a:pPr>
            <a:r>
              <a:rPr lang="en-US" dirty="0">
                <a:solidFill>
                  <a:srgbClr val="13131A"/>
                </a:solidFill>
              </a:rPr>
              <a:t>False positive: predicted 1, actually 0.   False negative: predicted 0, actually 1.</a:t>
            </a:r>
            <a:endParaRPr lang="en-US" dirty="0"/>
          </a:p>
          <a:p>
            <a:pPr>
              <a:spcBef>
                <a:spcPts val="500"/>
              </a:spcBef>
              <a:spcAft>
                <a:spcPts val="500"/>
              </a:spcAft>
            </a:pPr>
            <a:r>
              <a:rPr lang="en-US" dirty="0">
                <a:solidFill>
                  <a:srgbClr val="13131A"/>
                </a:solidFill>
              </a:rPr>
              <a:t>Sweeping τ from 0 to 1 traces the ROC and precision–recall curves — the subject of the next lecture.</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6621941" cy="646331"/>
          </a:xfrm>
          <a:prstGeom prst="rect">
            <a:avLst/>
          </a:prstGeom>
          <a:noFill/>
        </p:spPr>
        <p:txBody>
          <a:bodyPr wrap="none">
            <a:spAutoFit/>
          </a:bodyPr>
          <a:lstStyle/>
          <a:p>
            <a:pPr>
              <a:defRPr sz="3600" b="1"/>
            </a:pPr>
            <a:r>
              <a:rPr lang="en-US" sz="3600" b="1" cap="all" dirty="0">
                <a:solidFill>
                  <a:srgbClr val="13131A"/>
                </a:solidFill>
                <a:latin typeface="+mj-lt"/>
              </a:rPr>
              <a:t>Check Your Understanding</a:t>
            </a:r>
          </a:p>
        </p:txBody>
      </p:sp>
      <p:sp>
        <p:nvSpPr>
          <p:cNvPr id="4" name="TextBox 3"/>
          <p:cNvSpPr txBox="1"/>
          <p:nvPr/>
        </p:nvSpPr>
        <p:spPr>
          <a:xfrm>
            <a:off x="1981200" y="1950000"/>
            <a:ext cx="8229600" cy="3544560"/>
          </a:xfrm>
          <a:prstGeom prst="rect">
            <a:avLst/>
          </a:prstGeom>
          <a:noFill/>
        </p:spPr>
        <p:txBody>
          <a:bodyPr wrap="square">
            <a:spAutoFit/>
          </a:bodyPr>
          <a:lstStyle/>
          <a:p>
            <a:pPr>
              <a:spcBef>
                <a:spcPts val="500"/>
              </a:spcBef>
              <a:spcAft>
                <a:spcPts val="500"/>
              </a:spcAft>
            </a:pPr>
            <a:r>
              <a:rPr lang="en-US" sz="1600" dirty="0">
                <a:solidFill>
                  <a:srgbClr val="13131A"/>
                </a:solidFill>
              </a:rPr>
              <a:t>A model fit to the Default data (balance in $1,000s) gives w = 2.0, b = −7.0. For a customer with a $2,000 balance (x = 2.0), work out the predicted probability and the class label.</a:t>
            </a:r>
            <a:endParaRPr lang="en-US" sz="1600" dirty="0"/>
          </a:p>
          <a:p>
            <a:pPr>
              <a:spcBef>
                <a:spcPts val="500"/>
              </a:spcBef>
              <a:spcAft>
                <a:spcPts val="500"/>
              </a:spcAft>
            </a:pPr>
            <a:r>
              <a:rPr lang="en-US" sz="1600" b="1" dirty="0">
                <a:solidFill>
                  <a:srgbClr val="13131A"/>
                </a:solidFill>
              </a:rPr>
              <a:t>Step 1 — compute the score</a:t>
            </a:r>
            <a:endParaRPr lang="en-US" sz="1600" dirty="0"/>
          </a:p>
          <a:p>
            <a:pPr>
              <a:spcBef>
                <a:spcPts val="500"/>
              </a:spcBef>
              <a:spcAft>
                <a:spcPts val="500"/>
              </a:spcAft>
            </a:pPr>
            <a:r>
              <a:rPr lang="en-US" dirty="0">
                <a:solidFill>
                  <a:srgbClr val="13131A"/>
                </a:solidFill>
                <a:latin typeface="Cambria Math"/>
              </a:rPr>
              <a:t>z = </a:t>
            </a:r>
            <a:r>
              <a:rPr lang="en-US" dirty="0" err="1">
                <a:solidFill>
                  <a:srgbClr val="13131A"/>
                </a:solidFill>
                <a:latin typeface="Cambria Math"/>
              </a:rPr>
              <a:t>wᵀx</a:t>
            </a:r>
            <a:r>
              <a:rPr lang="en-US" dirty="0">
                <a:solidFill>
                  <a:srgbClr val="13131A"/>
                </a:solidFill>
                <a:latin typeface="Cambria Math"/>
              </a:rPr>
              <a:t> + b = 2.0(2.0) − 7.0 = −3.0</a:t>
            </a:r>
            <a:endParaRPr lang="en-US" dirty="0"/>
          </a:p>
          <a:p>
            <a:pPr>
              <a:spcBef>
                <a:spcPts val="500"/>
              </a:spcBef>
              <a:spcAft>
                <a:spcPts val="500"/>
              </a:spcAft>
            </a:pPr>
            <a:r>
              <a:rPr lang="en-US" sz="1600" b="1" dirty="0">
                <a:solidFill>
                  <a:srgbClr val="13131A"/>
                </a:solidFill>
              </a:rPr>
              <a:t>Step 2 — convert the score to a probability</a:t>
            </a:r>
            <a:endParaRPr lang="en-US" sz="1600" dirty="0"/>
          </a:p>
          <a:p>
            <a:pPr>
              <a:spcBef>
                <a:spcPts val="500"/>
              </a:spcBef>
              <a:spcAft>
                <a:spcPts val="500"/>
              </a:spcAft>
            </a:pPr>
            <a:r>
              <a:rPr lang="en-US" dirty="0">
                <a:solidFill>
                  <a:srgbClr val="13131A"/>
                </a:solidFill>
                <a:latin typeface="Cambria Math"/>
              </a:rPr>
              <a:t>p = σ(−3.0) = 1 / (1 + exp(3.0)) ≈ 0.047</a:t>
            </a:r>
            <a:endParaRPr lang="en-US" dirty="0"/>
          </a:p>
          <a:p>
            <a:pPr>
              <a:spcBef>
                <a:spcPts val="500"/>
              </a:spcBef>
              <a:spcAft>
                <a:spcPts val="500"/>
              </a:spcAft>
            </a:pPr>
            <a:r>
              <a:rPr lang="en-US" sz="1600" b="1" dirty="0">
                <a:solidFill>
                  <a:srgbClr val="13131A"/>
                </a:solidFill>
              </a:rPr>
              <a:t>Step 3 — apply the decision rule</a:t>
            </a:r>
            <a:endParaRPr lang="en-US" sz="1600" dirty="0"/>
          </a:p>
          <a:p>
            <a:pPr>
              <a:spcBef>
                <a:spcPts val="500"/>
              </a:spcBef>
              <a:spcAft>
                <a:spcPts val="500"/>
              </a:spcAft>
            </a:pPr>
            <a:r>
              <a:rPr lang="en-US" dirty="0">
                <a:solidFill>
                  <a:srgbClr val="13131A"/>
                </a:solidFill>
                <a:latin typeface="Cambria Math"/>
              </a:rPr>
              <a:t>p = 0.047 &lt; τ = 0.5  ⇒  predict ŷ = 0 (no default)</a:t>
            </a:r>
            <a:endParaRPr lang="en-US" dirty="0"/>
          </a:p>
          <a:p>
            <a:pPr>
              <a:spcBef>
                <a:spcPts val="500"/>
              </a:spcBef>
              <a:spcAft>
                <a:spcPts val="500"/>
              </a:spcAft>
            </a:pPr>
            <a:r>
              <a:rPr lang="en-US" sz="1600" b="1" dirty="0">
                <a:solidFill>
                  <a:srgbClr val="13131A"/>
                </a:solidFill>
              </a:rPr>
              <a:t>Now try it yourself: what is the predicted class at a $4,000 balance, and what threshold would flip the $2,000 answer?</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029062"/>
            <a:ext cx="9500000" cy="646331"/>
          </a:xfrm>
          <a:prstGeom prst="rect">
            <a:avLst/>
          </a:prstGeom>
          <a:noFill/>
        </p:spPr>
        <p:txBody>
          <a:bodyPr wrap="none">
            <a:spAutoFit/>
          </a:bodyPr>
          <a:lstStyle/>
          <a:p>
            <a:pPr>
              <a:defRPr sz="3600" b="1"/>
            </a:pPr>
            <a:r>
              <a:rPr lang="en-US" sz="3600" b="1" cap="all" dirty="0">
                <a:solidFill>
                  <a:srgbClr val="13131A"/>
                </a:solidFill>
                <a:latin typeface="+mj-lt"/>
              </a:rPr>
              <a:t>Conceptual Summary</a:t>
            </a:r>
          </a:p>
        </p:txBody>
      </p:sp>
      <p:sp>
        <p:nvSpPr>
          <p:cNvPr id="4" name="TextBox 3"/>
          <p:cNvSpPr txBox="1"/>
          <p:nvPr/>
        </p:nvSpPr>
        <p:spPr>
          <a:xfrm>
            <a:off x="1981200" y="1950000"/>
            <a:ext cx="8229600" cy="4083169"/>
          </a:xfrm>
          <a:prstGeom prst="rect">
            <a:avLst/>
          </a:prstGeom>
          <a:noFill/>
        </p:spPr>
        <p:txBody>
          <a:bodyPr wrap="square">
            <a:spAutoFit/>
          </a:bodyPr>
          <a:lstStyle/>
          <a:p>
            <a:pPr>
              <a:spcBef>
                <a:spcPts val="500"/>
              </a:spcBef>
              <a:spcAft>
                <a:spcPts val="500"/>
              </a:spcAft>
            </a:pPr>
            <a:r>
              <a:rPr lang="en-US" sz="1600" dirty="0">
                <a:solidFill>
                  <a:srgbClr val="13131A"/>
                </a:solidFill>
              </a:rPr>
              <a:t>1.  Start with the linear regression structure: z = </a:t>
            </a:r>
            <a:r>
              <a:rPr lang="en-US" sz="1600" dirty="0" err="1">
                <a:solidFill>
                  <a:srgbClr val="13131A"/>
                </a:solidFill>
              </a:rPr>
              <a:t>wᵀx</a:t>
            </a:r>
            <a:r>
              <a:rPr lang="en-US" sz="1600" dirty="0">
                <a:solidFill>
                  <a:srgbClr val="13131A"/>
                </a:solidFill>
              </a:rPr>
              <a:t> + b</a:t>
            </a:r>
            <a:endParaRPr lang="en-US" sz="1600" dirty="0"/>
          </a:p>
          <a:p>
            <a:pPr>
              <a:spcBef>
                <a:spcPts val="500"/>
              </a:spcBef>
              <a:spcAft>
                <a:spcPts val="500"/>
              </a:spcAft>
            </a:pPr>
            <a:r>
              <a:rPr lang="en-US" sz="1600" dirty="0">
                <a:solidFill>
                  <a:srgbClr val="13131A"/>
                </a:solidFill>
              </a:rPr>
              <a:t>2.  Interpret z as the log-odds (logit) of the outcome</a:t>
            </a:r>
            <a:endParaRPr lang="en-US" sz="1600" dirty="0"/>
          </a:p>
          <a:p>
            <a:pPr>
              <a:spcBef>
                <a:spcPts val="500"/>
              </a:spcBef>
              <a:spcAft>
                <a:spcPts val="500"/>
              </a:spcAft>
            </a:pPr>
            <a:r>
              <a:rPr lang="en-US" sz="1600" dirty="0">
                <a:solidFill>
                  <a:srgbClr val="13131A"/>
                </a:solidFill>
              </a:rPr>
              <a:t>3.  Apply the sigmoid to turn the score into a probability</a:t>
            </a:r>
            <a:endParaRPr lang="en-US" sz="1600" dirty="0"/>
          </a:p>
          <a:p>
            <a:pPr>
              <a:spcBef>
                <a:spcPts val="500"/>
              </a:spcBef>
              <a:spcAft>
                <a:spcPts val="500"/>
              </a:spcAft>
            </a:pPr>
            <a:r>
              <a:rPr lang="en-US" sz="1600" dirty="0">
                <a:solidFill>
                  <a:srgbClr val="13131A"/>
                </a:solidFill>
              </a:rPr>
              <a:t>4.  Model the outcome with a Bernoulli likelihood</a:t>
            </a:r>
            <a:endParaRPr lang="en-US" sz="1600" dirty="0"/>
          </a:p>
          <a:p>
            <a:pPr>
              <a:spcBef>
                <a:spcPts val="500"/>
              </a:spcBef>
              <a:spcAft>
                <a:spcPts val="500"/>
              </a:spcAft>
            </a:pPr>
            <a:r>
              <a:rPr lang="en-US" sz="1600" dirty="0">
                <a:solidFill>
                  <a:srgbClr val="13131A"/>
                </a:solidFill>
              </a:rPr>
              <a:t>5.  Minimize the cross-entropy loss (convex, no closed form)</a:t>
            </a:r>
            <a:endParaRPr lang="en-US" sz="1600" dirty="0"/>
          </a:p>
          <a:p>
            <a:pPr>
              <a:spcBef>
                <a:spcPts val="500"/>
              </a:spcBef>
              <a:spcAft>
                <a:spcPts val="500"/>
              </a:spcAft>
            </a:pPr>
            <a:r>
              <a:rPr lang="en-US" sz="1600" dirty="0">
                <a:solidFill>
                  <a:srgbClr val="13131A"/>
                </a:solidFill>
              </a:rPr>
              <a:t>6.  Solve with gradient-based optimization</a:t>
            </a:r>
            <a:endParaRPr lang="en-US" sz="1600" dirty="0"/>
          </a:p>
          <a:p>
            <a:pPr>
              <a:spcBef>
                <a:spcPts val="500"/>
              </a:spcBef>
              <a:spcAft>
                <a:spcPts val="500"/>
              </a:spcAft>
            </a:pPr>
            <a:r>
              <a:rPr lang="en-US" sz="1600" dirty="0">
                <a:solidFill>
                  <a:srgbClr val="13131A"/>
                </a:solidFill>
              </a:rPr>
              <a:t>7.  Apply a threshold τ to turn probabilities into class decisions</a:t>
            </a:r>
            <a:endParaRPr lang="en-US" sz="1600" dirty="0"/>
          </a:p>
          <a:p>
            <a:pPr>
              <a:spcBef>
                <a:spcPts val="500"/>
              </a:spcBef>
              <a:spcAft>
                <a:spcPts val="500"/>
              </a:spcAft>
            </a:pPr>
            <a:r>
              <a:rPr lang="en-US" b="1" dirty="0">
                <a:solidFill>
                  <a:srgbClr val="13131A"/>
                </a:solidFill>
              </a:rPr>
              <a:t>You should now be able to</a:t>
            </a:r>
            <a:endParaRPr lang="en-US" dirty="0"/>
          </a:p>
          <a:p>
            <a:pPr marL="285750" indent="-285750">
              <a:spcBef>
                <a:spcPts val="500"/>
              </a:spcBef>
              <a:spcAft>
                <a:spcPts val="500"/>
              </a:spcAft>
              <a:buFont typeface="Arial" panose="020B0604020202020204" pitchFamily="34" charset="0"/>
              <a:buChar char="•"/>
            </a:pPr>
            <a:r>
              <a:rPr lang="en-US" sz="1600" dirty="0">
                <a:solidFill>
                  <a:srgbClr val="13131A"/>
                </a:solidFill>
              </a:rPr>
              <a:t>Compute a predicted probability from w, b, and x by hand</a:t>
            </a:r>
            <a:endParaRPr lang="en-US" sz="1600" dirty="0"/>
          </a:p>
          <a:p>
            <a:pPr marL="285750" indent="-285750">
              <a:spcBef>
                <a:spcPts val="500"/>
              </a:spcBef>
              <a:spcAft>
                <a:spcPts val="500"/>
              </a:spcAft>
              <a:buFont typeface="Arial" panose="020B0604020202020204" pitchFamily="34" charset="0"/>
              <a:buChar char="•"/>
            </a:pPr>
            <a:r>
              <a:rPr lang="en-US" sz="1600" dirty="0">
                <a:solidFill>
                  <a:srgbClr val="13131A"/>
                </a:solidFill>
              </a:rPr>
              <a:t>Interpret any coefficient as an odds ratio, and say why it is not a probability change</a:t>
            </a:r>
            <a:endParaRPr lang="en-US" sz="1600" dirty="0"/>
          </a:p>
          <a:p>
            <a:pPr marL="285750" indent="-285750">
              <a:spcBef>
                <a:spcPts val="500"/>
              </a:spcBef>
              <a:spcAft>
                <a:spcPts val="500"/>
              </a:spcAft>
              <a:buFont typeface="Arial" panose="020B0604020202020204" pitchFamily="34" charset="0"/>
              <a:buChar char="•"/>
            </a:pPr>
            <a:r>
              <a:rPr lang="en-US" sz="1600" dirty="0">
                <a:solidFill>
                  <a:srgbClr val="13131A"/>
                </a:solidFill>
              </a:rPr>
              <a:t>Justify a threshold from the relative cost of the two error types</a:t>
            </a:r>
            <a:endParaRPr lang="en-US" sz="1600" dirty="0"/>
          </a:p>
        </p:txBody>
      </p:sp>
    </p:spTree>
  </p:cSld>
  <p:clrMapOvr>
    <a:masterClrMapping/>
  </p:clrMapOvr>
</p:sld>
</file>

<file path=ppt/theme/theme1.xml><?xml version="1.0" encoding="utf-8"?>
<a:theme xmlns:a="http://schemas.openxmlformats.org/drawingml/2006/main" name="ChronicleVTI">
  <a:themeElements>
    <a:clrScheme name="Chronicle">
      <a:dk1>
        <a:srgbClr val="13131A"/>
      </a:dk1>
      <a:lt1>
        <a:srgbClr val="FFFFFF"/>
      </a:lt1>
      <a:dk2>
        <a:srgbClr val="1C1C32"/>
      </a:dk2>
      <a:lt2>
        <a:srgbClr val="F8F4F1"/>
      </a:lt2>
      <a:accent1>
        <a:srgbClr val="6D7BF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Aptos Display"/>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Theme1</Template>
  <TotalTime>1408</TotalTime>
  <Words>2288</Words>
  <Application>Microsoft Office PowerPoint</Application>
  <PresentationFormat>Widescreen</PresentationFormat>
  <Paragraphs>158</Paragraphs>
  <Slides>18</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Cambria Math</vt:lpstr>
      <vt:lpstr>ChronicleVTI</vt:lpstr>
      <vt:lpstr>Logistic Regression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Optimization Setup</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Jake Rhodes</dc:creator>
  <cp:lastModifiedBy>Jake Rhodes</cp:lastModifiedBy>
  <cp:revision>49</cp:revision>
  <dcterms:created xsi:type="dcterms:W3CDTF">2025-10-28T15:32:43Z</dcterms:created>
  <dcterms:modified xsi:type="dcterms:W3CDTF">2026-10-20T22:41:51Z</dcterms:modified>
</cp:coreProperties>
</file>