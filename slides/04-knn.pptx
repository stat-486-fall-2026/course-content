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60" r:id="rId2"/>
    <p:sldId id="267" r:id="rId3"/>
    <p:sldId id="268" r:id="rId4"/>
    <p:sldId id="269" r:id="rId5"/>
    <p:sldId id="272" r:id="rId6"/>
    <p:sldId id="289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90" r:id="rId20"/>
    <p:sldId id="291" r:id="rId21"/>
    <p:sldId id="28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8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D35D3-A9F6-4082-B3C7-9395E857EA4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CE8214-4FEA-4EBA-B825-5F55C603A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58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CE8214-4FEA-4EBA-B825-5F55C603ADF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46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87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89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149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24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6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28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44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49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54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49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62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54844" y="1017985"/>
            <a:ext cx="10882313" cy="473273"/>
          </a:xfrm>
          <a:prstGeom prst="rect">
            <a:avLst/>
          </a:prstGeom>
        </p:spPr>
        <p:txBody>
          <a:bodyPr/>
          <a:lstStyle>
            <a:lvl1pPr marL="0" indent="0" defTabSz="178587">
              <a:spcBef>
                <a:spcPts val="0"/>
              </a:spcBef>
              <a:buSzTx/>
              <a:buNone/>
              <a:defRPr sz="225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3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758930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54844" y="2196703"/>
            <a:ext cx="10882313" cy="2321719"/>
          </a:xfrm>
          <a:prstGeom prst="rect">
            <a:avLst/>
          </a:prstGeom>
        </p:spPr>
        <p:txBody>
          <a:bodyPr anchor="ctr"/>
          <a:lstStyle>
            <a:lvl1pPr defTabSz="250022">
              <a:defRPr sz="5906" spc="-59"/>
            </a:lvl1pPr>
          </a:lstStyle>
          <a:p>
            <a:r>
              <a:t>Section Title</a:t>
            </a:r>
          </a:p>
        </p:txBody>
      </p:sp>
      <p:sp>
        <p:nvSpPr>
          <p:cNvPr id="92" name="01"/>
          <p:cNvSpPr txBox="1">
            <a:spLocks noGrp="1"/>
          </p:cNvSpPr>
          <p:nvPr>
            <p:ph type="sldNum" sz="quarter" idx="2"/>
          </p:nvPr>
        </p:nvSpPr>
        <p:spPr>
          <a:xfrm>
            <a:off x="11727656" y="6152554"/>
            <a:ext cx="274321" cy="222082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486963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1_Picture with Ca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Franklin Gothic"/>
              <a:buNone/>
              <a:defRPr sz="2400" b="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>
            <a:spLocks noGrp="1"/>
          </p:cNvSpPr>
          <p:nvPr>
            <p:ph type="pic" idx="2"/>
          </p:nvPr>
        </p:nvSpPr>
        <p:spPr>
          <a:xfrm>
            <a:off x="447817" y="641350"/>
            <a:ext cx="11290859" cy="365124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Google Shape;75;p36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99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6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2108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056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48F135-C699-3E07-D700-AC2A8FB00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864100"/>
            <a:ext cx="12192000" cy="1219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F3EC0C-B664-18E2-FAA6-07592A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02710"/>
            <a:ext cx="7983068" cy="974347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3600" dirty="0"/>
              <a:t>K-Nearest Neighbors</a:t>
            </a:r>
          </a:p>
        </p:txBody>
      </p:sp>
    </p:spTree>
    <p:extLst>
      <p:ext uri="{BB962C8B-B14F-4D97-AF65-F5344CB8AC3E}">
        <p14:creationId xmlns:p14="http://schemas.microsoft.com/office/powerpoint/2010/main" val="12842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Instance-based vs Model-base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Instance-based vs Model-based</a:t>
            </a:r>
          </a:p>
        </p:txBody>
      </p:sp>
      <p:sp>
        <p:nvSpPr>
          <p:cNvPr id="222" name="Instance-Based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Instance-Based</a:t>
            </a:r>
          </a:p>
          <a:p>
            <a:pPr lvl="1"/>
            <a:r>
              <a:rPr lang="en-US" dirty="0"/>
              <a:t>Stores the training data and defers computation to prediction time</a:t>
            </a:r>
          </a:p>
          <a:p>
            <a:pPr lvl="1"/>
            <a:r>
              <a:rPr lang="en-US" dirty="0"/>
              <a:t>No parameters are learned; the data itself is the model</a:t>
            </a:r>
          </a:p>
          <a:p>
            <a:endParaRPr lang="en-US" dirty="0"/>
          </a:p>
          <a:p>
            <a:r>
              <a:rPr lang="en-US" dirty="0"/>
              <a:t>Model-Based</a:t>
            </a:r>
          </a:p>
          <a:p>
            <a:pPr lvl="1"/>
            <a:r>
              <a:rPr lang="en-US" dirty="0"/>
              <a:t>Learns a fixed set of parameters during training, then discards the data</a:t>
            </a:r>
          </a:p>
          <a:p>
            <a:pPr lvl="1"/>
            <a:r>
              <a:rPr lang="en-US" dirty="0"/>
              <a:t>Prediction uses only the fitted parameters</a:t>
            </a:r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K-Nearest Neighb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How KNN Works</a:t>
            </a:r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KNN or k-NN or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What Is KNN?</a:t>
            </a:r>
            <a:endParaRPr dirty="0"/>
          </a:p>
        </p:txBody>
      </p:sp>
      <p:sp>
        <p:nvSpPr>
          <p:cNvPr id="229" name="K Nearest Neighbors is a supervised instance-based ML model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A supervised, instance-based model for both regression and classification</a:t>
            </a:r>
          </a:p>
          <a:p>
            <a:r>
              <a:rPr lang="en-US"/>
              <a:t>Fast to fit and predict on moderate-sized data</a:t>
            </a:r>
          </a:p>
          <a:p>
            <a:r>
              <a:rPr lang="en-US"/>
              <a:t>Frequently a strong baseline despite its simplicity</a:t>
            </a:r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REDICTION ALGORITHM"/>
          <p:cNvSpPr txBox="1">
            <a:spLocks noGrp="1"/>
          </p:cNvSpPr>
          <p:nvPr>
            <p:ph type="body" idx="21"/>
          </p:nvPr>
        </p:nvSpPr>
        <p:spPr>
          <a:xfrm>
            <a:off x="654843" y="1490950"/>
            <a:ext cx="10882313" cy="47327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PREDICTION ALGORITHM</a:t>
            </a:r>
          </a:p>
        </p:txBody>
      </p:sp>
      <p:sp>
        <p:nvSpPr>
          <p:cNvPr id="240" name="K-NN Metho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K-NN Method</a:t>
            </a:r>
          </a:p>
        </p:txBody>
      </p:sp>
      <p:sp>
        <p:nvSpPr>
          <p:cNvPr id="241" name="Calculate the distance from the value to be predicted to all the points in the training data…"/>
          <p:cNvSpPr txBox="1"/>
          <p:nvPr/>
        </p:nvSpPr>
        <p:spPr>
          <a:xfrm>
            <a:off x="1109122" y="2035224"/>
            <a:ext cx="8161734" cy="496050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>
            <a:normAutofit/>
          </a:bodyPr>
          <a:lstStyle/>
          <a:p>
            <a:pPr marL="223234" indent="-223234">
              <a:buSzPct val="100000"/>
              <a:buChar char="•"/>
            </a:pPr>
            <a:r>
              <a:rPr lang="cy-GB" sz="2400"/>
              <a:t>Given a query point x, compute the distance d(x, xᵢ) to every training point xᵢ, i = 1, …, n</a:t>
            </a:r>
          </a:p>
          <a:p>
            <a:pPr marL="223234" indent="-223234">
              <a:buSzPct val="100000"/>
              <a:buChar char="•"/>
            </a:pPr>
            <a:r>
              <a:rPr lang="cy-GB" sz="2400"/>
              <a:t>How should the distance d(·, ·) be defined?</a:t>
            </a:r>
          </a:p>
          <a:p>
            <a:pPr marL="223234" indent="-223234">
              <a:buSzPct val="100000"/>
              <a:buChar char="•"/>
            </a:pPr>
            <a:r>
              <a:rPr lang="cy-GB" sz="2400"/>
              <a:t>Let Nₖ(x) denote the indices of the k training points nearest to x</a:t>
            </a:r>
          </a:p>
          <a:p>
            <a:pPr marL="223234" indent="-223234">
              <a:buSzPct val="100000"/>
              <a:buChar char="•"/>
            </a:pPr>
            <a:r>
              <a:rPr lang="cy-GB" sz="2400"/>
              <a:t>Predict the target value ŷ for the query point x:</a:t>
            </a:r>
          </a:p>
          <a:p>
            <a:pPr marL="223234" indent="-223234">
              <a:buSzPct val="100000"/>
              <a:buChar char="•"/>
            </a:pPr>
            <a:r>
              <a:rPr lang="cy-GB" sz="2400"/>
              <a:t>Regression: ŷ = (1/k) </a:t>
            </a:r>
            <a:r>
              <a:rPr lang="el-GR" sz="2400"/>
              <a:t>Σ </a:t>
            </a:r>
            <a:r>
              <a:rPr lang="cy-GB" sz="2400"/>
              <a:t>yᵢ, for i ∈ Nₖ(x)</a:t>
            </a:r>
          </a:p>
          <a:p>
            <a:pPr marL="223234" indent="-223234">
              <a:buSzPct val="100000"/>
              <a:buChar char="•"/>
            </a:pPr>
            <a:r>
              <a:rPr lang="cy-GB" sz="2400"/>
              <a:t>Classification: ŷ = the majority class among { yᵢ : i ∈ Nₖ(x) }</a:t>
            </a:r>
          </a:p>
          <a:p>
            <a:pPr marL="223234" indent="-223234">
              <a:buSzPct val="100000"/>
              <a:buChar char="•"/>
            </a:pPr>
            <a:r>
              <a:rPr lang="cy-GB" sz="2400"/>
              <a:t>Both are the uniform-weight case; see weighted k-NN</a:t>
            </a:r>
            <a:endParaRPr sz="240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AA54854-DB2C-E097-F980-5A857082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9" y="914400"/>
            <a:ext cx="3453844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>
                <a:solidFill>
                  <a:schemeClr val="tx1"/>
                </a:solidFill>
              </a:rPr>
              <a:t>Choice of Distance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7C10D4C-8DED-200E-3237-3345F3F2A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03BAD1-3670-F291-AE11-34A8E55D2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62022" y="1014984"/>
            <a:ext cx="6614593" cy="13624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>
              <a:buFont typeface="Arial" panose="020B0604020202020204" pitchFamily="34" charset="0"/>
              <a:buChar char="•"/>
            </a:pPr>
            <a:r>
              <a:rPr lang="en-US" dirty="0"/>
              <a:t>Euclidean</a:t>
            </a:r>
            <a:r>
              <a:rPr lang="en-US"/>
              <a:t>: the default choice for continuous, well-scaled features</a:t>
            </a:r>
            <a:endParaRPr lang="en-US" dirty="0"/>
          </a:p>
          <a:p>
            <a:pPr marL="514350">
              <a:buFont typeface="Arial" panose="020B0604020202020204" pitchFamily="34" charset="0"/>
              <a:buChar char="•"/>
            </a:pPr>
            <a:r>
              <a:rPr lang="en-US" dirty="0"/>
              <a:t>Cosine</a:t>
            </a:r>
            <a:r>
              <a:rPr lang="en-US"/>
              <a:t>: preferred</a:t>
            </a:r>
            <a:r>
              <a:rPr lang="en-US" dirty="0"/>
              <a:t> for high-dimensional</a:t>
            </a:r>
            <a:r>
              <a:rPr lang="en-US"/>
              <a:t> or sparse</a:t>
            </a:r>
            <a:r>
              <a:rPr lang="en-US" dirty="0"/>
              <a:t> data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8F7F80F-9EDD-0EEA-B6D7-E116EBA4F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2497143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Placeholder 12" descr="A graph on a white sheet&#10;&#10;AI-generated content may be incorrect.">
            <a:extLst>
              <a:ext uri="{FF2B5EF4-FFF2-40B4-BE49-F238E27FC236}">
                <a16:creationId xmlns:a16="http://schemas.microsoft.com/office/drawing/2014/main" id="{198AC861-783A-A7C0-7542-307A0E64FF59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b="729"/>
          <a:stretch>
            <a:fillRect/>
          </a:stretch>
        </p:blipFill>
        <p:spPr bwMode="auto">
          <a:xfrm>
            <a:off x="20" y="2863970"/>
            <a:ext cx="12191980" cy="3994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C7F95-EB0F-942E-26DE-843CC25E07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1400">
                <a:solidFill>
                  <a:srgbClr val="FFFFFF"/>
                </a:solidFill>
              </a:rPr>
              <a:pPr lvl="0" indent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6</a:t>
            </a:fld>
            <a:endParaRPr lang="en-US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700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k-nn regres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k-nn regression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Visualization of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Visualization of KNN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7" name="Text"/>
              <p:cNvSpPr txBox="1"/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247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blipFill>
                <a:blip r:embed="rId2"/>
                <a:stretch>
                  <a:fillRect l="-8000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8" name="Text"/>
              <p:cNvSpPr txBox="1"/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24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blipFill>
                <a:blip r:embed="rId3"/>
                <a:stretch>
                  <a:fillRect l="-9589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9" name="4"/>
          <p:cNvSpPr/>
          <p:nvPr/>
        </p:nvSpPr>
        <p:spPr>
          <a:xfrm>
            <a:off x="4409198" y="4884429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50" name="2"/>
          <p:cNvSpPr/>
          <p:nvPr/>
        </p:nvSpPr>
        <p:spPr>
          <a:xfrm>
            <a:off x="5444958" y="3743672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2</a:t>
            </a:r>
          </a:p>
        </p:txBody>
      </p:sp>
      <p:sp>
        <p:nvSpPr>
          <p:cNvPr id="251" name="4"/>
          <p:cNvSpPr/>
          <p:nvPr/>
        </p:nvSpPr>
        <p:spPr>
          <a:xfrm>
            <a:off x="4592619" y="4140483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52" name="6"/>
          <p:cNvSpPr/>
          <p:nvPr/>
        </p:nvSpPr>
        <p:spPr>
          <a:xfrm>
            <a:off x="6455647" y="3419218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6</a:t>
            </a:r>
          </a:p>
        </p:txBody>
      </p:sp>
      <p:sp>
        <p:nvSpPr>
          <p:cNvPr id="253" name="6"/>
          <p:cNvSpPr/>
          <p:nvPr/>
        </p:nvSpPr>
        <p:spPr>
          <a:xfrm>
            <a:off x="4998474" y="3232547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6</a:t>
            </a:r>
          </a:p>
        </p:txBody>
      </p:sp>
      <p:sp>
        <p:nvSpPr>
          <p:cNvPr id="254" name="3"/>
          <p:cNvSpPr/>
          <p:nvPr/>
        </p:nvSpPr>
        <p:spPr>
          <a:xfrm>
            <a:off x="5087771" y="4326973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3</a:t>
            </a:r>
          </a:p>
        </p:txBody>
      </p:sp>
      <p:sp>
        <p:nvSpPr>
          <p:cNvPr id="255" name="4"/>
          <p:cNvSpPr/>
          <p:nvPr/>
        </p:nvSpPr>
        <p:spPr>
          <a:xfrm>
            <a:off x="5725338" y="4501828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56" name="9"/>
          <p:cNvSpPr/>
          <p:nvPr/>
        </p:nvSpPr>
        <p:spPr>
          <a:xfrm>
            <a:off x="7236920" y="2515774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9</a:t>
            </a:r>
          </a:p>
        </p:txBody>
      </p:sp>
      <p:sp>
        <p:nvSpPr>
          <p:cNvPr id="257" name="5"/>
          <p:cNvSpPr/>
          <p:nvPr/>
        </p:nvSpPr>
        <p:spPr>
          <a:xfrm>
            <a:off x="5725338" y="3232547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5</a:t>
            </a:r>
          </a:p>
        </p:txBody>
      </p:sp>
      <p:sp>
        <p:nvSpPr>
          <p:cNvPr id="258" name="4"/>
          <p:cNvSpPr/>
          <p:nvPr/>
        </p:nvSpPr>
        <p:spPr>
          <a:xfrm>
            <a:off x="5444958" y="2641905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59" name="7"/>
          <p:cNvSpPr/>
          <p:nvPr/>
        </p:nvSpPr>
        <p:spPr>
          <a:xfrm>
            <a:off x="6455647" y="2720353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7</a:t>
            </a:r>
          </a:p>
        </p:txBody>
      </p:sp>
      <p:sp>
        <p:nvSpPr>
          <p:cNvPr id="260" name="8"/>
          <p:cNvSpPr/>
          <p:nvPr/>
        </p:nvSpPr>
        <p:spPr>
          <a:xfrm>
            <a:off x="6174119" y="2140356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8</a:t>
            </a:r>
          </a:p>
        </p:txBody>
      </p:sp>
      <p:sp>
        <p:nvSpPr>
          <p:cNvPr id="261" name="Rectangle"/>
          <p:cNvSpPr/>
          <p:nvPr/>
        </p:nvSpPr>
        <p:spPr>
          <a:xfrm>
            <a:off x="4025531" y="1890325"/>
            <a:ext cx="4140938" cy="366921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580409">
              <a:defRPr sz="3200">
                <a:solidFill>
                  <a:srgbClr val="FFFFFF"/>
                </a:solidFill>
              </a:defRPr>
            </a:pPr>
            <a:endParaRPr sz="22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2" name="Values of"/>
              <p:cNvSpPr txBox="1"/>
              <p:nvPr/>
            </p:nvSpPr>
            <p:spPr>
              <a:xfrm>
                <a:off x="8005390" y="1286216"/>
                <a:ext cx="933397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266"/>
                  <a:t>Values of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262" name="Values o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390" y="1286216"/>
                <a:ext cx="933397" cy="440057"/>
              </a:xfrm>
              <a:prstGeom prst="rect">
                <a:avLst/>
              </a:prstGeom>
              <a:blipFill>
                <a:blip r:embed="rId4"/>
                <a:stretch>
                  <a:fillRect l="-6536" r="-6536" b="-1527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3" name="Line"/>
          <p:cNvSpPr/>
          <p:nvPr/>
        </p:nvSpPr>
        <p:spPr>
          <a:xfrm flipH="1">
            <a:off x="7628321" y="1693878"/>
            <a:ext cx="925444" cy="707508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264" name="Training data"/>
          <p:cNvSpPr txBox="1"/>
          <p:nvPr/>
        </p:nvSpPr>
        <p:spPr>
          <a:xfrm>
            <a:off x="5543725" y="1564283"/>
            <a:ext cx="100508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Training data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Visualization of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Visualization of KNN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8" name="Text"/>
              <p:cNvSpPr txBox="1"/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26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blipFill>
                <a:blip r:embed="rId2"/>
                <a:stretch>
                  <a:fillRect l="-8000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9" name="Text"/>
              <p:cNvSpPr txBox="1"/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269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blipFill>
                <a:blip r:embed="rId3"/>
                <a:stretch>
                  <a:fillRect l="-9589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0" name="2"/>
          <p:cNvSpPr/>
          <p:nvPr/>
        </p:nvSpPr>
        <p:spPr>
          <a:xfrm>
            <a:off x="4409198" y="4884429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2</a:t>
            </a:r>
          </a:p>
        </p:txBody>
      </p:sp>
      <p:sp>
        <p:nvSpPr>
          <p:cNvPr id="271" name="4"/>
          <p:cNvSpPr/>
          <p:nvPr/>
        </p:nvSpPr>
        <p:spPr>
          <a:xfrm>
            <a:off x="5444958" y="3743672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72" name="4"/>
          <p:cNvSpPr/>
          <p:nvPr/>
        </p:nvSpPr>
        <p:spPr>
          <a:xfrm>
            <a:off x="4592619" y="4140483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73" name="6"/>
          <p:cNvSpPr/>
          <p:nvPr/>
        </p:nvSpPr>
        <p:spPr>
          <a:xfrm>
            <a:off x="6455647" y="3419218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6</a:t>
            </a:r>
          </a:p>
        </p:txBody>
      </p:sp>
      <p:sp>
        <p:nvSpPr>
          <p:cNvPr id="274" name="6"/>
          <p:cNvSpPr/>
          <p:nvPr/>
        </p:nvSpPr>
        <p:spPr>
          <a:xfrm>
            <a:off x="4998474" y="3232547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6</a:t>
            </a:r>
          </a:p>
        </p:txBody>
      </p:sp>
      <p:sp>
        <p:nvSpPr>
          <p:cNvPr id="275" name="3"/>
          <p:cNvSpPr/>
          <p:nvPr/>
        </p:nvSpPr>
        <p:spPr>
          <a:xfrm>
            <a:off x="5087771" y="4326973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3</a:t>
            </a:r>
          </a:p>
        </p:txBody>
      </p:sp>
      <p:sp>
        <p:nvSpPr>
          <p:cNvPr id="276" name="4"/>
          <p:cNvSpPr/>
          <p:nvPr/>
        </p:nvSpPr>
        <p:spPr>
          <a:xfrm>
            <a:off x="5725338" y="4501828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77" name="9"/>
          <p:cNvSpPr/>
          <p:nvPr/>
        </p:nvSpPr>
        <p:spPr>
          <a:xfrm>
            <a:off x="7236920" y="2515774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9</a:t>
            </a:r>
          </a:p>
        </p:txBody>
      </p:sp>
      <p:sp>
        <p:nvSpPr>
          <p:cNvPr id="278" name="5"/>
          <p:cNvSpPr/>
          <p:nvPr/>
        </p:nvSpPr>
        <p:spPr>
          <a:xfrm>
            <a:off x="5725338" y="3232547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5</a:t>
            </a:r>
          </a:p>
        </p:txBody>
      </p:sp>
      <p:sp>
        <p:nvSpPr>
          <p:cNvPr id="279" name="4"/>
          <p:cNvSpPr/>
          <p:nvPr/>
        </p:nvSpPr>
        <p:spPr>
          <a:xfrm>
            <a:off x="5444958" y="2641905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80" name="7"/>
          <p:cNvSpPr/>
          <p:nvPr/>
        </p:nvSpPr>
        <p:spPr>
          <a:xfrm>
            <a:off x="6455647" y="2720353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7</a:t>
            </a:r>
          </a:p>
        </p:txBody>
      </p:sp>
      <p:sp>
        <p:nvSpPr>
          <p:cNvPr id="281" name="8"/>
          <p:cNvSpPr/>
          <p:nvPr/>
        </p:nvSpPr>
        <p:spPr>
          <a:xfrm>
            <a:off x="6174119" y="2140356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8</a:t>
            </a:r>
          </a:p>
        </p:txBody>
      </p:sp>
      <p:sp>
        <p:nvSpPr>
          <p:cNvPr id="282" name="Rectangle"/>
          <p:cNvSpPr/>
          <p:nvPr/>
        </p:nvSpPr>
        <p:spPr>
          <a:xfrm>
            <a:off x="4025531" y="1890325"/>
            <a:ext cx="4140938" cy="366921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580409">
              <a:defRPr sz="3200">
                <a:solidFill>
                  <a:srgbClr val="FFFFFF"/>
                </a:solidFill>
              </a:defRPr>
            </a:pPr>
            <a:endParaRPr sz="22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3" name="Values of"/>
              <p:cNvSpPr txBox="1"/>
              <p:nvPr/>
            </p:nvSpPr>
            <p:spPr>
              <a:xfrm>
                <a:off x="8005390" y="1286216"/>
                <a:ext cx="933397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266"/>
                  <a:t>Values of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283" name="Values o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390" y="1286216"/>
                <a:ext cx="933397" cy="440057"/>
              </a:xfrm>
              <a:prstGeom prst="rect">
                <a:avLst/>
              </a:prstGeom>
              <a:blipFill>
                <a:blip r:embed="rId4"/>
                <a:stretch>
                  <a:fillRect l="-6536" r="-6536" b="-1527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4" name="Line"/>
          <p:cNvSpPr/>
          <p:nvPr/>
        </p:nvSpPr>
        <p:spPr>
          <a:xfrm flipH="1">
            <a:off x="7628321" y="1693878"/>
            <a:ext cx="925444" cy="707508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285" name="Training data"/>
          <p:cNvSpPr txBox="1"/>
          <p:nvPr/>
        </p:nvSpPr>
        <p:spPr>
          <a:xfrm>
            <a:off x="5671577" y="1538341"/>
            <a:ext cx="100508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Training data</a:t>
            </a:r>
          </a:p>
        </p:txBody>
      </p:sp>
      <p:sp>
        <p:nvSpPr>
          <p:cNvPr id="286" name="?"/>
          <p:cNvSpPr/>
          <p:nvPr/>
        </p:nvSpPr>
        <p:spPr>
          <a:xfrm>
            <a:off x="5278712" y="3346027"/>
            <a:ext cx="399268" cy="392907"/>
          </a:xfrm>
          <a:prstGeom prst="ellipse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?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Visualization of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Visualization of KNN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0" name="Text"/>
              <p:cNvSpPr txBox="1"/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290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blipFill>
                <a:blip r:embed="rId2"/>
                <a:stretch>
                  <a:fillRect l="-8000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1" name="Text"/>
              <p:cNvSpPr txBox="1"/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291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blipFill>
                <a:blip r:embed="rId3"/>
                <a:stretch>
                  <a:fillRect l="-9589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2" name="2"/>
          <p:cNvSpPr/>
          <p:nvPr/>
        </p:nvSpPr>
        <p:spPr>
          <a:xfrm>
            <a:off x="4409198" y="4884429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2</a:t>
            </a:r>
          </a:p>
        </p:txBody>
      </p:sp>
      <p:sp>
        <p:nvSpPr>
          <p:cNvPr id="293" name="4"/>
          <p:cNvSpPr/>
          <p:nvPr/>
        </p:nvSpPr>
        <p:spPr>
          <a:xfrm>
            <a:off x="5444958" y="3743672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94" name="4"/>
          <p:cNvSpPr/>
          <p:nvPr/>
        </p:nvSpPr>
        <p:spPr>
          <a:xfrm>
            <a:off x="4592619" y="4140483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95" name="6"/>
          <p:cNvSpPr/>
          <p:nvPr/>
        </p:nvSpPr>
        <p:spPr>
          <a:xfrm>
            <a:off x="6455647" y="3419218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6</a:t>
            </a:r>
          </a:p>
        </p:txBody>
      </p:sp>
      <p:sp>
        <p:nvSpPr>
          <p:cNvPr id="296" name="6"/>
          <p:cNvSpPr/>
          <p:nvPr/>
        </p:nvSpPr>
        <p:spPr>
          <a:xfrm>
            <a:off x="4998474" y="3232547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6</a:t>
            </a:r>
          </a:p>
        </p:txBody>
      </p:sp>
      <p:sp>
        <p:nvSpPr>
          <p:cNvPr id="297" name="3"/>
          <p:cNvSpPr/>
          <p:nvPr/>
        </p:nvSpPr>
        <p:spPr>
          <a:xfrm>
            <a:off x="5087771" y="4326973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3</a:t>
            </a:r>
          </a:p>
        </p:txBody>
      </p:sp>
      <p:sp>
        <p:nvSpPr>
          <p:cNvPr id="298" name="4"/>
          <p:cNvSpPr/>
          <p:nvPr/>
        </p:nvSpPr>
        <p:spPr>
          <a:xfrm>
            <a:off x="5725338" y="4501828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299" name="9"/>
          <p:cNvSpPr/>
          <p:nvPr/>
        </p:nvSpPr>
        <p:spPr>
          <a:xfrm>
            <a:off x="7236920" y="2515774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9</a:t>
            </a:r>
          </a:p>
        </p:txBody>
      </p:sp>
      <p:sp>
        <p:nvSpPr>
          <p:cNvPr id="300" name="5"/>
          <p:cNvSpPr/>
          <p:nvPr/>
        </p:nvSpPr>
        <p:spPr>
          <a:xfrm>
            <a:off x="5725338" y="3232547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5</a:t>
            </a:r>
          </a:p>
        </p:txBody>
      </p:sp>
      <p:sp>
        <p:nvSpPr>
          <p:cNvPr id="301" name="4"/>
          <p:cNvSpPr/>
          <p:nvPr/>
        </p:nvSpPr>
        <p:spPr>
          <a:xfrm>
            <a:off x="5444958" y="2641905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302" name="7"/>
          <p:cNvSpPr/>
          <p:nvPr/>
        </p:nvSpPr>
        <p:spPr>
          <a:xfrm>
            <a:off x="6455647" y="2720353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7</a:t>
            </a:r>
          </a:p>
        </p:txBody>
      </p:sp>
      <p:sp>
        <p:nvSpPr>
          <p:cNvPr id="303" name="8"/>
          <p:cNvSpPr/>
          <p:nvPr/>
        </p:nvSpPr>
        <p:spPr>
          <a:xfrm>
            <a:off x="6174119" y="2140356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8</a:t>
            </a:r>
          </a:p>
        </p:txBody>
      </p:sp>
      <p:sp>
        <p:nvSpPr>
          <p:cNvPr id="304" name="Rectangle"/>
          <p:cNvSpPr/>
          <p:nvPr/>
        </p:nvSpPr>
        <p:spPr>
          <a:xfrm>
            <a:off x="4025531" y="1890325"/>
            <a:ext cx="4140938" cy="366921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580409">
              <a:defRPr sz="3200">
                <a:solidFill>
                  <a:srgbClr val="FFFFFF"/>
                </a:solidFill>
              </a:defRPr>
            </a:pPr>
            <a:endParaRPr sz="22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5" name="Values of"/>
              <p:cNvSpPr txBox="1"/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266"/>
                  <a:t>Values of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305" name="Values o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blipFill>
                <a:blip r:embed="rId4"/>
                <a:stretch>
                  <a:fillRect l="-6494" r="-5844" b="-1527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6" name="Line"/>
          <p:cNvSpPr/>
          <p:nvPr/>
        </p:nvSpPr>
        <p:spPr>
          <a:xfrm flipH="1">
            <a:off x="7628321" y="1693878"/>
            <a:ext cx="925444" cy="707508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307" name="Training data"/>
          <p:cNvSpPr txBox="1"/>
          <p:nvPr/>
        </p:nvSpPr>
        <p:spPr>
          <a:xfrm>
            <a:off x="5422430" y="1542658"/>
            <a:ext cx="100508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Training data</a:t>
            </a:r>
          </a:p>
        </p:txBody>
      </p:sp>
      <p:sp>
        <p:nvSpPr>
          <p:cNvPr id="308" name="?"/>
          <p:cNvSpPr/>
          <p:nvPr/>
        </p:nvSpPr>
        <p:spPr>
          <a:xfrm>
            <a:off x="5278712" y="3346027"/>
            <a:ext cx="399268" cy="392907"/>
          </a:xfrm>
          <a:prstGeom prst="ellipse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9" name="Text"/>
              <p:cNvSpPr txBox="1"/>
              <p:nvPr/>
            </p:nvSpPr>
            <p:spPr>
              <a:xfrm>
                <a:off x="8846529" y="2866058"/>
                <a:ext cx="899029" cy="1125886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sz="1266"/>
              </a:p>
              <a:p>
                <a:pPr/>
                <a:br>
                  <a:rPr sz="1266"/>
                </a:br>
                <a14:m>
                  <m:oMathPara xmlns:m="http://schemas.openxmlformats.org/officeDocument/2006/math">
                    <m:oMath>
                      <m:limUpp>
                        <m:limUpp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lim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̂</m:t>
                          </m:r>
                        </m:lim>
                      </m:limUpp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309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6529" y="2866058"/>
                <a:ext cx="899029" cy="1125886"/>
              </a:xfrm>
              <a:prstGeom prst="rect">
                <a:avLst/>
              </a:prstGeom>
              <a:blipFill>
                <a:blip r:embed="rId5"/>
                <a:stretch>
                  <a:fillRect l="-810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Visualization of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Visualization of KNN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3" name="Text"/>
              <p:cNvSpPr txBox="1"/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313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blipFill>
                <a:blip r:embed="rId2"/>
                <a:stretch>
                  <a:fillRect l="-8000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4" name="Text"/>
              <p:cNvSpPr txBox="1"/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314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blipFill>
                <a:blip r:embed="rId3"/>
                <a:stretch>
                  <a:fillRect l="-9589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5" name="2"/>
          <p:cNvSpPr/>
          <p:nvPr/>
        </p:nvSpPr>
        <p:spPr>
          <a:xfrm>
            <a:off x="4409198" y="4884429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2</a:t>
            </a:r>
          </a:p>
        </p:txBody>
      </p:sp>
      <p:sp>
        <p:nvSpPr>
          <p:cNvPr id="316" name="4"/>
          <p:cNvSpPr/>
          <p:nvPr/>
        </p:nvSpPr>
        <p:spPr>
          <a:xfrm>
            <a:off x="5444958" y="3743672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317" name="4"/>
          <p:cNvSpPr/>
          <p:nvPr/>
        </p:nvSpPr>
        <p:spPr>
          <a:xfrm>
            <a:off x="4592619" y="4140483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318" name="6"/>
          <p:cNvSpPr/>
          <p:nvPr/>
        </p:nvSpPr>
        <p:spPr>
          <a:xfrm>
            <a:off x="6455647" y="3419218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6</a:t>
            </a:r>
          </a:p>
        </p:txBody>
      </p:sp>
      <p:sp>
        <p:nvSpPr>
          <p:cNvPr id="319" name="6"/>
          <p:cNvSpPr/>
          <p:nvPr/>
        </p:nvSpPr>
        <p:spPr>
          <a:xfrm>
            <a:off x="4998474" y="3232547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6</a:t>
            </a:r>
          </a:p>
        </p:txBody>
      </p:sp>
      <p:sp>
        <p:nvSpPr>
          <p:cNvPr id="320" name="3"/>
          <p:cNvSpPr/>
          <p:nvPr/>
        </p:nvSpPr>
        <p:spPr>
          <a:xfrm>
            <a:off x="5087771" y="4326973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3</a:t>
            </a:r>
          </a:p>
        </p:txBody>
      </p:sp>
      <p:sp>
        <p:nvSpPr>
          <p:cNvPr id="321" name="4"/>
          <p:cNvSpPr/>
          <p:nvPr/>
        </p:nvSpPr>
        <p:spPr>
          <a:xfrm>
            <a:off x="5725338" y="4501828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322" name="9"/>
          <p:cNvSpPr/>
          <p:nvPr/>
        </p:nvSpPr>
        <p:spPr>
          <a:xfrm>
            <a:off x="7236920" y="2515774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9</a:t>
            </a:r>
          </a:p>
        </p:txBody>
      </p:sp>
      <p:sp>
        <p:nvSpPr>
          <p:cNvPr id="323" name="5"/>
          <p:cNvSpPr/>
          <p:nvPr/>
        </p:nvSpPr>
        <p:spPr>
          <a:xfrm>
            <a:off x="5725338" y="3232547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5</a:t>
            </a:r>
          </a:p>
        </p:txBody>
      </p:sp>
      <p:sp>
        <p:nvSpPr>
          <p:cNvPr id="324" name="4"/>
          <p:cNvSpPr/>
          <p:nvPr/>
        </p:nvSpPr>
        <p:spPr>
          <a:xfrm>
            <a:off x="5444958" y="2641905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325" name="7"/>
          <p:cNvSpPr/>
          <p:nvPr/>
        </p:nvSpPr>
        <p:spPr>
          <a:xfrm>
            <a:off x="6455647" y="2720353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7</a:t>
            </a:r>
          </a:p>
        </p:txBody>
      </p:sp>
      <p:sp>
        <p:nvSpPr>
          <p:cNvPr id="326" name="8"/>
          <p:cNvSpPr/>
          <p:nvPr/>
        </p:nvSpPr>
        <p:spPr>
          <a:xfrm>
            <a:off x="6174119" y="2140356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8</a:t>
            </a:r>
          </a:p>
        </p:txBody>
      </p:sp>
      <p:sp>
        <p:nvSpPr>
          <p:cNvPr id="327" name="Rectangle"/>
          <p:cNvSpPr/>
          <p:nvPr/>
        </p:nvSpPr>
        <p:spPr>
          <a:xfrm>
            <a:off x="4025531" y="1890325"/>
            <a:ext cx="4140938" cy="366921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580409">
              <a:defRPr sz="3200">
                <a:solidFill>
                  <a:srgbClr val="FFFFFF"/>
                </a:solidFill>
              </a:defRPr>
            </a:pPr>
            <a:endParaRPr sz="22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8" name="Values of"/>
              <p:cNvSpPr txBox="1"/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266"/>
                  <a:t>Values of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328" name="Values o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blipFill>
                <a:blip r:embed="rId4"/>
                <a:stretch>
                  <a:fillRect l="-6494" r="-5844" b="-1527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Line"/>
          <p:cNvSpPr/>
          <p:nvPr/>
        </p:nvSpPr>
        <p:spPr>
          <a:xfrm flipH="1">
            <a:off x="7628321" y="1693878"/>
            <a:ext cx="925444" cy="707508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330" name="Training data"/>
          <p:cNvSpPr txBox="1"/>
          <p:nvPr/>
        </p:nvSpPr>
        <p:spPr>
          <a:xfrm>
            <a:off x="5487039" y="1566464"/>
            <a:ext cx="100508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Training data</a:t>
            </a:r>
          </a:p>
        </p:txBody>
      </p:sp>
      <p:sp>
        <p:nvSpPr>
          <p:cNvPr id="331" name="?"/>
          <p:cNvSpPr/>
          <p:nvPr/>
        </p:nvSpPr>
        <p:spPr>
          <a:xfrm>
            <a:off x="5278712" y="3346027"/>
            <a:ext cx="399268" cy="392907"/>
          </a:xfrm>
          <a:prstGeom prst="ellipse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2" name="Text"/>
              <p:cNvSpPr txBox="1"/>
              <p:nvPr/>
            </p:nvSpPr>
            <p:spPr>
              <a:xfrm>
                <a:off x="8290791" y="3046381"/>
                <a:ext cx="2537041" cy="1138581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br>
                  <a:rPr sz="1266"/>
                </a:br>
                <a:endParaRPr sz="1266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limUpp>
                        <m:limUpp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lim>
                          <m:r>
                            <a:rPr sz="2391" i="1" smtClean="0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̂</m:t>
                          </m:r>
                        </m:lim>
                      </m:limUpp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4+5+6</m:t>
                          </m:r>
                        </m:num>
                        <m:den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332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791" y="3046381"/>
                <a:ext cx="2537041" cy="11385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Visualization of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Visualization of KNN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6" name="Text"/>
              <p:cNvSpPr txBox="1"/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336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blipFill>
                <a:blip r:embed="rId2"/>
                <a:stretch>
                  <a:fillRect l="-8000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7" name="Text"/>
              <p:cNvSpPr txBox="1"/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337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blipFill>
                <a:blip r:embed="rId3"/>
                <a:stretch>
                  <a:fillRect l="-9589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8" name="2"/>
          <p:cNvSpPr/>
          <p:nvPr/>
        </p:nvSpPr>
        <p:spPr>
          <a:xfrm>
            <a:off x="4409198" y="4884429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2</a:t>
            </a:r>
          </a:p>
        </p:txBody>
      </p:sp>
      <p:sp>
        <p:nvSpPr>
          <p:cNvPr id="339" name="4"/>
          <p:cNvSpPr/>
          <p:nvPr/>
        </p:nvSpPr>
        <p:spPr>
          <a:xfrm>
            <a:off x="5444958" y="3743672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340" name="4"/>
          <p:cNvSpPr/>
          <p:nvPr/>
        </p:nvSpPr>
        <p:spPr>
          <a:xfrm>
            <a:off x="4592619" y="4140483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341" name="6"/>
          <p:cNvSpPr/>
          <p:nvPr/>
        </p:nvSpPr>
        <p:spPr>
          <a:xfrm>
            <a:off x="6455647" y="3419218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6</a:t>
            </a:r>
          </a:p>
        </p:txBody>
      </p:sp>
      <p:sp>
        <p:nvSpPr>
          <p:cNvPr id="342" name="6"/>
          <p:cNvSpPr/>
          <p:nvPr/>
        </p:nvSpPr>
        <p:spPr>
          <a:xfrm>
            <a:off x="4998474" y="3232547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6</a:t>
            </a:r>
          </a:p>
        </p:txBody>
      </p:sp>
      <p:sp>
        <p:nvSpPr>
          <p:cNvPr id="343" name="3"/>
          <p:cNvSpPr/>
          <p:nvPr/>
        </p:nvSpPr>
        <p:spPr>
          <a:xfrm>
            <a:off x="5087771" y="4326973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3</a:t>
            </a:r>
          </a:p>
        </p:txBody>
      </p:sp>
      <p:sp>
        <p:nvSpPr>
          <p:cNvPr id="344" name="4"/>
          <p:cNvSpPr/>
          <p:nvPr/>
        </p:nvSpPr>
        <p:spPr>
          <a:xfrm>
            <a:off x="5725338" y="4501828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345" name="9"/>
          <p:cNvSpPr/>
          <p:nvPr/>
        </p:nvSpPr>
        <p:spPr>
          <a:xfrm>
            <a:off x="7236920" y="2515774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9</a:t>
            </a:r>
          </a:p>
        </p:txBody>
      </p:sp>
      <p:sp>
        <p:nvSpPr>
          <p:cNvPr id="346" name="5"/>
          <p:cNvSpPr/>
          <p:nvPr/>
        </p:nvSpPr>
        <p:spPr>
          <a:xfrm>
            <a:off x="5725338" y="3232547"/>
            <a:ext cx="399269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5</a:t>
            </a:r>
          </a:p>
        </p:txBody>
      </p:sp>
      <p:sp>
        <p:nvSpPr>
          <p:cNvPr id="347" name="4"/>
          <p:cNvSpPr/>
          <p:nvPr/>
        </p:nvSpPr>
        <p:spPr>
          <a:xfrm>
            <a:off x="5444958" y="2641905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4</a:t>
            </a:r>
          </a:p>
        </p:txBody>
      </p:sp>
      <p:sp>
        <p:nvSpPr>
          <p:cNvPr id="348" name="7"/>
          <p:cNvSpPr/>
          <p:nvPr/>
        </p:nvSpPr>
        <p:spPr>
          <a:xfrm>
            <a:off x="6455647" y="2720353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7</a:t>
            </a:r>
          </a:p>
        </p:txBody>
      </p:sp>
      <p:sp>
        <p:nvSpPr>
          <p:cNvPr id="349" name="8"/>
          <p:cNvSpPr/>
          <p:nvPr/>
        </p:nvSpPr>
        <p:spPr>
          <a:xfrm>
            <a:off x="6174119" y="2140356"/>
            <a:ext cx="399268" cy="392907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8</a:t>
            </a:r>
          </a:p>
        </p:txBody>
      </p:sp>
      <p:sp>
        <p:nvSpPr>
          <p:cNvPr id="350" name="Rectangle"/>
          <p:cNvSpPr/>
          <p:nvPr/>
        </p:nvSpPr>
        <p:spPr>
          <a:xfrm>
            <a:off x="4025531" y="1890325"/>
            <a:ext cx="4140938" cy="366921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580409">
              <a:defRPr sz="3200">
                <a:solidFill>
                  <a:srgbClr val="FFFFFF"/>
                </a:solidFill>
              </a:defRPr>
            </a:pPr>
            <a:endParaRPr sz="22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1" name="Values of"/>
              <p:cNvSpPr txBox="1"/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266"/>
                  <a:t>Values of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351" name="Values o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blipFill>
                <a:blip r:embed="rId4"/>
                <a:stretch>
                  <a:fillRect l="-6494" r="-5844" b="-1527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2" name="Line"/>
          <p:cNvSpPr/>
          <p:nvPr/>
        </p:nvSpPr>
        <p:spPr>
          <a:xfrm flipH="1">
            <a:off x="7628321" y="1693878"/>
            <a:ext cx="925444" cy="707508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353" name="Training data"/>
          <p:cNvSpPr txBox="1"/>
          <p:nvPr/>
        </p:nvSpPr>
        <p:spPr>
          <a:xfrm>
            <a:off x="5422430" y="1533836"/>
            <a:ext cx="100508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Training data</a:t>
            </a:r>
          </a:p>
        </p:txBody>
      </p:sp>
      <p:sp>
        <p:nvSpPr>
          <p:cNvPr id="354" name="?"/>
          <p:cNvSpPr/>
          <p:nvPr/>
        </p:nvSpPr>
        <p:spPr>
          <a:xfrm>
            <a:off x="5278712" y="3346027"/>
            <a:ext cx="399268" cy="392907"/>
          </a:xfrm>
          <a:prstGeom prst="ellipse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5" name="Text"/>
              <p:cNvSpPr txBox="1"/>
              <p:nvPr/>
            </p:nvSpPr>
            <p:spPr>
              <a:xfrm>
                <a:off x="8448570" y="3050067"/>
                <a:ext cx="1868718" cy="1131208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br>
                  <a:rPr sz="1266"/>
                </a:br>
                <a:endParaRPr sz="1266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limUpp>
                        <m:limUpp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lim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̂</m:t>
                          </m:r>
                        </m:lim>
                      </m:limUpp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num>
                        <m:den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=4.4</m:t>
                      </m:r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355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8570" y="3050067"/>
                <a:ext cx="1868718" cy="11312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6" name="Oval"/>
          <p:cNvSpPr/>
          <p:nvPr/>
        </p:nvSpPr>
        <p:spPr>
          <a:xfrm>
            <a:off x="4707250" y="2783670"/>
            <a:ext cx="1615214" cy="1589479"/>
          </a:xfrm>
          <a:prstGeom prst="ellipse">
            <a:avLst/>
          </a:prstGeom>
          <a:ln w="25400" cap="rnd">
            <a:solidFill>
              <a:srgbClr val="000000"/>
            </a:solidFill>
            <a:custDash>
              <a:ds d="100000" sp="200000"/>
            </a:custDash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k-nn classifi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k-nn classification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Visualization of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Visualization of KNN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2" name="Text"/>
              <p:cNvSpPr txBox="1"/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362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blipFill>
                <a:blip r:embed="rId2"/>
                <a:stretch>
                  <a:fillRect l="-8000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3" name="Text"/>
              <p:cNvSpPr txBox="1"/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363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blipFill>
                <a:blip r:embed="rId3"/>
                <a:stretch>
                  <a:fillRect l="-9589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4" name="Oval"/>
          <p:cNvSpPr/>
          <p:nvPr/>
        </p:nvSpPr>
        <p:spPr>
          <a:xfrm>
            <a:off x="4409198" y="4884429"/>
            <a:ext cx="399269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65" name="Oval"/>
          <p:cNvSpPr/>
          <p:nvPr/>
        </p:nvSpPr>
        <p:spPr>
          <a:xfrm>
            <a:off x="5444958" y="3743672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66" name="Oval"/>
          <p:cNvSpPr/>
          <p:nvPr/>
        </p:nvSpPr>
        <p:spPr>
          <a:xfrm>
            <a:off x="4592619" y="4140483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67" name="Oval"/>
          <p:cNvSpPr/>
          <p:nvPr/>
        </p:nvSpPr>
        <p:spPr>
          <a:xfrm>
            <a:off x="6455647" y="3419218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68" name="Oval"/>
          <p:cNvSpPr/>
          <p:nvPr/>
        </p:nvSpPr>
        <p:spPr>
          <a:xfrm>
            <a:off x="4998474" y="3232547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69" name="Oval"/>
          <p:cNvSpPr/>
          <p:nvPr/>
        </p:nvSpPr>
        <p:spPr>
          <a:xfrm>
            <a:off x="5087771" y="4326973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70" name="Oval"/>
          <p:cNvSpPr/>
          <p:nvPr/>
        </p:nvSpPr>
        <p:spPr>
          <a:xfrm>
            <a:off x="5725338" y="4501828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71" name="Oval"/>
          <p:cNvSpPr/>
          <p:nvPr/>
        </p:nvSpPr>
        <p:spPr>
          <a:xfrm>
            <a:off x="7236920" y="2515774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72" name="Oval"/>
          <p:cNvSpPr/>
          <p:nvPr/>
        </p:nvSpPr>
        <p:spPr>
          <a:xfrm>
            <a:off x="5725338" y="3232547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73" name="Oval"/>
          <p:cNvSpPr/>
          <p:nvPr/>
        </p:nvSpPr>
        <p:spPr>
          <a:xfrm>
            <a:off x="5444958" y="2641905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74" name="Oval"/>
          <p:cNvSpPr/>
          <p:nvPr/>
        </p:nvSpPr>
        <p:spPr>
          <a:xfrm>
            <a:off x="6455647" y="2720353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75" name="Oval"/>
          <p:cNvSpPr/>
          <p:nvPr/>
        </p:nvSpPr>
        <p:spPr>
          <a:xfrm>
            <a:off x="6174119" y="2140356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76" name="Rectangle"/>
          <p:cNvSpPr/>
          <p:nvPr/>
        </p:nvSpPr>
        <p:spPr>
          <a:xfrm>
            <a:off x="4025531" y="1890325"/>
            <a:ext cx="4140938" cy="366921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580409">
              <a:defRPr sz="3200">
                <a:solidFill>
                  <a:srgbClr val="FFFFFF"/>
                </a:solidFill>
              </a:defRPr>
            </a:pPr>
            <a:endParaRPr sz="22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7" name="Values of"/>
              <p:cNvSpPr txBox="1"/>
              <p:nvPr/>
            </p:nvSpPr>
            <p:spPr>
              <a:xfrm>
                <a:off x="8005390" y="1286216"/>
                <a:ext cx="933397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266"/>
                  <a:t>Values of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377" name="Values o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390" y="1286216"/>
                <a:ext cx="933397" cy="440057"/>
              </a:xfrm>
              <a:prstGeom prst="rect">
                <a:avLst/>
              </a:prstGeom>
              <a:blipFill>
                <a:blip r:embed="rId4"/>
                <a:stretch>
                  <a:fillRect l="-6536" r="-6536" b="-1527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8" name="Line"/>
          <p:cNvSpPr/>
          <p:nvPr/>
        </p:nvSpPr>
        <p:spPr>
          <a:xfrm flipH="1">
            <a:off x="7628321" y="1693878"/>
            <a:ext cx="925444" cy="707508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379" name="Training data"/>
          <p:cNvSpPr txBox="1"/>
          <p:nvPr/>
        </p:nvSpPr>
        <p:spPr>
          <a:xfrm>
            <a:off x="5568304" y="1568196"/>
            <a:ext cx="100508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Training data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Visualization of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Visualization of KNN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3" name="Text"/>
              <p:cNvSpPr txBox="1"/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383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blipFill>
                <a:blip r:embed="rId2"/>
                <a:stretch>
                  <a:fillRect l="-8000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4" name="Text"/>
              <p:cNvSpPr txBox="1"/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384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blipFill>
                <a:blip r:embed="rId3"/>
                <a:stretch>
                  <a:fillRect l="-9589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5" name="Oval"/>
          <p:cNvSpPr/>
          <p:nvPr/>
        </p:nvSpPr>
        <p:spPr>
          <a:xfrm>
            <a:off x="4409198" y="4884429"/>
            <a:ext cx="399269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86" name="Oval"/>
          <p:cNvSpPr/>
          <p:nvPr/>
        </p:nvSpPr>
        <p:spPr>
          <a:xfrm>
            <a:off x="5444958" y="3743672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87" name="Oval"/>
          <p:cNvSpPr/>
          <p:nvPr/>
        </p:nvSpPr>
        <p:spPr>
          <a:xfrm>
            <a:off x="4592619" y="4140483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88" name="Oval"/>
          <p:cNvSpPr/>
          <p:nvPr/>
        </p:nvSpPr>
        <p:spPr>
          <a:xfrm>
            <a:off x="6455647" y="3419218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89" name="Oval"/>
          <p:cNvSpPr/>
          <p:nvPr/>
        </p:nvSpPr>
        <p:spPr>
          <a:xfrm>
            <a:off x="4998474" y="3232547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90" name="Oval"/>
          <p:cNvSpPr/>
          <p:nvPr/>
        </p:nvSpPr>
        <p:spPr>
          <a:xfrm>
            <a:off x="5087771" y="4326973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91" name="Oval"/>
          <p:cNvSpPr/>
          <p:nvPr/>
        </p:nvSpPr>
        <p:spPr>
          <a:xfrm>
            <a:off x="5725338" y="4501828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92" name="Oval"/>
          <p:cNvSpPr/>
          <p:nvPr/>
        </p:nvSpPr>
        <p:spPr>
          <a:xfrm>
            <a:off x="7236920" y="2515774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93" name="Oval"/>
          <p:cNvSpPr/>
          <p:nvPr/>
        </p:nvSpPr>
        <p:spPr>
          <a:xfrm>
            <a:off x="5725338" y="3232547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94" name="Oval"/>
          <p:cNvSpPr/>
          <p:nvPr/>
        </p:nvSpPr>
        <p:spPr>
          <a:xfrm>
            <a:off x="5444958" y="2641905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95" name="Oval"/>
          <p:cNvSpPr/>
          <p:nvPr/>
        </p:nvSpPr>
        <p:spPr>
          <a:xfrm>
            <a:off x="6455647" y="2720353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96" name="Oval"/>
          <p:cNvSpPr/>
          <p:nvPr/>
        </p:nvSpPr>
        <p:spPr>
          <a:xfrm>
            <a:off x="6174119" y="2140356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397" name="Rectangle"/>
          <p:cNvSpPr/>
          <p:nvPr/>
        </p:nvSpPr>
        <p:spPr>
          <a:xfrm>
            <a:off x="4025531" y="1890325"/>
            <a:ext cx="4140938" cy="366921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580409">
              <a:defRPr sz="3200">
                <a:solidFill>
                  <a:srgbClr val="FFFFFF"/>
                </a:solidFill>
              </a:defRPr>
            </a:pPr>
            <a:endParaRPr sz="22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8" name="Values of"/>
              <p:cNvSpPr txBox="1"/>
              <p:nvPr/>
            </p:nvSpPr>
            <p:spPr>
              <a:xfrm>
                <a:off x="8005390" y="1286216"/>
                <a:ext cx="933397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266"/>
                  <a:t>Values of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398" name="Values o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390" y="1286216"/>
                <a:ext cx="933397" cy="440057"/>
              </a:xfrm>
              <a:prstGeom prst="rect">
                <a:avLst/>
              </a:prstGeom>
              <a:blipFill>
                <a:blip r:embed="rId4"/>
                <a:stretch>
                  <a:fillRect l="-6536" r="-6536" b="-1527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9" name="Line"/>
          <p:cNvSpPr/>
          <p:nvPr/>
        </p:nvSpPr>
        <p:spPr>
          <a:xfrm flipH="1">
            <a:off x="7628321" y="1693878"/>
            <a:ext cx="925444" cy="707508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400" name="Training data"/>
          <p:cNvSpPr txBox="1"/>
          <p:nvPr/>
        </p:nvSpPr>
        <p:spPr>
          <a:xfrm>
            <a:off x="5622065" y="1577046"/>
            <a:ext cx="100508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Training data</a:t>
            </a:r>
          </a:p>
        </p:txBody>
      </p:sp>
      <p:sp>
        <p:nvSpPr>
          <p:cNvPr id="401" name="?"/>
          <p:cNvSpPr/>
          <p:nvPr/>
        </p:nvSpPr>
        <p:spPr>
          <a:xfrm>
            <a:off x="5278712" y="3346027"/>
            <a:ext cx="399268" cy="392907"/>
          </a:xfrm>
          <a:prstGeom prst="ellipse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?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Visualization of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Visualization of KNN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5" name="Text"/>
              <p:cNvSpPr txBox="1"/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405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blipFill>
                <a:blip r:embed="rId2"/>
                <a:stretch>
                  <a:fillRect l="-8000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6" name="Text"/>
              <p:cNvSpPr txBox="1"/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406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blipFill>
                <a:blip r:embed="rId3"/>
                <a:stretch>
                  <a:fillRect l="-9589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7" name="Oval"/>
          <p:cNvSpPr/>
          <p:nvPr/>
        </p:nvSpPr>
        <p:spPr>
          <a:xfrm>
            <a:off x="4409198" y="4884429"/>
            <a:ext cx="399269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08" name="Oval"/>
          <p:cNvSpPr/>
          <p:nvPr/>
        </p:nvSpPr>
        <p:spPr>
          <a:xfrm>
            <a:off x="5444958" y="3743672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09" name="Oval"/>
          <p:cNvSpPr/>
          <p:nvPr/>
        </p:nvSpPr>
        <p:spPr>
          <a:xfrm>
            <a:off x="4592619" y="4140483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10" name="Oval"/>
          <p:cNvSpPr/>
          <p:nvPr/>
        </p:nvSpPr>
        <p:spPr>
          <a:xfrm>
            <a:off x="6455647" y="3419218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11" name="Oval"/>
          <p:cNvSpPr/>
          <p:nvPr/>
        </p:nvSpPr>
        <p:spPr>
          <a:xfrm>
            <a:off x="4998474" y="3232547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12" name="Oval"/>
          <p:cNvSpPr/>
          <p:nvPr/>
        </p:nvSpPr>
        <p:spPr>
          <a:xfrm>
            <a:off x="5087771" y="4326973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13" name="Oval"/>
          <p:cNvSpPr/>
          <p:nvPr/>
        </p:nvSpPr>
        <p:spPr>
          <a:xfrm>
            <a:off x="5725338" y="4501828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14" name="Oval"/>
          <p:cNvSpPr/>
          <p:nvPr/>
        </p:nvSpPr>
        <p:spPr>
          <a:xfrm>
            <a:off x="7236920" y="2515774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15" name="Oval"/>
          <p:cNvSpPr/>
          <p:nvPr/>
        </p:nvSpPr>
        <p:spPr>
          <a:xfrm>
            <a:off x="5725338" y="3232547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16" name="Oval"/>
          <p:cNvSpPr/>
          <p:nvPr/>
        </p:nvSpPr>
        <p:spPr>
          <a:xfrm>
            <a:off x="5444958" y="2641905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17" name="Oval"/>
          <p:cNvSpPr/>
          <p:nvPr/>
        </p:nvSpPr>
        <p:spPr>
          <a:xfrm>
            <a:off x="6455647" y="2720353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18" name="Oval"/>
          <p:cNvSpPr/>
          <p:nvPr/>
        </p:nvSpPr>
        <p:spPr>
          <a:xfrm>
            <a:off x="6174119" y="2140356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19" name="Rectangle"/>
          <p:cNvSpPr/>
          <p:nvPr/>
        </p:nvSpPr>
        <p:spPr>
          <a:xfrm>
            <a:off x="4025531" y="1890325"/>
            <a:ext cx="4140938" cy="366921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580409">
              <a:defRPr sz="3200">
                <a:solidFill>
                  <a:srgbClr val="FFFFFF"/>
                </a:solidFill>
              </a:defRPr>
            </a:pPr>
            <a:endParaRPr sz="22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0" name="Values of"/>
              <p:cNvSpPr txBox="1"/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266"/>
                  <a:t>Values of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420" name="Values o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blipFill>
                <a:blip r:embed="rId4"/>
                <a:stretch>
                  <a:fillRect l="-6494" r="-5844" b="-1527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1" name="Line"/>
          <p:cNvSpPr/>
          <p:nvPr/>
        </p:nvSpPr>
        <p:spPr>
          <a:xfrm flipH="1">
            <a:off x="7628321" y="1693878"/>
            <a:ext cx="925444" cy="707508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422" name="Training data"/>
          <p:cNvSpPr txBox="1"/>
          <p:nvPr/>
        </p:nvSpPr>
        <p:spPr>
          <a:xfrm>
            <a:off x="5487039" y="1594843"/>
            <a:ext cx="100508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Training data</a:t>
            </a:r>
          </a:p>
        </p:txBody>
      </p:sp>
      <p:sp>
        <p:nvSpPr>
          <p:cNvPr id="423" name="?"/>
          <p:cNvSpPr/>
          <p:nvPr/>
        </p:nvSpPr>
        <p:spPr>
          <a:xfrm>
            <a:off x="5278712" y="3346027"/>
            <a:ext cx="399268" cy="392907"/>
          </a:xfrm>
          <a:prstGeom prst="ellipse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4" name="Text"/>
              <p:cNvSpPr txBox="1"/>
              <p:nvPr/>
            </p:nvSpPr>
            <p:spPr>
              <a:xfrm>
                <a:off x="8846529" y="2866058"/>
                <a:ext cx="899029" cy="1125886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sz="1266"/>
              </a:p>
              <a:p>
                <a:pPr/>
                <a:br>
                  <a:rPr sz="1266"/>
                </a:br>
                <a14:m>
                  <m:oMathPara xmlns:m="http://schemas.openxmlformats.org/officeDocument/2006/math">
                    <m:oMath>
                      <m:limUpp>
                        <m:limUpp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lim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̂</m:t>
                          </m:r>
                        </m:lim>
                      </m:limUpp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424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6529" y="2866058"/>
                <a:ext cx="899029" cy="1125886"/>
              </a:xfrm>
              <a:prstGeom prst="rect">
                <a:avLst/>
              </a:prstGeom>
              <a:blipFill>
                <a:blip r:embed="rId5"/>
                <a:stretch>
                  <a:fillRect l="-810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5" name="Oval"/>
          <p:cNvSpPr/>
          <p:nvPr/>
        </p:nvSpPr>
        <p:spPr>
          <a:xfrm>
            <a:off x="9585896" y="3593580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Visualization of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Visualization of KNN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9" name="Text"/>
              <p:cNvSpPr txBox="1"/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429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blipFill>
                <a:blip r:embed="rId2"/>
                <a:stretch>
                  <a:fillRect l="-8000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0" name="Text"/>
              <p:cNvSpPr txBox="1"/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430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blipFill>
                <a:blip r:embed="rId3"/>
                <a:stretch>
                  <a:fillRect l="-9589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1" name="Oval"/>
          <p:cNvSpPr/>
          <p:nvPr/>
        </p:nvSpPr>
        <p:spPr>
          <a:xfrm>
            <a:off x="4409198" y="4884429"/>
            <a:ext cx="399269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32" name="Oval"/>
          <p:cNvSpPr/>
          <p:nvPr/>
        </p:nvSpPr>
        <p:spPr>
          <a:xfrm>
            <a:off x="5444958" y="3743672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33" name="Oval"/>
          <p:cNvSpPr/>
          <p:nvPr/>
        </p:nvSpPr>
        <p:spPr>
          <a:xfrm>
            <a:off x="4592619" y="4140483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34" name="Oval"/>
          <p:cNvSpPr/>
          <p:nvPr/>
        </p:nvSpPr>
        <p:spPr>
          <a:xfrm>
            <a:off x="6455647" y="3419218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35" name="Oval"/>
          <p:cNvSpPr/>
          <p:nvPr/>
        </p:nvSpPr>
        <p:spPr>
          <a:xfrm>
            <a:off x="4998474" y="3232547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36" name="Oval"/>
          <p:cNvSpPr/>
          <p:nvPr/>
        </p:nvSpPr>
        <p:spPr>
          <a:xfrm>
            <a:off x="5087771" y="4326973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37" name="Oval"/>
          <p:cNvSpPr/>
          <p:nvPr/>
        </p:nvSpPr>
        <p:spPr>
          <a:xfrm>
            <a:off x="5725338" y="4501828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38" name="Oval"/>
          <p:cNvSpPr/>
          <p:nvPr/>
        </p:nvSpPr>
        <p:spPr>
          <a:xfrm>
            <a:off x="7236920" y="2515774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39" name="Oval"/>
          <p:cNvSpPr/>
          <p:nvPr/>
        </p:nvSpPr>
        <p:spPr>
          <a:xfrm>
            <a:off x="5725338" y="3232547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40" name="Oval"/>
          <p:cNvSpPr/>
          <p:nvPr/>
        </p:nvSpPr>
        <p:spPr>
          <a:xfrm>
            <a:off x="5444958" y="2641905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41" name="Oval"/>
          <p:cNvSpPr/>
          <p:nvPr/>
        </p:nvSpPr>
        <p:spPr>
          <a:xfrm>
            <a:off x="6455647" y="2720353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42" name="Oval"/>
          <p:cNvSpPr/>
          <p:nvPr/>
        </p:nvSpPr>
        <p:spPr>
          <a:xfrm>
            <a:off x="6174119" y="2140356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43" name="Rectangle"/>
          <p:cNvSpPr/>
          <p:nvPr/>
        </p:nvSpPr>
        <p:spPr>
          <a:xfrm>
            <a:off x="4025531" y="1890325"/>
            <a:ext cx="4140938" cy="366921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580409">
              <a:defRPr sz="3200">
                <a:solidFill>
                  <a:srgbClr val="FFFFFF"/>
                </a:solidFill>
              </a:defRPr>
            </a:pPr>
            <a:endParaRPr sz="22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4" name="Values of"/>
              <p:cNvSpPr txBox="1"/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266"/>
                  <a:t>Values of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444" name="Values o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blipFill>
                <a:blip r:embed="rId4"/>
                <a:stretch>
                  <a:fillRect l="-6494" r="-5844" b="-1527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5" name="Line"/>
          <p:cNvSpPr/>
          <p:nvPr/>
        </p:nvSpPr>
        <p:spPr>
          <a:xfrm flipH="1">
            <a:off x="7628321" y="1693878"/>
            <a:ext cx="925444" cy="707508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446" name="Training data"/>
          <p:cNvSpPr txBox="1"/>
          <p:nvPr/>
        </p:nvSpPr>
        <p:spPr>
          <a:xfrm>
            <a:off x="5543725" y="1535540"/>
            <a:ext cx="100508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Training data</a:t>
            </a:r>
          </a:p>
        </p:txBody>
      </p:sp>
      <p:sp>
        <p:nvSpPr>
          <p:cNvPr id="447" name="?"/>
          <p:cNvSpPr/>
          <p:nvPr/>
        </p:nvSpPr>
        <p:spPr>
          <a:xfrm>
            <a:off x="5278712" y="3346027"/>
            <a:ext cx="399268" cy="392907"/>
          </a:xfrm>
          <a:prstGeom prst="ellipse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Text"/>
              <p:cNvSpPr txBox="1"/>
              <p:nvPr/>
            </p:nvSpPr>
            <p:spPr>
              <a:xfrm>
                <a:off x="8846529" y="2866058"/>
                <a:ext cx="899029" cy="1125886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sz="1266"/>
              </a:p>
              <a:p>
                <a:pPr/>
                <a:br>
                  <a:rPr sz="1266"/>
                </a:br>
                <a14:m>
                  <m:oMathPara xmlns:m="http://schemas.openxmlformats.org/officeDocument/2006/math">
                    <m:oMath>
                      <m:limUpp>
                        <m:limUpp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lim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̂</m:t>
                          </m:r>
                        </m:lim>
                      </m:limUpp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44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6529" y="2866058"/>
                <a:ext cx="899029" cy="1125886"/>
              </a:xfrm>
              <a:prstGeom prst="rect">
                <a:avLst/>
              </a:prstGeom>
              <a:blipFill>
                <a:blip r:embed="rId5"/>
                <a:stretch>
                  <a:fillRect l="-810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9" name="Oval"/>
          <p:cNvSpPr/>
          <p:nvPr/>
        </p:nvSpPr>
        <p:spPr>
          <a:xfrm>
            <a:off x="9680676" y="3599037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Visualization of KN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Visualization of KNN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3" name="Text"/>
              <p:cNvSpPr txBox="1"/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453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342" y="5712260"/>
                <a:ext cx="453715" cy="440057"/>
              </a:xfrm>
              <a:prstGeom prst="rect">
                <a:avLst/>
              </a:prstGeom>
              <a:blipFill>
                <a:blip r:embed="rId2"/>
                <a:stretch>
                  <a:fillRect l="-8000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4" name="Text"/>
              <p:cNvSpPr txBox="1"/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454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634" y="3322452"/>
                <a:ext cx="446662" cy="440057"/>
              </a:xfrm>
              <a:prstGeom prst="rect">
                <a:avLst/>
              </a:prstGeom>
              <a:blipFill>
                <a:blip r:embed="rId3"/>
                <a:stretch>
                  <a:fillRect l="-9589" b="-5556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5" name="Oval"/>
          <p:cNvSpPr/>
          <p:nvPr/>
        </p:nvSpPr>
        <p:spPr>
          <a:xfrm>
            <a:off x="4409198" y="4884429"/>
            <a:ext cx="399269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56" name="Oval"/>
          <p:cNvSpPr/>
          <p:nvPr/>
        </p:nvSpPr>
        <p:spPr>
          <a:xfrm>
            <a:off x="5444958" y="3743672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57" name="Oval"/>
          <p:cNvSpPr/>
          <p:nvPr/>
        </p:nvSpPr>
        <p:spPr>
          <a:xfrm>
            <a:off x="4592619" y="4140483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58" name="Oval"/>
          <p:cNvSpPr/>
          <p:nvPr/>
        </p:nvSpPr>
        <p:spPr>
          <a:xfrm>
            <a:off x="6455647" y="3419218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59" name="Oval"/>
          <p:cNvSpPr/>
          <p:nvPr/>
        </p:nvSpPr>
        <p:spPr>
          <a:xfrm>
            <a:off x="4998474" y="3232547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60" name="Oval"/>
          <p:cNvSpPr/>
          <p:nvPr/>
        </p:nvSpPr>
        <p:spPr>
          <a:xfrm>
            <a:off x="5087771" y="4326973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61" name="Oval"/>
          <p:cNvSpPr/>
          <p:nvPr/>
        </p:nvSpPr>
        <p:spPr>
          <a:xfrm>
            <a:off x="5725338" y="4501828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62" name="Oval"/>
          <p:cNvSpPr/>
          <p:nvPr/>
        </p:nvSpPr>
        <p:spPr>
          <a:xfrm>
            <a:off x="7236920" y="2515774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63" name="Oval"/>
          <p:cNvSpPr/>
          <p:nvPr/>
        </p:nvSpPr>
        <p:spPr>
          <a:xfrm>
            <a:off x="5725338" y="3232547"/>
            <a:ext cx="399269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64" name="Oval"/>
          <p:cNvSpPr/>
          <p:nvPr/>
        </p:nvSpPr>
        <p:spPr>
          <a:xfrm>
            <a:off x="5444958" y="2641905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65" name="Oval"/>
          <p:cNvSpPr/>
          <p:nvPr/>
        </p:nvSpPr>
        <p:spPr>
          <a:xfrm>
            <a:off x="6455647" y="2720353"/>
            <a:ext cx="399268" cy="392907"/>
          </a:xfrm>
          <a:prstGeom prst="ellipse">
            <a:avLst/>
          </a:prstGeom>
          <a:solidFill>
            <a:srgbClr val="941751"/>
          </a:soli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66" name="Oval"/>
          <p:cNvSpPr/>
          <p:nvPr/>
        </p:nvSpPr>
        <p:spPr>
          <a:xfrm>
            <a:off x="6174119" y="2140356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67" name="Rectangle"/>
          <p:cNvSpPr/>
          <p:nvPr/>
        </p:nvSpPr>
        <p:spPr>
          <a:xfrm>
            <a:off x="4025531" y="1890325"/>
            <a:ext cx="4140938" cy="366921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580409">
              <a:defRPr sz="3200">
                <a:solidFill>
                  <a:srgbClr val="FFFFFF"/>
                </a:solidFill>
              </a:defRPr>
            </a:pPr>
            <a:endParaRPr sz="22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8" name="Values of"/>
              <p:cNvSpPr txBox="1"/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266"/>
                  <a:t>Values of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468" name="Values o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390" y="1286216"/>
                <a:ext cx="937950" cy="440057"/>
              </a:xfrm>
              <a:prstGeom prst="rect">
                <a:avLst/>
              </a:prstGeom>
              <a:blipFill>
                <a:blip r:embed="rId4"/>
                <a:stretch>
                  <a:fillRect l="-6494" r="-5844" b="-1527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9" name="Line"/>
          <p:cNvSpPr/>
          <p:nvPr/>
        </p:nvSpPr>
        <p:spPr>
          <a:xfrm flipH="1">
            <a:off x="7628321" y="1693878"/>
            <a:ext cx="925444" cy="707508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470" name="Training data"/>
          <p:cNvSpPr txBox="1"/>
          <p:nvPr/>
        </p:nvSpPr>
        <p:spPr>
          <a:xfrm>
            <a:off x="5397742" y="1553392"/>
            <a:ext cx="100508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Training data</a:t>
            </a:r>
          </a:p>
        </p:txBody>
      </p:sp>
      <p:sp>
        <p:nvSpPr>
          <p:cNvPr id="471" name="?"/>
          <p:cNvSpPr/>
          <p:nvPr/>
        </p:nvSpPr>
        <p:spPr>
          <a:xfrm>
            <a:off x="5278712" y="3346027"/>
            <a:ext cx="399268" cy="392907"/>
          </a:xfrm>
          <a:prstGeom prst="ellipse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297" tIns="89297" rIns="89297" bIns="89297" anchor="ctr"/>
          <a:lstStyle>
            <a:lvl1pPr algn="ctr" defTabSz="825500">
              <a:spcBef>
                <a:spcPts val="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/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2" name="Text"/>
              <p:cNvSpPr txBox="1"/>
              <p:nvPr/>
            </p:nvSpPr>
            <p:spPr>
              <a:xfrm>
                <a:off x="8846529" y="2866058"/>
                <a:ext cx="899029" cy="1125886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sz="2391" i="1" smtClean="0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2391" i="1" smtClean="0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sz="1266"/>
              </a:p>
              <a:p>
                <a:pPr/>
                <a:br>
                  <a:rPr sz="1266"/>
                </a:br>
                <a14:m>
                  <m:oMathPara xmlns:m="http://schemas.openxmlformats.org/officeDocument/2006/math">
                    <m:oMath>
                      <m:limUpp>
                        <m:limUppPr>
                          <m:ctrlP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lim>
                          <m:r>
                            <a:rPr sz="239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̂</m:t>
                          </m:r>
                        </m:lim>
                      </m:limUpp>
                      <m:r>
                        <a:rPr sz="239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472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6529" y="2866058"/>
                <a:ext cx="899029" cy="1125886"/>
              </a:xfrm>
              <a:prstGeom prst="rect">
                <a:avLst/>
              </a:prstGeom>
              <a:blipFill>
                <a:blip r:embed="rId5"/>
                <a:stretch>
                  <a:fillRect l="-8108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3" name="Oval"/>
          <p:cNvSpPr/>
          <p:nvPr/>
        </p:nvSpPr>
        <p:spPr>
          <a:xfrm>
            <a:off x="4707250" y="2783670"/>
            <a:ext cx="1615214" cy="1589479"/>
          </a:xfrm>
          <a:prstGeom prst="ellipse">
            <a:avLst/>
          </a:prstGeom>
          <a:ln w="25400" cap="rnd">
            <a:solidFill>
              <a:srgbClr val="000000"/>
            </a:solidFill>
            <a:custDash>
              <a:ds d="100000" sp="200000"/>
            </a:custDash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  <p:sp>
        <p:nvSpPr>
          <p:cNvPr id="474" name="Oval"/>
          <p:cNvSpPr/>
          <p:nvPr/>
        </p:nvSpPr>
        <p:spPr>
          <a:xfrm>
            <a:off x="9638343" y="3625454"/>
            <a:ext cx="399268" cy="392907"/>
          </a:xfrm>
          <a:prstGeom prst="ellipse">
            <a:avLst/>
          </a:prstGeom>
          <a:gradFill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</p:spPr>
        <p:txBody>
          <a:bodyPr lIns="89297" tIns="89297" rIns="89297" bIns="89297" anchor="ctr"/>
          <a:lstStyle/>
          <a:p>
            <a:pPr algn="ctr" defTabSz="580409">
              <a:defRPr sz="1500">
                <a:solidFill>
                  <a:srgbClr val="000000"/>
                </a:solidFill>
              </a:defRPr>
            </a:pPr>
            <a:endParaRPr sz="1055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3" name="Straight Connector 206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65" name="Rectangle 2064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A3AFA-7BBC-528D-E992-D9ACD0609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871759"/>
            <a:ext cx="10925176" cy="11288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5000" dirty="0">
                <a:solidFill>
                  <a:schemeClr val="tx1"/>
                </a:solidFill>
              </a:rPr>
              <a:t>Effect of k on Decision Boundary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A2BE2-1410-66BA-EBE7-0343FCF43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29467" y="6281958"/>
            <a:ext cx="10591800" cy="6499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1000"/>
              </a:spcBef>
            </a:pPr>
            <a:r>
              <a:rPr lang="en-US" sz="2000" dirty="0"/>
              <a:t>https://fderyckel.github.io/machinelearningwithr/knnchapter.html</a:t>
            </a:r>
          </a:p>
        </p:txBody>
      </p:sp>
      <p:cxnSp>
        <p:nvCxnSpPr>
          <p:cNvPr id="2067" name="Straight Connector 2066">
            <a:extLst>
              <a:ext uri="{FF2B5EF4-FFF2-40B4-BE49-F238E27FC236}">
                <a16:creationId xmlns:a16="http://schemas.microsoft.com/office/drawing/2014/main" id="{DC36F877-5419-44C1-A2CD-376BDDDC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9" name="Straight Connector 2068">
            <a:extLst>
              <a:ext uri="{FF2B5EF4-FFF2-40B4-BE49-F238E27FC236}">
                <a16:creationId xmlns:a16="http://schemas.microsoft.com/office/drawing/2014/main" id="{44B21692-652C-4371-95C5-05248EF34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789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3BCB8-6B99-05E6-8BF1-D2D35630DD4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1400" smtClean="0"/>
              <a:pPr lvl="0" indent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19</a:t>
            </a:fld>
            <a:endParaRPr lang="en-US" sz="1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7B3A8F-144C-A0B3-6792-3A6016F8AE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917" t="26000" r="34417" b="19778"/>
          <a:stretch/>
        </p:blipFill>
        <p:spPr>
          <a:xfrm>
            <a:off x="1176740" y="2014308"/>
            <a:ext cx="4407108" cy="411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34963C-00D2-E877-098F-F4514A0222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166" t="26788" r="34001" b="19334"/>
          <a:stretch>
            <a:fillRect/>
          </a:stretch>
        </p:blipFill>
        <p:spPr>
          <a:xfrm>
            <a:off x="6110288" y="1966055"/>
            <a:ext cx="4593594" cy="41148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F37875-0BD5-2E3E-A730-2D81B20D6770}"/>
              </a:ext>
            </a:extLst>
          </p:cNvPr>
          <p:cNvSpPr txBox="1"/>
          <p:nvPr/>
        </p:nvSpPr>
        <p:spPr>
          <a:xfrm>
            <a:off x="2948925" y="1695575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1 - 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42CF14-9F49-540D-C258-910B9A3E7885}"/>
              </a:ext>
            </a:extLst>
          </p:cNvPr>
          <p:cNvSpPr txBox="1"/>
          <p:nvPr/>
        </p:nvSpPr>
        <p:spPr>
          <a:xfrm>
            <a:off x="7912808" y="1706459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15 - NN</a:t>
            </a:r>
          </a:p>
        </p:txBody>
      </p:sp>
    </p:spTree>
    <p:extLst>
      <p:ext uri="{BB962C8B-B14F-4D97-AF65-F5344CB8AC3E}">
        <p14:creationId xmlns:p14="http://schemas.microsoft.com/office/powerpoint/2010/main" val="669305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A99D0-30F7-4F5A-AD67-AB3132672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Weighted k-NN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06DEA-8A1A-434B-8947-D2D15DCFE6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cy-GB"/>
              <a:t>Idea: weight neighbors by proximity</a:t>
            </a:r>
          </a:p>
          <a:p>
            <a:pPr lvl="1"/>
            <a:r>
              <a:rPr lang="cy-GB"/>
              <a:t>Let wᵢ ∝ 1 / d(x, xᵢ) for i ∈ Nₖ(x)</a:t>
            </a:r>
          </a:p>
          <a:p>
            <a:pPr lvl="1"/>
            <a:r>
              <a:rPr lang="cy-GB"/>
              <a:t>Closer neighbors carry more influence than distant ones</a:t>
            </a:r>
          </a:p>
          <a:p>
            <a:r>
              <a:rPr lang="cy-GB"/>
              <a:t>Regression</a:t>
            </a:r>
          </a:p>
          <a:p>
            <a:pPr lvl="1"/>
            <a:r>
              <a:rPr lang="cy-GB"/>
              <a:t>ŷ = </a:t>
            </a:r>
            <a:r>
              <a:rPr lang="el-GR"/>
              <a:t>Σ </a:t>
            </a:r>
            <a:r>
              <a:rPr lang="cy-GB"/>
              <a:t>wᵢyᵢ / </a:t>
            </a:r>
            <a:r>
              <a:rPr lang="el-GR"/>
              <a:t>Σ </a:t>
            </a:r>
            <a:r>
              <a:rPr lang="cy-GB"/>
              <a:t>wᵢ, a weighted mean rather than a plain average</a:t>
            </a:r>
          </a:p>
          <a:p>
            <a:r>
              <a:rPr lang="cy-GB"/>
              <a:t>Classification</a:t>
            </a:r>
          </a:p>
          <a:p>
            <a:pPr lvl="1"/>
            <a:r>
              <a:rPr lang="cy-GB"/>
              <a:t>ŷ = argmax over classes c of </a:t>
            </a:r>
            <a:r>
              <a:rPr lang="el-GR"/>
              <a:t>Σ </a:t>
            </a:r>
            <a:r>
              <a:rPr lang="cy-GB"/>
              <a:t>wᵢ·1{yᵢ = c}, a weighted vote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5C9D5-2A9E-4513-9EDA-C5AED898FF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/>
              <a:t>Why it helps</a:t>
            </a:r>
          </a:p>
          <a:p>
            <a:pPr lvl="1"/>
            <a:r>
              <a:rPr lang="en-US"/>
              <a:t>Larger k becomes safer: distant neighbors dilute the prediction less</a:t>
            </a:r>
          </a:p>
          <a:p>
            <a:pPr lvl="1"/>
            <a:r>
              <a:rPr lang="en-US"/>
              <a:t>Ties in classification break naturally</a:t>
            </a:r>
          </a:p>
          <a:p>
            <a:r>
              <a:rPr lang="en-US"/>
              <a:t>Caveats</a:t>
            </a:r>
          </a:p>
          <a:p>
            <a:pPr lvl="1"/>
            <a:r>
              <a:rPr lang="en-US"/>
              <a:t>Weighting amplifies the effect of poorly scaled features</a:t>
            </a:r>
          </a:p>
          <a:p>
            <a:pPr lvl="1"/>
            <a:r>
              <a:rPr lang="en-US"/>
              <a:t>1 / d diverges when the query point coincides with a training point</a:t>
            </a:r>
          </a:p>
        </p:txBody>
      </p:sp>
    </p:spTree>
    <p:extLst>
      <p:ext uri="{BB962C8B-B14F-4D97-AF65-F5344CB8AC3E}">
        <p14:creationId xmlns:p14="http://schemas.microsoft.com/office/powerpoint/2010/main" val="948606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75BD-7287-274C-2121-9D69ABFE3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KNN: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01F0A-0BB4-67BE-EBFA-F213A230CE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When does kNN work well?</a:t>
            </a:r>
          </a:p>
          <a:p>
            <a:pPr lvl="1"/>
            <a:r>
              <a:rPr lang="en-US"/>
              <a:t>Continuous, well-scaled features with moderate dimensionality</a:t>
            </a:r>
          </a:p>
          <a:p>
            <a:pPr lvl="1"/>
            <a:r>
              <a:rPr lang="en-US"/>
              <a:t>Simple, non-parametric, no explicit training phase</a:t>
            </a:r>
          </a:p>
          <a:p>
            <a:r>
              <a:rPr lang="en-US"/>
              <a:t>Choosing k</a:t>
            </a:r>
          </a:p>
          <a:p>
            <a:pPr lvl="1"/>
            <a:r>
              <a:rPr lang="en-US"/>
              <a:t>Small k: sensitive to noise, can overfit</a:t>
            </a:r>
          </a:p>
          <a:p>
            <a:pPr lvl="1"/>
            <a:r>
              <a:rPr lang="en-US"/>
              <a:t>Large k: smooths boundaries, but may underfit</a:t>
            </a:r>
          </a:p>
          <a:p>
            <a:pPr lvl="1"/>
            <a:r>
              <a:rPr lang="en-US"/>
              <a:t>Distance weighting reduces sensitivity to k</a:t>
            </a:r>
          </a:p>
          <a:p>
            <a:r>
              <a:rPr lang="en-US"/>
              <a:t>Distance metrics</a:t>
            </a:r>
          </a:p>
          <a:p>
            <a:pPr lvl="1"/>
            <a:r>
              <a:rPr lang="en-US"/>
              <a:t>Euclidean by default; Cosine for sparse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88891-D0FF-7C83-7495-092435577A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Where does kNN struggle?</a:t>
            </a:r>
          </a:p>
          <a:p>
            <a:pPr lvl="1"/>
            <a:r>
              <a:rPr lang="en-US"/>
              <a:t>High dimensions: distances lose meaning, so neighbors become unreliable</a:t>
            </a:r>
          </a:p>
          <a:p>
            <a:pPr lvl="1"/>
            <a:r>
              <a:rPr lang="en-US"/>
              <a:t>Large datasets: distances to all points make prediction slow</a:t>
            </a:r>
          </a:p>
          <a:p>
            <a:pPr lvl="1"/>
            <a:r>
              <a:rPr lang="en-US"/>
              <a:t>Noisy or irrelevant features distort neighbor selection</a:t>
            </a:r>
          </a:p>
          <a:p>
            <a:pPr lvl="1"/>
            <a:r>
              <a:rPr lang="en-US"/>
              <a:t>Class imbalance biases predictions toward the majority class</a:t>
            </a:r>
          </a:p>
          <a:p>
            <a:r>
              <a:rPr lang="en-US"/>
              <a:t>Always scale features</a:t>
            </a:r>
          </a:p>
          <a:p>
            <a:pPr lvl="1"/>
            <a:r>
              <a:rPr lang="en-US"/>
              <a:t>Distance-based methods are dominated by large-magnitude variables</a:t>
            </a:r>
          </a:p>
        </p:txBody>
      </p:sp>
    </p:spTree>
    <p:extLst>
      <p:ext uri="{BB962C8B-B14F-4D97-AF65-F5344CB8AC3E}">
        <p14:creationId xmlns:p14="http://schemas.microsoft.com/office/powerpoint/2010/main" val="354408553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685</Words>
  <Application>Microsoft Office PowerPoint</Application>
  <PresentationFormat>Widescreen</PresentationFormat>
  <Paragraphs>196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Calisto MT</vt:lpstr>
      <vt:lpstr>Cambria Math</vt:lpstr>
      <vt:lpstr>Franklin Gothic</vt:lpstr>
      <vt:lpstr>Univers Condensed</vt:lpstr>
      <vt:lpstr>ChronicleVTI</vt:lpstr>
      <vt:lpstr>K-Nearest Neighbors</vt:lpstr>
      <vt:lpstr>Instance-based vs Model-based</vt:lpstr>
      <vt:lpstr>How KNN Works</vt:lpstr>
      <vt:lpstr>What Is KNN?</vt:lpstr>
      <vt:lpstr>K-NN Method</vt:lpstr>
      <vt:lpstr>Choice of Distance</vt:lpstr>
      <vt:lpstr>k-nn regression</vt:lpstr>
      <vt:lpstr>Visualization of KNN</vt:lpstr>
      <vt:lpstr>Visualization of KNN</vt:lpstr>
      <vt:lpstr>Visualization of KNN</vt:lpstr>
      <vt:lpstr>Visualization of KNN</vt:lpstr>
      <vt:lpstr>Visualization of KNN</vt:lpstr>
      <vt:lpstr>k-nn classification</vt:lpstr>
      <vt:lpstr>Visualization of KNN</vt:lpstr>
      <vt:lpstr>Visualization of KNN</vt:lpstr>
      <vt:lpstr>Visualization of KNN</vt:lpstr>
      <vt:lpstr>Visualization of KNN</vt:lpstr>
      <vt:lpstr>Visualization of KNN</vt:lpstr>
      <vt:lpstr>Effect of k on Decision Boundary</vt:lpstr>
      <vt:lpstr>Weighted k-NN</vt:lpstr>
      <vt:lpstr>KNN: 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Rhodes</dc:creator>
  <cp:lastModifiedBy>Jake Rhodes</cp:lastModifiedBy>
  <cp:revision>8</cp:revision>
  <dcterms:created xsi:type="dcterms:W3CDTF">2025-11-20T18:52:44Z</dcterms:created>
  <dcterms:modified xsi:type="dcterms:W3CDTF">2026-09-09T12:27:09Z</dcterms:modified>
</cp:coreProperties>
</file>