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8"/>
  </p:notesMasterIdLst>
  <p:sldIdLst>
    <p:sldId id="256" r:id="rId2"/>
    <p:sldId id="280" r:id="rId3"/>
    <p:sldId id="283" r:id="rId4"/>
    <p:sldId id="284" r:id="rId5"/>
    <p:sldId id="285" r:id="rId6"/>
    <p:sldId id="287" r:id="rId7"/>
    <p:sldId id="294" r:id="rId8"/>
    <p:sldId id="295" r:id="rId9"/>
    <p:sldId id="288" r:id="rId10"/>
    <p:sldId id="289" r:id="rId11"/>
    <p:sldId id="296" r:id="rId12"/>
    <p:sldId id="297" r:id="rId13"/>
    <p:sldId id="290" r:id="rId14"/>
    <p:sldId id="291" r:id="rId15"/>
    <p:sldId id="298" r:id="rId16"/>
    <p:sldId id="29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65124" autoAdjust="0"/>
  </p:normalViewPr>
  <p:slideViewPr>
    <p:cSldViewPr snapToGrid="0">
      <p:cViewPr varScale="1">
        <p:scale>
          <a:sx n="139" d="100"/>
          <a:sy n="139" d="100"/>
        </p:scale>
        <p:origin x="100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20152-7289-42ED-97D3-BBB411F9F8C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E3D6-3C77-45F1-B7E2-5B66F3D24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3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0E3D6-3C77-45F1-B7E2-5B66F3D24A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64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Now substitute: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20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Var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⁡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e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Cov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⁡</m:t>
                      </m:r>
                      <m:d>
                        <m:dPr>
                          <m:sepChr m:val=",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e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There are: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</m:t>
                    </m:r>
                  </m:oMath>
                </a14:m>
                <a:r>
                  <a:rPr lang="en-US" dirty="0"/>
                  <a:t>variance terms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dirty="0"/>
                  <a:t>covariance terms</a:t>
                </a:r>
              </a:p>
              <a:p>
                <a:r>
                  <a:rPr lang="en-US" dirty="0"/>
                  <a:t>So: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e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e>
                      </m:d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e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Divide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</m:e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Var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⁡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limUpp>
                            <m:limUp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limUp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lim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ˉ</m:t>
                              </m:r>
                            </m:lim>
                          </m:limUpp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  <m:d>
                            <m:d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𝑀</m:t>
                              </m:r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e>
                          </m:d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Simplify: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den>
                      </m:f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e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num>
                        <m:den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Rearrange:</a:t>
                </a:r>
              </a:p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US" sz="120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borderBoxPr>
                        <m:e>
                          <m:r>
                            <m:rPr>
                              <m:sty m:val="p"/>
                            </m:rPr>
                            <a:rPr lang="en-US" sz="120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Var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⁡</m:t>
                          </m:r>
                          <m:d>
                            <m:d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limUpp>
                                <m:limUppPr>
                                  <m:ctrlP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limUppPr>
                                <m:e>
                                  <m: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𝑇</m:t>
                                  </m:r>
                                </m:e>
                                <m:lim>
                                  <m:r>
                                    <a:rPr lang="ar-AE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ˉ</m:t>
                                  </m:r>
                                </m:lim>
                              </m:limUpp>
                            </m:e>
                          </m:d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f>
                            <m:fPr>
                              <m:ctrlP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1−</m:t>
                              </m:r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𝜌</m:t>
                              </m:r>
                            </m:num>
                            <m:den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𝑀</m:t>
                              </m:r>
                            </m:den>
                          </m:f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borderBox>
                    </m:oMath>
                  </m:oMathPara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Now substitute: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Var⁡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(𝑇_𝑖 )=𝜎^2</a:t>
                </a:r>
                <a:endParaRPr lang="ar-AE" dirty="0"/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Cov⁡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(𝑇_𝑖ⓜ,𝑇_𝑗 )=𝜌𝜎^2</a:t>
                </a:r>
                <a:endParaRPr lang="ar-AE" dirty="0"/>
              </a:p>
              <a:p>
                <a:r>
                  <a:rPr lang="en-US" dirty="0"/>
                  <a:t>There are: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</a:t>
                </a:r>
                <a:r>
                  <a:rPr lang="en-US" dirty="0"/>
                  <a:t>variance terms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(𝑀−1)</a:t>
                </a:r>
                <a:r>
                  <a:rPr lang="en-US" dirty="0"/>
                  <a:t>covariance terms</a:t>
                </a:r>
              </a:p>
              <a:p>
                <a:r>
                  <a:rPr lang="en-US" dirty="0"/>
                  <a:t>So: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=𝑀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𝜎^2+𝑀(𝑀−1)𝜌𝜎^2</a:t>
                </a:r>
                <a:endParaRPr lang="ar-AE" dirty="0"/>
              </a:p>
              <a:p>
                <a:r>
                  <a:rPr lang="en-US" dirty="0"/>
                  <a:t>Divide by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𝑀^2</a:t>
                </a:r>
                <a:r>
                  <a:rPr lang="ar-AE" dirty="0"/>
                  <a:t>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Var⁡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(𝑇┴ˉ )=(𝑀𝜎^2)/𝑀^2 +(𝑀(𝑀−1)𝜌𝜎^2)/𝑀^2 </a:t>
                </a:r>
                <a:endParaRPr lang="ar-AE" dirty="0"/>
              </a:p>
              <a:p>
                <a:r>
                  <a:rPr lang="en-US" dirty="0"/>
                  <a:t>Simplify: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𝜎^2/𝑀+𝜌𝜎^2  (𝑀−1)/𝑀</a:t>
                </a:r>
                <a:endParaRPr lang="ar-AE" dirty="0"/>
              </a:p>
              <a:p>
                <a:r>
                  <a:rPr lang="en-US" dirty="0"/>
                  <a:t>Rearrange: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▭(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Var⁡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(𝑇┴ˉ )=𝜌𝜎^2+(1−𝜌)/𝑀 𝜎^2 )</a:t>
                </a:r>
                <a:endParaRPr lang="ar-AE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0E3D6-3C77-45F1-B7E2-5B66F3D24A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36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0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8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392970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5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  <p:sldLayoutId id="2147483687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01F75F-A154-93F9-2FE2-9F85ACB841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45" b="528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12349FF-7742-42ED-ADF3-238B5DDD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237318"/>
            <a:ext cx="12188952" cy="2620682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3EC0C-B664-18E2-FAA6-07592A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158" y="5528235"/>
            <a:ext cx="10696574" cy="770964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Random FOrests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A06C2-C984-559B-6247-4CE552425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681" y="4392705"/>
            <a:ext cx="5795251" cy="1063813"/>
          </a:xfrm>
        </p:spPr>
        <p:txBody>
          <a:bodyPr anchor="b">
            <a:normAutofit/>
          </a:bodyPr>
          <a:lstStyle/>
          <a:p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2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Let   be independent random variable each with variance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be </a:t>
                </a:r>
                <a:r>
                  <a:rPr lang="en-US" dirty="0" err="1"/>
                  <a:t>i.i.d.</a:t>
                </a:r>
                <a:r>
                  <a:rPr lang="en-US" dirty="0"/>
                  <a:t> random variable each with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dirty="0"/>
              </a:p>
              <a:p>
                <a:r>
                  <a:rPr lang="en-US" dirty="0"/>
                  <a:t>Define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bar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limUpp>
                      <m:limUpp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Upp>
                    <m:sSub>
                      <m:sSub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dirty="0"/>
              </a:p>
              <a:p>
                <a:r>
                  <a:rPr lang="en-US" dirty="0"/>
                  <a:t>What is the variance of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bar>
                  </m:oMath>
                </a14:m>
                <a:r>
                  <a:rPr lang="ar-AE" dirty="0"/>
                  <a:t> ?</a:t>
                </a:r>
                <a:r>
                  <a:rPr lang="ar-AE" dirty="0">
                    <a:solidFill>
                      <a:srgbClr val="00539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ar-AE" b="0" i="0" smtClean="0">
                        <a:solidFill>
                          <a:srgbClr val="00539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0" dirty="0">
                  <a:solidFill>
                    <a:srgbClr val="005392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ar-AE" i="1">
                          <a:solidFill>
                            <a:srgbClr val="005392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ar-AE" i="1">
                          <a:solidFill>
                            <a:srgbClr val="00539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bar>
                        <m:barPr>
                          <m:pos m:val="top"/>
                          <m:ctrlPr>
                            <a:rPr lang="ar-AE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ar-AE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bar>
                      <m:r>
                        <a:rPr lang="ar-AE" i="1">
                          <a:solidFill>
                            <a:srgbClr val="005392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ar-AE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i="1">
                                  <a:solidFill>
                                    <a:srgbClr val="0053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solidFill>
                                    <a:srgbClr val="005392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i="1">
                                  <a:solidFill>
                                    <a:srgbClr val="00539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ar-AE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ar-AE" dirty="0">
                  <a:solidFill>
                    <a:srgbClr val="005493"/>
                  </a:solidFill>
                </a:endParaRPr>
              </a:p>
              <a:p>
                <a:r>
                  <a:rPr lang="en-US" dirty="0"/>
                  <a:t>The using the mean of random variable will result in a lower variance </a:t>
                </a:r>
              </a:p>
              <a:p>
                <a:pPr mar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256" name="Let   be independent random variable each with variance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7" name="First a walk down the 340 Memory La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1473840">
              <a:defRPr sz="5100" spc="-102"/>
            </a:lvl1pPr>
          </a:lstStyle>
          <a:p>
            <a:r>
              <a:rPr lang="en-US" sz="4000" dirty="0"/>
              <a:t>Improving Variance</a:t>
            </a:r>
            <a:endParaRPr sz="40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duce the variance in the predictions by building a lot trees and averaging the results to produce a final predic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Reduce the variance in the predictions by building </a:t>
            </a:r>
            <a:r>
              <a:rPr dirty="0">
                <a:solidFill>
                  <a:srgbClr val="FF7E79"/>
                </a:solidFill>
              </a:rPr>
              <a:t>a lot</a:t>
            </a:r>
            <a:r>
              <a:rPr dirty="0"/>
              <a:t> trees and </a:t>
            </a:r>
            <a:r>
              <a:rPr dirty="0">
                <a:solidFill>
                  <a:srgbClr val="FF7E79"/>
                </a:solidFill>
              </a:rPr>
              <a:t>averaging</a:t>
            </a:r>
            <a:r>
              <a:rPr dirty="0"/>
              <a:t> the results to produce a final prediction</a:t>
            </a:r>
          </a:p>
          <a:p>
            <a:r>
              <a:rPr dirty="0"/>
              <a:t>But how can we get more data to build new trees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267" name="Applying this principle to tre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Applying this principle to trees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Bagging is an ensemble* method which uses bootstrap sampling to generate multiple predictions and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b="1" dirty="0"/>
              <a:t>Bagging</a:t>
            </a:r>
            <a:r>
              <a:rPr dirty="0"/>
              <a:t> is an </a:t>
            </a:r>
            <a:r>
              <a:rPr i="1" u="sng" dirty="0"/>
              <a:t>ensemble*</a:t>
            </a:r>
            <a:r>
              <a:rPr dirty="0"/>
              <a:t> method which uses bootstrap sampling to generate multiple predictions and </a:t>
            </a:r>
          </a:p>
          <a:p>
            <a:pPr lvl="1"/>
            <a:r>
              <a:rPr dirty="0"/>
              <a:t>Take a random sample of the training data </a:t>
            </a:r>
            <a:r>
              <a:rPr i="1" dirty="0"/>
              <a:t>with replacement</a:t>
            </a:r>
            <a:r>
              <a:rPr dirty="0"/>
              <a:t> </a:t>
            </a:r>
          </a:p>
          <a:p>
            <a:pPr lvl="1"/>
            <a:r>
              <a:rPr dirty="0"/>
              <a:t>Build a tree using the sampled data</a:t>
            </a:r>
          </a:p>
          <a:p>
            <a:pPr lvl="1"/>
            <a:r>
              <a:rPr dirty="0"/>
              <a:t>Make predictions with the model</a:t>
            </a:r>
          </a:p>
          <a:p>
            <a:pPr lvl="1"/>
            <a:r>
              <a:rPr dirty="0"/>
              <a:t>Repeat B times</a:t>
            </a:r>
          </a:p>
          <a:p>
            <a:pPr lvl="1"/>
            <a:r>
              <a:rPr dirty="0"/>
              <a:t>Average predictions across all models for final prediction</a:t>
            </a:r>
          </a:p>
        </p:txBody>
      </p:sp>
      <p:sp>
        <p:nvSpPr>
          <p:cNvPr id="270" name="Bootstrap Aggregation (ing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072831">
              <a:defRPr sz="5280" spc="-105"/>
            </a:pPr>
            <a:r>
              <a:rPr>
                <a:solidFill>
                  <a:srgbClr val="FF7E79"/>
                </a:solidFill>
              </a:rPr>
              <a:t>B</a:t>
            </a:r>
            <a:r>
              <a:t>ootstrap </a:t>
            </a:r>
            <a:r>
              <a:rPr>
                <a:solidFill>
                  <a:srgbClr val="FF7E79"/>
                </a:solidFill>
              </a:rPr>
              <a:t>Agg</a:t>
            </a:r>
            <a:r>
              <a:t>regation (</a:t>
            </a:r>
            <a:r>
              <a:rPr>
                <a:solidFill>
                  <a:srgbClr val="FF7E79"/>
                </a:solidFill>
              </a:rPr>
              <a:t>ing</a:t>
            </a:r>
            <a:r>
              <a:t>) </a:t>
            </a:r>
          </a:p>
        </p:txBody>
      </p:sp>
      <p:sp>
        <p:nvSpPr>
          <p:cNvPr id="271" name="*An ensemble method an any method that involves aggregating predictions over multiple models"/>
          <p:cNvSpPr txBox="1"/>
          <p:nvPr/>
        </p:nvSpPr>
        <p:spPr>
          <a:xfrm>
            <a:off x="1831802" y="5697950"/>
            <a:ext cx="8528396" cy="342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defRPr sz="2500" i="1"/>
            </a:pPr>
            <a:r>
              <a:rPr sz="1758"/>
              <a:t>*An </a:t>
            </a:r>
            <a:r>
              <a:rPr sz="1758" u="sng"/>
              <a:t>ensemble</a:t>
            </a:r>
            <a:r>
              <a:rPr sz="1758"/>
              <a:t> method an any method that involves aggregating predictions over multiple models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Bagging can be using for both regression and classifica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Bagging can be using for both regression and classification</a:t>
            </a:r>
          </a:p>
          <a:p>
            <a:pPr lvl="1"/>
            <a:r>
              <a:t>Regression predictions are the mean</a:t>
            </a:r>
          </a:p>
          <a:p>
            <a:pPr lvl="1"/>
            <a:r>
              <a:t>Classification predictions are the majority vote</a:t>
            </a:r>
          </a:p>
          <a:p>
            <a:r>
              <a:t>Bagging can also be used with models that aren’t decision trees</a:t>
            </a:r>
          </a:p>
        </p:txBody>
      </p:sp>
      <p:sp>
        <p:nvSpPr>
          <p:cNvPr id="274" name="More about bagg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More about bagging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78" name="The reduction in variance isn’t as strong when variables are correlated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The reduction in variance isn’t as strong when variables are </a:t>
                </a:r>
                <a:r>
                  <a:rPr b="1" dirty="0"/>
                  <a:t>correlated</a:t>
                </a:r>
                <a:r>
                  <a:rPr dirty="0"/>
                  <a:t> </a:t>
                </a:r>
                <a:br>
                  <a:rPr dirty="0"/>
                </a:br>
                <a:br>
                  <a:rPr dirty="0"/>
                </a:br>
                <a14:m>
                  <m:oMath xmlns:m="http://schemas.openxmlformats.org/officeDocument/2006/math"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)+2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𝐶𝑜𝑣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  <a:p>
                <a:endParaRPr dirty="0"/>
              </a:p>
              <a:p>
                <a:r>
                  <a:rPr dirty="0"/>
                  <a:t>The random forest method is similar to bagging except that it tries to de-correlate the trees through more randomization</a:t>
                </a:r>
              </a:p>
            </p:txBody>
          </p:sp>
        </mc:Choice>
        <mc:Fallback>
          <p:sp>
            <p:nvSpPr>
              <p:cNvPr id="278" name="The reduction in variance isn’t as strong when variables are correlated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3"/>
                <a:stretch>
                  <a:fillRect l="-513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9" name="What if the predictions aren’t independent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 defTabSz="938727">
              <a:defRPr sz="4619" spc="-92"/>
            </a:pPr>
            <a:r>
              <a:rPr sz="4400" dirty="0"/>
              <a:t>What if the predictions </a:t>
            </a:r>
            <a:r>
              <a:rPr sz="4400" b="1" i="1" dirty="0">
                <a:latin typeface="+mj-lt"/>
                <a:ea typeface="+mj-ea"/>
                <a:cs typeface="+mj-cs"/>
                <a:sym typeface="Avenir Next Regular"/>
              </a:rPr>
              <a:t>aren’t</a:t>
            </a:r>
            <a:r>
              <a:rPr sz="4400" dirty="0"/>
              <a:t> independent?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A41F487-55FC-118A-FB73-2EA9F1A051E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00000" y="1554480"/>
                <a:ext cx="10698480" cy="2651760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sz="1600" b="1" i="1">
                    <a:solidFill>
                      <a:schemeClr val="accent1"/>
                    </a:solidFill>
                  </a:rPr>
                  <a:t>Goal: how does the variance of the average depend on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chemeClr val="accent1"/>
                        </a:solidFill>
                        <a:latin typeface="Cambria Math"/>
                      </a:rPr>
                      <m:t>𝑀</m:t>
                    </m:r>
                  </m:oMath>
                </a14:m>
                <a:r>
                  <a:rPr lang="en-US" sz="1600" b="1" i="1">
                    <a:solidFill>
                      <a:schemeClr val="accent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chemeClr val="accent1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sz="1600" b="1" i="1">
                    <a:solidFill>
                      <a:schemeClr val="accent1"/>
                    </a:solidFill>
                  </a:rPr>
                  <a:t>?</a:t>
                </a:r>
              </a:p>
              <a:p>
                <a:r>
                  <a:rPr lang="en-US" sz="160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160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sz="1600"/>
                  <a:t> be predictions from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600"/>
                  <a:t> tree predictors (for a fixed input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/>
                  <a:t>). Denote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1400" i="1" dirty="0" err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 err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400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​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/>
                  <a:t> (assumed same for all trees),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ar-AE" sz="1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Var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/>
                  <a:t> (same for all trees),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Corr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sepChr m:val=",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/>
                  <a:t> for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400"/>
                  <a:t> (average pairwise correlation).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Cov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sepChr m:val=",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𝜌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ar-AE" sz="1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/>
                  <a:t> (since Corr = Cov/σ²)</a:t>
                </a:r>
              </a:p>
              <a:p>
                <a:pPr lvl="1"/>
                <a:endParaRPr lang="en-US" sz="1400"/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A41F487-55FC-118A-FB73-2EA9F1A05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00000" y="1554480"/>
                <a:ext cx="10698480" cy="2651760"/>
              </a:xfrm>
              <a:blipFill>
                <a:blip r:embed="rId3"/>
                <a:stretch>
                  <a:fillRect l="-342" t="-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98D5273-3D30-58B7-09C8-219DC454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 variance</a:t>
            </a:r>
            <a:r>
              <a:rPr lang="en-US"/>
              <a:t>: setup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1FFCAB-136B-5FD5-497D-7B72052EA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794760"/>
            <a:ext cx="5200301" cy="7905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4617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chemeClr val="accent1"/>
                </a:solidFill>
              </a:rPr>
              <a:t>Expand the variance of the sum: “M variance terms + M(M−1) covariance terms”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371600" y="4937760"/>
                <a:ext cx="4313680" cy="108318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00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𝑀</m:t>
                      </m:r>
                      <m:sSup>
                        <m:sSupPr>
                          <m:ctrlPr>
                            <a:rPr lang="en-US" sz="20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sz="20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sz="20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937760"/>
                <a:ext cx="4313680" cy="10831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595299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41F487-55FC-118A-FB73-2EA9F1A05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9440" y="1828800"/>
            <a:ext cx="4572000" cy="402336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What it tells us</a:t>
            </a:r>
          </a:p>
          <a:p>
            <a:pPr lvl="0"/>
            <a:r>
              <a:rPr lang="en-US" sz="1800" dirty="0"/>
              <a:t>ρ = 0: Var = σ²/M, matching slide 2</a:t>
            </a:r>
          </a:p>
          <a:p>
            <a:pPr lvl="0"/>
            <a:r>
              <a:rPr lang="en-US" sz="1800" dirty="0"/>
              <a:t>ρ = 1: Var = σ², so averaging gives no benefit</a:t>
            </a:r>
          </a:p>
          <a:p>
            <a:pPr lvl="0"/>
            <a:r>
              <a:rPr lang="en-US" sz="1800" dirty="0"/>
              <a:t>M → ∞: Var → ρσ², so more trees cannot remove the correlated part</a:t>
            </a:r>
          </a:p>
          <a:p>
            <a:pPr lvl="0"/>
            <a:r>
              <a:rPr lang="en-US" sz="1800" b="1" dirty="0"/>
              <a:t>Random forests lower ρ by de-correlating the trees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8D5273-3D30-58B7-09C8-219DC454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Ensemble variance: the result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DF03CE-57DD-0AB0-BDE0-190AFA660F5F}"/>
                  </a:ext>
                </a:extLst>
              </p:cNvPr>
              <p:cNvSpPr txBox="1"/>
              <p:nvPr/>
            </p:nvSpPr>
            <p:spPr>
              <a:xfrm>
                <a:off x="704088" y="4754880"/>
                <a:ext cx="6035040" cy="12147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US" sz="220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sty m:val="p"/>
                            </m:rPr>
                            <a:rPr lang="en-US" sz="220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Var</m:t>
                          </m:r>
                          <m:r>
                            <a:rPr lang="en-US" sz="2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ar-AE" sz="2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limUpp>
                                <m:limUppPr>
                                  <m:ctrlPr>
                                    <a:rPr lang="ar-AE" sz="2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UppPr>
                                <m:e>
                                  <m:r>
                                    <a:rPr lang="ar-AE" sz="2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lim>
                                  <m:r>
                                    <a:rPr lang="en-US" sz="2200" b="0" i="0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</m:lim>
                              </m:limUpp>
                            </m:e>
                          </m:d>
                          <m:r>
                            <a:rPr lang="ar-AE" sz="2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sSup>
                            <m:sSupPr>
                              <m:ctrlPr>
                                <a:rPr lang="ar-AE" sz="2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2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AE" sz="2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ar-AE" sz="2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num>
                            <m:den>
                              <m:r>
                                <a:rPr lang="ar-AE" sz="2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  <m:sSup>
                            <m:sSupPr>
                              <m:ctrlPr>
                                <a:rPr lang="ar-AE" sz="2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2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borderBox>
                    </m:oMath>
                  </m:oMathPara>
                </a14:m>
                <a:endParaRPr lang="ar-AE" sz="2200"/>
              </a:p>
              <a:p>
                <a:endParaRPr lang="en-US" sz="220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DF03CE-57DD-0AB0-BDE0-190AFA660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88" y="4754880"/>
                <a:ext cx="6035040" cy="12147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04088" y="182880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chemeClr val="accent1"/>
                </a:solidFill>
              </a:rPr>
              <a:t>Start from the expansion, then divide by M²: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704088" y="2194560"/>
                <a:ext cx="6035040" cy="9144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20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̄"/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𝑀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𝜌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88" y="2194560"/>
                <a:ext cx="6035040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704088" y="329184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chemeClr val="accent1"/>
                </a:solidFill>
              </a:rPr>
              <a:t>Simplify, then rearrange: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04088" y="3657600"/>
                <a:ext cx="6035040" cy="82296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20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̄"/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n-US" sz="22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n-US" sz="2200"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88" y="3657600"/>
                <a:ext cx="6035040" cy="8229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561586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andom Fores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lang="en-US"/>
              <a:t>Two sources of randomness</a:t>
            </a:r>
            <a:endParaRPr dirty="0"/>
          </a:p>
        </p:txBody>
      </p:sp>
      <p:sp>
        <p:nvSpPr>
          <p:cNvPr id="286" name="Source 1 details"/>
          <p:cNvSpPr txBox="1"/>
          <p:nvPr/>
        </p:nvSpPr>
        <p:spPr>
          <a:xfrm>
            <a:off x="704088" y="2221992"/>
            <a:ext cx="5212080" cy="12721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Bef>
                <a:spcPts val="0"/>
              </a:spcBef>
              <a:buFont typeface="Arial"/>
              <a:buChar char="•"/>
            </a:pPr>
            <a:r>
              <a:rPr lang="en-US" sz="1800" b="1">
                <a:solidFill>
                  <a:srgbClr val="1C1C32"/>
                </a:solidFill>
              </a:rPr>
              <a:t>1. Bootstrap sampling</a:t>
            </a:r>
          </a:p>
          <a:p>
            <a:pPr marL="685800" lvl="1" indent="-228600">
              <a:spcBef>
                <a:spcPts val="1000"/>
              </a:spcBef>
              <a:buFont typeface="Arial"/>
              <a:buChar char="•"/>
            </a:pPr>
            <a:r>
              <a:rPr lang="en-US" sz="1600" b="0">
                <a:solidFill>
                  <a:srgbClr val="1C1C32"/>
                </a:solidFill>
              </a:rPr>
              <a:t>Each tree is trained on a </a:t>
            </a:r>
            <a:r>
              <a:rPr lang="en-US" sz="1600" b="1">
                <a:solidFill>
                  <a:srgbClr val="1C1C32"/>
                </a:solidFill>
              </a:rPr>
              <a:t>bootstrap sample</a:t>
            </a:r>
            <a:r>
              <a:rPr lang="en-US" sz="1600" b="0">
                <a:solidFill>
                  <a:srgbClr val="1C1C32"/>
                </a:solidFill>
              </a:rPr>
              <a:t> of the observations</a:t>
            </a:r>
          </a:p>
          <a:p>
            <a:pPr marL="685800" lvl="1" indent="-228600">
              <a:spcBef>
                <a:spcPts val="1000"/>
              </a:spcBef>
              <a:buFont typeface="Arial"/>
              <a:buChar char="•"/>
            </a:pPr>
            <a:r>
              <a:rPr lang="en-US" sz="1600" b="0">
                <a:solidFill>
                  <a:srgbClr val="1C1C32"/>
                </a:solidFill>
              </a:rPr>
              <a:t>Different trees see different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0" name="Source 2 details"/>
              <p:cNvSpPr txBox="1"/>
              <p:nvPr/>
            </p:nvSpPr>
            <p:spPr>
              <a:xfrm>
                <a:off x="6190488" y="2221992"/>
                <a:ext cx="5212080" cy="165359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228600" indent="-228600">
                  <a:spcBef>
                    <a:spcPts val="0"/>
                  </a:spcBef>
                  <a:buFont typeface="Arial"/>
                  <a:buChar char="•"/>
                </a:pPr>
                <a:r>
                  <a:rPr lang="en-US" sz="1800" b="1">
                    <a:solidFill>
                      <a:srgbClr val="1C1C32"/>
                    </a:solidFill>
                  </a:rPr>
                  <a:t>2. Random feature selection</a:t>
                </a:r>
              </a:p>
              <a:p>
                <a:pPr marL="685800" lvl="1" indent="-228600">
                  <a:spcBef>
                    <a:spcPts val="1000"/>
                  </a:spcBef>
                  <a:buFont typeface="Arial"/>
                  <a:buChar char="•"/>
                </a:pPr>
                <a:r>
                  <a:rPr lang="en-US" sz="1600" b="0">
                    <a:solidFill>
                      <a:srgbClr val="1C1C32"/>
                    </a:solidFill>
                  </a:rPr>
                  <a:t>At </a:t>
                </a:r>
                <a:r>
                  <a:rPr lang="en-US" sz="1600" b="1">
                    <a:solidFill>
                      <a:srgbClr val="C05045"/>
                    </a:solidFill>
                  </a:rPr>
                  <a:t>every split</a:t>
                </a:r>
                <a:r>
                  <a:rPr lang="en-US" sz="1600" b="0">
                    <a:solidFill>
                      <a:srgbClr val="1C1C32"/>
                    </a:solidFill>
                  </a:rPr>
                  <a:t> only consider a </a:t>
                </a:r>
                <a:r>
                  <a:rPr lang="en-US" sz="1600" b="1">
                    <a:solidFill>
                      <a:srgbClr val="1C1C32"/>
                    </a:solidFill>
                  </a:rPr>
                  <a:t>random sample of </a:t>
                </a:r>
                <a14:m>
                  <m:oMath xmlns:m="http://schemas.openxmlformats.org/officeDocument/2006/math">
                    <m:r>
                      <a:rPr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600" b="1">
                    <a:solidFill>
                      <a:srgbClr val="1C1C32"/>
                    </a:solidFill>
                  </a:rPr>
                  <a:t> features</a:t>
                </a:r>
                <a:r>
                  <a:rPr lang="en-US" sz="1600" b="0">
                    <a:solidFill>
                      <a:srgbClr val="1C1C32"/>
                    </a:solidFill>
                  </a:rPr>
                  <a:t> (from </a:t>
                </a:r>
                <a14:m>
                  <m:oMath xmlns:m="http://schemas.openxmlformats.org/officeDocument/2006/math">
                    <m:r>
                      <a:rPr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b="0">
                    <a:solidFill>
                      <a:srgbClr val="1C1C32"/>
                    </a:solidFill>
                  </a:rPr>
                  <a:t> total) as split candidates</a:t>
                </a:r>
              </a:p>
              <a:p>
                <a:pPr marL="685800" lvl="1" indent="-228600">
                  <a:spcBef>
                    <a:spcPts val="1000"/>
                  </a:spcBef>
                  <a:buFont typeface="Arial"/>
                  <a:buChar char="•"/>
                </a:pPr>
                <a:r>
                  <a:rPr lang="en-US" sz="1600" b="0">
                    <a:solidFill>
                      <a:srgbClr val="1C1C32"/>
                    </a:solidFill>
                  </a:rPr>
                  <a:t>Typical choice: </a:t>
                </a:r>
                <a14:m>
                  <m:oMath xmlns:m="http://schemas.openxmlformats.org/officeDocument/2006/math">
                    <m:r>
                      <a:rPr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</m:oMath>
                </a14:m>
                <a:endParaRPr lang="en-US" sz="1800" b="0">
                  <a:solidFill>
                    <a:srgbClr val="1C1C32"/>
                  </a:solidFill>
                </a:endParaRPr>
              </a:p>
              <a:p>
                <a:pPr marL="685800" lvl="1" indent="-228600">
                  <a:spcBef>
                    <a:spcPts val="1000"/>
                  </a:spcBef>
                  <a:buFont typeface="Arial"/>
                  <a:buChar char="•"/>
                </a:pPr>
                <a:r>
                  <a:rPr lang="en-US" sz="1600" b="0">
                    <a:solidFill>
                      <a:srgbClr val="1C1C32"/>
                    </a:solidFill>
                  </a:rPr>
                  <a:t>Finds alternative paths to decisions</a:t>
                </a:r>
              </a:p>
            </p:txBody>
          </p:sp>
        </mc:Choice>
        <mc:Fallback>
          <p:sp>
            <p:nvSpPr>
              <p:cNvPr id="290" name="Source 2 detail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488" y="2221992"/>
                <a:ext cx="5212080" cy="1653594"/>
              </a:xfrm>
              <a:prstGeom prst="rect">
                <a:avLst/>
              </a:prstGeom>
              <a:blipFill>
                <a:blip r:embed="rId2"/>
                <a:stretch>
                  <a:fillRect l="-2573" t="-4797" b="-6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1" name="Decorrelation takeaway"/>
          <p:cNvSpPr/>
          <p:nvPr/>
        </p:nvSpPr>
        <p:spPr>
          <a:xfrm>
            <a:off x="704088" y="4206240"/>
            <a:ext cx="10698480" cy="914400"/>
          </a:xfrm>
          <a:prstGeom prst="rect">
            <a:avLst/>
          </a:prstGeom>
          <a:noFill/>
        </p:spPr>
        <p:txBody>
          <a:bodyPr wrap="square" lIns="91440" rIns="91440" rtlCol="0" anchor="t"/>
          <a:lstStyle/>
          <a:p>
            <a:pPr marL="228600" indent="-228600" algn="l">
              <a:buFont typeface="Arial"/>
              <a:buChar char="•"/>
            </a:pPr>
            <a:r>
              <a:rPr lang="en-US" sz="1600" b="0" dirty="0">
                <a:solidFill>
                  <a:srgbClr val="1C1C32"/>
                </a:solidFill>
              </a:rPr>
              <a:t>With bagging alone, most trees pick the very strong predictor, so predictions stay similar. Random feature selection adds a second source of randomness that forces different splits, de-correlating the trees.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he bad news: The increase in predictive ability decreases the interpretability of the model (compared to one tree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262523" indent="-262523" defTabSz="1194743">
              <a:spcBef>
                <a:spcPts val="2180"/>
              </a:spcBef>
              <a:defRPr sz="2940"/>
            </a:pPr>
            <a:r>
              <a:rPr lang="en-US" sz="1600" dirty="0"/>
              <a:t>The bad news: </a:t>
            </a:r>
            <a:r>
              <a:rPr sz="1600" dirty="0"/>
              <a:t>The increase in predictive ability decreases the interpretability of the model (compared to one tree)</a:t>
            </a:r>
          </a:p>
          <a:p>
            <a:pPr marL="700063" lvl="1" indent="-262523" defTabSz="1194743">
              <a:spcBef>
                <a:spcPts val="2180"/>
              </a:spcBef>
              <a:defRPr sz="2940"/>
            </a:pPr>
            <a:r>
              <a:rPr sz="1600" dirty="0"/>
              <a:t>We can’t just draw the tree anymore</a:t>
            </a:r>
          </a:p>
          <a:p>
            <a:pPr marL="262523" indent="-262523" defTabSz="1194743">
              <a:spcBef>
                <a:spcPts val="2180"/>
              </a:spcBef>
              <a:defRPr sz="2940"/>
            </a:pPr>
            <a:r>
              <a:rPr sz="1600" dirty="0"/>
              <a:t>The good news:</a:t>
            </a:r>
            <a:r>
              <a:rPr lang="en-US" sz="1600" dirty="0"/>
              <a:t> </a:t>
            </a:r>
            <a:r>
              <a:rPr sz="1600" dirty="0"/>
              <a:t>We can get an overall idea of </a:t>
            </a:r>
            <a:r>
              <a:rPr sz="1600" i="1" u="sng" dirty="0"/>
              <a:t>feature importance </a:t>
            </a:r>
            <a:r>
              <a:rPr sz="1600" dirty="0"/>
              <a:t>measured by:</a:t>
            </a:r>
            <a:endParaRPr sz="1600" i="1" u="sng" dirty="0"/>
          </a:p>
          <a:p>
            <a:pPr marL="700063" lvl="1" indent="-262523" defTabSz="1194743">
              <a:spcBef>
                <a:spcPts val="2180"/>
              </a:spcBef>
              <a:defRPr sz="2940"/>
            </a:pPr>
            <a:r>
              <a:rPr sz="1600" dirty="0"/>
              <a:t>Finding splits using a particular feature</a:t>
            </a:r>
          </a:p>
          <a:p>
            <a:pPr marL="700063" lvl="1" indent="-262523" defTabSz="1194743">
              <a:spcBef>
                <a:spcPts val="2180"/>
              </a:spcBef>
              <a:defRPr sz="2940"/>
            </a:pPr>
            <a:r>
              <a:rPr sz="1600" dirty="0"/>
              <a:t>Computing the average impurity reduction across all trees</a:t>
            </a:r>
          </a:p>
          <a:p>
            <a:pPr marL="700063" lvl="1" indent="-262523" defTabSz="1194743">
              <a:spcBef>
                <a:spcPts val="2180"/>
              </a:spcBef>
              <a:defRPr sz="2940"/>
            </a:pPr>
            <a:r>
              <a:rPr sz="1600" dirty="0"/>
              <a:t>Features with the largest average decrease in impurity (Gini or entropy) are the most important </a:t>
            </a:r>
          </a:p>
          <a:p>
            <a:pPr marL="700063" lvl="1" indent="-262523" defTabSz="1194743">
              <a:spcBef>
                <a:spcPts val="2180"/>
              </a:spcBef>
              <a:defRPr sz="2940"/>
            </a:pPr>
            <a:r>
              <a:rPr sz="1600" dirty="0"/>
              <a:t>Scikit-learn scales so that feature importances sum to 1</a:t>
            </a:r>
          </a:p>
        </p:txBody>
      </p:sp>
      <p:sp>
        <p:nvSpPr>
          <p:cNvPr id="285" name="Model Interpre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dirty="0"/>
              <a:t>Model Interpretation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he bad news: The increase in predictive ability decreases the interpretability of the model (compared to one tree)…"/>
          <p:cNvSpPr txBox="1">
            <a:spLocks noGrp="1"/>
          </p:cNvSpPr>
          <p:nvPr>
            <p:ph type="body" idx="1"/>
          </p:nvPr>
        </p:nvSpPr>
        <p:spPr>
          <a:xfrm>
            <a:off x="700430" y="1737360"/>
            <a:ext cx="10698480" cy="73152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2523" indent="-262523" defTabSz="1194743">
              <a:spcBef>
                <a:spcPts val="0"/>
              </a:spcBef>
              <a:defRPr sz="2940"/>
            </a:pPr>
            <a:r>
              <a:rPr lang="en-US" sz="1600" b="1" dirty="0"/>
              <a:t>How it is calculated</a:t>
            </a:r>
            <a:endParaRPr lang="en-US" sz="1600" b="1"/>
          </a:p>
          <a:p>
            <a:pPr marL="700063" lvl="1" indent="-262523" defTabSz="1194743">
              <a:spcBef>
                <a:spcPts val="600"/>
              </a:spcBef>
              <a:defRPr sz="2940"/>
            </a:pPr>
            <a:r>
              <a:rPr lang="en-US" sz="1400"/>
              <a:t>Using the impurity measure (Gini or entropy) from the Model Interpretation slide</a:t>
            </a:r>
          </a:p>
        </p:txBody>
      </p:sp>
      <p:sp>
        <p:nvSpPr>
          <p:cNvPr id="285" name="Model Interpre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1525858">
              <a:defRPr sz="5280" spc="-105"/>
            </a:lvl1pPr>
          </a:lstStyle>
          <a:p>
            <a:r>
              <a:rPr lang="en-US" sz="4000"/>
              <a:t>Mean Decrease in Impurity: Calculation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7" name="Rectangle 286"/>
              <p:cNvSpPr/>
              <p:nvPr/>
            </p:nvSpPr>
            <p:spPr>
              <a:xfrm>
                <a:off x="700430" y="4023360"/>
                <a:ext cx="10698480" cy="187451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37160" rIns="137160" rtlCol="0" anchor="ctr"/>
              <a:lstStyle/>
              <a:p>
                <a:pPr algn="l"/>
                <a:r>
                  <a:rPr lang="en-US" sz="1400" b="1" err="1">
                    <a:solidFill>
                      <a:schemeClr val="tx1"/>
                    </a:solidFill>
                  </a:rPr>
                  <a:t>2. Weight each split by its share of samples, sum by feature, average over the M trees</a:t>
                </a:r>
                <a:endParaRPr lang="en-US" sz="1200" b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2400" i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MDI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n-US" sz="2400" i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400" i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𝑀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𝑀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𝑠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sz="240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1200" b="0">
                  <a:solidFill>
                    <a:schemeClr val="tx1"/>
                  </a:solidFill>
                </a:endParaRPr>
              </a:p>
              <a:p>
                <a:pPr algn="l">
                  <a:spcBef>
                    <a:spcPts val="400"/>
                  </a:spcBef>
                </a:pPr>
                <a:r>
                  <a:rPr lang="en-US" sz="1200" dirty="0" err="1">
                    <a:solidFill>
                      <a:schemeClr val="tx1"/>
                    </a:solidFill>
                  </a:rPr>
                  <a:t>Δ</a:t>
                </a:r>
                <a:r>
                  <a:rPr lang="en-US" sz="1200" i="1" dirty="0" err="1">
                    <a:solidFill>
                      <a:schemeClr val="tx1"/>
                    </a:solidFill>
                  </a:rPr>
                  <a:t>i</a:t>
                </a:r>
                <a:r>
                  <a:rPr lang="en-US" sz="1200" i="1" baseline="-25000" dirty="0" err="1">
                    <a:solidFill>
                      <a:schemeClr val="tx1"/>
                    </a:solidFill>
                  </a:rPr>
                  <a:t>s</a:t>
                </a:r>
                <a:r>
                  <a:rPr lang="en-US" sz="1200" dirty="0">
                    <a:solidFill>
                      <a:schemeClr val="tx1"/>
                    </a:solidFill>
                  </a:rPr>
                  <a:t> = impurity decrease at split </a:t>
                </a:r>
                <a:r>
                  <a:rPr lang="en-US" sz="1200" i="1" dirty="0">
                    <a:solidFill>
                      <a:schemeClr val="tx1"/>
                    </a:solidFill>
                  </a:rPr>
                  <a:t>s</a:t>
                </a:r>
                <a:r>
                  <a:rPr lang="en-US" sz="1200" dirty="0">
                    <a:solidFill>
                      <a:schemeClr val="tx1"/>
                    </a:solidFill>
                  </a:rPr>
                  <a:t> (weight </a:t>
                </a:r>
                <a:r>
                  <a:rPr lang="en-US" sz="1200" i="1" dirty="0">
                    <a:solidFill>
                      <a:schemeClr val="tx1"/>
                    </a:solidFill>
                  </a:rPr>
                  <a:t>n</a:t>
                </a:r>
                <a:r>
                  <a:rPr lang="en-US" sz="1200" i="1" baseline="-25000" dirty="0">
                    <a:solidFill>
                      <a:schemeClr val="tx1"/>
                    </a:solidFill>
                  </a:rPr>
                  <a:t>s</a:t>
                </a:r>
                <a:r>
                  <a:rPr lang="en-US" sz="1200" dirty="0">
                    <a:solidFill>
                      <a:schemeClr val="tx1"/>
                    </a:solidFill>
                  </a:rPr>
                  <a:t>/</a:t>
                </a:r>
                <a:r>
                  <a:rPr lang="en-US" sz="1200" i="1" dirty="0">
                    <a:solidFill>
                      <a:schemeClr val="tx1"/>
                    </a:solidFill>
                  </a:rPr>
                  <a:t>n</a:t>
                </a:r>
                <a:r>
                  <a:rPr lang="en-US" sz="1200" dirty="0">
                    <a:solidFill>
                      <a:schemeClr val="tx1"/>
                    </a:solidFill>
                  </a:rPr>
                  <a:t>); </a:t>
                </a:r>
                <a:r>
                  <a:rPr lang="en-US" sz="1200" i="1" dirty="0" err="1">
                    <a:solidFill>
                      <a:schemeClr val="tx1"/>
                    </a:solidFill>
                  </a:rPr>
                  <a:t>S</a:t>
                </a:r>
                <a:r>
                  <a:rPr lang="en-US" sz="1200" i="1" baseline="-25000" dirty="0" err="1">
                    <a:solidFill>
                      <a:schemeClr val="tx1"/>
                    </a:solidFill>
                  </a:rPr>
                  <a:t>t,j</a:t>
                </a:r>
                <a:r>
                  <a:rPr lang="en-US" sz="1200" dirty="0">
                    <a:solidFill>
                      <a:schemeClr val="tx1"/>
                    </a:solidFill>
                  </a:rPr>
                  <a:t> = splits on feature </a:t>
                </a:r>
                <a:r>
                  <a:rPr lang="en-US" sz="1200" i="1" dirty="0">
                    <a:solidFill>
                      <a:schemeClr val="tx1"/>
                    </a:solidFill>
                  </a:rPr>
                  <a:t>j</a:t>
                </a:r>
                <a:r>
                  <a:rPr lang="en-US" sz="1200" dirty="0">
                    <a:solidFill>
                      <a:schemeClr val="tx1"/>
                    </a:solidFill>
                  </a:rPr>
                  <a:t> in tree </a:t>
                </a:r>
                <a:r>
                  <a:rPr lang="en-US" sz="1200" i="1" dirty="0">
                    <a:solidFill>
                      <a:schemeClr val="tx1"/>
                    </a:solidFill>
                  </a:rPr>
                  <a:t>t</a:t>
                </a:r>
                <a:endParaRPr lang="en-US" sz="1200" b="0" dirty="0">
                  <a:solidFill>
                    <a:schemeClr val="tx1"/>
                  </a:solidFill>
                </a:endParaRPr>
              </a:p>
              <a:p>
                <a:pPr algn="l">
                  <a:spcBef>
                    <a:spcPts val="400"/>
                  </a:spcBef>
                </a:pPr>
                <a:r>
                  <a:rPr sz="1200" b="0" dirty="0">
                    <a:solidFill>
                      <a:schemeClr val="tx1"/>
                    </a:solidFill>
                  </a:rPr>
                  <a:t>scikit-learn: importances are normalized to sum to 1</a:t>
                </a:r>
                <a:endParaRPr lang="en-US" sz="12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87" name="Rectangle 2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30" y="4023360"/>
                <a:ext cx="10698480" cy="1874519"/>
              </a:xfrm>
              <a:prstGeom prst="rect">
                <a:avLst/>
              </a:prstGeom>
              <a:blipFill>
                <a:blip r:embed="rId2"/>
                <a:stretch>
                  <a:fillRect t="-977" b="-29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8" name="Rounded Rectangle 287"/>
          <p:cNvSpPr/>
          <p:nvPr/>
        </p:nvSpPr>
        <p:spPr>
          <a:xfrm>
            <a:off x="1188720" y="2697480"/>
            <a:ext cx="1463040" cy="36576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Split </a:t>
            </a:r>
            <a:r>
              <a:rPr lang="en-US" sz="1200" i="1">
                <a:solidFill>
                  <a:schemeClr val="tx1"/>
                </a:solidFill>
              </a:rPr>
              <a:t>s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sz="1200">
                <a:solidFill>
                  <a:schemeClr val="tx1"/>
                </a:solidFill>
              </a:rPr>
              <a:t>(</a:t>
            </a:r>
            <a:r>
              <a:rPr lang="en-US" sz="1200" i="1">
                <a:solidFill>
                  <a:schemeClr val="tx1"/>
                </a:solidFill>
              </a:rPr>
              <a:t>n</a:t>
            </a:r>
            <a:r>
              <a:rPr lang="en-US" sz="1200" b="1" i="1" baseline="-25000">
                <a:solidFill>
                  <a:schemeClr val="tx1"/>
                </a:solidFill>
              </a:rPr>
              <a:t>s</a:t>
            </a:r>
            <a:r>
              <a:rPr sz="12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89" name="Rounded Rectangle 288"/>
          <p:cNvSpPr/>
          <p:nvPr/>
        </p:nvSpPr>
        <p:spPr>
          <a:xfrm>
            <a:off x="704088" y="3383280"/>
            <a:ext cx="1188720" cy="36576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Left (</a:t>
            </a:r>
            <a:r>
              <a:rPr lang="en-US" sz="1200" i="1">
                <a:solidFill>
                  <a:schemeClr val="tx1"/>
                </a:solidFill>
              </a:rPr>
              <a:t>n</a:t>
            </a:r>
            <a:r>
              <a:rPr lang="en-US" sz="1200" b="1" i="1" baseline="-25000">
                <a:solidFill>
                  <a:schemeClr val="tx1"/>
                </a:solidFill>
              </a:rPr>
              <a:t>L</a:t>
            </a:r>
            <a:r>
              <a:rPr sz="12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90" name="Rounded Rectangle 289"/>
          <p:cNvSpPr/>
          <p:nvPr/>
        </p:nvSpPr>
        <p:spPr>
          <a:xfrm>
            <a:off x="1947672" y="3383280"/>
            <a:ext cx="1188720" cy="36576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Right (</a:t>
            </a:r>
            <a:r>
              <a:rPr lang="en-US" sz="1200" i="1">
                <a:solidFill>
                  <a:schemeClr val="tx1"/>
                </a:solidFill>
              </a:rPr>
              <a:t>n</a:t>
            </a:r>
            <a:r>
              <a:rPr lang="en-US" sz="1200" b="1" i="1" baseline="-25000">
                <a:solidFill>
                  <a:schemeClr val="tx1"/>
                </a:solidFill>
              </a:rPr>
              <a:t>R</a:t>
            </a:r>
            <a:r>
              <a:rPr sz="120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291" name="Connector 290"/>
          <p:cNvCxnSpPr/>
          <p:nvPr/>
        </p:nvCxnSpPr>
        <p:spPr>
          <a:xfrm flipH="1">
            <a:off x="1298448" y="3063240"/>
            <a:ext cx="621792" cy="32004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1920240" y="3063240"/>
            <a:ext cx="621792" cy="32004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3" name="TextBox 292"/>
          <p:cNvSpPr txBox="1"/>
          <p:nvPr/>
        </p:nvSpPr>
        <p:spPr>
          <a:xfrm>
            <a:off x="3566160" y="2635031"/>
            <a:ext cx="78638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400" b="1"/>
              <a:t>1. One split </a:t>
            </a:r>
            <a:r>
              <a:rPr lang="en-US" sz="1400" b="1" i="1"/>
              <a:t>s</a:t>
            </a:r>
            <a:r>
              <a:rPr lang="en-US" sz="1400" b="1"/>
              <a:t> on feature </a:t>
            </a:r>
            <a:r>
              <a:rPr lang="en-US" sz="1400" b="1" i="1"/>
              <a:t>j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4" name="Split equation"/>
              <p:cNvSpPr txBox="1"/>
              <p:nvPr/>
            </p:nvSpPr>
            <p:spPr>
              <a:xfrm>
                <a:off x="3566160" y="2926080"/>
                <a:ext cx="7863840" cy="868680"/>
              </a:xfrm>
              <a:prstGeom prst="rect">
                <a:avLst/>
              </a:prstGeom>
              <a:noFill/>
            </p:spPr>
            <p:txBody>
              <a:bodyPr wrap="squar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2000" i="0">
                          <a:solidFill>
                            <a:schemeClr val="tx1"/>
                          </a:solidFill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US" sz="2000" i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</a:rPr>
                        <m:t>𝑖</m:t>
                      </m:r>
                      <m:r>
                        <a:rPr lang="en-US" sz="2000" i="0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i="0">
                          <a:solidFill>
                            <a:schemeClr val="tx1"/>
                          </a:solidFill>
                          <a:latin typeface="Cambria Math"/>
                        </a:rPr>
                        <m:t>s</m:t>
                      </m:r>
                      <m:r>
                        <a:rPr lang="en-US" sz="2000" i="0">
                          <a:solidFill>
                            <a:schemeClr val="tx1"/>
                          </a:solidFill>
                          <a:latin typeface="Cambria Math"/>
                        </a:rPr>
                        <m:t>)−</m:t>
                      </m:r>
                      <m:f>
                        <m:f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</a:rPr>
                        <m:t>𝑖</m:t>
                      </m:r>
                      <m:r>
                        <a:rPr lang="en-US" sz="2000" i="0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i="0">
                          <a:solidFill>
                            <a:schemeClr val="tx1"/>
                          </a:solidFill>
                          <a:latin typeface="Cambria Math"/>
                        </a:rPr>
                        <m:t>L</m:t>
                      </m:r>
                      <m:r>
                        <a:rPr lang="en-US" sz="2000" i="0">
                          <a:solidFill>
                            <a:schemeClr val="tx1"/>
                          </a:solidFill>
                          <a:latin typeface="Cambria Math"/>
                        </a:rPr>
                        <m:t>)−</m:t>
                      </m:r>
                      <m:f>
                        <m:f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</a:rPr>
                        <m:t>𝑖</m:t>
                      </m:r>
                      <m:r>
                        <a:rPr lang="en-US" sz="2000" i="0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i="0">
                          <a:solidFill>
                            <a:schemeClr val="tx1"/>
                          </a:solidFill>
                          <a:latin typeface="Cambria Math"/>
                        </a:rPr>
                        <m:t>R</m:t>
                      </m:r>
                      <m:r>
                        <a:rPr lang="en-US" sz="2000" i="0">
                          <a:solidFill>
                            <a:schemeClr val="tx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94" name="Split 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60" y="2926080"/>
                <a:ext cx="7863840" cy="868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Interpretation"/>
          <p:cNvSpPr txBox="1">
            <a:spLocks noGrp="1"/>
          </p:cNvSpPr>
          <p:nvPr>
            <p:ph type="body" idx="1"/>
          </p:nvPr>
        </p:nvSpPr>
        <p:spPr>
          <a:xfrm>
            <a:off x="700430" y="1737360"/>
            <a:ext cx="5394960" cy="2743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2523" indent="-262523" defTabSz="1194743">
              <a:spcBef>
                <a:spcPts val="0"/>
              </a:spcBef>
              <a:defRPr sz="2940"/>
            </a:pPr>
            <a:r>
              <a:rPr lang="en-US" sz="1800" b="1"/>
              <a:t>How to interpret it</a:t>
            </a:r>
          </a:p>
          <a:p>
            <a:pPr marL="700063" lvl="1" indent="-262523" defTabSz="1194743">
              <a:spcBef>
                <a:spcPts val="600"/>
              </a:spcBef>
              <a:defRPr sz="2940"/>
            </a:pPr>
            <a:r>
              <a:rPr lang="en-US" sz="1600"/>
              <a:t>Larger value: the fitted model used that feature more to reduce impurity</a:t>
            </a:r>
          </a:p>
          <a:p>
            <a:pPr marL="700063" lvl="1" indent="-262523" defTabSz="1194743">
              <a:spcBef>
                <a:spcPts val="600"/>
              </a:spcBef>
              <a:defRPr sz="2940"/>
            </a:pPr>
            <a:r>
              <a:rPr lang="en-US" sz="1600"/>
              <a:t>Not causal: it does not show the feature causes the outcome, or how changing it affects predictions</a:t>
            </a:r>
          </a:p>
        </p:txBody>
      </p:sp>
      <p:sp>
        <p:nvSpPr>
          <p:cNvPr id="295" name="Caveats"/>
          <p:cNvSpPr txBox="1">
            <a:spLocks noGrp="1"/>
          </p:cNvSpPr>
          <p:nvPr>
            <p:ph type="body" idx="1"/>
          </p:nvPr>
        </p:nvSpPr>
        <p:spPr>
          <a:xfrm>
            <a:off x="6400800" y="1737360"/>
            <a:ext cx="5029200" cy="2743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2523" indent="-262523" defTabSz="1194743">
              <a:defRPr sz="2940"/>
            </a:pPr>
            <a:r>
              <a:rPr lang="en-US" sz="1800" b="1"/>
              <a:t>Caveats</a:t>
            </a:r>
          </a:p>
          <a:p>
            <a:pPr marL="700063" lvl="1" indent="-262523" defTabSz="1194743">
              <a:spcBef>
                <a:spcPts val="600"/>
              </a:spcBef>
              <a:defRPr sz="2940"/>
            </a:pPr>
            <a:r>
              <a:rPr lang="en-US" sz="1600"/>
              <a:t>Correlated features can share or distort importance</a:t>
            </a:r>
          </a:p>
          <a:p>
            <a:pPr marL="700063" lvl="1" indent="-262523" defTabSz="1194743">
              <a:spcBef>
                <a:spcPts val="600"/>
              </a:spcBef>
              <a:defRPr sz="2940"/>
            </a:pPr>
            <a:r>
              <a:rPr lang="en-US" sz="1600"/>
              <a:t>Impurity-based importance can favor high-cardinality features</a:t>
            </a:r>
          </a:p>
          <a:p>
            <a:pPr marL="700063" lvl="1" indent="-262523" defTabSz="1194743">
              <a:spcBef>
                <a:spcPts val="600"/>
              </a:spcBef>
              <a:defRPr sz="2940"/>
            </a:pPr>
            <a:r>
              <a:rPr lang="en-US" sz="1600"/>
              <a:t>Values depend on the model and the dataset</a:t>
            </a:r>
          </a:p>
        </p:txBody>
      </p:sp>
      <p:sp>
        <p:nvSpPr>
          <p:cNvPr id="285" name="Model Interpre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1525858">
              <a:defRPr sz="5280" spc="-105"/>
            </a:lvl1pPr>
          </a:lstStyle>
          <a:p>
            <a:r>
              <a:rPr lang="en-US" sz="4000"/>
              <a:t>Mean Decrease in Impurity: Interpretation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700430" y="484632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chemeClr val="accent1"/>
                </a:solidFill>
              </a:rPr>
              <a:t>Takeaway: </a:t>
            </a:r>
            <a:r>
              <a:rPr sz="1600"/>
              <a:t>MDI shows how much each feature helped reduce split impurity in this fitted forest.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Example of Feature Importan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Example of Feature Importance</a:t>
            </a:r>
          </a:p>
        </p:txBody>
      </p:sp>
      <p:pic>
        <p:nvPicPr>
          <p:cNvPr id="288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759" y="1760626"/>
            <a:ext cx="6072714" cy="425183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90" name="It can be shown that in a bootstrap sample, on average 2/3 of the instances are included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/>
              <a:p>
                <a:pPr marL="243772" indent="-243772" defTabSz="1109405">
                  <a:spcBef>
                    <a:spcPts val="2039"/>
                  </a:spcBef>
                  <a:defRPr sz="2730"/>
                </a:pPr>
                <a:r>
                  <a:rPr dirty="0"/>
                  <a:t>I</a:t>
                </a:r>
                <a:r>
                  <a:rPr lang="en-US" dirty="0"/>
                  <a:t>n </a:t>
                </a:r>
                <a:r>
                  <a:rPr dirty="0"/>
                  <a:t>a bootstrap sample, on average 2/3 of the instances are included</a:t>
                </a:r>
              </a:p>
              <a:p>
                <a:pPr marL="243772" indent="-243772" defTabSz="1109405">
                  <a:spcBef>
                    <a:spcPts val="2039"/>
                  </a:spcBef>
                  <a:defRPr sz="2730"/>
                </a:pPr>
                <a:r>
                  <a:rPr dirty="0"/>
                  <a:t>The remaining 1/3 of the instances are not used to fit a given bagged tree</a:t>
                </a:r>
              </a:p>
              <a:p>
                <a:pPr marL="650058" lvl="1" indent="-243772" defTabSz="1109405">
                  <a:spcBef>
                    <a:spcPts val="2039"/>
                  </a:spcBef>
                  <a:defRPr sz="2730"/>
                </a:pPr>
                <a:r>
                  <a:rPr dirty="0"/>
                  <a:t>The unused instances are called </a:t>
                </a:r>
                <a:r>
                  <a:rPr b="1" dirty="0">
                    <a:solidFill>
                      <a:srgbClr val="FF7E79"/>
                    </a:solidFill>
                  </a:rPr>
                  <a:t>out-of-bag</a:t>
                </a:r>
                <a:r>
                  <a:rPr dirty="0"/>
                  <a:t> (OOB)</a:t>
                </a:r>
              </a:p>
              <a:p>
                <a:pPr marL="650058" lvl="1" indent="-243772" defTabSz="1109405">
                  <a:spcBef>
                    <a:spcPts val="2039"/>
                  </a:spcBef>
                  <a:defRPr sz="2730"/>
                </a:pPr>
                <a:r>
                  <a:rPr dirty="0"/>
                  <a:t>We can make predictions instance </a:t>
                </a:r>
                <a14:m>
                  <m:oMath xmlns:m="http://schemas.openxmlformats.org/officeDocument/2006/math">
                    <m:r>
                      <a:rPr sz="2074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dirty="0"/>
                  <a:t> using trees in which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2074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2074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sz="2074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dirty="0"/>
                  <a:t> was OOB</a:t>
                </a:r>
              </a:p>
              <a:p>
                <a:pPr marL="650058" lvl="1" indent="-243772" defTabSz="1109405">
                  <a:spcBef>
                    <a:spcPts val="2039"/>
                  </a:spcBef>
                  <a:defRPr sz="2730"/>
                </a:pPr>
                <a:r>
                  <a:rPr dirty="0"/>
                  <a:t>A single prediction for instance </a:t>
                </a:r>
                <a14:m>
                  <m:oMath xmlns:m="http://schemas.openxmlformats.org/officeDocument/2006/math">
                    <m:r>
                      <a:rPr sz="2074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dirty="0"/>
                  <a:t> is computed through aggregation the trees </a:t>
                </a:r>
              </a:p>
              <a:p>
                <a:pPr marL="650058" lvl="1" indent="-243772" defTabSz="1109405">
                  <a:spcBef>
                    <a:spcPts val="2039"/>
                  </a:spcBef>
                  <a:defRPr sz="2730"/>
                </a:pPr>
                <a:r>
                  <a:rPr dirty="0"/>
                  <a:t>The overall </a:t>
                </a:r>
                <a:r>
                  <a:rPr dirty="0">
                    <a:solidFill>
                      <a:srgbClr val="FF7E79"/>
                    </a:solidFill>
                  </a:rPr>
                  <a:t>OOB error</a:t>
                </a:r>
                <a:r>
                  <a:rPr dirty="0"/>
                  <a:t> is </a:t>
                </a:r>
                <a:r>
                  <a:rPr lang="en-US" dirty="0"/>
                  <a:t>asymptotically</a:t>
                </a:r>
                <a:r>
                  <a:rPr dirty="0"/>
                  <a:t> </a:t>
                </a:r>
                <a:r>
                  <a:rPr i="1" u="sng" dirty="0"/>
                  <a:t>equivalent</a:t>
                </a:r>
                <a:r>
                  <a:rPr dirty="0"/>
                  <a:t> to performing </a:t>
                </a:r>
                <a:r>
                  <a:rPr dirty="0">
                    <a:solidFill>
                      <a:srgbClr val="0096FF"/>
                    </a:solidFill>
                  </a:rPr>
                  <a:t>leave-one-out cross-validation</a:t>
                </a:r>
                <a:r>
                  <a:rPr dirty="0"/>
                  <a:t> (if the number of trees is large enough)</a:t>
                </a:r>
              </a:p>
            </p:txBody>
          </p:sp>
        </mc:Choice>
        <mc:Fallback>
          <p:sp>
            <p:nvSpPr>
              <p:cNvPr id="290" name="It can be shown that in a bootstrap sample, on average 2/3 of the instances are included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684" t="-2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1" name="Out of Bag Error Estim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Out of Bag Error Estimation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Interpretation"/>
          <p:cNvSpPr txBox="1">
            <a:spLocks noGrp="1"/>
          </p:cNvSpPr>
          <p:nvPr>
            <p:ph type="body" idx="1"/>
          </p:nvPr>
        </p:nvSpPr>
        <p:spPr>
          <a:xfrm>
            <a:off x="700430" y="1737360"/>
            <a:ext cx="5394960" cy="329184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2523" indent="-262523" defTabSz="1194743">
              <a:spcBef>
                <a:spcPts val="0"/>
              </a:spcBef>
              <a:defRPr sz="2940"/>
            </a:pPr>
            <a:r>
              <a:rPr lang="en-US" sz="1800" b="1" dirty="0"/>
              <a:t>Probability an instance is out-of-bag</a:t>
            </a:r>
          </a:p>
          <a:p>
            <a:pPr marL="700063" lvl="1" indent="-262523" defTabSz="1194743">
              <a:spcBef>
                <a:spcPts val="600"/>
              </a:spcBef>
              <a:defRPr sz="2940"/>
            </a:pPr>
            <a:r>
              <a:rPr lang="en-US" sz="1600" dirty="0"/>
              <a:t>Each of the n draws (with replacement) picks a given instance with probability 1/n</a:t>
            </a:r>
          </a:p>
          <a:p>
            <a:pPr marL="700063" lvl="1" indent="-262523" defTabSz="1194743">
              <a:spcBef>
                <a:spcPts val="600"/>
              </a:spcBef>
              <a:defRPr sz="2940"/>
            </a:pPr>
            <a:r>
              <a:rPr lang="en-US" sz="1600" dirty="0"/>
              <a:t>So one draw misses it with probability 1 − 1/n</a:t>
            </a:r>
          </a:p>
          <a:p>
            <a:pPr marL="700063" lvl="1" indent="-262523" defTabSz="1194743">
              <a:spcBef>
                <a:spcPts val="600"/>
              </a:spcBef>
              <a:defRPr sz="2940"/>
            </a:pPr>
            <a:r>
              <a:rPr lang="en-US" sz="1600" dirty="0"/>
              <a:t>All n draws miss it, so P(OOB) = (1 − 1/n)</a:t>
            </a:r>
            <a:r>
              <a:rPr lang="en-US" sz="1600" baseline="30000" dirty="0"/>
              <a:t>n</a:t>
            </a:r>
          </a:p>
          <a:p>
            <a:pPr marL="700063" lvl="1" indent="-262523" defTabSz="1194743">
              <a:spcBef>
                <a:spcPts val="600"/>
              </a:spcBef>
              <a:defRPr sz="2940"/>
            </a:pPr>
            <a:r>
              <a:rPr lang="en-US" sz="1600" dirty="0"/>
              <a:t>As n → ∞: (1 − 1/n)</a:t>
            </a:r>
            <a:r>
              <a:rPr lang="en-US" sz="1600" baseline="30000" dirty="0"/>
              <a:t>n</a:t>
            </a:r>
            <a:r>
              <a:rPr lang="en-US" sz="1600" dirty="0"/>
              <a:t> → e</a:t>
            </a:r>
            <a:r>
              <a:rPr lang="en-US" sz="1600" baseline="30000" dirty="0"/>
              <a:t>−1</a:t>
            </a:r>
            <a:r>
              <a:rPr lang="en-US" sz="1600" dirty="0"/>
              <a:t> ≈ 0.368</a:t>
            </a:r>
          </a:p>
          <a:p>
            <a:pPr marL="700063" lvl="1" indent="-262523" defTabSz="1194743">
              <a:spcBef>
                <a:spcPts val="600"/>
              </a:spcBef>
              <a:defRPr sz="2940"/>
            </a:pPr>
            <a:r>
              <a:rPr lang="en-US" sz="1600" dirty="0"/>
              <a:t>So ≈ 36.8% of instances are OOB and ≈ 63.2% (about 2/3) are in the bag</a:t>
            </a:r>
          </a:p>
        </p:txBody>
      </p:sp>
      <p:sp>
        <p:nvSpPr>
          <p:cNvPr id="295" name="Caveats"/>
          <p:cNvSpPr txBox="1">
            <a:spLocks noGrp="1"/>
          </p:cNvSpPr>
          <p:nvPr>
            <p:ph type="body" idx="1"/>
          </p:nvPr>
        </p:nvSpPr>
        <p:spPr>
          <a:xfrm>
            <a:off x="6400800" y="1737360"/>
            <a:ext cx="5029200" cy="329184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62523" indent="-262523" defTabSz="1194743">
              <a:defRPr sz="2940"/>
            </a:pPr>
            <a:r>
              <a:rPr lang="en-US" sz="1800" b="1"/>
              <a:t>How OOB samples are used</a:t>
            </a:r>
          </a:p>
          <a:p>
            <a:pPr marL="700063" lvl="1" indent="-262523" defTabSz="1194743">
              <a:spcBef>
                <a:spcPts val="600"/>
              </a:spcBef>
              <a:defRPr sz="2940"/>
            </a:pPr>
            <a:r>
              <a:rPr lang="en-US" sz="1600"/>
              <a:t>OOB error: predict each instance using only trees that did not see it; it approximates leave-one-out CV</a:t>
            </a:r>
          </a:p>
          <a:p>
            <a:pPr marL="700063" lvl="1" indent="-262523" defTabSz="1194743">
              <a:spcBef>
                <a:spcPts val="600"/>
              </a:spcBef>
              <a:defRPr sz="2940"/>
            </a:pPr>
            <a:r>
              <a:rPr lang="en-US" sz="1600"/>
              <a:t>Tuning: compare OOB error across M and m without cross-validation</a:t>
            </a:r>
          </a:p>
          <a:p>
            <a:pPr marL="700063" lvl="1" indent="-262523" defTabSz="1194743">
              <a:spcBef>
                <a:spcPts val="600"/>
              </a:spcBef>
              <a:defRPr sz="2940"/>
            </a:pPr>
            <a:r>
              <a:rPr lang="en-US" sz="1600"/>
              <a:t>Choosing M: add trees until the OOB error levels off</a:t>
            </a:r>
          </a:p>
          <a:p>
            <a:pPr marL="700063" lvl="1" indent="-262523" defTabSz="1194743">
              <a:spcBef>
                <a:spcPts val="600"/>
              </a:spcBef>
              <a:defRPr sz="2940"/>
            </a:pPr>
            <a:r>
              <a:rPr lang="en-US" sz="1600"/>
              <a:t>OOB permutation importance: shuffle a feature in the OOB samples and measure the rise in error</a:t>
            </a:r>
          </a:p>
        </p:txBody>
      </p:sp>
      <p:sp>
        <p:nvSpPr>
          <p:cNvPr id="285" name="Model Interpre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1525858">
              <a:defRPr sz="5280" spc="-105"/>
            </a:lvl1pPr>
          </a:lstStyle>
          <a:p>
            <a:r>
              <a:rPr lang="en-US" sz="4000" dirty="0"/>
              <a:t>OOB Samples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700430" y="5317123"/>
            <a:ext cx="10698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dirty="0"/>
              <a:t>Each tree leaves out about 1/3 of the data, so the forest gets a built-in validation set at no extra cost.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n_estimators: number of trees in fores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Courier New"/>
                <a:ea typeface="Courier New"/>
                <a:cs typeface="Courier New"/>
                <a:sym typeface="Courier New"/>
              </a:rPr>
              <a:t>n_estimators</a:t>
            </a:r>
            <a:r>
              <a:t>: number of trees in forest </a:t>
            </a:r>
          </a:p>
          <a:p>
            <a:pPr lvl="1"/>
            <a:r>
              <a:t>Increasing does not lead to overfitting </a:t>
            </a:r>
          </a:p>
          <a:p>
            <a:r>
              <a:rPr>
                <a:latin typeface="Courier New"/>
                <a:ea typeface="Courier New"/>
                <a:cs typeface="Courier New"/>
                <a:sym typeface="Courier New"/>
              </a:rPr>
              <a:t>criterion</a:t>
            </a:r>
            <a:r>
              <a:t>: Gini impurity or entropy</a:t>
            </a:r>
          </a:p>
          <a:p>
            <a:r>
              <a:rPr>
                <a:latin typeface="Courier New"/>
                <a:ea typeface="Courier New"/>
                <a:cs typeface="Courier New"/>
                <a:sym typeface="Courier New"/>
              </a:rPr>
              <a:t>max_features</a:t>
            </a:r>
            <a:r>
              <a:t>: Number of features to consider at each split</a:t>
            </a:r>
          </a:p>
          <a:p>
            <a:r>
              <a:t>Tuning parameters associated with base estimator</a:t>
            </a:r>
          </a:p>
        </p:txBody>
      </p:sp>
      <p:sp>
        <p:nvSpPr>
          <p:cNvPr id="294" name="Tuning Parameters (Bagging and RF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1525858">
              <a:defRPr sz="5280" spc="-105"/>
            </a:lvl1pPr>
          </a:lstStyle>
          <a:p>
            <a:r>
              <a:t>Tuning Parameters (Bagging and RF)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1216</Words>
  <Application>Microsoft Office PowerPoint</Application>
  <PresentationFormat>Widescreen</PresentationFormat>
  <Paragraphs>128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Calisto MT</vt:lpstr>
      <vt:lpstr>Cambria Math</vt:lpstr>
      <vt:lpstr>Courier New</vt:lpstr>
      <vt:lpstr>Univers Condensed</vt:lpstr>
      <vt:lpstr>ChronicleVTI</vt:lpstr>
      <vt:lpstr>Random FOrests</vt:lpstr>
      <vt:lpstr>Improving Variance</vt:lpstr>
      <vt:lpstr>Applying this principle to trees</vt:lpstr>
      <vt:lpstr>Bootstrap Aggregation (ing) </vt:lpstr>
      <vt:lpstr>More about bagging</vt:lpstr>
      <vt:lpstr>What if the predictions aren’t independent?</vt:lpstr>
      <vt:lpstr>Ensemble variance: setup</vt:lpstr>
      <vt:lpstr>Ensemble variance: the result</vt:lpstr>
      <vt:lpstr>Two sources of randomness</vt:lpstr>
      <vt:lpstr>Model Interpretation</vt:lpstr>
      <vt:lpstr>Mean Decrease in Impurity: Calculation</vt:lpstr>
      <vt:lpstr>Mean Decrease in Impurity: Interpretation</vt:lpstr>
      <vt:lpstr>Example of Feature Importance</vt:lpstr>
      <vt:lpstr>Out of Bag Error Estimation</vt:lpstr>
      <vt:lpstr>OOB Samples</vt:lpstr>
      <vt:lpstr>Tuning Parameters (Bagging and RF)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Rhodes</dc:creator>
  <cp:lastModifiedBy>Jake Rhodes</cp:lastModifiedBy>
  <cp:revision>33</cp:revision>
  <dcterms:created xsi:type="dcterms:W3CDTF">2025-10-28T15:32:43Z</dcterms:created>
  <dcterms:modified xsi:type="dcterms:W3CDTF">2026-10-28T15:37:28Z</dcterms:modified>
</cp:coreProperties>
</file>