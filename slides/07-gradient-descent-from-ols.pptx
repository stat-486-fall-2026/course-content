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11"/>
  </p:notesMasterIdLst>
  <p:sldIdLst>
    <p:sldId id="256" r:id="rId2"/>
    <p:sldId id="265" r:id="rId3"/>
    <p:sldId id="268" r:id="rId4"/>
    <p:sldId id="306" r:id="rId5"/>
    <p:sldId id="269" r:id="rId6"/>
    <p:sldId id="270" r:id="rId7"/>
    <p:sldId id="271" r:id="rId8"/>
    <p:sldId id="305" r:id="rId9"/>
    <p:sldId id="27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232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320152-7289-42ED-97D3-BBB411F9F8C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F0E3D6-3C77-45F1-B7E2-5B66F3D24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3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143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972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029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1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209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947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03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102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665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365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7883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54844" y="1017985"/>
            <a:ext cx="10882313" cy="473273"/>
          </a:xfrm>
          <a:prstGeom prst="rect">
            <a:avLst/>
          </a:prstGeom>
        </p:spPr>
        <p:txBody>
          <a:bodyPr/>
          <a:lstStyle>
            <a:lvl1pPr marL="0" indent="0" defTabSz="178587">
              <a:spcBef>
                <a:spcPts val="0"/>
              </a:spcBef>
              <a:buSzTx/>
              <a:buNone/>
              <a:defRPr sz="225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43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558054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7454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  <p:sldLayoutId id="2147483687" r:id="rId12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5AB6A9-9016-16C9-4677-463285D47A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264" t="9091" r="82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103FDB8-D911-F8F8-F9EC-FB7FF54359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4324"/>
            <a:ext cx="12192000" cy="2573677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17000"/>
                </a:schemeClr>
              </a:gs>
              <a:gs pos="65000">
                <a:schemeClr val="bg1">
                  <a:alpha val="29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F3EC0C-B664-18E2-FAA6-07592A24EF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702710"/>
            <a:ext cx="7983068" cy="974347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US" sz="3600" dirty="0"/>
              <a:t>Gradient Descent (From OLS Slides)</a:t>
            </a:r>
          </a:p>
        </p:txBody>
      </p:sp>
    </p:spTree>
    <p:extLst>
      <p:ext uri="{BB962C8B-B14F-4D97-AF65-F5344CB8AC3E}">
        <p14:creationId xmlns:p14="http://schemas.microsoft.com/office/powerpoint/2010/main" val="128424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Method 2: Gradient Descen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Gradient Descent</a:t>
            </a:r>
            <a:r>
              <a:rPr lang="en-US" dirty="0"/>
              <a:t> (High level)</a:t>
            </a:r>
            <a:r>
              <a:rPr dirty="0"/>
              <a:t> </a:t>
            </a:r>
          </a:p>
        </p:txBody>
      </p:sp>
      <p:sp>
        <p:nvSpPr>
          <p:cNvPr id="207" name="Numerical optimization algorithm that tweaks parameters iteratively until the minimum is found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Numerical optimization algorithm that tweaks parameters iteratively until the minimum is found</a:t>
            </a:r>
          </a:p>
          <a:p>
            <a:pPr lvl="1"/>
            <a:r>
              <a:rPr dirty="0"/>
              <a:t>“Descend” the gradient of the cost function in the steepest direction until the minimum is reached</a:t>
            </a:r>
          </a:p>
          <a:p>
            <a:r>
              <a:rPr dirty="0"/>
              <a:t>What is the gradient?</a:t>
            </a:r>
            <a:endParaRPr lang="en-US" dirty="0"/>
          </a:p>
          <a:p>
            <a:pPr lvl="1"/>
            <a:r>
              <a:rPr lang="en-US" dirty="0"/>
              <a:t>The vector that points in the direction of the greatest rate of increase for a function</a:t>
            </a:r>
          </a:p>
          <a:p>
            <a:pPr lvl="1"/>
            <a:r>
              <a:rPr lang="en-US" dirty="0"/>
              <a:t>It is the vector of partial derivatives</a:t>
            </a:r>
          </a:p>
          <a:p>
            <a:endParaRPr dirty="0"/>
          </a:p>
        </p:txBody>
      </p:sp>
      <p:pic>
        <p:nvPicPr>
          <p:cNvPr id="3" name="Picture 2" descr="A diagram of a curve&#10;&#10;AI-generated content may be incorrect.">
            <a:extLst>
              <a:ext uri="{FF2B5EF4-FFF2-40B4-BE49-F238E27FC236}">
                <a16:creationId xmlns:a16="http://schemas.microsoft.com/office/drawing/2014/main" id="{3B69C37E-6197-CBCD-92FD-28F01A5B8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6712" y="4144264"/>
            <a:ext cx="4070604" cy="2713736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raining Method 2: Gradient Descent"/>
          <p:cNvSpPr txBox="1">
            <a:spLocks noGrp="1"/>
          </p:cNvSpPr>
          <p:nvPr>
            <p:ph type="title"/>
          </p:nvPr>
        </p:nvSpPr>
        <p:spPr>
          <a:xfrm>
            <a:off x="700635" y="914400"/>
            <a:ext cx="10691265" cy="630936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228600">
              <a:defRPr sz="5400" spc="-53"/>
            </a:lvl1pPr>
          </a:lstStyle>
          <a:p>
            <a:r>
              <a:rPr sz="4000" dirty="0"/>
              <a:t>Gradient Descent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9" name="Batch Gradient Descent Algorithm: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750367" y="1746504"/>
                <a:ext cx="10691265" cy="3739896"/>
              </a:xfrm>
              <a:prstGeom prst="rect">
                <a:avLst/>
              </a:prstGeom>
            </p:spPr>
            <p:txBody>
              <a:bodyPr>
                <a:normAutofit fontScale="85000" lnSpcReduction="20000"/>
              </a:bodyPr>
              <a:lstStyle/>
              <a:p>
                <a:pPr marL="198678" indent="-198678" defTabSz="158236">
                  <a:spcBef>
                    <a:spcPts val="2039"/>
                  </a:spcBef>
                  <a:defRPr sz="2492" b="1">
                    <a:latin typeface="Graphik"/>
                    <a:ea typeface="Graphik"/>
                    <a:cs typeface="Graphik"/>
                    <a:sym typeface="Graphik"/>
                  </a:defRPr>
                </a:pPr>
                <a:r>
                  <a:rPr dirty="0"/>
                  <a:t>Batch Gradient Descent Algorithm:</a:t>
                </a:r>
              </a:p>
              <a:p>
                <a:pPr marL="398946" lvl="1" indent="-200267" defTabSz="158236">
                  <a:spcBef>
                    <a:spcPts val="2039"/>
                  </a:spcBef>
                  <a:defRPr sz="2492"/>
                </a:pPr>
                <a:r>
                  <a:rPr dirty="0"/>
                  <a:t>Choose initial values for the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sz="210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sz="210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ar-AE"/>
                  <a:t> </a:t>
                </a:r>
                <a:r>
                  <a:rPr dirty="0"/>
                  <a:t>vector (that is, choose a value for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10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sz="2109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sz="2109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ar-AE" sz="210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dirty="0"/>
                  <a:t>)</a:t>
                </a:r>
              </a:p>
              <a:p>
                <a:pPr marL="398946" lvl="1" indent="-200267" defTabSz="158236">
                  <a:spcBef>
                    <a:spcPts val="2039"/>
                  </a:spcBef>
                  <a:defRPr sz="2492"/>
                </a:pPr>
                <a:r>
                  <a:rPr dirty="0"/>
                  <a:t>Adjust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sz="210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sz="210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ar-AE"/>
                  <a:t> </a:t>
                </a:r>
                <a:r>
                  <a:rPr dirty="0"/>
                  <a:t>by moving in the opposite direction of the gradient:</a:t>
                </a:r>
                <a:br>
                  <a:rPr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ar-AE" sz="210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sz="2109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sz="2109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m:rPr>
                            <m:nor/>
                          </m:rPr>
                          <a:rPr lang="en-US" sz="210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new</m:t>
                        </m:r>
                      </m:sub>
                    </m:sSub>
                    <m:r>
                      <a:rPr lang="ar-AE" sz="210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sz="210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sz="2109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sz="2109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m:rPr>
                            <m:nor/>
                          </m:rPr>
                          <a:rPr lang="en-US" sz="210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old</m:t>
                        </m:r>
                      </m:sub>
                    </m:sSub>
                    <m:r>
                      <a:rPr lang="ar-AE" sz="210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sz="210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𝛼𝛻</m:t>
                    </m:r>
                    <m:r>
                      <a:rPr lang="ar-AE" sz="210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a:rPr lang="ar-AE" sz="210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ar-AE" sz="210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sz="2109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sz="2109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m:rPr>
                            <m:nor/>
                          </m:rPr>
                          <a:rPr lang="en-US" sz="210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old</m:t>
                        </m:r>
                      </m:sub>
                    </m:sSub>
                    <m:r>
                      <a:rPr lang="ar-AE" sz="210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dirty="0"/>
              </a:p>
              <a:p>
                <a:pPr marL="597624" lvl="2" indent="-200267" defTabSz="158236">
                  <a:spcBef>
                    <a:spcPts val="2039"/>
                  </a:spcBef>
                  <a:defRPr sz="2492"/>
                </a:pPr>
                <a:r>
                  <a:rPr dirty="0"/>
                  <a:t>Where </a:t>
                </a:r>
                <a14:m>
                  <m:oMath xmlns:m="http://schemas.openxmlformats.org/officeDocument/2006/math">
                    <m:r>
                      <a:rPr sz="210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dirty="0"/>
                  <a:t> is the </a:t>
                </a:r>
                <a:r>
                  <a:rPr i="1" dirty="0"/>
                  <a:t>learning rate</a:t>
                </a:r>
                <a:r>
                  <a:rPr dirty="0"/>
                  <a:t>, a hyperparameter, that controls the step size</a:t>
                </a:r>
              </a:p>
              <a:p>
                <a:pPr marL="398946" lvl="1" indent="-200267" defTabSz="158236">
                  <a:spcBef>
                    <a:spcPts val="2039"/>
                  </a:spcBef>
                  <a:defRPr sz="2492"/>
                </a:pPr>
                <a:r>
                  <a:rPr dirty="0"/>
                  <a:t>Repeat previous step until convergence is reached</a:t>
                </a:r>
                <a:br>
                  <a:rPr dirty="0"/>
                </a:br>
                <a:endParaRPr dirty="0"/>
              </a:p>
              <a:p>
                <a:pPr marL="198678" indent="-198678" defTabSz="158236">
                  <a:spcBef>
                    <a:spcPts val="2039"/>
                  </a:spcBef>
                  <a:defRPr sz="2492"/>
                </a:pPr>
                <a:r>
                  <a:rPr dirty="0"/>
                  <a:t>The term “Batch” refers to the fact that all the training data is used </a:t>
                </a:r>
              </a:p>
            </p:txBody>
          </p:sp>
        </mc:Choice>
        <mc:Fallback xmlns="">
          <p:sp>
            <p:nvSpPr>
              <p:cNvPr id="219" name="Batch Gradient Descent Algorithm: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50367" y="1746504"/>
                <a:ext cx="10691265" cy="3739896"/>
              </a:xfrm>
              <a:prstGeom prst="rect">
                <a:avLst/>
              </a:prstGeom>
              <a:blipFill>
                <a:blip r:embed="rId2"/>
                <a:stretch>
                  <a:fillRect l="-570" t="-1958" b="-9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 descr="A diagram of a curve&#10;&#10;AI-generated content may be incorrect.">
            <a:extLst>
              <a:ext uri="{FF2B5EF4-FFF2-40B4-BE49-F238E27FC236}">
                <a16:creationId xmlns:a16="http://schemas.microsoft.com/office/drawing/2014/main" id="{0B3422FB-4D89-C27E-D6AE-4401A4A5A4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9288" y="4144264"/>
            <a:ext cx="4070604" cy="2713736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28ABB5-FA59-A509-E9F0-952836449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211" y="91141"/>
            <a:ext cx="10013577" cy="6675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694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Learning Rat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Learning Rate</a:t>
            </a:r>
          </a:p>
        </p:txBody>
      </p:sp>
      <p:sp>
        <p:nvSpPr>
          <p:cNvPr id="223" name="If the learning rate is too high, the gradient descent algorithm will bounce around the minimum and never converg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If the learning rate is too high, the gradient descent algorithm will bounce around the minimum and never converge </a:t>
            </a:r>
          </a:p>
          <a:p>
            <a:pPr lvl="1"/>
            <a:r>
              <a:rPr dirty="0"/>
              <a:t>(See Figure 4-5 in HOML)</a:t>
            </a:r>
          </a:p>
          <a:p>
            <a:r>
              <a:rPr dirty="0"/>
              <a:t>If the learning rate is too low, it could take a very long time to find the minimum </a:t>
            </a:r>
          </a:p>
          <a:p>
            <a:pPr lvl="1"/>
            <a:r>
              <a:rPr dirty="0"/>
              <a:t>(See Figure 4-4 in HOML)</a:t>
            </a:r>
          </a:p>
          <a:p>
            <a:r>
              <a:rPr dirty="0"/>
              <a:t>It is common to start with a small learning rate (~0.01) and adjust based on the performance of the model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radient Descent Variation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Gradient Descent Variations</a:t>
            </a:r>
          </a:p>
        </p:txBody>
      </p:sp>
      <p:sp>
        <p:nvSpPr>
          <p:cNvPr id="227" name="Stochastic gradient descent…"/>
          <p:cNvSpPr txBox="1">
            <a:spLocks noGrp="1"/>
          </p:cNvSpPr>
          <p:nvPr>
            <p:ph type="body" idx="1"/>
          </p:nvPr>
        </p:nvSpPr>
        <p:spPr>
          <a:xfrm>
            <a:off x="2015133" y="1703592"/>
            <a:ext cx="8161734" cy="474467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198678" indent="-198678" defTabSz="158236">
              <a:spcBef>
                <a:spcPts val="500"/>
              </a:spcBef>
              <a:defRPr sz="2492"/>
            </a:pPr>
            <a:r>
              <a:rPr lang="en-US" dirty="0"/>
              <a:t>Stochastic Gradient Descent (SGD)</a:t>
            </a:r>
          </a:p>
          <a:p>
            <a:pPr marL="655878" lvl="1" indent="-198678" defTabSz="158236">
              <a:defRPr sz="2492"/>
            </a:pPr>
            <a:r>
              <a:rPr lang="en-US" sz="2000" dirty="0"/>
              <a:t>How it works:</a:t>
            </a:r>
          </a:p>
          <a:p>
            <a:pPr marL="1113078" lvl="2" indent="-198678" defTabSz="158236">
              <a:defRPr sz="2492"/>
            </a:pPr>
            <a:r>
              <a:rPr lang="en-US" sz="2000" dirty="0"/>
              <a:t>Chooses one random instance at each step.</a:t>
            </a:r>
          </a:p>
          <a:p>
            <a:pPr marL="1113078" lvl="2" indent="-198678" defTabSz="158236">
              <a:defRPr sz="2492"/>
            </a:pPr>
            <a:r>
              <a:rPr lang="en-US" sz="2000" dirty="0"/>
              <a:t>Computes the gradient based on that single instance.</a:t>
            </a:r>
          </a:p>
          <a:p>
            <a:pPr marL="655878" lvl="1" indent="-198678" defTabSz="158236">
              <a:defRPr sz="2492"/>
            </a:pPr>
            <a:r>
              <a:rPr lang="en-US" sz="2000" b="1" dirty="0"/>
              <a:t>Pros</a:t>
            </a:r>
            <a:r>
              <a:rPr lang="en-US" sz="2000" dirty="0"/>
              <a:t>:</a:t>
            </a:r>
          </a:p>
          <a:p>
            <a:pPr marL="1113078" lvl="2" indent="-198678" defTabSz="158236">
              <a:defRPr sz="2492"/>
            </a:pPr>
            <a:r>
              <a:rPr lang="en-US" sz="2000" dirty="0"/>
              <a:t>Faster per update (small computation).</a:t>
            </a:r>
          </a:p>
          <a:p>
            <a:pPr marL="1113078" lvl="2" indent="-198678" defTabSz="158236">
              <a:defRPr sz="2492"/>
            </a:pPr>
            <a:r>
              <a:rPr lang="en-US" sz="2000" dirty="0"/>
              <a:t>Randomness helps escape local minima on complex cost surfaces.</a:t>
            </a:r>
          </a:p>
          <a:p>
            <a:pPr marL="655878" lvl="1" indent="-198678" defTabSz="158236">
              <a:defRPr sz="2492"/>
            </a:pPr>
            <a:r>
              <a:rPr lang="en-US" sz="2200" b="1" dirty="0"/>
              <a:t>Cons</a:t>
            </a:r>
            <a:r>
              <a:rPr lang="en-US" sz="2200" dirty="0"/>
              <a:t>:</a:t>
            </a:r>
          </a:p>
          <a:p>
            <a:pPr marL="1113078" lvl="2" indent="-198678" defTabSz="158236">
              <a:defRPr sz="2492"/>
            </a:pPr>
            <a:r>
              <a:rPr lang="en-US" sz="2000" dirty="0"/>
              <a:t>Updates are noisy; the algorithm never fully “settles.”</a:t>
            </a:r>
          </a:p>
          <a:p>
            <a:pPr marL="1113078" lvl="2" indent="-198678" defTabSz="158236">
              <a:defRPr sz="2492"/>
            </a:pPr>
            <a:r>
              <a:rPr lang="en-US" sz="2000" dirty="0"/>
              <a:t>True minimum is rarely reached—oscillates around it.</a:t>
            </a:r>
            <a:endParaRPr sz="2000" dirty="0"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radient Descent Variation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Gradient Descent Variations</a:t>
            </a:r>
          </a:p>
        </p:txBody>
      </p:sp>
      <p:sp>
        <p:nvSpPr>
          <p:cNvPr id="231" name="Mini-batch gradient descent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en-US" dirty="0"/>
              <a:t>Mini-Batch Gradient Descent</a:t>
            </a:r>
          </a:p>
          <a:p>
            <a:pPr lvl="1"/>
            <a:r>
              <a:rPr lang="en-US" dirty="0"/>
              <a:t>How it works:</a:t>
            </a:r>
          </a:p>
          <a:p>
            <a:pPr lvl="2"/>
            <a:r>
              <a:rPr lang="en-US" dirty="0"/>
              <a:t>Chooses a small random subset (mini-batch) of training data at each step.</a:t>
            </a:r>
          </a:p>
          <a:p>
            <a:pPr lvl="2"/>
            <a:r>
              <a:rPr lang="en-US" dirty="0"/>
              <a:t>Computes the gradient based on that subset.</a:t>
            </a:r>
          </a:p>
          <a:p>
            <a:pPr lvl="1"/>
            <a:r>
              <a:rPr lang="en-US" b="1" dirty="0"/>
              <a:t>Pros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More stable than SGD (less noisy updates).</a:t>
            </a:r>
          </a:p>
          <a:p>
            <a:pPr lvl="2"/>
            <a:r>
              <a:rPr lang="en-US" dirty="0"/>
              <a:t>Faster than full batch gradient descent for large datasets.</a:t>
            </a:r>
          </a:p>
          <a:p>
            <a:pPr lvl="2"/>
            <a:r>
              <a:rPr lang="en-US" dirty="0"/>
              <a:t>Leverages vectorized operations for efficiency.</a:t>
            </a:r>
          </a:p>
          <a:p>
            <a:pPr lvl="1"/>
            <a:r>
              <a:rPr lang="en-US" b="1" dirty="0"/>
              <a:t>Cons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Still introduces some randomness, so convergence is not perfectly smooth.</a:t>
            </a:r>
          </a:p>
          <a:p>
            <a:pPr lvl="2"/>
            <a:r>
              <a:rPr lang="en-US" dirty="0"/>
              <a:t>Requires tuning batch size (too small = noisy, too large = slow).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A9BFD-6E0B-47A4-FBC7-AFBD0F3F2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radient Descent Variations">
            <a:extLst>
              <a:ext uri="{FF2B5EF4-FFF2-40B4-BE49-F238E27FC236}">
                <a16:creationId xmlns:a16="http://schemas.microsoft.com/office/drawing/2014/main" id="{7C467131-4776-FA4B-BC65-BD81931E6E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Gradient Descent Variations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Mini-batch gradient descent…">
                <a:extLst>
                  <a:ext uri="{FF2B5EF4-FFF2-40B4-BE49-F238E27FC236}">
                    <a16:creationId xmlns:a16="http://schemas.microsoft.com/office/drawing/2014/main" id="{A7AEB135-C451-7FA7-5059-91331A271174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700635" y="1888236"/>
                <a:ext cx="10691265" cy="3739896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r>
                  <a:rPr lang="en-US" dirty="0"/>
                  <a:t>Adam Optimizer</a:t>
                </a:r>
              </a:p>
              <a:p>
                <a:r>
                  <a:rPr lang="en-US" dirty="0"/>
                  <a:t>How it works:</a:t>
                </a:r>
              </a:p>
              <a:p>
                <a:pPr lvl="1"/>
                <a:r>
                  <a:rPr lang="en-US" dirty="0"/>
                  <a:t>Maintains two moving averages:</a:t>
                </a:r>
              </a:p>
              <a:p>
                <a:pPr lvl="1"/>
                <a:r>
                  <a:rPr lang="en-US" dirty="0"/>
                  <a:t>First moment (m): average of gradients (like momentum).</a:t>
                </a:r>
              </a:p>
              <a:p>
                <a:pPr lvl="1"/>
                <a:r>
                  <a:rPr lang="en-US" dirty="0"/>
                  <a:t>Second moment (v): average of squared gradients</a:t>
                </a:r>
              </a:p>
              <a:p>
                <a:pPr lvl="1"/>
                <a:r>
                  <a:rPr lang="en-US" dirty="0"/>
                  <a:t>Applies bias correction to both moments.</a:t>
                </a:r>
              </a:p>
              <a:p>
                <a:pPr lvl="1"/>
                <a:r>
                  <a:rPr lang="en-US" dirty="0"/>
                  <a:t>Update rule:</a:t>
                </a:r>
              </a:p>
              <a:p>
                <a:pPr marL="914400" lvl="2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𝑜𝑙𝑑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̂"/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num>
                      <m:den>
                        <m:rad>
                          <m:radPr>
                            <m:degHide m:val="on"/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acc>
                              <m:accPr>
                                <m:chr m:val="̂"/>
                                <m:ctrlP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acc>
                          </m:e>
                        </m:rad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𝜖</m:t>
                        </m:r>
                      </m:den>
                    </m:f>
                  </m:oMath>
                </a14:m>
                <a:endParaRPr lang="en-US" dirty="0"/>
              </a:p>
              <a:p>
                <a:pPr marL="914400" lvl="2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31" name="Mini-batch gradient descent…">
                <a:extLst>
                  <a:ext uri="{FF2B5EF4-FFF2-40B4-BE49-F238E27FC236}">
                    <a16:creationId xmlns:a16="http://schemas.microsoft.com/office/drawing/2014/main" id="{A7AEB135-C451-7FA7-5059-91331A271174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00635" y="1888236"/>
                <a:ext cx="10691265" cy="3739896"/>
              </a:xfrm>
              <a:prstGeom prst="rect">
                <a:avLst/>
              </a:prstGeom>
              <a:blipFill>
                <a:blip r:embed="rId2"/>
                <a:stretch>
                  <a:fillRect l="-513" t="-8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8491146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Learning Schedu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Learning Schedule</a:t>
            </a:r>
          </a:p>
        </p:txBody>
      </p:sp>
      <p:sp>
        <p:nvSpPr>
          <p:cNvPr id="235" name="A way to help “settle” stochastic gradient descent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85000" lnSpcReduction="10000"/>
          </a:bodyPr>
          <a:lstStyle/>
          <a:p>
            <a:r>
              <a:rPr dirty="0"/>
              <a:t>A way to help “settle” stochastic gradient descent </a:t>
            </a:r>
          </a:p>
          <a:p>
            <a:r>
              <a:rPr dirty="0"/>
              <a:t>Gradually reduce the learning rate according to a function called the “learning schedule”</a:t>
            </a:r>
          </a:p>
          <a:p>
            <a:r>
              <a:rPr lang="en-US" dirty="0"/>
              <a:t>Additional Points:</a:t>
            </a:r>
          </a:p>
          <a:p>
            <a:pPr lvl="1"/>
            <a:r>
              <a:rPr lang="en-US" dirty="0"/>
              <a:t>Common schedules include:</a:t>
            </a:r>
          </a:p>
          <a:p>
            <a:pPr lvl="1"/>
            <a:r>
              <a:rPr lang="en-US" dirty="0"/>
              <a:t>Step decay: Reduce learning rate by a factor after a fixed number of epochs.</a:t>
            </a:r>
          </a:p>
          <a:p>
            <a:pPr lvl="1"/>
            <a:r>
              <a:rPr lang="en-US" dirty="0"/>
              <a:t>Exponential decay: Multiply learning rate by a constant factor each epoch.</a:t>
            </a:r>
          </a:p>
          <a:p>
            <a:pPr lvl="1"/>
            <a:r>
              <a:rPr lang="en-US" dirty="0"/>
              <a:t>Polynomial decay: Decrease learning rate following a polynomial function.</a:t>
            </a:r>
          </a:p>
          <a:p>
            <a:r>
              <a:rPr lang="en-US" dirty="0"/>
              <a:t>Modern techniques:</a:t>
            </a:r>
          </a:p>
          <a:p>
            <a:pPr lvl="1"/>
            <a:r>
              <a:rPr lang="en-US" dirty="0"/>
              <a:t>Cosine Annealing: Learning rate follows a cosine curve, often combined with restarts.</a:t>
            </a:r>
          </a:p>
          <a:p>
            <a:pPr lvl="1"/>
            <a:r>
              <a:rPr lang="en-US" dirty="0"/>
              <a:t>One-cycle policy: Increase learning rate initially, then decrease sharply for better convergence.</a:t>
            </a:r>
          </a:p>
          <a:p>
            <a:pPr lvl="1"/>
            <a:r>
              <a:rPr lang="en-US" dirty="0"/>
              <a:t>Adaptive methods (Adam, </a:t>
            </a:r>
            <a:r>
              <a:rPr lang="en-US" dirty="0" err="1"/>
              <a:t>RMSProp</a:t>
            </a:r>
            <a:r>
              <a:rPr lang="en-US" dirty="0"/>
              <a:t>): Adjust learning rate per parameter automatically based on gradient history.</a:t>
            </a:r>
            <a:endParaRPr dirty="0"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709</TotalTime>
  <Words>571</Words>
  <Application>Microsoft Office PowerPoint</Application>
  <PresentationFormat>Widescreen</PresentationFormat>
  <Paragraphs>64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Calisto MT</vt:lpstr>
      <vt:lpstr>Cambria Math</vt:lpstr>
      <vt:lpstr>Univers Condensed</vt:lpstr>
      <vt:lpstr>ChronicleVTI</vt:lpstr>
      <vt:lpstr>Gradient Descent (From OLS Slides)</vt:lpstr>
      <vt:lpstr>Gradient Descent (High level) </vt:lpstr>
      <vt:lpstr>Gradient Descent </vt:lpstr>
      <vt:lpstr>PowerPoint Presentation</vt:lpstr>
      <vt:lpstr>Learning Rate</vt:lpstr>
      <vt:lpstr>Gradient Descent Variations</vt:lpstr>
      <vt:lpstr>Gradient Descent Variations</vt:lpstr>
      <vt:lpstr>Gradient Descent Variations</vt:lpstr>
      <vt:lpstr>Learning Schedule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Jake Rhodes</dc:creator>
  <cp:lastModifiedBy>Jake Rhodes</cp:lastModifiedBy>
  <cp:revision>32</cp:revision>
  <dcterms:created xsi:type="dcterms:W3CDTF">2025-10-28T15:32:43Z</dcterms:created>
  <dcterms:modified xsi:type="dcterms:W3CDTF">2026-09-14T15:51:00Z</dcterms:modified>
</cp:coreProperties>
</file>