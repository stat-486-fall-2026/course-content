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0"/>
  </p:notesMasterIdLst>
  <p:sldIdLst>
    <p:sldId id="256" r:id="rId2"/>
    <p:sldId id="265" r:id="rId3"/>
    <p:sldId id="268" r:id="rId4"/>
    <p:sldId id="269" r:id="rId5"/>
    <p:sldId id="270" r:id="rId6"/>
    <p:sldId id="271" r:id="rId7"/>
    <p:sldId id="305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1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58054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AB6A9-9016-16C9-4677-463285D4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4" t="9091" r="8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ethod 2: Gradient Desc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</a:t>
            </a:r>
            <a:r>
              <a:rPr lang="en-US" dirty="0"/>
              <a:t> (High level)</a:t>
            </a:r>
            <a:r>
              <a:rPr dirty="0"/>
              <a:t> </a:t>
            </a:r>
          </a:p>
        </p:txBody>
      </p:sp>
      <p:sp>
        <p:nvSpPr>
          <p:cNvPr id="207" name="Numerical optimization algorithm that tweaks parameters iteratively until the minimum is foun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Numerical optimization algorithm that tweaks parameters iteratively until the minimum is found</a:t>
            </a:r>
          </a:p>
          <a:p>
            <a:pPr lvl="1"/>
            <a:r>
              <a:rPr dirty="0"/>
              <a:t>“Descend” the gradient of the cost function in the steepest direction until the minimum is reached</a:t>
            </a:r>
          </a:p>
          <a:p>
            <a:r>
              <a:rPr dirty="0"/>
              <a:t>What is the gradient?</a:t>
            </a:r>
            <a:endParaRPr lang="en-US" dirty="0"/>
          </a:p>
          <a:p>
            <a:pPr lvl="1"/>
            <a:r>
              <a:rPr lang="en-US" dirty="0"/>
              <a:t>The vector that points in the direction of the greatest rate of increase for a function</a:t>
            </a:r>
          </a:p>
          <a:p>
            <a:pPr lvl="1"/>
            <a:r>
              <a:rPr lang="en-US" dirty="0"/>
              <a:t>It is the vector of partial derivatives</a:t>
            </a:r>
          </a:p>
          <a:p>
            <a:endParaRPr dirty="0"/>
          </a:p>
        </p:txBody>
      </p:sp>
      <p:pic>
        <p:nvPicPr>
          <p:cNvPr id="3" name="Picture 2" descr="A diagram of a curve&#10;&#10;AI-generated content may be incorrect.">
            <a:extLst>
              <a:ext uri="{FF2B5EF4-FFF2-40B4-BE49-F238E27FC236}">
                <a16:creationId xmlns:a16="http://schemas.microsoft.com/office/drawing/2014/main" id="{3B69C37E-6197-CBCD-92FD-28F01A5B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raining Method 2: Gradient Descent"/>
          <p:cNvSpPr txBox="1">
            <a:spLocks noGrp="1"/>
          </p:cNvSpPr>
          <p:nvPr>
            <p:ph type="title"/>
          </p:nvPr>
        </p:nvSpPr>
        <p:spPr>
          <a:xfrm>
            <a:off x="700635" y="914400"/>
            <a:ext cx="10691265" cy="63093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8600">
              <a:defRPr sz="5400" spc="-53"/>
            </a:lvl1pPr>
          </a:lstStyle>
          <a:p>
            <a:r>
              <a:rPr sz="4000" dirty="0"/>
              <a:t>Gradient Descent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Batch Gradient Descent Algorithm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 marL="198678" indent="-198678" defTabSz="158236">
                  <a:spcBef>
                    <a:spcPts val="2039"/>
                  </a:spcBef>
                  <a:defRPr sz="2492" b="1">
                    <a:latin typeface="Graphik"/>
                    <a:ea typeface="Graphik"/>
                    <a:cs typeface="Graphik"/>
                    <a:sym typeface="Graphik"/>
                  </a:defRPr>
                </a:pPr>
                <a:r>
                  <a:rPr dirty="0"/>
                  <a:t>Batch Gradient Descent Algorithm: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Choose initial values for the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</m:oMath>
                </a14:m>
                <a:r>
                  <a:rPr dirty="0"/>
                  <a:t> vector (that is, choose a value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)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Adjust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</m:oMath>
                </a14:m>
                <a:r>
                  <a:rPr dirty="0"/>
                  <a:t> by moving in the opposite direction of the gradient: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109" i="1" smtClean="0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 smtClean="0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𝛼𝛻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597624" lvl="2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Where </a:t>
                </a:r>
                <a14:m>
                  <m:oMath xmlns:m="http://schemas.openxmlformats.org/officeDocument/2006/math"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is the </a:t>
                </a:r>
                <a:r>
                  <a:rPr i="1" dirty="0"/>
                  <a:t>learning rate</a:t>
                </a:r>
                <a:r>
                  <a:rPr dirty="0"/>
                  <a:t>, a hyperparameter, that controls the step size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Repeat previous step until convergence is reached</a:t>
                </a:r>
                <a:br>
                  <a:rPr dirty="0"/>
                </a:br>
                <a:endParaRPr dirty="0"/>
              </a:p>
              <a:p>
                <a:pPr marL="198678" indent="-198678" defTabSz="158236">
                  <a:spcBef>
                    <a:spcPts val="2039"/>
                  </a:spcBef>
                  <a:defRPr sz="2492"/>
                </a:pPr>
                <a:r>
                  <a:rPr dirty="0"/>
                  <a:t>The term “Batch” refers to the fact that all the training data is used </a:t>
                </a:r>
              </a:p>
            </p:txBody>
          </p:sp>
        </mc:Choice>
        <mc:Fallback>
          <p:sp>
            <p:nvSpPr>
              <p:cNvPr id="219" name="Batch Gradient Descent Algorithm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399" t="-1631" b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diagram of a curve&#10;&#10;AI-generated content may be incorrect.">
            <a:extLst>
              <a:ext uri="{FF2B5EF4-FFF2-40B4-BE49-F238E27FC236}">
                <a16:creationId xmlns:a16="http://schemas.microsoft.com/office/drawing/2014/main" id="{0B3422FB-4D89-C27E-D6AE-4401A4A5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Learning R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Learning Rate</a:t>
            </a:r>
          </a:p>
        </p:txBody>
      </p:sp>
      <p:sp>
        <p:nvSpPr>
          <p:cNvPr id="223" name="If the learning rate is too high, the gradient descent algorithm will bounce around the minimum and never converg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the learning rate is too high, the gradient descent algorithm will bounce around the minimum and never converge </a:t>
            </a:r>
          </a:p>
          <a:p>
            <a:pPr lvl="1"/>
            <a:r>
              <a:rPr dirty="0"/>
              <a:t>(See Figure 4-5 in HOML)</a:t>
            </a:r>
          </a:p>
          <a:p>
            <a:r>
              <a:rPr dirty="0"/>
              <a:t>If the learning rate is too low, it could take a very long time to find the minimum </a:t>
            </a:r>
          </a:p>
          <a:p>
            <a:pPr lvl="1"/>
            <a:r>
              <a:rPr dirty="0"/>
              <a:t>(See Figure 4-4 in HOML)</a:t>
            </a:r>
          </a:p>
          <a:p>
            <a:r>
              <a:rPr dirty="0"/>
              <a:t>It is common to start with a small learning rate (~0.01) and adjust based on the performance of the model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27" name="Stochastic gradient descent…"/>
          <p:cNvSpPr txBox="1">
            <a:spLocks noGrp="1"/>
          </p:cNvSpPr>
          <p:nvPr>
            <p:ph type="body" idx="1"/>
          </p:nvPr>
        </p:nvSpPr>
        <p:spPr>
          <a:xfrm>
            <a:off x="2015133" y="1703592"/>
            <a:ext cx="8161734" cy="47446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98678" indent="-198678" defTabSz="158236">
              <a:spcBef>
                <a:spcPts val="500"/>
              </a:spcBef>
              <a:defRPr sz="2492"/>
            </a:pPr>
            <a:r>
              <a:rPr lang="en-US" dirty="0"/>
              <a:t>Stochastic Gradient Descent (SGD)</a:t>
            </a:r>
          </a:p>
          <a:p>
            <a:pPr marL="655878" lvl="1" indent="-198678" defTabSz="158236">
              <a:defRPr sz="2492"/>
            </a:pPr>
            <a:r>
              <a:rPr lang="en-US" sz="2000" dirty="0"/>
              <a:t>How it works: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Chooses one random instance at each step.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Computes the gradient based on that single instance.</a:t>
            </a:r>
          </a:p>
          <a:p>
            <a:pPr marL="655878" lvl="1" indent="-198678" defTabSz="158236">
              <a:defRPr sz="2492"/>
            </a:pPr>
            <a:r>
              <a:rPr lang="en-US" sz="2000" b="1" dirty="0"/>
              <a:t>Pros</a:t>
            </a:r>
            <a:r>
              <a:rPr lang="en-US" sz="20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Faster per update (small computation).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Randomness helps escape local minima on complex cost surfaces.</a:t>
            </a:r>
          </a:p>
          <a:p>
            <a:pPr marL="655878" lvl="1" indent="-198678" defTabSz="158236">
              <a:defRPr sz="2492"/>
            </a:pPr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Updates are noisy; the algorithm never fully “settles.”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True minimum is rarely reached—oscillates around it.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31" name="Mini-batch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Mini-Batch Gradient Descent</a:t>
            </a:r>
          </a:p>
          <a:p>
            <a:pPr lvl="1"/>
            <a:r>
              <a:rPr lang="en-US" dirty="0"/>
              <a:t>How it works:</a:t>
            </a:r>
          </a:p>
          <a:p>
            <a:pPr lvl="2"/>
            <a:r>
              <a:rPr lang="en-US" dirty="0"/>
              <a:t>Chooses a small random subset (mini-batch) of training data at each step.</a:t>
            </a:r>
          </a:p>
          <a:p>
            <a:pPr lvl="2"/>
            <a:r>
              <a:rPr lang="en-US" dirty="0"/>
              <a:t>Computes the gradient based on that subset.</a:t>
            </a:r>
          </a:p>
          <a:p>
            <a:pPr lvl="1"/>
            <a:r>
              <a:rPr lang="en-US" b="1" dirty="0"/>
              <a:t>Pros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More stable than SGD (less noisy updates).</a:t>
            </a:r>
          </a:p>
          <a:p>
            <a:pPr lvl="2"/>
            <a:r>
              <a:rPr lang="en-US" dirty="0"/>
              <a:t>Faster than full batch gradient descent for large datasets.</a:t>
            </a:r>
          </a:p>
          <a:p>
            <a:pPr lvl="2"/>
            <a:r>
              <a:rPr lang="en-US" dirty="0"/>
              <a:t>Leverages vectorized operations for efficiency.</a:t>
            </a:r>
          </a:p>
          <a:p>
            <a:pPr lvl="1"/>
            <a:r>
              <a:rPr lang="en-US" b="1" dirty="0"/>
              <a:t>Cons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Still introduces some randomness, so convergence is not perfectly smooth.</a:t>
            </a:r>
          </a:p>
          <a:p>
            <a:pPr lvl="2"/>
            <a:r>
              <a:rPr lang="en-US" dirty="0"/>
              <a:t>Requires tuning batch size (too small = noisy, too large = slow).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9BFD-6E0B-47A4-FBC7-AFBD0F3F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>
            <a:extLst>
              <a:ext uri="{FF2B5EF4-FFF2-40B4-BE49-F238E27FC236}">
                <a16:creationId xmlns:a16="http://schemas.microsoft.com/office/drawing/2014/main" id="{7C467131-4776-FA4B-BC65-BD81931E6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Adam Optimizer</a:t>
                </a:r>
              </a:p>
              <a:p>
                <a:r>
                  <a:rPr lang="en-US" dirty="0"/>
                  <a:t>How it works:</a:t>
                </a:r>
              </a:p>
              <a:p>
                <a:pPr lvl="1"/>
                <a:r>
                  <a:rPr lang="en-US" dirty="0"/>
                  <a:t>Maintains two moving averages:</a:t>
                </a:r>
              </a:p>
              <a:p>
                <a:pPr lvl="1"/>
                <a:r>
                  <a:rPr lang="en-US" dirty="0"/>
                  <a:t>First moment (m): average of gradients (like momentum).</a:t>
                </a:r>
              </a:p>
              <a:p>
                <a:pPr lvl="1"/>
                <a:r>
                  <a:rPr lang="en-US" dirty="0"/>
                  <a:t>Second moment (v): average of squared gradients</a:t>
                </a:r>
              </a:p>
              <a:p>
                <a:pPr lvl="1"/>
                <a:r>
                  <a:rPr lang="en-US" dirty="0"/>
                  <a:t>Applies bias correction to both moments.</a:t>
                </a:r>
              </a:p>
              <a:p>
                <a:pPr lvl="1"/>
                <a:r>
                  <a:rPr lang="en-US" dirty="0"/>
                  <a:t>Update rule:</a:t>
                </a:r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ra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911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Learning Sche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Learning Schedule</a:t>
            </a:r>
          </a:p>
        </p:txBody>
      </p:sp>
      <p:sp>
        <p:nvSpPr>
          <p:cNvPr id="235" name="A way to help “settle” stochastic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rPr dirty="0"/>
              <a:t>A way to help “settle” stochastic gradient descent </a:t>
            </a:r>
          </a:p>
          <a:p>
            <a:r>
              <a:rPr dirty="0"/>
              <a:t>Gradually reduce the learning rate according to a function called the “learning schedule”</a:t>
            </a:r>
          </a:p>
          <a:p>
            <a:r>
              <a:rPr lang="en-US" dirty="0"/>
              <a:t>Additional Points:</a:t>
            </a:r>
          </a:p>
          <a:p>
            <a:pPr lvl="1"/>
            <a:r>
              <a:rPr lang="en-US" dirty="0"/>
              <a:t>Common schedules include:</a:t>
            </a:r>
          </a:p>
          <a:p>
            <a:pPr lvl="1"/>
            <a:r>
              <a:rPr lang="en-US" dirty="0"/>
              <a:t>Step decay: Reduce learning rate by a factor after a fixed number of epochs.</a:t>
            </a:r>
          </a:p>
          <a:p>
            <a:pPr lvl="1"/>
            <a:r>
              <a:rPr lang="en-US" dirty="0"/>
              <a:t>Exponential decay: Multiply learning rate by a constant factor each epoch.</a:t>
            </a:r>
          </a:p>
          <a:p>
            <a:pPr lvl="1"/>
            <a:r>
              <a:rPr lang="en-US" dirty="0"/>
              <a:t>Polynomial decay: Decrease learning rate following a polynomial function.</a:t>
            </a:r>
          </a:p>
          <a:p>
            <a:r>
              <a:rPr lang="en-US" dirty="0"/>
              <a:t>Modern techniques:</a:t>
            </a:r>
          </a:p>
          <a:p>
            <a:pPr lvl="1"/>
            <a:r>
              <a:rPr lang="en-US" dirty="0"/>
              <a:t>Cosine Annealing: Learning rate follows a cosine curve, often combined with restarts.</a:t>
            </a:r>
          </a:p>
          <a:p>
            <a:pPr lvl="1"/>
            <a:r>
              <a:rPr lang="en-US" dirty="0"/>
              <a:t>One-cycle policy: Increase learning rate initially, then decrease sharply for better convergence.</a:t>
            </a:r>
          </a:p>
          <a:p>
            <a:pPr lvl="1"/>
            <a:r>
              <a:rPr lang="en-US" dirty="0"/>
              <a:t>Adaptive methods (Adam, </a:t>
            </a:r>
            <a:r>
              <a:rPr lang="en-US" dirty="0" err="1"/>
              <a:t>RMSProp</a:t>
            </a:r>
            <a:r>
              <a:rPr lang="en-US" dirty="0"/>
              <a:t>): Adjust learning rate per parameter automatically based on gradient history.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566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Calisto MT</vt:lpstr>
      <vt:lpstr>Cambria Math</vt:lpstr>
      <vt:lpstr>Univers Condensed</vt:lpstr>
      <vt:lpstr>ChronicleVTI</vt:lpstr>
      <vt:lpstr>Gradient Descent</vt:lpstr>
      <vt:lpstr>Gradient Descent (High level) </vt:lpstr>
      <vt:lpstr>Gradient Descent </vt:lpstr>
      <vt:lpstr>Learning Rate</vt:lpstr>
      <vt:lpstr>Gradient Descent Variations</vt:lpstr>
      <vt:lpstr>Gradient Descent Variations</vt:lpstr>
      <vt:lpstr>Gradient Descent Variations</vt:lpstr>
      <vt:lpstr>Learning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30</cp:revision>
  <dcterms:created xsi:type="dcterms:W3CDTF">2025-10-28T15:32:43Z</dcterms:created>
  <dcterms:modified xsi:type="dcterms:W3CDTF">2026-08-31T17:53:04Z</dcterms:modified>
</cp:coreProperties>
</file>