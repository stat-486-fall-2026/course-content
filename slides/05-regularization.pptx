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5"/>
  </p:notesMasterIdLst>
  <p:sldIdLst>
    <p:sldId id="256" r:id="rId2"/>
    <p:sldId id="274" r:id="rId3"/>
    <p:sldId id="307" r:id="rId4"/>
    <p:sldId id="275" r:id="rId5"/>
    <p:sldId id="276" r:id="rId6"/>
    <p:sldId id="277" r:id="rId7"/>
    <p:sldId id="278" r:id="rId8"/>
    <p:sldId id="280" r:id="rId9"/>
    <p:sldId id="281" r:id="rId10"/>
    <p:sldId id="306" r:id="rId11"/>
    <p:sldId id="285" r:id="rId12"/>
    <p:sldId id="287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63805" autoAdjust="0"/>
  </p:normalViewPr>
  <p:slideViewPr>
    <p:cSldViewPr snapToGrid="0">
      <p:cViewPr varScale="1">
        <p:scale>
          <a:sx n="102" d="100"/>
          <a:sy n="102" d="100"/>
        </p:scale>
        <p:origin x="24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npimport</a:t>
            </a:r>
            <a:r>
              <a:rPr lang="en-US" dirty="0"/>
              <a:t>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pltfrom</a:t>
            </a:r>
            <a:r>
              <a:rPr lang="en-US" dirty="0"/>
              <a:t> </a:t>
            </a:r>
            <a:r>
              <a:rPr lang="en-US" dirty="0" err="1"/>
              <a:t>pathlib</a:t>
            </a:r>
            <a:r>
              <a:rPr lang="en-US" dirty="0"/>
              <a:t> import </a:t>
            </a:r>
            <a:r>
              <a:rPr lang="en-US" dirty="0" err="1"/>
              <a:t>Pathrng</a:t>
            </a:r>
            <a:r>
              <a:rPr lang="en-US" dirty="0"/>
              <a:t> = </a:t>
            </a:r>
            <a:r>
              <a:rPr lang="en-US" dirty="0" err="1"/>
              <a:t>np.random.default_rng</a:t>
            </a:r>
            <a:r>
              <a:rPr lang="en-US" dirty="0"/>
              <a:t>(7)x = </a:t>
            </a:r>
            <a:r>
              <a:rPr lang="en-US" dirty="0" err="1"/>
              <a:t>np.linspace</a:t>
            </a:r>
            <a:r>
              <a:rPr lang="en-US" dirty="0"/>
              <a:t>(0, 10, 22)</a:t>
            </a:r>
            <a:r>
              <a:rPr lang="en-US" dirty="0" err="1"/>
              <a:t>true_function</a:t>
            </a:r>
            <a:r>
              <a:rPr lang="en-US" dirty="0"/>
              <a:t> = lambda x: 0.12 * (x - 5)**2 + 0.5 * </a:t>
            </a:r>
            <a:r>
              <a:rPr lang="en-US" dirty="0" err="1"/>
              <a:t>np.sin</a:t>
            </a:r>
            <a:r>
              <a:rPr lang="en-US" dirty="0"/>
              <a:t>(1.1 * x) + 2y = </a:t>
            </a:r>
            <a:r>
              <a:rPr lang="en-US" dirty="0" err="1"/>
              <a:t>true_function</a:t>
            </a:r>
            <a:r>
              <a:rPr lang="en-US" dirty="0"/>
              <a:t>(x) + </a:t>
            </a:r>
            <a:r>
              <a:rPr lang="en-US" dirty="0" err="1"/>
              <a:t>rng.normal</a:t>
            </a:r>
            <a:r>
              <a:rPr lang="en-US" dirty="0"/>
              <a:t>(0, 0.45, size=</a:t>
            </a:r>
            <a:r>
              <a:rPr lang="en-US" dirty="0" err="1"/>
              <a:t>x.size</a:t>
            </a:r>
            <a:r>
              <a:rPr lang="en-US" dirty="0"/>
              <a:t>)</a:t>
            </a:r>
            <a:r>
              <a:rPr lang="en-US" dirty="0" err="1"/>
              <a:t>x_grid</a:t>
            </a:r>
            <a:r>
              <a:rPr lang="en-US" dirty="0"/>
              <a:t> = </a:t>
            </a:r>
            <a:r>
              <a:rPr lang="en-US" dirty="0" err="1"/>
              <a:t>np.linspace</a:t>
            </a:r>
            <a:r>
              <a:rPr lang="en-US" dirty="0"/>
              <a:t>(0, 10, 800)models = [    ("Underfitting", 1),    ("Good fit", 4),    ("Overfitting", 18),]fig, axes = </a:t>
            </a:r>
            <a:r>
              <a:rPr lang="en-US" dirty="0" err="1"/>
              <a:t>plt.subplots</a:t>
            </a:r>
            <a:r>
              <a:rPr lang="en-US" dirty="0"/>
              <a:t>(1, 3, </a:t>
            </a:r>
            <a:r>
              <a:rPr lang="en-US" dirty="0" err="1"/>
              <a:t>figsize</a:t>
            </a:r>
            <a:r>
              <a:rPr lang="en-US" dirty="0"/>
              <a:t>=(14, 4.8), </a:t>
            </a:r>
            <a:r>
              <a:rPr lang="en-US" dirty="0" err="1"/>
              <a:t>sharex</a:t>
            </a:r>
            <a:r>
              <a:rPr lang="en-US" dirty="0"/>
              <a:t>=True, </a:t>
            </a:r>
            <a:r>
              <a:rPr lang="en-US" dirty="0" err="1"/>
              <a:t>sharey</a:t>
            </a:r>
            <a:r>
              <a:rPr lang="en-US" dirty="0"/>
              <a:t>=True)for ax, (title, degree) in zip(axes, models):    </a:t>
            </a:r>
            <a:r>
              <a:rPr lang="en-US" dirty="0" err="1"/>
              <a:t>coeffs</a:t>
            </a:r>
            <a:r>
              <a:rPr lang="en-US" dirty="0"/>
              <a:t> = </a:t>
            </a:r>
            <a:r>
              <a:rPr lang="en-US" dirty="0" err="1"/>
              <a:t>np.polyfit</a:t>
            </a:r>
            <a:r>
              <a:rPr lang="en-US" dirty="0"/>
              <a:t>(x, y, degree)    </a:t>
            </a:r>
            <a:r>
              <a:rPr lang="en-US" dirty="0" err="1"/>
              <a:t>y_grid</a:t>
            </a:r>
            <a:r>
              <a:rPr lang="en-US" dirty="0"/>
              <a:t> = </a:t>
            </a:r>
            <a:r>
              <a:rPr lang="en-US" dirty="0" err="1"/>
              <a:t>np.polyval</a:t>
            </a:r>
            <a:r>
              <a:rPr lang="en-US" dirty="0"/>
              <a:t>(</a:t>
            </a:r>
            <a:r>
              <a:rPr lang="en-US" dirty="0" err="1"/>
              <a:t>coeffs</a:t>
            </a:r>
            <a:r>
              <a:rPr lang="en-US" dirty="0"/>
              <a:t>, </a:t>
            </a:r>
            <a:r>
              <a:rPr lang="en-US" dirty="0" err="1"/>
              <a:t>x_grid</a:t>
            </a:r>
            <a:r>
              <a:rPr lang="en-US" dirty="0"/>
              <a:t>)    </a:t>
            </a:r>
            <a:r>
              <a:rPr lang="en-US" dirty="0" err="1"/>
              <a:t>ax.scatter</a:t>
            </a:r>
            <a:r>
              <a:rPr lang="en-US" dirty="0"/>
              <a:t>(        x, y,        s=48,        </a:t>
            </a:r>
            <a:r>
              <a:rPr lang="en-US" dirty="0" err="1"/>
              <a:t>facecolors</a:t>
            </a:r>
            <a:r>
              <a:rPr lang="en-US" dirty="0"/>
              <a:t>="white",        </a:t>
            </a:r>
            <a:r>
              <a:rPr lang="en-US" dirty="0" err="1"/>
              <a:t>edgecolors</a:t>
            </a:r>
            <a:r>
              <a:rPr lang="en-US" dirty="0"/>
              <a:t>="black",        linewidths=1.2,        </a:t>
            </a:r>
            <a:r>
              <a:rPr lang="en-US" dirty="0" err="1"/>
              <a:t>zorder</a:t>
            </a:r>
            <a:r>
              <a:rPr lang="en-US" dirty="0"/>
              <a:t>=4,    )    </a:t>
            </a:r>
            <a:r>
              <a:rPr lang="en-US" dirty="0" err="1"/>
              <a:t>ax.plot</a:t>
            </a:r>
            <a:r>
              <a:rPr lang="en-US" dirty="0"/>
              <a:t>(        </a:t>
            </a:r>
            <a:r>
              <a:rPr lang="en-US" dirty="0" err="1"/>
              <a:t>x_grid</a:t>
            </a:r>
            <a:r>
              <a:rPr lang="en-US" dirty="0"/>
              <a:t>, </a:t>
            </a:r>
            <a:r>
              <a:rPr lang="en-US" dirty="0" err="1"/>
              <a:t>y_grid</a:t>
            </a:r>
            <a:r>
              <a:rPr lang="en-US" dirty="0"/>
              <a:t>,        linewidth=2.5,        </a:t>
            </a:r>
            <a:r>
              <a:rPr lang="en-US" dirty="0" err="1"/>
              <a:t>zorder</a:t>
            </a:r>
            <a:r>
              <a:rPr lang="en-US" dirty="0"/>
              <a:t>=3,    )    </a:t>
            </a:r>
            <a:r>
              <a:rPr lang="en-US" dirty="0" err="1"/>
              <a:t>ax.set_title</a:t>
            </a:r>
            <a:r>
              <a:rPr lang="en-US" dirty="0"/>
              <a:t>(f"{title}\</a:t>
            </a:r>
            <a:r>
              <a:rPr lang="en-US" dirty="0" err="1"/>
              <a:t>nPolynomial</a:t>
            </a:r>
            <a:r>
              <a:rPr lang="en-US" dirty="0"/>
              <a:t> degree = {degree}", </a:t>
            </a:r>
            <a:r>
              <a:rPr lang="en-US" dirty="0" err="1"/>
              <a:t>fontsize</a:t>
            </a:r>
            <a:r>
              <a:rPr lang="en-US" dirty="0"/>
              <a:t>=13, pad=10)    </a:t>
            </a:r>
            <a:r>
              <a:rPr lang="en-US" dirty="0" err="1"/>
              <a:t>ax.set_xlabel</a:t>
            </a:r>
            <a:r>
              <a:rPr lang="en-US" dirty="0"/>
              <a:t>("$x$", </a:t>
            </a:r>
            <a:r>
              <a:rPr lang="en-US" dirty="0" err="1"/>
              <a:t>fontsize</a:t>
            </a:r>
            <a:r>
              <a:rPr lang="en-US" dirty="0"/>
              <a:t>=12)    </a:t>
            </a:r>
            <a:r>
              <a:rPr lang="en-US" dirty="0" err="1"/>
              <a:t>ax.grid</a:t>
            </a:r>
            <a:r>
              <a:rPr lang="en-US" dirty="0"/>
              <a:t>(alpha=0.18)axes[0].</a:t>
            </a:r>
            <a:r>
              <a:rPr lang="en-US" dirty="0" err="1"/>
              <a:t>set_ylabel</a:t>
            </a:r>
            <a:r>
              <a:rPr lang="en-US" dirty="0"/>
              <a:t>("$y$", </a:t>
            </a:r>
            <a:r>
              <a:rPr lang="en-US" dirty="0" err="1"/>
              <a:t>fontsize</a:t>
            </a:r>
            <a:r>
              <a:rPr lang="en-US" dirty="0"/>
              <a:t>=12)</a:t>
            </a:r>
            <a:r>
              <a:rPr lang="en-US" dirty="0" err="1"/>
              <a:t>fig.suptitle</a:t>
            </a:r>
            <a:r>
              <a:rPr lang="en-US" dirty="0"/>
              <a:t>(    "Polynomial Regression: Underfitting vs. Good Fit vs. Overfitting",    </a:t>
            </a:r>
            <a:r>
              <a:rPr lang="en-US" dirty="0" err="1"/>
              <a:t>fontsize</a:t>
            </a:r>
            <a:r>
              <a:rPr lang="en-US" dirty="0"/>
              <a:t>=16,    y=1.03,)axes[0].</a:t>
            </a:r>
            <a:r>
              <a:rPr lang="en-US" dirty="0" err="1"/>
              <a:t>set_xlim</a:t>
            </a:r>
            <a:r>
              <a:rPr lang="en-US" dirty="0"/>
              <a:t>(-0.3, 10.3)axes[0].</a:t>
            </a:r>
            <a:r>
              <a:rPr lang="en-US" dirty="0" err="1"/>
              <a:t>set_ylim</a:t>
            </a:r>
            <a:r>
              <a:rPr lang="en-US" dirty="0"/>
              <a:t>(-1.0, 5.5)</a:t>
            </a:r>
            <a:r>
              <a:rPr lang="en-US" dirty="0" err="1"/>
              <a:t>fig.tight_layout</a:t>
            </a:r>
            <a:r>
              <a:rPr lang="en-US" dirty="0"/>
              <a:t>()</a:t>
            </a:r>
            <a:r>
              <a:rPr lang="en-US" dirty="0" err="1"/>
              <a:t>plt.savefig</a:t>
            </a:r>
            <a:r>
              <a:rPr lang="en-US" dirty="0"/>
              <a:t>("polynomial_regression_three_subplots.png", dpi=220, </a:t>
            </a:r>
            <a:r>
              <a:rPr lang="en-US" dirty="0" err="1"/>
              <a:t>bbox_inches</a:t>
            </a:r>
            <a:r>
              <a:rPr lang="en-US" dirty="0"/>
              <a:t>="tight")</a:t>
            </a: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6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54844" y="1017985"/>
            <a:ext cx="10882313" cy="473273"/>
          </a:xfrm>
          <a:prstGeom prst="rect">
            <a:avLst/>
          </a:prstGeom>
        </p:spPr>
        <p:txBody>
          <a:bodyPr/>
          <a:lstStyle>
            <a:lvl1pPr marL="0" indent="0" defTabSz="178587">
              <a:spcBef>
                <a:spcPts val="0"/>
              </a:spcBef>
              <a:buSzTx/>
              <a:buNone/>
              <a:defRPr sz="225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4428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4844" y="2214563"/>
            <a:ext cx="10882313" cy="2277070"/>
          </a:xfrm>
          <a:prstGeom prst="rect">
            <a:avLst/>
          </a:prstGeom>
        </p:spPr>
        <p:txBody>
          <a:bodyPr anchor="ctr"/>
          <a:lstStyle>
            <a:lvl1pPr marL="0" indent="0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1pPr>
            <a:lvl2pPr marL="0" indent="223234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2pPr>
            <a:lvl3pPr marL="0" indent="446469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3pPr>
            <a:lvl4pPr marL="0" indent="669703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4pPr>
            <a:lvl5pPr marL="0" indent="892937" algn="ctr" defTabSz="250022">
              <a:lnSpc>
                <a:spcPct val="90000"/>
              </a:lnSpc>
              <a:spcBef>
                <a:spcPts val="0"/>
              </a:spcBef>
              <a:buSzTx/>
              <a:buNone/>
              <a:defRPr sz="5906" spc="-5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01"/>
          <p:cNvSpPr txBox="1">
            <a:spLocks noGrp="1"/>
          </p:cNvSpPr>
          <p:nvPr>
            <p:ph type="sldNum" sz="quarter" idx="2"/>
          </p:nvPr>
        </p:nvSpPr>
        <p:spPr>
          <a:xfrm>
            <a:off x="11727656" y="6152554"/>
            <a:ext cx="274321" cy="222082"/>
          </a:xfrm>
          <a:prstGeom prst="rect">
            <a:avLst/>
          </a:prstGeom>
        </p:spPr>
        <p:txBody>
          <a:bodyPr wrap="none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94127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  <p:sldLayoutId id="2147483688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vizuaranewsletter.com/p/if-regularization-is-easy-can-yo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desmos.com/3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CB01E9-3FDC-7F85-46FE-0E1D01694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Regularization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Regularization</a:t>
            </a:r>
          </a:p>
        </p:txBody>
      </p:sp>
      <p:sp>
        <p:nvSpPr>
          <p:cNvPr id="241" name="We said that adding constraints to model is a way to simplify the model to help prevent overfitt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Adding </a:t>
            </a:r>
            <a:r>
              <a:rPr dirty="0"/>
              <a:t>constraints to model</a:t>
            </a:r>
            <a:r>
              <a:rPr lang="en-US" dirty="0"/>
              <a:t> </a:t>
            </a:r>
            <a:r>
              <a:rPr dirty="0"/>
              <a:t>to </a:t>
            </a:r>
            <a:r>
              <a:rPr lang="en-US" dirty="0"/>
              <a:t>"</a:t>
            </a:r>
            <a:r>
              <a:rPr dirty="0"/>
              <a:t>simplify</a:t>
            </a:r>
            <a:r>
              <a:rPr lang="en-US" dirty="0"/>
              <a:t>"</a:t>
            </a:r>
            <a:r>
              <a:rPr dirty="0"/>
              <a:t> the model to help prevent overfitting</a:t>
            </a:r>
          </a:p>
          <a:p>
            <a:r>
              <a:rPr lang="en-US" b="1" dirty="0"/>
              <a:t>Regularization</a:t>
            </a:r>
            <a:r>
              <a:rPr lang="en-US" dirty="0"/>
              <a:t>: Techniques that constrain a model to reduce overfitting and improve generalization.</a:t>
            </a:r>
          </a:p>
          <a:p>
            <a:pPr lvl="1"/>
            <a:r>
              <a:rPr dirty="0"/>
              <a:t>Explicit Regularization</a:t>
            </a:r>
          </a:p>
          <a:p>
            <a:pPr lvl="1"/>
            <a:r>
              <a:rPr dirty="0"/>
              <a:t>Implicit Regularization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CE7558-C426-566B-43AD-8D5ECF06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regularization?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3133B-3218-0D6D-54B8-49C105287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1594843"/>
            <a:ext cx="10691265" cy="3739896"/>
          </a:xfrm>
        </p:spPr>
        <p:txBody>
          <a:bodyPr/>
          <a:lstStyle/>
          <a:p>
            <a:r>
              <a:rPr lang="en-US" dirty="0"/>
              <a:t>Recall: Fit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E19C4-DAA6-52B4-6FED-66025041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29" y="2179324"/>
            <a:ext cx="10114208" cy="363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2145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Ex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Explicit Regularization</a:t>
            </a:r>
          </a:p>
        </p:txBody>
      </p:sp>
      <p:sp>
        <p:nvSpPr>
          <p:cNvPr id="245" name="Intentionally and directly add a regularization term to the loss fun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Intentionally and directly add a regularization term to the loss function</a:t>
            </a:r>
          </a:p>
          <a:p>
            <a:r>
              <a:rPr dirty="0"/>
              <a:t>Explicitly modify the optimization objective</a:t>
            </a:r>
          </a:p>
          <a:p>
            <a:r>
              <a:rPr dirty="0"/>
              <a:t>Examples (not exhaustive, but these are the most common):</a:t>
            </a:r>
          </a:p>
          <a:p>
            <a:pPr lvl="3"/>
            <a:r>
              <a:rPr dirty="0"/>
              <a:t>L1 Regularization (Lasso)</a:t>
            </a:r>
          </a:p>
          <a:p>
            <a:pPr lvl="3"/>
            <a:r>
              <a:rPr dirty="0"/>
              <a:t>L2 Regularization (Ridge)</a:t>
            </a:r>
          </a:p>
          <a:p>
            <a:pPr lvl="3"/>
            <a:r>
              <a:rPr dirty="0"/>
              <a:t>Elastic Net (combine L1 and L2 regularization)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Implici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Implicit Regularization</a:t>
            </a:r>
          </a:p>
        </p:txBody>
      </p:sp>
      <p:sp>
        <p:nvSpPr>
          <p:cNvPr id="249" name="Any regularization method that does not explicitly modify the cost or objective function…"/>
          <p:cNvSpPr txBox="1">
            <a:spLocks noGrp="1"/>
          </p:cNvSpPr>
          <p:nvPr>
            <p:ph type="body" idx="1"/>
          </p:nvPr>
        </p:nvSpPr>
        <p:spPr>
          <a:xfrm>
            <a:off x="2015133" y="1579968"/>
            <a:ext cx="8161734" cy="50498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Any regularization method that does not explicitly modify the cost or objective function 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Can be a byproduct of an algorithm, the learning process, or other choices made in training</a:t>
            </a:r>
          </a:p>
          <a:p>
            <a:pPr marL="205376" indent="-205376" defTabSz="163570">
              <a:spcBef>
                <a:spcPts val="500"/>
              </a:spcBef>
              <a:defRPr sz="2576"/>
            </a:pPr>
            <a:r>
              <a:rPr sz="1800" dirty="0"/>
              <a:t>Examples (not exhaustive):</a:t>
            </a:r>
          </a:p>
          <a:p>
            <a:pPr marL="617769" lvl="2" indent="-207018" defTabSz="163570">
              <a:defRPr sz="2576"/>
            </a:pPr>
            <a:r>
              <a:rPr sz="1800" dirty="0"/>
              <a:t>Early stopping (in gradient-based optimization, stop training before convergence is reached)</a:t>
            </a:r>
            <a:endParaRPr lang="en-US" sz="1800" dirty="0"/>
          </a:p>
          <a:p>
            <a:pPr marL="617769" lvl="2" indent="-207018" defTabSz="163570">
              <a:defRPr sz="2576"/>
            </a:pPr>
            <a:r>
              <a:rPr lang="en-US" sz="1800" dirty="0"/>
              <a:t>Dropout (randomly ignoring some parts of a neural network)</a:t>
            </a:r>
          </a:p>
          <a:p>
            <a:pPr marL="617769" lvl="2" indent="-207018" defTabSz="163570">
              <a:defRPr sz="2576"/>
            </a:pPr>
            <a:r>
              <a:rPr lang="en-US" sz="1800" dirty="0"/>
              <a:t>Pruning (simplifying a grown decision tree)</a:t>
            </a:r>
            <a:endParaRPr sz="1800" dirty="0"/>
          </a:p>
          <a:p>
            <a:pPr marL="617769" lvl="2" indent="-207018" defTabSz="163570">
              <a:defRPr sz="2576"/>
            </a:pPr>
            <a:r>
              <a:rPr sz="1800" dirty="0"/>
              <a:t>Data augmentation (adding synthetic data to increase the sample size)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Example of Explicit Regularization in Linear Regression"/>
          <p:cNvSpPr txBox="1">
            <a:spLocks noGrp="1"/>
          </p:cNvSpPr>
          <p:nvPr>
            <p:ph type="body" sz="half" idx="1"/>
          </p:nvPr>
        </p:nvSpPr>
        <p:spPr>
          <a:xfrm>
            <a:off x="2015133" y="1625238"/>
            <a:ext cx="8161734" cy="2866395"/>
          </a:xfrm>
          <a:prstGeom prst="rect">
            <a:avLst/>
          </a:prstGeom>
        </p:spPr>
        <p:txBody>
          <a:bodyPr/>
          <a:lstStyle/>
          <a:p>
            <a:r>
              <a:t>Example of Explicit Regularization in Linear Regression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gularized Cost Fun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Regularized Cost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Least squares cost function: finds the 𝛽's that minimize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Least squares cost function: finds the 𝛽's that minimize</a:t>
                </a: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    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54" name="Least squares cost function: finds the 𝛽's that minimiz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627" t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Least squares cost function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Least squares cost function </a:t>
                </a:r>
                <a:endParaRPr lang="en-US" dirty="0"/>
              </a:p>
              <a:p>
                <a:pPr marL="0" indent="0">
                  <a:buNone/>
                </a:pPr>
                <a:r>
                  <a:rPr dirty="0"/>
                  <a:t>                   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</a:t>
                </a:r>
                <a:r>
                  <a:rPr dirty="0"/>
                  <a:t> </a:t>
                </a:r>
                <a:r>
                  <a:rPr lang="en-US" dirty="0"/>
                  <a:t>        </a:t>
                </a:r>
                <a:r>
                  <a:rPr dirty="0"/>
                  <a:t>(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dirty="0"/>
                  <a:t>)</a:t>
                </a:r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65" name="Least squares cost fun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2" y="2135152"/>
                <a:ext cx="9066321" cy="4232673"/>
              </a:xfrm>
              <a:prstGeom prst="rect">
                <a:avLst/>
              </a:prstGeom>
              <a:blipFill>
                <a:blip r:embed="rId2"/>
                <a:stretch>
                  <a:fillRect l="-740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ries to fit the data well (find  s that move the prediction close to the observed data)"/>
              <p:cNvSpPr txBox="1"/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941751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 dirty="0"/>
                  <a:t>Tries to fit the data well</a:t>
                </a:r>
                <a:br>
                  <a:rPr sz="1266" dirty="0"/>
                </a:br>
                <a:r>
                  <a:rPr sz="1617" dirty="0"/>
                  <a:t>(find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94165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 dirty="0"/>
                  <a:t>s that move the prediction close to the observed data)</a:t>
                </a:r>
              </a:p>
            </p:txBody>
          </p:sp>
        </mc:Choice>
        <mc:Fallback xmlns="">
          <p:sp>
            <p:nvSpPr>
              <p:cNvPr id="266" name="Tries to fit the data well (find  s that move the prediction close to the observed dat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96" y="5352314"/>
                <a:ext cx="2960401" cy="764633"/>
              </a:xfrm>
              <a:prstGeom prst="rect">
                <a:avLst/>
              </a:prstGeom>
              <a:blipFill>
                <a:blip r:embed="rId3"/>
                <a:stretch>
                  <a:fillRect l="-3086" t="-800" r="-617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7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90" y="5167447"/>
            <a:ext cx="2960401" cy="101029"/>
          </a:xfrm>
          <a:prstGeom prst="rect">
            <a:avLst/>
          </a:prstGeom>
        </p:spPr>
      </p:pic>
      <p:pic>
        <p:nvPicPr>
          <p:cNvPr id="269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895188" y="5098753"/>
            <a:ext cx="1065748" cy="101029"/>
          </a:xfrm>
          <a:prstGeom prst="rect">
            <a:avLst/>
          </a:prstGeom>
        </p:spPr>
      </p:pic>
      <p:pic>
        <p:nvPicPr>
          <p:cNvPr id="271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544374" y="4795265"/>
            <a:ext cx="350814" cy="1010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Constrains the model (pushes  s to be close to or exactly equal to 0)"/>
              <p:cNvSpPr txBox="1"/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or exactly equal to 0)</a:t>
                </a:r>
              </a:p>
            </p:txBody>
          </p:sp>
        </mc:Choice>
        <mc:Fallback xmlns="">
          <p:sp>
            <p:nvSpPr>
              <p:cNvPr id="273" name="Constrains the model (pushes  s to be close to or exactly equal to 0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188" y="5280848"/>
                <a:ext cx="2960401" cy="764633"/>
              </a:xfrm>
              <a:prstGeom prst="rect">
                <a:avLst/>
              </a:prstGeom>
              <a:blipFill>
                <a:blip r:embed="rId7"/>
                <a:stretch>
                  <a:fillRect l="-3086" t="-794" b="-11905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Tuning parameter that controls relative impact of two criteria"/>
          <p:cNvSpPr txBox="1"/>
          <p:nvPr/>
        </p:nvSpPr>
        <p:spPr>
          <a:xfrm>
            <a:off x="7861802" y="2698942"/>
            <a:ext cx="3520735" cy="4617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>
                <a:solidFill>
                  <a:srgbClr val="4F8F00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lvl1pPr>
          </a:lstStyle>
          <a:p>
            <a:r>
              <a:rPr sz="1266" dirty="0"/>
              <a:t>Tuning parameter that controls relative impact of two criteria</a:t>
            </a:r>
          </a:p>
        </p:txBody>
      </p:sp>
      <p:pic>
        <p:nvPicPr>
          <p:cNvPr id="275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 rot="6013359">
            <a:off x="7238047" y="3698900"/>
            <a:ext cx="1314283" cy="2869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What happens if   or  ?"/>
              <p:cNvSpPr txBox="1"/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 sz="2300">
                    <a:solidFill>
                      <a:srgbClr val="FF9300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617" dirty="0"/>
                  <a:t>What happens if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617" dirty="0"/>
                  <a:t> or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617" i="1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≈∞</m:t>
                    </m:r>
                  </m:oMath>
                </a14:m>
                <a:r>
                  <a:rPr sz="1617" dirty="0"/>
                  <a:t>?</a:t>
                </a:r>
              </a:p>
            </p:txBody>
          </p:sp>
        </mc:Choice>
        <mc:Fallback xmlns="">
          <p:sp>
            <p:nvSpPr>
              <p:cNvPr id="277" name="What happens if   or  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7" y="3598867"/>
                <a:ext cx="2838867" cy="569836"/>
              </a:xfrm>
              <a:prstGeom prst="rect">
                <a:avLst/>
              </a:prstGeom>
              <a:blipFill>
                <a:blip r:embed="rId9"/>
                <a:stretch>
                  <a:fillRect l="-3219" t="-4255" b="-15957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A577BF1-D405-2A0E-2465-72842BF4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847178"/>
            <a:ext cx="10359033" cy="568363"/>
          </a:xfrm>
        </p:spPr>
        <p:txBody>
          <a:bodyPr>
            <a:normAutofit fontScale="90000"/>
          </a:bodyPr>
          <a:lstStyle/>
          <a:p>
            <a:r>
              <a:rPr lang="en-US" dirty="0"/>
              <a:t>L1 Penalty: LASSO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  <p:bldP spid="273" grpId="0" animBg="1"/>
      <p:bldP spid="2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/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dirty="0"/>
              <a:t>Regularized Cost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Lasso linear regression cost function    (where  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Lasso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𝑙𝑎𝑠𝑠𝑜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d>
                      <m:dPr>
                        <m:begChr m:val="|"/>
                        <m:endChr m:val="|"/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  <a:r>
                  <a:rPr dirty="0"/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dirty="0"/>
                  <a:t>)</a:t>
                </a:r>
              </a:p>
              <a:p>
                <a:r>
                  <a:rPr b="1" u="sng" dirty="0">
                    <a:latin typeface="Graphik"/>
                    <a:ea typeface="Graphik"/>
                    <a:cs typeface="Graphik"/>
                    <a:sym typeface="Graphik"/>
                  </a:rPr>
                  <a:t>Ridge</a:t>
                </a:r>
                <a:r>
                  <a:rPr dirty="0"/>
                  <a:t> linear regression cost function </a:t>
                </a:r>
                <a:br>
                  <a:rPr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𝑟𝑖𝑑𝑔𝑒</m:t>
                        </m:r>
                      </m:sub>
                    </m:sSub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limUpp>
                              <m:limUpp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limLow>
                                  <m:limLowPr>
                                    <m:ctrlP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lim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sz="2391" i="1">
                                        <a:solidFill>
                                          <a:srgbClr val="5257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lim>
                            </m:limUpp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limUpp>
                      <m:limUp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lim>
                    </m:limUpp>
                    <m:sSup>
                      <m:sSupPr>
                        <m:ctrlP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sz="2391" i="1">
                                <a:solidFill>
                                  <a:srgbClr val="5257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sz="2391" i="1">
                                    <a:solidFill>
                                      <a:srgbClr val="52575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sz="2391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391" b="0" i="1" smtClean="0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dirty="0"/>
                  <a:t> (where </a:t>
                </a:r>
                <a14:m>
                  <m:oMath xmlns:m="http://schemas.openxmlformats.org/officeDocument/2006/math"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2391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dirty="0"/>
                  <a:t>)</a:t>
                </a:r>
                <a:endParaRPr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281" name="Lasso linear regression cost function    (where  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2134195"/>
                <a:ext cx="9762339" cy="4232672"/>
              </a:xfrm>
              <a:prstGeom prst="rect">
                <a:avLst/>
              </a:prstGeom>
              <a:blipFill>
                <a:blip r:embed="rId2"/>
                <a:stretch>
                  <a:fillRect l="-562" t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ℓ1 penalty"/>
          <p:cNvSpPr txBox="1"/>
          <p:nvPr/>
        </p:nvSpPr>
        <p:spPr>
          <a:xfrm>
            <a:off x="750366" y="2134195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 dirty="0"/>
              <a:t>ℓ</a:t>
            </a:r>
            <a:r>
              <a:rPr sz="2109" baseline="-5999" dirty="0"/>
              <a:t>1</a:t>
            </a:r>
            <a:r>
              <a:rPr sz="2109" dirty="0"/>
              <a:t> penalty</a:t>
            </a:r>
          </a:p>
        </p:txBody>
      </p:sp>
      <p:sp>
        <p:nvSpPr>
          <p:cNvPr id="283" name="ℓ2 penalty"/>
          <p:cNvSpPr txBox="1"/>
          <p:nvPr/>
        </p:nvSpPr>
        <p:spPr>
          <a:xfrm>
            <a:off x="750367" y="3611607"/>
            <a:ext cx="1186223" cy="3967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3000">
                <a:solidFill>
                  <a:srgbClr val="FF7E79"/>
                </a:solidFill>
                <a:latin typeface="Noteworthy Light"/>
                <a:ea typeface="Noteworthy Light"/>
                <a:cs typeface="Noteworthy Light"/>
                <a:sym typeface="Noteworthy Light"/>
              </a:defRPr>
            </a:pPr>
            <a:r>
              <a:rPr sz="2109" dirty="0"/>
              <a:t>ℓ</a:t>
            </a:r>
            <a:r>
              <a:rPr sz="2109" baseline="-5999" dirty="0"/>
              <a:t>2</a:t>
            </a:r>
            <a:r>
              <a:rPr sz="2109" dirty="0"/>
              <a:t> penalty</a:t>
            </a:r>
          </a:p>
        </p:txBody>
      </p:sp>
      <p:pic>
        <p:nvPicPr>
          <p:cNvPr id="4" name="Line Line" descr="Line Line">
            <a:extLst>
              <a:ext uri="{FF2B5EF4-FFF2-40B4-BE49-F238E27FC236}">
                <a16:creationId xmlns:a16="http://schemas.microsoft.com/office/drawing/2014/main" id="{8CA19CC4-1DF1-B29F-C692-48823B16B3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08222" y="4990915"/>
            <a:ext cx="1065748" cy="1010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/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ctr">
                <a:spAutoFit/>
              </a:bodyPr>
              <a:lstStyle/>
              <a:p>
                <a:pPr>
                  <a:defRPr>
                    <a:solidFill>
                      <a:srgbClr val="005493"/>
                    </a:solidFill>
                    <a:latin typeface="Noteworthy Light"/>
                    <a:ea typeface="Noteworthy Light"/>
                    <a:cs typeface="Noteworthy Light"/>
                    <a:sym typeface="Noteworthy Light"/>
                  </a:defRPr>
                </a:pPr>
                <a:r>
                  <a:rPr sz="1266"/>
                  <a:t>Constrains the model</a:t>
                </a:r>
                <a:br>
                  <a:rPr sz="1266"/>
                </a:br>
                <a:r>
                  <a:rPr sz="1617"/>
                  <a:t>(pushes </a:t>
                </a:r>
                <a14:m>
                  <m:oMath xmlns:m="http://schemas.openxmlformats.org/officeDocument/2006/math">
                    <m:r>
                      <a:rPr sz="1617" i="1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sz="1617"/>
                  <a:t>s to be close to but NOT exactly equal to 0)</a:t>
                </a:r>
              </a:p>
            </p:txBody>
          </p:sp>
        </mc:Choice>
        <mc:Fallback xmlns="">
          <p:sp>
            <p:nvSpPr>
              <p:cNvPr id="5" name="Constrains the model (pushes  s to be close to but NOT exactly equal to 0)">
                <a:extLst>
                  <a:ext uri="{FF2B5EF4-FFF2-40B4-BE49-F238E27FC236}">
                    <a16:creationId xmlns:a16="http://schemas.microsoft.com/office/drawing/2014/main" id="{29A72916-10DE-D9D2-562F-007E4E434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163" y="5266764"/>
                <a:ext cx="2960401" cy="764633"/>
              </a:xfrm>
              <a:prstGeom prst="rect">
                <a:avLst/>
              </a:prstGeom>
              <a:blipFill>
                <a:blip r:embed="rId4"/>
                <a:stretch>
                  <a:fillRect l="-3093" t="-800" r="-2474" b="-12000"/>
                </a:stretch>
              </a:blipFill>
              <a:ln w="3175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E3F5-AAC1-C4F7-6770-D6539E5A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gularized Cost Functions">
            <a:extLst>
              <a:ext uri="{FF2B5EF4-FFF2-40B4-BE49-F238E27FC236}">
                <a16:creationId xmlns:a16="http://schemas.microsoft.com/office/drawing/2014/main" id="{249133E2-A269-A81E-36EE-FCAD17A83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367" y="826603"/>
            <a:ext cx="10691265" cy="130759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Lasso v. Ridge Visualization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367C0-EFEF-E012-6B5F-58614163E46C}"/>
              </a:ext>
            </a:extLst>
          </p:cNvPr>
          <p:cNvSpPr txBox="1"/>
          <p:nvPr/>
        </p:nvSpPr>
        <p:spPr>
          <a:xfrm>
            <a:off x="1750264" y="6308092"/>
            <a:ext cx="7727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https://www.vizuaranewsletter.com/p/if-regularization-is-easy-can-you</a:t>
            </a:r>
            <a:r>
              <a:rPr lang="en-US" dirty="0"/>
              <a:t>: This is a great source for an intuitive description!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02CD21-EE01-2E2D-50D3-D831A0A7E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547" y="1360286"/>
            <a:ext cx="5014643" cy="508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B088A4-CDA1-B0FB-CCBD-CA764CB4E9E2}"/>
              </a:ext>
            </a:extLst>
          </p:cNvPr>
          <p:cNvSpPr txBox="1"/>
          <p:nvPr/>
        </p:nvSpPr>
        <p:spPr>
          <a:xfrm>
            <a:off x="8393502" y="1751161"/>
            <a:ext cx="311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explore this further in </a:t>
            </a:r>
            <a:r>
              <a:rPr lang="en-US" b="1" dirty="0"/>
              <a:t>Desmos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https://www.desmos.com/3d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2009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idge vs Lass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Ridge vs Lasso</a:t>
            </a:r>
          </a:p>
        </p:txBody>
      </p:sp>
      <p:sp>
        <p:nvSpPr>
          <p:cNvPr id="302" name="Lasso…"/>
          <p:cNvSpPr txBox="1">
            <a:spLocks noGrp="1"/>
          </p:cNvSpPr>
          <p:nvPr>
            <p:ph type="body" idx="1"/>
          </p:nvPr>
        </p:nvSpPr>
        <p:spPr>
          <a:xfrm>
            <a:off x="927053" y="1738685"/>
            <a:ext cx="10337894" cy="4817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1800" dirty="0"/>
              <a:t>Lasso</a:t>
            </a:r>
          </a:p>
          <a:p>
            <a:pPr lvl="1"/>
            <a:r>
              <a:rPr dirty="0"/>
              <a:t>Forces some coefficients to be exactly 0  (advantage)</a:t>
            </a:r>
          </a:p>
          <a:p>
            <a:pPr lvl="1"/>
            <a:r>
              <a:rPr dirty="0"/>
              <a:t>Built in variable selection</a:t>
            </a:r>
          </a:p>
          <a:p>
            <a:pPr lvl="1"/>
            <a:r>
              <a:rPr dirty="0"/>
              <a:t>Coefficients can be very different for correlated features (disadvantage)</a:t>
            </a:r>
          </a:p>
          <a:p>
            <a:r>
              <a:rPr sz="1800" dirty="0"/>
              <a:t>Ridge </a:t>
            </a:r>
          </a:p>
          <a:p>
            <a:pPr lvl="1"/>
            <a:r>
              <a:rPr dirty="0"/>
              <a:t>Coefficients will never be exactly 0 (fact)</a:t>
            </a:r>
          </a:p>
          <a:p>
            <a:pPr lvl="1"/>
            <a:r>
              <a:rPr dirty="0"/>
              <a:t>Tends to estimate similar coefficient for correlated features (advantage)</a:t>
            </a:r>
            <a:endParaRPr lang="en-US" dirty="0"/>
          </a:p>
          <a:p>
            <a:r>
              <a:rPr lang="en-US" sz="1800" dirty="0"/>
              <a:t>Neither method will universally dominate </a:t>
            </a:r>
          </a:p>
          <a:p>
            <a:r>
              <a:rPr lang="en-US" sz="1800" dirty="0"/>
              <a:t>Lasso generally performs better when many of the features don’t contribute to predictability </a:t>
            </a:r>
          </a:p>
          <a:p>
            <a:r>
              <a:rPr lang="en-US" sz="1800" dirty="0"/>
              <a:t>Ridge generally performs better when many of the features contribute to the prediction and when features are correlated </a:t>
            </a:r>
          </a:p>
          <a:p>
            <a:endParaRPr lang="en-US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Elastic-Net 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Elastic-Net 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Combination of Ridge and Lasso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214305" indent="-214305" defTabSz="170682">
                  <a:spcBef>
                    <a:spcPts val="500"/>
                  </a:spcBef>
                  <a:defRPr sz="2688"/>
                </a:pPr>
                <a:r>
                  <a:rPr sz="1800" dirty="0"/>
                  <a:t>Combination of Ridge and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The idea is </a:t>
                </a:r>
                <a:r>
                  <a:rPr lang="en-US" sz="1800" dirty="0"/>
                  <a:t>to</a:t>
                </a:r>
                <a:r>
                  <a:rPr sz="1800" dirty="0"/>
                  <a:t> capitalize on the strengths of both methods</a:t>
                </a:r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endParaRPr sz="1800" dirty="0"/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sz="1800" dirty="0"/>
                  <a:t>), elastic net becomes Ridge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 dirty="0"/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1800" i="1">
                            <a:solidFill>
                              <a:srgbClr val="52575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800" i="1">
                        <a:solidFill>
                          <a:srgbClr val="52575F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sz="1800" dirty="0"/>
                  <a:t>), elastic net becomes Lasso</a:t>
                </a:r>
              </a:p>
              <a:p>
                <a:pPr marL="644629" lvl="2" indent="-216019" defTabSz="170682">
                  <a:defRPr sz="2688"/>
                </a:pPr>
                <a:r>
                  <a:rPr sz="1800" dirty="0"/>
                  <a:t>If both are 0, we’re back to vanilla least squares</a:t>
                </a:r>
              </a:p>
            </p:txBody>
          </p:sp>
        </mc:Choice>
        <mc:Fallback xmlns="">
          <p:sp>
            <p:nvSpPr>
              <p:cNvPr id="310" name="Combination of Ridge and Lasso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15133" y="1772319"/>
                <a:ext cx="8161734" cy="4787968"/>
              </a:xfrm>
              <a:prstGeom prst="rect">
                <a:avLst/>
              </a:prstGeom>
              <a:blipFill>
                <a:blip r:embed="rId2"/>
                <a:stretch>
                  <a:fillRect l="-523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equation.pdf"/>
              <p:cNvSpPr txBox="1"/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642915" latinLnBrk="1"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𝑒𝑛</m:t>
                          </m:r>
                        </m:sub>
                      </m:sSub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limUpp>
                                <m:limUpp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limLow>
                                    <m:limLowPr>
                                      <m:ctrlP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</m:e>
                                    <m:lim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sz="2531" i="1">
                                          <a:solidFill>
                                            <a:srgbClr val="52575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lim>
                                  </m:limLow>
                                </m:e>
                                <m:lim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lim>
                              </m:limUpp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d>
                        <m:dPr>
                          <m:begChr m:val="|"/>
                          <m:endChr m:val="|"/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sz="2531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limUpp>
                        <m:limUp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lim>
                      </m:limUpp>
                      <m:sSup>
                        <m:sSupPr>
                          <m:ctrlP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31" i="1">
                                  <a:solidFill>
                                    <a:srgbClr val="5257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sz="2531" i="1">
                                      <a:solidFill>
                                        <a:srgbClr val="5257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sz="2531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531" dirty="0">
                  <a:solidFill>
                    <a:srgbClr val="53585F"/>
                  </a:solidFill>
                </a:endParaRPr>
              </a:p>
            </p:txBody>
          </p:sp>
        </mc:Choice>
        <mc:Fallback xmlns="">
          <p:sp>
            <p:nvSpPr>
              <p:cNvPr id="311" name="equation.pd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33" y="2477008"/>
                <a:ext cx="8659615" cy="951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gular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Regularization</a:t>
            </a:r>
            <a:r>
              <a:rPr lang="en-US" dirty="0"/>
              <a:t> Generally</a:t>
            </a:r>
            <a:r>
              <a:rPr dirty="0"/>
              <a:t> </a:t>
            </a:r>
          </a:p>
        </p:txBody>
      </p:sp>
      <p:sp>
        <p:nvSpPr>
          <p:cNvPr id="315" name="We’ve just looked at Lasso, Ridge, and Elastic net (explicit regularization) in the context of linear regres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We’ve just looked at Lasso, Ridge, and Elastic net (explicit regularization) in the context of linear regression</a:t>
            </a:r>
          </a:p>
          <a:p>
            <a:r>
              <a:rPr lang="en-US" dirty="0"/>
              <a:t>Regularization is a general set of methodologies, not limited to linear regression</a:t>
            </a:r>
          </a:p>
          <a:p>
            <a:pPr lvl="1"/>
            <a:r>
              <a:rPr lang="en-US" dirty="0"/>
              <a:t>Used in many models: logistic regression, neural networks, decision trees, etc.</a:t>
            </a:r>
          </a:p>
          <a:p>
            <a:pPr lvl="1"/>
            <a:r>
              <a:rPr lang="en-US" dirty="0"/>
              <a:t>Goal: improve generalization by reducing overfitting</a:t>
            </a:r>
          </a:p>
          <a:p>
            <a:pPr lvl="1"/>
            <a:r>
              <a:rPr lang="en-US" dirty="0"/>
              <a:t>Can be applied to weights, complexity, or even the training process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1025</Words>
  <Application>Microsoft Office PowerPoint</Application>
  <PresentationFormat>Widescreen</PresentationFormat>
  <Paragraphs>73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Calisto MT</vt:lpstr>
      <vt:lpstr>Cambria Math</vt:lpstr>
      <vt:lpstr>Graphik</vt:lpstr>
      <vt:lpstr>Univers Condensed</vt:lpstr>
      <vt:lpstr>ChronicleVTI</vt:lpstr>
      <vt:lpstr>Regularization</vt:lpstr>
      <vt:lpstr>Regularization</vt:lpstr>
      <vt:lpstr>Why do we need regularization?</vt:lpstr>
      <vt:lpstr>Explicit Regularization</vt:lpstr>
      <vt:lpstr>Implicit Regularization</vt:lpstr>
      <vt:lpstr>PowerPoint Presentation</vt:lpstr>
      <vt:lpstr>Regularized Cost Functions</vt:lpstr>
      <vt:lpstr>L1 Penalty: LASSO</vt:lpstr>
      <vt:lpstr>Regularized Cost Functions</vt:lpstr>
      <vt:lpstr>Lasso v. Ridge Visualization</vt:lpstr>
      <vt:lpstr>Ridge vs Lasso</vt:lpstr>
      <vt:lpstr>Elastic-Net Regularization</vt:lpstr>
      <vt:lpstr>Regularization Generally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28</cp:revision>
  <dcterms:created xsi:type="dcterms:W3CDTF">2025-10-28T15:32:43Z</dcterms:created>
  <dcterms:modified xsi:type="dcterms:W3CDTF">2026-08-31T18:27:54Z</dcterms:modified>
</cp:coreProperties>
</file>