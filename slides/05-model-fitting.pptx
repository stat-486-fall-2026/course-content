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8"/>
  </p:notesMasterIdLst>
  <p:sldIdLst>
    <p:sldId id="256" r:id="rId2"/>
    <p:sldId id="300" r:id="rId3"/>
    <p:sldId id="301" r:id="rId4"/>
    <p:sldId id="302" r:id="rId5"/>
    <p:sldId id="303" r:id="rId6"/>
    <p:sldId id="320" r:id="rId7"/>
    <p:sldId id="319" r:id="rId8"/>
    <p:sldId id="305" r:id="rId9"/>
    <p:sldId id="307" r:id="rId10"/>
    <p:sldId id="325" r:id="rId11"/>
    <p:sldId id="324" r:id="rId12"/>
    <p:sldId id="306" r:id="rId13"/>
    <p:sldId id="309" r:id="rId14"/>
    <p:sldId id="310" r:id="rId15"/>
    <p:sldId id="311" r:id="rId16"/>
    <p:sldId id="312" r:id="rId17"/>
    <p:sldId id="313" r:id="rId18"/>
    <p:sldId id="321" r:id="rId19"/>
    <p:sldId id="326" r:id="rId20"/>
    <p:sldId id="314" r:id="rId21"/>
    <p:sldId id="315" r:id="rId22"/>
    <p:sldId id="304" r:id="rId23"/>
    <p:sldId id="317" r:id="rId24"/>
    <p:sldId id="318" r:id="rId25"/>
    <p:sldId id="323" r:id="rId26"/>
    <p:sldId id="32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798680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54844" y="2214563"/>
            <a:ext cx="10882313" cy="2277070"/>
          </a:xfrm>
          <a:prstGeom prst="rect">
            <a:avLst/>
          </a:prstGeom>
        </p:spPr>
        <p:txBody>
          <a:bodyPr anchor="ctr"/>
          <a:lstStyle>
            <a:lvl1pPr marL="0" indent="0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1pPr>
            <a:lvl2pPr marL="0" indent="223234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2pPr>
            <a:lvl3pPr marL="0" indent="446469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3pPr>
            <a:lvl4pPr marL="0" indent="669703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4pPr>
            <a:lvl5pPr marL="0" indent="892937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9658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8" r:id="rId12"/>
    <p:sldLayoutId id="2147483689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7EC7F-BCE8-4E07-FD9A-AA7CD594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96" b="108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Model fitting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Overfitting vs 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Overfitting vs Underfitting</a:t>
            </a:r>
          </a:p>
        </p:txBody>
      </p:sp>
      <p:sp>
        <p:nvSpPr>
          <p:cNvPr id="538" name="Underfitting: Model is too simple to learn the underlying structure of the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Underfitting: Model is too simple to learn the underlying structure of the data</a:t>
            </a:r>
          </a:p>
          <a:p>
            <a:r>
              <a:t>Overfitting: Model is too complex and learns the noise in the training data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Overfitting vs 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Overfitting vs Underfitting</a:t>
            </a:r>
          </a:p>
        </p:txBody>
      </p:sp>
      <p:pic>
        <p:nvPicPr>
          <p:cNvPr id="542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042" y="2478300"/>
            <a:ext cx="9083194" cy="3256133"/>
          </a:xfrm>
          <a:prstGeom prst="rect">
            <a:avLst/>
          </a:prstGeom>
          <a:ln w="3175">
            <a:miter lim="400000"/>
          </a:ln>
        </p:spPr>
      </p:pic>
      <p:sp>
        <p:nvSpPr>
          <p:cNvPr id="543" name="Underfit Model"/>
          <p:cNvSpPr txBox="1"/>
          <p:nvPr/>
        </p:nvSpPr>
        <p:spPr>
          <a:xfrm>
            <a:off x="2135502" y="2400128"/>
            <a:ext cx="1147751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CA4B13"/>
                </a:solidFill>
              </a:defRPr>
            </a:lvl1pPr>
          </a:lstStyle>
          <a:p>
            <a:r>
              <a:rPr sz="1266"/>
              <a:t>Underfit Model</a:t>
            </a:r>
          </a:p>
        </p:txBody>
      </p:sp>
      <p:sp>
        <p:nvSpPr>
          <p:cNvPr id="544" name="Overfit Model"/>
          <p:cNvSpPr txBox="1"/>
          <p:nvPr/>
        </p:nvSpPr>
        <p:spPr>
          <a:xfrm>
            <a:off x="5282992" y="2400128"/>
            <a:ext cx="1049967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E9AD4C"/>
                </a:solidFill>
              </a:defRPr>
            </a:lvl1pPr>
          </a:lstStyle>
          <a:p>
            <a:r>
              <a:rPr sz="1266"/>
              <a:t>Overfit Model</a:t>
            </a:r>
          </a:p>
        </p:txBody>
      </p:sp>
      <p:sp>
        <p:nvSpPr>
          <p:cNvPr id="545" name="Good Model"/>
          <p:cNvSpPr txBox="1"/>
          <p:nvPr/>
        </p:nvSpPr>
        <p:spPr>
          <a:xfrm>
            <a:off x="8367170" y="2400128"/>
            <a:ext cx="96180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0096FF"/>
                </a:solidFill>
              </a:defRPr>
            </a:lvl1pPr>
          </a:lstStyle>
          <a:p>
            <a:r>
              <a:rPr sz="1266"/>
              <a:t>Good Model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Underfitting</a:t>
            </a:r>
          </a:p>
        </p:txBody>
      </p:sp>
      <p:sp>
        <p:nvSpPr>
          <p:cNvPr id="549" name="Underfitting: Model is too simple to learn the underlying structure of the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Symptoms, causes, and fixes for a model that is too simple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Identifying:  The model performs poorly on both training and test data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Possible fixes: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Use a more complex model 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Find better features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Reduce constraints on model (less regularization)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Tune hyperparameters</a:t>
            </a:r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Ov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Overfitting</a:t>
            </a:r>
          </a:p>
        </p:txBody>
      </p:sp>
      <p:sp>
        <p:nvSpPr>
          <p:cNvPr id="553" name="Overfitting: Model is too complex and learns the noise in the training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Symptoms, causes, and fixes for a model that is too complex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Identifying: The model performs well on training data but poorly on test data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Possible fixes: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Use a simpler model 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Add constraints on model (more regularization)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Gather more data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Tune hyperparameters</a:t>
            </a:r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Example: one dataset, three fits</a:t>
            </a:r>
            <a:endParaRPr dirty="0"/>
          </a:p>
        </p:txBody>
      </p:sp>
      <p:sp>
        <p:nvSpPr>
          <p:cNvPr id="549" name="Underfitting: Model is too simple to learn the underlying structure of the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Same 30 points, fit with polynomials of degree 1, 4, and 15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Training error always falls as degree rises — test error does not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What to look for: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 dirty="0"/>
              <a:t>Degree 1: high training and test error (underfit)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 dirty="0"/>
              <a:t>Degree 4: both errors low and close together (good fit)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 dirty="0"/>
              <a:t>Degree 15: training error near zero, test error jumps (overfit)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 dirty="0"/>
              <a:t>Flexibility (complexity) is a dial to tune, not a goal to maximize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500822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Checkpoint</a:t>
            </a:r>
            <a:endParaRPr/>
          </a:p>
        </p:txBody>
      </p:sp>
      <p:sp>
        <p:nvSpPr>
          <p:cNvPr id="549" name="Underfitting: Model is too simple to learn the underlying structure of the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A model reports training R² = 0.99 and test R² = 0.42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What is happening, and what would you try first?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Work through it: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Which error is large — training, test, or both?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Does the gap point to high bias or high variance?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Would a simpler model, more regularization, or more data help?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Two minutes with a neighbor, then we compare answers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887199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Bias-Variance Tradeof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Bias-Variance Tradeoff </a:t>
            </a:r>
          </a:p>
        </p:txBody>
      </p:sp>
      <p:sp>
        <p:nvSpPr>
          <p:cNvPr id="561" name="The balance of finding a model that doesn’t underfit or overfit is related to the bias-variance tradeoff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The balance of finding a model that doesn’t underfit or overfit is related to the bias-variance tradeoff</a:t>
            </a:r>
          </a:p>
          <a:p>
            <a:pPr lvl="1"/>
            <a:r>
              <a:rPr lang="en-US" b="1">
                <a:latin typeface="Graphik"/>
                <a:ea typeface="Graphik"/>
                <a:cs typeface="Graphik"/>
                <a:sym typeface="Graphik"/>
              </a:rPr>
              <a:t>Bias</a:t>
            </a:r>
            <a:r>
              <a:rPr lang="en-US"/>
              <a:t> is the error from approximating a real-life problem with a simpler model</a:t>
            </a:r>
          </a:p>
          <a:p>
            <a:pPr lvl="1"/>
            <a:r>
              <a:rPr lang="en-US" b="1">
                <a:latin typeface="Graphik"/>
                <a:ea typeface="Graphik"/>
                <a:cs typeface="Graphik"/>
                <a:sym typeface="Graphik"/>
              </a:rPr>
              <a:t>Variance</a:t>
            </a:r>
            <a:r>
              <a:rPr lang="en-US"/>
              <a:t> is how much the prediction changes with a different training set from the same population</a:t>
            </a:r>
          </a:p>
          <a:p>
            <a:r>
              <a:rPr lang="en-US"/>
              <a:t>In general, as a model becomes more flexible and complex, variance increases and bias decreases</a:t>
            </a:r>
            <a:endParaRPr lang="en-US" dirty="0"/>
          </a:p>
          <a:p>
            <a:pPr lvl="1"/>
            <a:r>
              <a:rPr lang="en-US" b="1" dirty="0"/>
              <a:t>Overfitting</a:t>
            </a:r>
            <a:r>
              <a:rPr lang="en-US" dirty="0"/>
              <a:t> is associated with high </a:t>
            </a:r>
            <a:r>
              <a:rPr lang="en-US" b="1" dirty="0"/>
              <a:t>variance</a:t>
            </a:r>
          </a:p>
          <a:p>
            <a:pPr lvl="1"/>
            <a:r>
              <a:rPr lang="en-US" b="1" dirty="0"/>
              <a:t>Underfitting</a:t>
            </a:r>
            <a:r>
              <a:rPr lang="en-US" dirty="0"/>
              <a:t> is associated with high </a:t>
            </a:r>
            <a:r>
              <a:rPr lang="en-US" b="1" dirty="0"/>
              <a:t>bias</a:t>
            </a:r>
            <a:endParaRPr b="1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Bias-Variance Tradeof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Bias-Variance Tradeoff </a:t>
            </a:r>
          </a:p>
        </p:txBody>
      </p:sp>
      <p:pic>
        <p:nvPicPr>
          <p:cNvPr id="577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850" y="1568196"/>
            <a:ext cx="7396504" cy="4977939"/>
          </a:xfrm>
          <a:prstGeom prst="rect">
            <a:avLst/>
          </a:prstGeom>
          <a:ln w="3175">
            <a:miter lim="400000"/>
          </a:ln>
        </p:spPr>
      </p:pic>
      <p:sp>
        <p:nvSpPr>
          <p:cNvPr id="578" name="From “Elements of Statistical Learning” page 38, by Hastie et al"/>
          <p:cNvSpPr txBox="1"/>
          <p:nvPr/>
        </p:nvSpPr>
        <p:spPr>
          <a:xfrm>
            <a:off x="1610921" y="6531741"/>
            <a:ext cx="4974119" cy="28847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000"/>
            </a:lvl1pPr>
          </a:lstStyle>
          <a:p>
            <a:r>
              <a:rPr sz="1406"/>
              <a:t>From “Elements of Statistical Learning” page 38, by Hastie et al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Bias and Variance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9" name="Underfitting: Model is too simple to learn the underlying structure of the data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/>
              <a:p>
                <a:pPr marL="209840" indent="-209840" defTabSz="167125">
                  <a:spcBef>
                    <a:spcPts val="2180"/>
                  </a:spcBef>
                  <a:defRPr sz="2632"/>
                </a:pPr>
                <a:r>
                  <a:rPr lang="en-US" dirty="0"/>
                  <a:t>Assume the truth is </a:t>
                </a:r>
                <a14:m>
                  <m:oMath xmlns:m="http://schemas.openxmlformats.org/officeDocument/2006/math"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marL="209840" indent="-209840" defTabSz="167125">
                  <a:spcBef>
                    <a:spcPts val="2180"/>
                  </a:spcBef>
                  <a:defRPr sz="2632"/>
                </a:pPr>
                <a:r>
                  <a:rPr lang="en-US" dirty="0"/>
                  <a:t>Fit an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lang="en-US" dirty="0"/>
                  <a:t>on a training set, then predict at one fixed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209840" indent="-209840" defTabSz="167125">
                  <a:spcBef>
                    <a:spcPts val="2180"/>
                  </a:spcBef>
                  <a:defRPr sz="2632"/>
                </a:pPr>
                <a:r>
                  <a:rPr lang="en-US" dirty="0"/>
                  <a:t>The two quantities we need:</a:t>
                </a:r>
              </a:p>
              <a:p>
                <a:pPr marL="631199" lvl="2" indent="-211518" defTabSz="167125">
                  <a:spcBef>
                    <a:spcPts val="2180"/>
                  </a:spcBef>
                  <a:defRPr sz="2632"/>
                </a:pPr>
                <a14:m>
                  <m:oMath xmlns:m="http://schemas.openxmlformats.org/officeDocument/2006/math"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𝐵𝑖𝑎𝑠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))=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)]−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: </a:t>
                </a:r>
                <a:r>
                  <a:rPr lang="en-US" dirty="0"/>
                  <a:t>how far the average fit sits from the truth</a:t>
                </a:r>
              </a:p>
              <a:p>
                <a:pPr marL="631199" lvl="2" indent="-211518" defTabSz="167125">
                  <a:spcBef>
                    <a:spcPts val="2180"/>
                  </a:spcBef>
                  <a:defRPr sz="2632"/>
                </a:pPr>
                <a14:m>
                  <m:oMath xmlns:m="http://schemas.openxmlformats.org/officeDocument/2006/math"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))=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̂"/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)])</m:t>
                        </m:r>
                      </m:e>
                      <m:sup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ar-AE" dirty="0"/>
                  <a:t>: </a:t>
                </a:r>
                <a:r>
                  <a:rPr lang="en-US" dirty="0"/>
                  <a:t>how much the fit moves across training sets</a:t>
                </a:r>
              </a:p>
              <a:p>
                <a:pPr marL="631199" lvl="2" indent="-211518" defTabSz="167125">
                  <a:spcBef>
                    <a:spcPts val="2180"/>
                  </a:spcBef>
                  <a:defRPr sz="2632"/>
                </a:pPr>
                <a:r>
                  <a:rPr lang="en-US" dirty="0"/>
                  <a:t>Every expectation is taken over random training sets and over the noise </a:t>
                </a:r>
                <a14:m>
                  <m:oMath xmlns:m="http://schemas.openxmlformats.org/officeDocument/2006/math">
                    <m:r>
                      <a:rPr lang="en-US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49" name="Underfitting: Model is too simple to learn the underlying structure of the data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798" t="-1305" b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04108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Deriving the tradeoff (Proof Sketch)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9" name="Underfitting: Model is too simple to learn the underlying structure of the data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914400" indent="0" algn="l" defTabSz="167125"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/>
              </a:p>
              <a:p>
                <a:pPr marL="1143000" indent="0" algn="l" defTabSz="167125">
                  <a:spcBef>
                    <a:spcPts val="300"/>
                  </a:spcBef>
                  <a:buNone/>
                </a:pPr>
                <a:r>
                  <a:rPr lang="en-US" sz="1400" i="1">
                    <a:solidFill>
                      <a:srgbClr val="8A8F98"/>
                    </a:solidFill>
                  </a:rPr>
                  <a:t>substitute y₀ = f(x₀) + </a:t>
                </a:r>
                <a:r>
                  <a:rPr lang="el-GR" sz="1400" i="1">
                    <a:solidFill>
                      <a:srgbClr val="8A8F98"/>
                    </a:solidFill>
                  </a:rPr>
                  <a:t>ε</a:t>
                </a:r>
              </a:p>
              <a:p>
                <a:pPr marL="914400" indent="0" algn="l" defTabSz="167125"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l-GR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acc>
                            <m:accPr>
                              <m:chr m:val="̂"/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/>
              </a:p>
              <a:p>
                <a:pPr marL="1143000" indent="0" algn="l" defTabSz="167125">
                  <a:spcBef>
                    <a:spcPts val="300"/>
                  </a:spcBef>
                  <a:buNone/>
                </a:pPr>
                <a:r>
                  <a:rPr lang="el-GR" sz="1400" i="1">
                    <a:solidFill>
                      <a:srgbClr val="8A8F98"/>
                    </a:solidFill>
                  </a:rPr>
                  <a:t>ε </a:t>
                </a:r>
                <a:r>
                  <a:rPr lang="en-US" sz="1400" i="1">
                    <a:solidFill>
                      <a:srgbClr val="8A8F98"/>
                    </a:solidFill>
                  </a:rPr>
                  <a:t>is independent with E[</a:t>
                </a:r>
                <a:r>
                  <a:rPr lang="el-GR" sz="1400" i="1">
                    <a:solidFill>
                      <a:srgbClr val="8A8F98"/>
                    </a:solidFill>
                  </a:rPr>
                  <a:t>ε] = 0, </a:t>
                </a:r>
                <a:r>
                  <a:rPr lang="en-US" sz="1400" i="1">
                    <a:solidFill>
                      <a:srgbClr val="8A8F98"/>
                    </a:solidFill>
                  </a:rPr>
                  <a:t>Var(</a:t>
                </a:r>
                <a:r>
                  <a:rPr lang="el-GR" sz="1400" i="1">
                    <a:solidFill>
                      <a:srgbClr val="8A8F98"/>
                    </a:solidFill>
                  </a:rPr>
                  <a:t>ε) = σ²</a:t>
                </a:r>
              </a:p>
              <a:p>
                <a:pPr marL="914400" indent="0" algn="l" defTabSz="167125"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l-GR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((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)+(</m:t>
                          </m:r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  <m:sSup>
                            <m:sSupPr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/>
              </a:p>
              <a:p>
                <a:pPr marL="1143000" indent="0" algn="l" defTabSz="167125">
                  <a:spcBef>
                    <a:spcPts val="300"/>
                  </a:spcBef>
                  <a:buNone/>
                </a:pPr>
                <a:r>
                  <a:rPr lang="en-US" sz="1400" i="1">
                    <a:solidFill>
                      <a:srgbClr val="8A8F98"/>
                    </a:solidFill>
                  </a:rPr>
                  <a:t>add and subtract E[f̂(x₀)]</a:t>
                </a:r>
              </a:p>
              <a:p>
                <a:pPr marL="914400" indent="0" algn="l" defTabSz="167125"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900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ar-AE" sz="1900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d>
                        </m:e>
                        <m:sup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9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))+</m:t>
                      </m:r>
                      <m:sSup>
                        <m:sSupPr>
                          <m:ctrlP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sz="19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/>
              </a:p>
              <a:p>
                <a:pPr marL="1143000" indent="0" algn="l" defTabSz="167125">
                  <a:spcBef>
                    <a:spcPts val="300"/>
                  </a:spcBef>
                  <a:buNone/>
                </a:pPr>
                <a:r>
                  <a:rPr lang="en-US" sz="1400" i="1">
                    <a:solidFill>
                      <a:srgbClr val="8A8F98"/>
                    </a:solidFill>
                  </a:rPr>
                  <a:t>the cross term has expectation zero  →  bias² + variance + irreducible error</a:t>
                </a:r>
              </a:p>
            </p:txBody>
          </p:sp>
        </mc:Choice>
        <mc:Fallback>
          <p:sp>
            <p:nvSpPr>
              <p:cNvPr id="549" name="Underfitting: Model is too simple to learn the underlying structure of the data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3724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Bias-Variance Tradeof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Bias-Variance Tradeoff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4" name="Variance of   refers to the amount that   changes if a different training set is used (but from the same “population”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255181" y="1913907"/>
                <a:ext cx="8161735" cy="4232673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/>
              <a:p>
                <a:pPr marL="191981" indent="-191981" defTabSz="152902">
                  <a:spcBef>
                    <a:spcPts val="1969"/>
                  </a:spcBef>
                  <a:defRPr sz="2408"/>
                </a:pPr>
                <a14:m>
                  <m:oMath xmlns:m="http://schemas.openxmlformats.org/officeDocument/2006/math"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))+[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𝐵𝑖𝑎𝑠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))</m:t>
                    </m:r>
                    <m:sSup>
                      <m:sSupPr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039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 sz="2039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dirty="0"/>
              </a:p>
              <a:p>
                <a:pPr marL="191981" indent="-191981" defTabSz="152902">
                  <a:spcBef>
                    <a:spcPts val="1969"/>
                  </a:spcBef>
                  <a:defRPr sz="2408"/>
                </a:pPr>
                <a:endParaRPr dirty="0"/>
              </a:p>
              <a:p>
                <a:pPr marL="577480" lvl="2" indent="-193517" defTabSz="152902">
                  <a:spcBef>
                    <a:spcPts val="1969"/>
                  </a:spcBef>
                  <a:defRPr sz="2408"/>
                </a:pPr>
                <a:r>
                  <a:rPr dirty="0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dirty="0"/>
                  <a:t>refers to the amount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dirty="0"/>
                  <a:t>changes if a different training set is used (but from the same “population”)</a:t>
                </a:r>
              </a:p>
              <a:p>
                <a:pPr marL="577480" lvl="2" indent="-193517" defTabSz="152902">
                  <a:spcBef>
                    <a:spcPts val="1969"/>
                  </a:spcBef>
                  <a:defRPr sz="2408"/>
                </a:pPr>
                <a:r>
                  <a:rPr dirty="0"/>
                  <a:t>Bias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39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dirty="0"/>
                  <a:t> refers to the error that is introduced by approximating a real-life problem with a simpler model</a:t>
                </a:r>
              </a:p>
              <a:p>
                <a:pPr marL="577480" lvl="2" indent="-193517" defTabSz="152902">
                  <a:spcBef>
                    <a:spcPts val="1969"/>
                  </a:spcBef>
                  <a:defRPr sz="2408"/>
                </a:pPr>
                <a:r>
                  <a:rPr dirty="0"/>
                  <a:t>Irreducible error: Random noise inherent in the data.  The irreducible error is the best-case scenario given the noise in the data</a:t>
                </a:r>
              </a:p>
              <a:p>
                <a:pPr marL="191981" indent="-191981" defTabSz="152902">
                  <a:spcBef>
                    <a:spcPts val="1969"/>
                  </a:spcBef>
                  <a:defRPr sz="2408"/>
                </a:pPr>
                <a:r>
                  <a:rPr dirty="0"/>
                  <a:t>Tradeoff because usually reducing bias will increase variance and visa versa</a:t>
                </a:r>
              </a:p>
            </p:txBody>
          </p:sp>
        </mc:Choice>
        <mc:Fallback>
          <p:sp>
            <p:nvSpPr>
              <p:cNvPr id="564" name="Variance of   refers to the amount that   changes if a different training set is used (but from the same “population”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55181" y="1913907"/>
                <a:ext cx="8161735" cy="4232673"/>
              </a:xfrm>
              <a:prstGeom prst="rect">
                <a:avLst/>
              </a:prstGeom>
              <a:blipFill>
                <a:blip r:embed="rId2"/>
                <a:stretch>
                  <a:fillRect l="-672" b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5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60" y="2404752"/>
            <a:ext cx="1558004" cy="80186"/>
          </a:xfrm>
          <a:prstGeom prst="rect">
            <a:avLst/>
          </a:prstGeom>
        </p:spPr>
      </p:pic>
      <p:sp>
        <p:nvSpPr>
          <p:cNvPr id="567" name="Irreducible error"/>
          <p:cNvSpPr txBox="1"/>
          <p:nvPr/>
        </p:nvSpPr>
        <p:spPr>
          <a:xfrm>
            <a:off x="7126851" y="2511215"/>
            <a:ext cx="1503618" cy="3209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300">
                <a:solidFill>
                  <a:srgbClr val="941751"/>
                </a:solidFill>
              </a:defRPr>
            </a:lvl1pPr>
          </a:lstStyle>
          <a:p>
            <a:r>
              <a:rPr sz="1617"/>
              <a:t>Irreducible error</a:t>
            </a:r>
          </a:p>
        </p:txBody>
      </p:sp>
      <p:pic>
        <p:nvPicPr>
          <p:cNvPr id="568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284866" y="2408814"/>
            <a:ext cx="988969" cy="80186"/>
          </a:xfrm>
          <a:prstGeom prst="rect">
            <a:avLst/>
          </a:prstGeom>
        </p:spPr>
      </p:pic>
      <p:sp>
        <p:nvSpPr>
          <p:cNvPr id="570" name="Variance"/>
          <p:cNvSpPr txBox="1"/>
          <p:nvPr/>
        </p:nvSpPr>
        <p:spPr>
          <a:xfrm>
            <a:off x="4386349" y="2511215"/>
            <a:ext cx="851195" cy="3209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300">
                <a:solidFill>
                  <a:srgbClr val="011993"/>
                </a:solidFill>
              </a:defRPr>
            </a:lvl1pPr>
          </a:lstStyle>
          <a:p>
            <a:r>
              <a:rPr sz="1617"/>
              <a:t>Variance</a:t>
            </a:r>
          </a:p>
        </p:txBody>
      </p:sp>
      <p:pic>
        <p:nvPicPr>
          <p:cNvPr id="571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608258" y="2408757"/>
            <a:ext cx="1211204" cy="80300"/>
          </a:xfrm>
          <a:prstGeom prst="rect">
            <a:avLst/>
          </a:prstGeom>
        </p:spPr>
      </p:pic>
      <p:sp>
        <p:nvSpPr>
          <p:cNvPr id="573" name="Bias (squared)"/>
          <p:cNvSpPr txBox="1"/>
          <p:nvPr/>
        </p:nvSpPr>
        <p:spPr>
          <a:xfrm>
            <a:off x="5581013" y="2511215"/>
            <a:ext cx="1316066" cy="3209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300">
                <a:solidFill>
                  <a:srgbClr val="4F8F00"/>
                </a:solidFill>
              </a:defRPr>
            </a:lvl1pPr>
          </a:lstStyle>
          <a:p>
            <a:r>
              <a:rPr sz="1617"/>
              <a:t>Bias (squared)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Let’s think about 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K-</a:t>
            </a:r>
            <a:r>
              <a:rPr lang="en-US" dirty="0" err="1"/>
              <a:t>nn</a:t>
            </a:r>
            <a:r>
              <a:rPr lang="en-US" dirty="0"/>
              <a:t> recall</a:t>
            </a:r>
            <a:endParaRPr dirty="0"/>
          </a:p>
        </p:txBody>
      </p:sp>
      <p:sp>
        <p:nvSpPr>
          <p:cNvPr id="589" name="Recall what we learned about KNN classification and regres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Recall what we learned about KNN classification and regression</a:t>
            </a:r>
          </a:p>
          <a:p>
            <a:endParaRPr dirty="0"/>
          </a:p>
          <a:p>
            <a:pPr lvl="1"/>
            <a:r>
              <a:rPr dirty="0"/>
              <a:t>Will a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low</a:t>
            </a:r>
            <a:r>
              <a:rPr dirty="0"/>
              <a:t> value of </a:t>
            </a:r>
            <a:r>
              <a:rPr i="1" dirty="0">
                <a:latin typeface="Graphik"/>
                <a:ea typeface="Graphik"/>
                <a:cs typeface="Graphik"/>
                <a:sym typeface="Graphik"/>
              </a:rPr>
              <a:t>k</a:t>
            </a:r>
            <a:r>
              <a:rPr dirty="0"/>
              <a:t> be more likely to overfit or underfit?</a:t>
            </a:r>
            <a:endParaRPr lang="en-US" dirty="0"/>
          </a:p>
          <a:p>
            <a:pPr lvl="2"/>
            <a:r>
              <a:rPr lang="en-US" dirty="0"/>
              <a:t>How does this relate to bias/variance?</a:t>
            </a:r>
            <a:endParaRPr dirty="0"/>
          </a:p>
          <a:p>
            <a:pPr lvl="1"/>
            <a:endParaRPr dirty="0"/>
          </a:p>
          <a:p>
            <a:pPr lvl="1"/>
            <a:r>
              <a:rPr dirty="0"/>
              <a:t>Will a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high</a:t>
            </a:r>
            <a:r>
              <a:rPr dirty="0"/>
              <a:t> value of </a:t>
            </a:r>
            <a:r>
              <a:rPr i="1" dirty="0">
                <a:latin typeface="Graphik"/>
                <a:ea typeface="Graphik"/>
                <a:cs typeface="Graphik"/>
                <a:sym typeface="Graphik"/>
              </a:rPr>
              <a:t>k</a:t>
            </a:r>
            <a:r>
              <a:rPr dirty="0"/>
              <a:t> be more likely to overfit or underfit?</a:t>
            </a:r>
            <a:endParaRPr lang="en-US" dirty="0"/>
          </a:p>
          <a:p>
            <a:pPr lvl="2"/>
            <a:r>
              <a:rPr lang="en-US" dirty="0"/>
              <a:t>How does this relate to bias/variance?</a:t>
            </a:r>
          </a:p>
          <a:p>
            <a:pPr lvl="1"/>
            <a:endParaRPr lang="en-US" dirty="0"/>
          </a:p>
          <a:p>
            <a:pPr lvl="2"/>
            <a:endParaRPr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sting and Validating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Testing and Validating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How well does my model work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well does my model work?</a:t>
            </a:r>
          </a:p>
        </p:txBody>
      </p:sp>
      <p:sp>
        <p:nvSpPr>
          <p:cNvPr id="595" name="In the prediction setting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 the prediction setting:</a:t>
            </a:r>
          </a:p>
          <a:p>
            <a:pPr lvl="1"/>
            <a:r>
              <a:rPr lang="en-US" b="1" dirty="0"/>
              <a:t>Model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evaluation</a:t>
            </a:r>
            <a:r>
              <a:rPr lang="en-US" b="1" dirty="0">
                <a:latin typeface="Graphik"/>
                <a:ea typeface="Graphik"/>
                <a:cs typeface="Graphik"/>
                <a:sym typeface="Graphik"/>
              </a:rPr>
              <a:t>:</a:t>
            </a:r>
            <a:r>
              <a:rPr dirty="0"/>
              <a:t> how well </a:t>
            </a:r>
            <a:r>
              <a:rPr lang="en-US" dirty="0"/>
              <a:t>does </a:t>
            </a:r>
            <a:r>
              <a:rPr dirty="0"/>
              <a:t>our machine learning model generalize to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new data</a:t>
            </a:r>
            <a:r>
              <a:rPr lang="en-US" b="1" dirty="0">
                <a:latin typeface="Graphik"/>
                <a:ea typeface="Graphik"/>
                <a:cs typeface="Graphik"/>
                <a:sym typeface="Graphik"/>
              </a:rPr>
              <a:t>?</a:t>
            </a:r>
            <a:endParaRPr b="1" dirty="0">
              <a:latin typeface="Graphik"/>
              <a:ea typeface="Graphik"/>
              <a:cs typeface="Graphik"/>
              <a:sym typeface="Graphik"/>
            </a:endParaRPr>
          </a:p>
          <a:p>
            <a:pPr lvl="1"/>
            <a:r>
              <a:rPr dirty="0"/>
              <a:t>Don’t get caught in the weeds of the possible validation methods</a:t>
            </a:r>
          </a:p>
          <a:p>
            <a:pPr lvl="1"/>
            <a:r>
              <a:rPr lang="en-US" dirty="0"/>
              <a:t>F</a:t>
            </a:r>
            <a:r>
              <a:rPr dirty="0"/>
              <a:t>ind an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honest metric to quantify future model performance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How well does my model work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well does my model work?</a:t>
            </a:r>
          </a:p>
        </p:txBody>
      </p:sp>
      <p:sp>
        <p:nvSpPr>
          <p:cNvPr id="599" name="The only way to evaluate how well a model predicts is to apply it to new data…"/>
          <p:cNvSpPr txBox="1">
            <a:spLocks noGrp="1"/>
          </p:cNvSpPr>
          <p:nvPr>
            <p:ph type="body" idx="1"/>
          </p:nvPr>
        </p:nvSpPr>
        <p:spPr>
          <a:xfrm>
            <a:off x="2015133" y="1826682"/>
            <a:ext cx="8161734" cy="4746125"/>
          </a:xfrm>
          <a:prstGeom prst="rect">
            <a:avLst/>
          </a:prstGeom>
        </p:spPr>
        <p:txBody>
          <a:bodyPr/>
          <a:lstStyle/>
          <a:p>
            <a:r>
              <a:t>The only way to evaluate how well a model predicts is to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apply it to new data</a:t>
            </a:r>
          </a:p>
          <a:p>
            <a:r>
              <a:t>Comparing test metrics to training metrics can also help identify overfitting</a:t>
            </a:r>
          </a:p>
          <a:p>
            <a:r>
              <a:t>What if new data (with labels) isn’t readily available </a:t>
            </a:r>
            <a:br/>
            <a:r>
              <a:t>(and it usually isn’t)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Model Evaluation Strategies"/>
          <p:cNvSpPr txBox="1">
            <a:spLocks noGrp="1"/>
          </p:cNvSpPr>
          <p:nvPr>
            <p:ph type="title"/>
          </p:nvPr>
        </p:nvSpPr>
        <p:spPr>
          <a:xfrm>
            <a:off x="1322427" y="2702052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dirty="0"/>
              <a:t>Model Evaluation Strategies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Train / Validation / Test</a:t>
            </a:r>
            <a:endParaRPr/>
          </a:p>
        </p:txBody>
      </p:sp>
      <p:sp>
        <p:nvSpPr>
          <p:cNvPr id="549" name="Underfitting: Model is too simple to learn the underlying structure of the data…"/>
          <p:cNvSpPr txBox="1">
            <a:spLocks noGrp="1"/>
          </p:cNvSpPr>
          <p:nvPr>
            <p:ph type="body" idx="1"/>
          </p:nvPr>
        </p:nvSpPr>
        <p:spPr>
          <a:xfrm>
            <a:off x="700635" y="2221992"/>
            <a:ext cx="10691265" cy="2926080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Split the data once, and give each piece a single job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The test set is touched exactly once, at the very end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The three roles: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Training set (~60%): fit the model parameters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Validation set (~20%): tune hyperparameters, compare models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Test set (~20%): estimate generalization error</a:t>
            </a:r>
            <a:endParaRPr/>
          </a:p>
        </p:txBody>
      </p:sp>
      <p:sp>
        <p:nvSpPr>
          <p:cNvPr id="900" name="Split bar - Training" descr="Bar diagram showing the data split into about 60 percent training, 20 percent validation and 20 percent test"/>
          <p:cNvSpPr/>
          <p:nvPr/>
        </p:nvSpPr>
        <p:spPr>
          <a:xfrm>
            <a:off x="700645" y="5394960"/>
            <a:ext cx="6384759" cy="731520"/>
          </a:xfrm>
          <a:prstGeom prst="rect">
            <a:avLst/>
          </a:prstGeom>
          <a:solidFill>
            <a:schemeClr val="accent1"/>
          </a:solidFill>
        </p:spPr>
        <p:txBody>
          <a:bodyPr lIns="91440" rIns="9144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Training ~60%</a:t>
            </a:r>
          </a:p>
        </p:txBody>
      </p:sp>
      <p:sp>
        <p:nvSpPr>
          <p:cNvPr id="901" name="Split bar - Validation"/>
          <p:cNvSpPr/>
          <p:nvPr/>
        </p:nvSpPr>
        <p:spPr>
          <a:xfrm>
            <a:off x="7115404" y="5394960"/>
            <a:ext cx="2108253" cy="731520"/>
          </a:xfrm>
          <a:prstGeom prst="rect">
            <a:avLst/>
          </a:prstGeom>
          <a:solidFill>
            <a:schemeClr val="accent2"/>
          </a:solidFill>
        </p:spPr>
        <p:txBody>
          <a:bodyPr lIns="45720" rIns="4572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Validation ~20%</a:t>
            </a:r>
          </a:p>
        </p:txBody>
      </p:sp>
      <p:sp>
        <p:nvSpPr>
          <p:cNvPr id="902" name="Split bar - Test"/>
          <p:cNvSpPr/>
          <p:nvPr/>
        </p:nvSpPr>
        <p:spPr>
          <a:xfrm>
            <a:off x="9253657" y="5394960"/>
            <a:ext cx="2108253" cy="731520"/>
          </a:xfrm>
          <a:prstGeom prst="rect">
            <a:avLst/>
          </a:prstGeom>
          <a:solidFill>
            <a:schemeClr val="accent6"/>
          </a:solidFill>
        </p:spPr>
        <p:txBody>
          <a:bodyPr lIns="45720" rIns="4572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Test ~20%</a:t>
            </a:r>
          </a:p>
        </p:txBody>
      </p:sp>
    </p:spTree>
    <p:extLst>
      <p:ext uri="{BB962C8B-B14F-4D97-AF65-F5344CB8AC3E}">
        <p14:creationId xmlns:p14="http://schemas.microsoft.com/office/powerpoint/2010/main" val="247040149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Leave-one-out cross-validation (LOOCV)</a:t>
            </a:r>
            <a:endParaRPr/>
          </a:p>
        </p:txBody>
      </p:sp>
      <p:sp>
        <p:nvSpPr>
          <p:cNvPr id="549" name="Underfitting: Model is too simple to learn the underlying structure of the data…"/>
          <p:cNvSpPr txBox="1">
            <a:spLocks noGrp="1"/>
          </p:cNvSpPr>
          <p:nvPr>
            <p:ph type="body" idx="1"/>
          </p:nvPr>
        </p:nvSpPr>
        <p:spPr>
          <a:xfrm>
            <a:off x="700635" y="1828800"/>
            <a:ext cx="10691265" cy="141732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LOOCV is k-fold with k = n: every observation takes one turn as the test set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The model is fit n times, each on the other n − 1 observations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LOOCV is deterministic!  (Not random).</a:t>
            </a:r>
            <a:endParaRPr dirty="0"/>
          </a:p>
        </p:txBody>
      </p:sp>
      <p:sp>
        <p:nvSpPr>
          <p:cNvPr id="902" name="Label 902"/>
          <p:cNvSpPr txBox="1"/>
          <p:nvPr/>
        </p:nvSpPr>
        <p:spPr>
          <a:xfrm>
            <a:off x="704088" y="3337560"/>
            <a:ext cx="1234440" cy="457200"/>
          </a:xfrm>
          <a:prstGeom prst="rect">
            <a:avLst/>
          </a:prstGeom>
          <a:noFill/>
        </p:spPr>
        <p:txBody>
          <a:bodyPr lIns="0" rIns="0" anchor="ctr"/>
          <a:lstStyle/>
          <a:p>
            <a:pPr algn="l"/>
            <a:r>
              <a:rPr lang="en-US" sz="1200" b="1"/>
              <a:t>Fit 1</a:t>
            </a:r>
          </a:p>
        </p:txBody>
      </p:sp>
      <p:sp>
        <p:nvSpPr>
          <p:cNvPr id="903" name="Held-out observation" descr="Diagram of leave-one-out cross-validation: each fit holds out a different single observation"/>
          <p:cNvSpPr/>
          <p:nvPr/>
        </p:nvSpPr>
        <p:spPr>
          <a:xfrm>
            <a:off x="2057400" y="3337560"/>
            <a:ext cx="105156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904" name="Training observation"/>
          <p:cNvSpPr/>
          <p:nvPr/>
        </p:nvSpPr>
        <p:spPr>
          <a:xfrm>
            <a:off x="3154680" y="3337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05" name="Training observation"/>
          <p:cNvSpPr/>
          <p:nvPr/>
        </p:nvSpPr>
        <p:spPr>
          <a:xfrm>
            <a:off x="4251960" y="3337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06" name="Training observation"/>
          <p:cNvSpPr/>
          <p:nvPr/>
        </p:nvSpPr>
        <p:spPr>
          <a:xfrm>
            <a:off x="5349240" y="3337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07" name="Training observation"/>
          <p:cNvSpPr/>
          <p:nvPr/>
        </p:nvSpPr>
        <p:spPr>
          <a:xfrm>
            <a:off x="6446520" y="3337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08" name="Training observation"/>
          <p:cNvSpPr/>
          <p:nvPr/>
        </p:nvSpPr>
        <p:spPr>
          <a:xfrm>
            <a:off x="7543800" y="3337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09" name="Training observation"/>
          <p:cNvSpPr/>
          <p:nvPr/>
        </p:nvSpPr>
        <p:spPr>
          <a:xfrm>
            <a:off x="8641080" y="3337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10" name="Training observation"/>
          <p:cNvSpPr/>
          <p:nvPr/>
        </p:nvSpPr>
        <p:spPr>
          <a:xfrm>
            <a:off x="9738360" y="3337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11" name="Label 911"/>
          <p:cNvSpPr txBox="1"/>
          <p:nvPr/>
        </p:nvSpPr>
        <p:spPr>
          <a:xfrm>
            <a:off x="704088" y="3977640"/>
            <a:ext cx="1234440" cy="457200"/>
          </a:xfrm>
          <a:prstGeom prst="rect">
            <a:avLst/>
          </a:prstGeom>
          <a:noFill/>
        </p:spPr>
        <p:txBody>
          <a:bodyPr lIns="0" rIns="0" anchor="ctr"/>
          <a:lstStyle/>
          <a:p>
            <a:pPr algn="l"/>
            <a:r>
              <a:rPr lang="en-US" sz="1200" b="1"/>
              <a:t>Fit 2</a:t>
            </a:r>
          </a:p>
        </p:txBody>
      </p:sp>
      <p:sp>
        <p:nvSpPr>
          <p:cNvPr id="912" name="Training observation"/>
          <p:cNvSpPr/>
          <p:nvPr/>
        </p:nvSpPr>
        <p:spPr>
          <a:xfrm>
            <a:off x="2057400" y="397764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13" name="Held-out observation"/>
          <p:cNvSpPr/>
          <p:nvPr/>
        </p:nvSpPr>
        <p:spPr>
          <a:xfrm>
            <a:off x="3154680" y="3977640"/>
            <a:ext cx="105156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914" name="Training observation"/>
          <p:cNvSpPr/>
          <p:nvPr/>
        </p:nvSpPr>
        <p:spPr>
          <a:xfrm>
            <a:off x="4251960" y="397764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15" name="Training observation"/>
          <p:cNvSpPr/>
          <p:nvPr/>
        </p:nvSpPr>
        <p:spPr>
          <a:xfrm>
            <a:off x="5349240" y="397764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16" name="Training observation"/>
          <p:cNvSpPr/>
          <p:nvPr/>
        </p:nvSpPr>
        <p:spPr>
          <a:xfrm>
            <a:off x="6446520" y="397764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17" name="Training observation"/>
          <p:cNvSpPr/>
          <p:nvPr/>
        </p:nvSpPr>
        <p:spPr>
          <a:xfrm>
            <a:off x="7543800" y="397764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18" name="Training observation"/>
          <p:cNvSpPr/>
          <p:nvPr/>
        </p:nvSpPr>
        <p:spPr>
          <a:xfrm>
            <a:off x="8641080" y="397764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19" name="Training observation"/>
          <p:cNvSpPr/>
          <p:nvPr/>
        </p:nvSpPr>
        <p:spPr>
          <a:xfrm>
            <a:off x="9738360" y="397764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20" name="Label 920"/>
          <p:cNvSpPr txBox="1"/>
          <p:nvPr/>
        </p:nvSpPr>
        <p:spPr>
          <a:xfrm>
            <a:off x="704088" y="4617720"/>
            <a:ext cx="1234440" cy="457200"/>
          </a:xfrm>
          <a:prstGeom prst="rect">
            <a:avLst/>
          </a:prstGeom>
          <a:noFill/>
        </p:spPr>
        <p:txBody>
          <a:bodyPr lIns="0" rIns="0" anchor="ctr"/>
          <a:lstStyle/>
          <a:p>
            <a:pPr algn="l"/>
            <a:r>
              <a:rPr lang="en-US" sz="1200" b="1"/>
              <a:t>Fit 3</a:t>
            </a:r>
          </a:p>
        </p:txBody>
      </p:sp>
      <p:sp>
        <p:nvSpPr>
          <p:cNvPr id="921" name="Training observation"/>
          <p:cNvSpPr/>
          <p:nvPr/>
        </p:nvSpPr>
        <p:spPr>
          <a:xfrm>
            <a:off x="2057400" y="461772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22" name="Training observation"/>
          <p:cNvSpPr/>
          <p:nvPr/>
        </p:nvSpPr>
        <p:spPr>
          <a:xfrm>
            <a:off x="3154680" y="461772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23" name="Held-out observation"/>
          <p:cNvSpPr/>
          <p:nvPr/>
        </p:nvSpPr>
        <p:spPr>
          <a:xfrm>
            <a:off x="4251960" y="4617720"/>
            <a:ext cx="105156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924" name="Training observation"/>
          <p:cNvSpPr/>
          <p:nvPr/>
        </p:nvSpPr>
        <p:spPr>
          <a:xfrm>
            <a:off x="5349240" y="461772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25" name="Training observation"/>
          <p:cNvSpPr/>
          <p:nvPr/>
        </p:nvSpPr>
        <p:spPr>
          <a:xfrm>
            <a:off x="6446520" y="461772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26" name="Training observation"/>
          <p:cNvSpPr/>
          <p:nvPr/>
        </p:nvSpPr>
        <p:spPr>
          <a:xfrm>
            <a:off x="7543800" y="461772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27" name="Training observation"/>
          <p:cNvSpPr/>
          <p:nvPr/>
        </p:nvSpPr>
        <p:spPr>
          <a:xfrm>
            <a:off x="8641080" y="461772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28" name="Training observation"/>
          <p:cNvSpPr/>
          <p:nvPr/>
        </p:nvSpPr>
        <p:spPr>
          <a:xfrm>
            <a:off x="9738360" y="461772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29" name="Label 929"/>
          <p:cNvSpPr txBox="1"/>
          <p:nvPr/>
        </p:nvSpPr>
        <p:spPr>
          <a:xfrm>
            <a:off x="704088" y="5623560"/>
            <a:ext cx="1234440" cy="457200"/>
          </a:xfrm>
          <a:prstGeom prst="rect">
            <a:avLst/>
          </a:prstGeom>
          <a:noFill/>
        </p:spPr>
        <p:txBody>
          <a:bodyPr lIns="0" rIns="0" anchor="ctr"/>
          <a:lstStyle/>
          <a:p>
            <a:pPr algn="l"/>
            <a:r>
              <a:rPr lang="en-US" sz="1200" b="1"/>
              <a:t>Fit n</a:t>
            </a:r>
          </a:p>
        </p:txBody>
      </p:sp>
      <p:sp>
        <p:nvSpPr>
          <p:cNvPr id="930" name="Training observation"/>
          <p:cNvSpPr/>
          <p:nvPr/>
        </p:nvSpPr>
        <p:spPr>
          <a:xfrm>
            <a:off x="2057400" y="5623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31" name="Training observation"/>
          <p:cNvSpPr/>
          <p:nvPr/>
        </p:nvSpPr>
        <p:spPr>
          <a:xfrm>
            <a:off x="3154680" y="5623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32" name="Training observation"/>
          <p:cNvSpPr/>
          <p:nvPr/>
        </p:nvSpPr>
        <p:spPr>
          <a:xfrm>
            <a:off x="4251960" y="5623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33" name="Training observation"/>
          <p:cNvSpPr/>
          <p:nvPr/>
        </p:nvSpPr>
        <p:spPr>
          <a:xfrm>
            <a:off x="5349240" y="5623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34" name="Training observation"/>
          <p:cNvSpPr/>
          <p:nvPr/>
        </p:nvSpPr>
        <p:spPr>
          <a:xfrm>
            <a:off x="6446520" y="5623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35" name="Training observation"/>
          <p:cNvSpPr/>
          <p:nvPr/>
        </p:nvSpPr>
        <p:spPr>
          <a:xfrm>
            <a:off x="7543800" y="5623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36" name="Training observation"/>
          <p:cNvSpPr/>
          <p:nvPr/>
        </p:nvSpPr>
        <p:spPr>
          <a:xfrm>
            <a:off x="8641080" y="5623560"/>
            <a:ext cx="1051560" cy="457200"/>
          </a:xfrm>
          <a:prstGeom prst="rect">
            <a:avLst/>
          </a:prstGeom>
          <a:solidFill>
            <a:srgbClr val="E8E8EA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endParaRPr lang="en-US"/>
          </a:p>
        </p:txBody>
      </p:sp>
      <p:sp>
        <p:nvSpPr>
          <p:cNvPr id="937" name="Held-out observation"/>
          <p:cNvSpPr/>
          <p:nvPr/>
        </p:nvSpPr>
        <p:spPr>
          <a:xfrm>
            <a:off x="9738360" y="5623560"/>
            <a:ext cx="105156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txBody>
          <a:bodyPr lIns="18288" rIns="18288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938" name="Label 938"/>
          <p:cNvSpPr txBox="1"/>
          <p:nvPr/>
        </p:nvSpPr>
        <p:spPr>
          <a:xfrm>
            <a:off x="704088" y="5166360"/>
            <a:ext cx="1234440" cy="365760"/>
          </a:xfrm>
          <a:prstGeom prst="rect">
            <a:avLst/>
          </a:prstGeom>
          <a:noFill/>
        </p:spPr>
        <p:txBody>
          <a:bodyPr lIns="0" rIns="0" anchor="ctr"/>
          <a:lstStyle/>
          <a:p>
            <a:pPr algn="l"/>
            <a:r>
              <a:rPr lang="en-US" sz="1600" b="1"/>
              <a:t>⋮</a:t>
            </a:r>
          </a:p>
        </p:txBody>
      </p:sp>
      <p:sp>
        <p:nvSpPr>
          <p:cNvPr id="939" name="Label 939"/>
          <p:cNvSpPr txBox="1"/>
          <p:nvPr/>
        </p:nvSpPr>
        <p:spPr>
          <a:xfrm>
            <a:off x="2057400" y="5166360"/>
            <a:ext cx="8778240" cy="365760"/>
          </a:xfrm>
          <a:prstGeom prst="rect">
            <a:avLst/>
          </a:prstGeom>
          <a:noFill/>
        </p:spPr>
        <p:txBody>
          <a:bodyPr lIns="0" rIns="0" anchor="ctr"/>
          <a:lstStyle/>
          <a:p>
            <a:pPr algn="ctr"/>
            <a:r>
              <a:rPr lang="en-US" sz="1600" b="1"/>
              <a:t>⋮</a:t>
            </a:r>
          </a:p>
        </p:txBody>
      </p:sp>
    </p:spTree>
    <p:extLst>
      <p:ext uri="{BB962C8B-B14F-4D97-AF65-F5344CB8AC3E}">
        <p14:creationId xmlns:p14="http://schemas.microsoft.com/office/powerpoint/2010/main" val="142219828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K-fold cross-validation illustrat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K-fold cross-validation</a:t>
            </a:r>
          </a:p>
        </p:txBody>
      </p:sp>
      <p:pic>
        <p:nvPicPr>
          <p:cNvPr id="606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78805"/>
            <a:ext cx="9144000" cy="451128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Choosing k (the number of fold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Choosing k (the number of folds)</a:t>
            </a:r>
          </a:p>
        </p:txBody>
      </p:sp>
      <p:sp>
        <p:nvSpPr>
          <p:cNvPr id="610" name="The data scientist has yet another choice to make: k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The data scientist has yet another choice to make: k</a:t>
            </a:r>
          </a:p>
          <a:p>
            <a:pPr lvl="1"/>
            <a:r>
              <a:rPr lang="en-US"/>
              <a:t>k=n is leave-one-out cross-validation (LOOCV)</a:t>
            </a:r>
            <a:r>
              <a:rPr lang="en-US" dirty="0"/>
              <a:t>, this is deterministic</a:t>
            </a:r>
            <a:endParaRPr lang="en-US"/>
          </a:p>
          <a:p>
            <a:pPr lvl="1"/>
            <a:r>
              <a:rPr lang="en-US"/>
              <a:t>k=5 or k=10 are other popular choices</a:t>
            </a:r>
            <a:endParaRPr lang="en-US" dirty="0"/>
          </a:p>
          <a:p>
            <a:r>
              <a:rPr lang="en-US" dirty="0"/>
              <a:t>Bias–variance tradeoff in k-fold CV:</a:t>
            </a:r>
          </a:p>
          <a:p>
            <a:pPr lvl="1"/>
            <a:r>
              <a:rPr lang="en-US" dirty="0"/>
              <a:t>Small k → </a:t>
            </a:r>
            <a:r>
              <a:rPr lang="en-US"/>
              <a:t>less training data per fit</a:t>
            </a:r>
            <a:r>
              <a:rPr lang="en-US" dirty="0"/>
              <a:t>, </a:t>
            </a:r>
            <a:r>
              <a:rPr lang="en-US"/>
              <a:t>so a </a:t>
            </a:r>
            <a:r>
              <a:rPr lang="en-US" dirty="0"/>
              <a:t>more </a:t>
            </a:r>
            <a:r>
              <a:rPr lang="en-US"/>
              <a:t>biased (pessimistic) estimate</a:t>
            </a:r>
            <a:endParaRPr lang="en-US" dirty="0"/>
          </a:p>
          <a:p>
            <a:pPr lvl="1"/>
            <a:r>
              <a:rPr lang="en-US" dirty="0"/>
              <a:t>Large k → </a:t>
            </a:r>
            <a:r>
              <a:rPr lang="en-US"/>
              <a:t>nearly full </a:t>
            </a:r>
            <a:r>
              <a:rPr lang="en-US" dirty="0"/>
              <a:t>training sets, </a:t>
            </a:r>
            <a:r>
              <a:rPr lang="en-US"/>
              <a:t>so little bias, but overlapping folds make the estimate more variable</a:t>
            </a:r>
            <a:endParaRPr lang="en-US" dirty="0"/>
          </a:p>
          <a:p>
            <a:pPr lvl="1"/>
            <a:r>
              <a:rPr lang="en-US"/>
              <a:t>For </a:t>
            </a:r>
            <a:r>
              <a:rPr lang="en-US" dirty="0"/>
              <a:t>tuning, bias </a:t>
            </a:r>
            <a:r>
              <a:rPr lang="en-US"/>
              <a:t>matters </a:t>
            </a:r>
            <a:r>
              <a:rPr lang="en-US" dirty="0"/>
              <a:t>less than finding the minimum error</a:t>
            </a:r>
          </a:p>
          <a:p>
            <a:pPr lvl="1"/>
            <a:r>
              <a:rPr lang="en-US" dirty="0"/>
              <a:t>Computational cost scales with k</a:t>
            </a:r>
            <a:endParaRPr lang="en-US"/>
          </a:p>
          <a:p>
            <a:pPr lvl="1"/>
            <a:r>
              <a:rPr lang="en-US" dirty="0"/>
              <a:t>LOOCV is </a:t>
            </a:r>
            <a:r>
              <a:rPr lang="en-US"/>
              <a:t>by far the most </a:t>
            </a:r>
            <a:r>
              <a:rPr lang="en-US" dirty="0"/>
              <a:t>expensive</a:t>
            </a:r>
            <a:r>
              <a:rPr lang="en-US"/>
              <a:t> choice</a:t>
            </a:r>
            <a:endParaRPr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Hyperparame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Hyperparameters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7" name="Also called tuning parameter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Also called tuning parameters</a:t>
                </a:r>
              </a:p>
              <a:p>
                <a:r>
                  <a:t>Parameters of the learning algorithm and not the model</a:t>
                </a:r>
              </a:p>
              <a:p>
                <a:pPr lvl="1"/>
                <a:r>
                  <a:t>For example,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, in k-NN is a hyperparameter</a:t>
                </a:r>
              </a:p>
              <a:p>
                <a:r>
                  <a:t>Hyperparameters are chosen by the modeler </a:t>
                </a:r>
              </a:p>
              <a:p>
                <a:pPr lvl="1"/>
                <a:r>
                  <a:t>Values that are actually </a:t>
                </a:r>
                <a:r>
                  <a:rPr i="1">
                    <a:latin typeface="Graphik"/>
                    <a:ea typeface="Graphik"/>
                    <a:cs typeface="Graphik"/>
                    <a:sym typeface="Graphik"/>
                  </a:rPr>
                  <a:t>learned</a:t>
                </a:r>
                <a:r>
                  <a:t> from the data are usually called parameters</a:t>
                </a:r>
              </a:p>
            </p:txBody>
          </p:sp>
        </mc:Choice>
        <mc:Fallback xmlns="">
          <p:sp>
            <p:nvSpPr>
              <p:cNvPr id="557" name="Also called tuning parameter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471" t="-1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A possible approac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 </a:t>
            </a:r>
            <a:r>
              <a:rPr lang="en-US" dirty="0"/>
              <a:t>typical</a:t>
            </a:r>
            <a:r>
              <a:rPr dirty="0"/>
              <a:t> approach</a:t>
            </a:r>
          </a:p>
        </p:txBody>
      </p:sp>
      <p:sp>
        <p:nvSpPr>
          <p:cNvPr id="619" name="Split data into training and test se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Split data into training and test sets</a:t>
            </a:r>
          </a:p>
          <a:p>
            <a:r>
              <a:rPr dirty="0"/>
              <a:t>Train the model several times using different values of the hyperparameter  </a:t>
            </a:r>
          </a:p>
          <a:p>
            <a:pPr lvl="1"/>
            <a:r>
              <a:rPr dirty="0"/>
              <a:t>Choose the hyperparameter value that performs best on the training set </a:t>
            </a:r>
            <a:r>
              <a:rPr i="1" u="sng" dirty="0">
                <a:latin typeface="Graphik"/>
                <a:ea typeface="Graphik"/>
                <a:cs typeface="Graphik"/>
                <a:sym typeface="Graphik"/>
              </a:rPr>
              <a:t>as measured with k-fold cross-validation</a:t>
            </a:r>
          </a:p>
          <a:p>
            <a:r>
              <a:rPr dirty="0"/>
              <a:t>Use the test set to compute the generalization error</a:t>
            </a:r>
            <a:endParaRPr lang="en-US" dirty="0"/>
          </a:p>
          <a:p>
            <a:r>
              <a:rPr lang="en-US" dirty="0"/>
              <a:t>Remember that the goal is to get a good estimate of the </a:t>
            </a:r>
            <a:r>
              <a:rPr lang="en-US" b="1" dirty="0"/>
              <a:t>generalization error  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620" name="Remember that the goal is to get a good estimate of the generalization error"/>
          <p:cNvSpPr txBox="1"/>
          <p:nvPr/>
        </p:nvSpPr>
        <p:spPr>
          <a:xfrm>
            <a:off x="3716050" y="5535368"/>
            <a:ext cx="4759901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endParaRPr sz="1266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What’s wrong with this scenari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 tempting approach…</a:t>
            </a:r>
            <a:endParaRPr dirty="0"/>
          </a:p>
        </p:txBody>
      </p:sp>
      <p:sp>
        <p:nvSpPr>
          <p:cNvPr id="624" name="Split data into a training and a test se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400"/>
            </a:pPr>
            <a:r>
              <a:rPr dirty="0"/>
              <a:t>Split data into a training and a test set</a:t>
            </a:r>
          </a:p>
          <a:p>
            <a:pPr>
              <a:defRPr sz="3400"/>
            </a:pPr>
            <a:r>
              <a:rPr lang="en-US" dirty="0"/>
              <a:t>Train the model for many hyperparameter values</a:t>
            </a:r>
          </a:p>
          <a:p>
            <a:pPr>
              <a:defRPr sz="3400"/>
            </a:pPr>
            <a:r>
              <a:rPr dirty="0"/>
              <a:t>Choose the hyperparameter value that performs best on test set 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Why that approach leaks</a:t>
            </a:r>
            <a:endParaRPr/>
          </a:p>
        </p:txBody>
      </p:sp>
      <p:sp>
        <p:nvSpPr>
          <p:cNvPr id="549" name="Underfitting: Model is too simple to learn the underlying structure of the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Choosing on the test set makes the test score optimistic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Illustrative: try 200 hyperparameter values, keep the best test score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 dirty="0"/>
              <a:t>What you see vs. what you get: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 dirty="0"/>
              <a:t>Reported test accuracy: 91%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 dirty="0"/>
              <a:t>Accuracy on genuinely new data: 84%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 dirty="0"/>
              <a:t>The 7-point gap is selection, </a:t>
            </a:r>
            <a:r>
              <a:rPr lang="en-US"/>
              <a:t>not learning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 dirty="0"/>
              <a:t>Fix: tune with cross-validation inside the training set, or use nested CV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579671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Und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Summary: from symptom to remedy</a:t>
            </a:r>
            <a:endParaRPr/>
          </a:p>
        </p:txBody>
      </p:sp>
      <p:sp>
        <p:nvSpPr>
          <p:cNvPr id="549" name="Underfitting: Model is too simple to learn the underlying structure of the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Diagnose from the gap between training and test error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Then match the remedy to the diagnosis</a:t>
            </a:r>
          </a:p>
          <a:p>
            <a:pPr marL="209840" indent="-209840" defTabSz="167125">
              <a:spcBef>
                <a:spcPts val="2180"/>
              </a:spcBef>
              <a:defRPr sz="2632"/>
            </a:pPr>
            <a:r>
              <a:rPr lang="en-US"/>
              <a:t>Quick reference: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Both errors high → underfit → more flexibility, better features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Training low, test high → overfit → simplify, regularize, add data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Both low and close → good fit → report the test error once</a:t>
            </a:r>
          </a:p>
          <a:p>
            <a:pPr marL="631199" lvl="2" indent="-211518" defTabSz="167125">
              <a:spcBef>
                <a:spcPts val="2180"/>
              </a:spcBef>
              <a:defRPr sz="2632"/>
            </a:pPr>
            <a:r>
              <a:rPr lang="en-US"/>
              <a:t>Always keep an untouched estimate of generalization error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5896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1374</Words>
  <Application>Microsoft Office PowerPoint</Application>
  <PresentationFormat>Widescreen</PresentationFormat>
  <Paragraphs>161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Calisto MT</vt:lpstr>
      <vt:lpstr>Cambria Math</vt:lpstr>
      <vt:lpstr>Graphik</vt:lpstr>
      <vt:lpstr>Univers Condensed</vt:lpstr>
      <vt:lpstr>ChronicleVTI</vt:lpstr>
      <vt:lpstr>Model fitting</vt:lpstr>
      <vt:lpstr>Overfitting vs Underfitting</vt:lpstr>
      <vt:lpstr>Overfitting vs Underfitting</vt:lpstr>
      <vt:lpstr>Underfitting</vt:lpstr>
      <vt:lpstr>Overfitting</vt:lpstr>
      <vt:lpstr>Example: one dataset, three fits</vt:lpstr>
      <vt:lpstr>Checkpoint</vt:lpstr>
      <vt:lpstr>Bias-Variance Tradeoff </vt:lpstr>
      <vt:lpstr>Bias-Variance Tradeoff </vt:lpstr>
      <vt:lpstr>Bias and Variance</vt:lpstr>
      <vt:lpstr>Deriving the tradeoff (Proof Sketch)</vt:lpstr>
      <vt:lpstr>Bias-Variance Tradeoff </vt:lpstr>
      <vt:lpstr>K-nn recall</vt:lpstr>
      <vt:lpstr>PowerPoint Presentation</vt:lpstr>
      <vt:lpstr>How well does my model work?</vt:lpstr>
      <vt:lpstr>How well does my model work?</vt:lpstr>
      <vt:lpstr>Model Evaluation Strategies</vt:lpstr>
      <vt:lpstr>Train / Validation / Test</vt:lpstr>
      <vt:lpstr>Leave-one-out cross-validation (LOOCV)</vt:lpstr>
      <vt:lpstr>K-fold cross-validation</vt:lpstr>
      <vt:lpstr>Choosing k (the number of folds)</vt:lpstr>
      <vt:lpstr>Hyperparameters</vt:lpstr>
      <vt:lpstr>A typical approach</vt:lpstr>
      <vt:lpstr>A tempting approach…</vt:lpstr>
      <vt:lpstr>Why that approach leaks</vt:lpstr>
      <vt:lpstr>Summary: from symptom to remedy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27</cp:revision>
  <dcterms:created xsi:type="dcterms:W3CDTF">2025-10-28T15:32:43Z</dcterms:created>
  <dcterms:modified xsi:type="dcterms:W3CDTF">2026-09-17T19:18:27Z</dcterms:modified>
</cp:coreProperties>
</file>