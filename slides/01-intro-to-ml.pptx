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notesSlides/notesSlide9.xml" ContentType="application/vnd.openxmlformats-officedocument.presentationml.notesSlide+xml"/>
  <Override PartName="/ppt/tags/tag7.xml" ContentType="application/vnd.openxmlformats-officedocument.presentationml.tags+xml"/>
  <Override PartName="/ppt/notesSlides/notesSlide10.xml" ContentType="application/vnd.openxmlformats-officedocument.presentationml.notesSlide+xml"/>
  <Override PartName="/ppt/tags/tag8.xml" ContentType="application/vnd.openxmlformats-officedocument.presentationml.tags+xml"/>
  <Override PartName="/ppt/notesSlides/notesSlide11.xml" ContentType="application/vnd.openxmlformats-officedocument.presentationml.notesSlide+xml"/>
  <Override PartName="/ppt/tags/tag9.xml" ContentType="application/vnd.openxmlformats-officedocument.presentationml.tags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40"/>
  </p:notesMasterIdLst>
  <p:sldIdLst>
    <p:sldId id="256" r:id="rId2"/>
    <p:sldId id="258" r:id="rId3"/>
    <p:sldId id="257" r:id="rId4"/>
    <p:sldId id="259" r:id="rId5"/>
    <p:sldId id="310" r:id="rId6"/>
    <p:sldId id="316" r:id="rId7"/>
    <p:sldId id="267" r:id="rId8"/>
    <p:sldId id="268" r:id="rId9"/>
    <p:sldId id="269" r:id="rId10"/>
    <p:sldId id="272" r:id="rId11"/>
    <p:sldId id="377" r:id="rId12"/>
    <p:sldId id="380" r:id="rId13"/>
    <p:sldId id="389" r:id="rId14"/>
    <p:sldId id="317" r:id="rId15"/>
    <p:sldId id="260" r:id="rId16"/>
    <p:sldId id="261" r:id="rId17"/>
    <p:sldId id="313" r:id="rId18"/>
    <p:sldId id="388" r:id="rId19"/>
    <p:sldId id="262" r:id="rId20"/>
    <p:sldId id="318" r:id="rId21"/>
    <p:sldId id="320" r:id="rId22"/>
    <p:sldId id="319" r:id="rId23"/>
    <p:sldId id="321" r:id="rId24"/>
    <p:sldId id="325" r:id="rId25"/>
    <p:sldId id="385" r:id="rId26"/>
    <p:sldId id="286" r:id="rId27"/>
    <p:sldId id="287" r:id="rId28"/>
    <p:sldId id="336" r:id="rId29"/>
    <p:sldId id="266" r:id="rId30"/>
    <p:sldId id="289" r:id="rId31"/>
    <p:sldId id="290" r:id="rId32"/>
    <p:sldId id="292" r:id="rId33"/>
    <p:sldId id="387" r:id="rId34"/>
    <p:sldId id="294" r:id="rId35"/>
    <p:sldId id="295" r:id="rId36"/>
    <p:sldId id="296" r:id="rId37"/>
    <p:sldId id="297" r:id="rId38"/>
    <p:sldId id="298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9" autoAdjust="0"/>
    <p:restoredTop sz="94660"/>
  </p:normalViewPr>
  <p:slideViewPr>
    <p:cSldViewPr snapToGrid="0">
      <p:cViewPr varScale="1">
        <p:scale>
          <a:sx n="74" d="100"/>
          <a:sy n="74" d="100"/>
        </p:scale>
        <p:origin x="34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320152-7289-42ED-97D3-BBB411F9F8C0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F0E3D6-3C77-45F1-B7E2-5B66F3D24A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48739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Maybe put after “what is ML”?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0E3D6-3C77-45F1-B7E2-5B66F3D24A7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54771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</a:t>
            </a:r>
            <a:r>
              <a:rPr lang="en-US" baseline="0" dirty="0"/>
              <a:t> to me and many researchers, there isn’t a difference. Others may disagree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B0BDF8B-C338-49A2-B495-F87D8695459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25481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B0BDF8B-C338-49A2-B495-F87D8695459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3476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</a:t>
            </a:r>
            <a:r>
              <a:rPr lang="en-US" baseline="0" dirty="0"/>
              <a:t> entire process is done using deep neural nets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B0BDF8B-C338-49A2-B495-F87D8695459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40845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was one of the breakthroughs, and</a:t>
            </a:r>
            <a:r>
              <a:rPr lang="en-US" baseline="0" dirty="0"/>
              <a:t> even better results can be obtained now. Agaric is a type of mushroom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B0BDF8B-C338-49A2-B495-F87D8695459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24378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B0BDF8B-C338-49A2-B495-F87D8695459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81444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B0BDF8B-C338-49A2-B495-F87D8695459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73186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B0BDF8B-C338-49A2-B495-F87D8695459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0924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JUST SOMETHING ABOUT NOTATION, UPDATE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0E3D6-3C77-45F1-B7E2-5B66F3D24A72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25668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other words, we’re trying to learn a function that maps from x to y (write down on board)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B0BDF8B-C338-49A2-B495-F87D8695459E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22198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Regression is</a:t>
            </a:r>
            <a:r>
              <a:rPr lang="en-US" baseline="0" dirty="0"/>
              <a:t> largely left for </a:t>
            </a:r>
            <a:r>
              <a:rPr lang="en-US" baseline="0"/>
              <a:t>another class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B0BDF8B-C338-49A2-B495-F87D8695459E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187063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a car crash with a self-driving car, who is to blame? The manufacturer?</a:t>
            </a:r>
            <a:r>
              <a:rPr lang="en-US" baseline="0" dirty="0"/>
              <a:t> The software engineer?</a:t>
            </a:r>
          </a:p>
          <a:p>
            <a:endParaRPr lang="en-US" baseline="0" dirty="0"/>
          </a:p>
          <a:p>
            <a:r>
              <a:rPr lang="en-US" baseline="0" dirty="0"/>
              <a:t>Fairness example: Amazon built a resume analyzer using ML but scrapped it when they found it was biased against women</a:t>
            </a:r>
          </a:p>
          <a:p>
            <a:endParaRPr lang="en-US" baseline="0" dirty="0"/>
          </a:p>
          <a:p>
            <a:r>
              <a:rPr lang="en-US" dirty="0"/>
              <a:t>What</a:t>
            </a:r>
            <a:r>
              <a:rPr lang="en-US" baseline="0" dirty="0"/>
              <a:t> if it starts snowing while driving and you haven’t trained the car for that very  much?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B0BDF8B-C338-49A2-B495-F87D8695459E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430033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Linear methods are often</a:t>
            </a:r>
            <a:r>
              <a:rPr lang="en-US" baseline="0" dirty="0"/>
              <a:t> much easier to both understand and implement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B0BDF8B-C338-49A2-B495-F87D8695459E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6806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143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9720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0293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19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8/26/2026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2091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8/26/2026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19477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8/26/2026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4032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1026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6653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83652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57883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654844" y="1017985"/>
            <a:ext cx="10882313" cy="473273"/>
          </a:xfrm>
          <a:prstGeom prst="rect">
            <a:avLst/>
          </a:prstGeom>
        </p:spPr>
        <p:txBody>
          <a:bodyPr/>
          <a:lstStyle>
            <a:lvl1pPr marL="0" indent="0" defTabSz="178587">
              <a:spcBef>
                <a:spcPts val="0"/>
              </a:spcBef>
              <a:buSzTx/>
              <a:buNone/>
              <a:defRPr sz="2250">
                <a:latin typeface="+mn-lt"/>
                <a:ea typeface="+mn-ea"/>
                <a:cs typeface="+mn-cs"/>
                <a:sym typeface="Produkt Extralight"/>
              </a:defRPr>
            </a:lvl1pPr>
          </a:lstStyle>
          <a:p>
            <a:r>
              <a:t>Slide Subtitle</a:t>
            </a:r>
          </a:p>
        </p:txBody>
      </p:sp>
      <p:sp>
        <p:nvSpPr>
          <p:cNvPr id="43" name="Slide Title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44" name="Body Level One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5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49567599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654844" y="1017985"/>
            <a:ext cx="10882313" cy="473273"/>
          </a:xfrm>
          <a:prstGeom prst="rect">
            <a:avLst/>
          </a:prstGeom>
        </p:spPr>
        <p:txBody>
          <a:bodyPr/>
          <a:lstStyle>
            <a:lvl1pPr marL="0" indent="0" defTabSz="178587">
              <a:spcBef>
                <a:spcPts val="0"/>
              </a:spcBef>
              <a:buSzTx/>
              <a:buNone/>
              <a:defRPr sz="2250">
                <a:latin typeface="+mn-lt"/>
                <a:ea typeface="+mn-ea"/>
                <a:cs typeface="+mn-cs"/>
                <a:sym typeface="Produkt Extralight"/>
              </a:defRPr>
            </a:lvl1pPr>
          </a:lstStyle>
          <a:p>
            <a:r>
              <a:t>Slide Subtitle</a:t>
            </a:r>
          </a:p>
        </p:txBody>
      </p:sp>
      <p:sp>
        <p:nvSpPr>
          <p:cNvPr id="100" name="Slide Title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101" name="01"/>
          <p:cNvSpPr txBox="1">
            <a:spLocks noGrp="1"/>
          </p:cNvSpPr>
          <p:nvPr>
            <p:ph type="sldNum" sz="quarter" idx="2"/>
          </p:nvPr>
        </p:nvSpPr>
        <p:spPr>
          <a:xfrm>
            <a:off x="11727656" y="6152554"/>
            <a:ext cx="274321" cy="222082"/>
          </a:xfrm>
          <a:prstGeom prst="rect">
            <a:avLst/>
          </a:prstGeom>
        </p:spPr>
        <p:txBody>
          <a:bodyPr wrap="none"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47124343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74544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  <p:sldLayoutId id="2147483687" r:id="rId12"/>
    <p:sldLayoutId id="2147483688" r:id="rId13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9.xml"/><Relationship Id="rId13" Type="http://schemas.openxmlformats.org/officeDocument/2006/relationships/image" Target="../media/image18.png"/><Relationship Id="rId3" Type="http://schemas.openxmlformats.org/officeDocument/2006/relationships/tags" Target="../tags/tag3.xml"/><Relationship Id="rId7" Type="http://schemas.openxmlformats.org/officeDocument/2006/relationships/slideLayout" Target="../slideLayouts/slideLayout2.xml"/><Relationship Id="rId12" Type="http://schemas.openxmlformats.org/officeDocument/2006/relationships/image" Target="../media/image17.png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image" Target="../media/image16.png"/><Relationship Id="rId5" Type="http://schemas.openxmlformats.org/officeDocument/2006/relationships/tags" Target="../tags/tag5.xml"/><Relationship Id="rId10" Type="http://schemas.openxmlformats.org/officeDocument/2006/relationships/image" Target="../media/image15.png"/><Relationship Id="rId4" Type="http://schemas.openxmlformats.org/officeDocument/2006/relationships/tags" Target="../tags/tag4.xml"/><Relationship Id="rId9" Type="http://schemas.openxmlformats.org/officeDocument/2006/relationships/image" Target="../media/image17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Relationship Id="rId4" Type="http://schemas.openxmlformats.org/officeDocument/2006/relationships/image" Target="../media/image1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Relationship Id="rId4" Type="http://schemas.openxmlformats.org/officeDocument/2006/relationships/image" Target="../media/image24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EECA69B-4C2A-7F31-8019-E90DB3BD4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B3EB6D-6E1D-8519-D071-A40A043136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00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103FDB8-D911-F8F8-F9EC-FB7FF54359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284324"/>
            <a:ext cx="12192000" cy="2573677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17000"/>
                </a:schemeClr>
              </a:gs>
              <a:gs pos="65000">
                <a:schemeClr val="bg1">
                  <a:alpha val="29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F3EC0C-B664-18E2-FAA6-07592A24EF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40" y="5702710"/>
            <a:ext cx="7983068" cy="974347"/>
          </a:xfrm>
          <a:ln>
            <a:noFill/>
          </a:ln>
        </p:spPr>
        <p:txBody>
          <a:bodyPr anchor="ctr">
            <a:normAutofit/>
          </a:bodyPr>
          <a:lstStyle/>
          <a:p>
            <a:r>
              <a:rPr lang="en-US" sz="3600"/>
              <a:t>Intro to Machine Learning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1A06C2-C984-559B-6247-4CE552425B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03108" y="5702710"/>
            <a:ext cx="3633535" cy="974347"/>
          </a:xfrm>
        </p:spPr>
        <p:txBody>
          <a:bodyPr anchor="ctr">
            <a:normAutofit/>
          </a:bodyPr>
          <a:lstStyle/>
          <a:p>
            <a:pPr algn="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284247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869D93-200E-DD31-8BA0-D6A33E86C6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Machine Learning?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EC93E0-6574-CDC0-F382-CFE62644C4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“Machine learning is the field of study that gives computers the ability to learn without being explicitly programmed” </a:t>
            </a:r>
          </a:p>
          <a:p>
            <a:pPr marL="0" indent="0">
              <a:buNone/>
            </a:pPr>
            <a:r>
              <a:rPr lang="en-US" dirty="0"/>
              <a:t>	—Arthur L. Samuel, AI pioneer, 1959</a:t>
            </a:r>
          </a:p>
        </p:txBody>
      </p:sp>
    </p:spTree>
    <p:extLst>
      <p:ext uri="{BB962C8B-B14F-4D97-AF65-F5344CB8AC3E}">
        <p14:creationId xmlns:p14="http://schemas.microsoft.com/office/powerpoint/2010/main" val="464065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2E8B5-F3F8-71F1-3DB4-44D25E9B6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Machine Learning?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44E74CB-2C36-3C5C-A3C6-E71DF9D525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program is said to learn from experience E with respect to some task T and some performance measure P, if its performance on T, as measured by P, improves with experience E.</a:t>
            </a:r>
          </a:p>
          <a:p>
            <a:pPr marL="457200" lvl="1" indent="0">
              <a:buNone/>
            </a:pPr>
            <a:r>
              <a:rPr lang="en-US" dirty="0"/>
              <a:t>	— Tom Mitchell, Professor at Carnegie Mellon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Experience:  Data</a:t>
            </a:r>
          </a:p>
          <a:p>
            <a:pPr lvl="1"/>
            <a:r>
              <a:rPr lang="en-US" dirty="0"/>
              <a:t>Task:  Prediction, etc.</a:t>
            </a:r>
          </a:p>
          <a:p>
            <a:pPr lvl="1"/>
            <a:r>
              <a:rPr lang="en-US" dirty="0"/>
              <a:t>Performance: RSME, etc.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52369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8DCCC6-BB44-2C62-741B-F56279650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Machine learning tasks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DDC0F8-EB6D-F638-3D2E-1127661AAB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Handwriting Recognition Example: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lvl="1"/>
            <a:r>
              <a:rPr lang="en-US" dirty="0"/>
              <a:t>Experience:  </a:t>
            </a:r>
          </a:p>
          <a:p>
            <a:pPr lvl="1"/>
            <a:r>
              <a:rPr lang="en-US" dirty="0"/>
              <a:t>Task:  </a:t>
            </a:r>
          </a:p>
          <a:p>
            <a:pPr lvl="1"/>
            <a:r>
              <a:rPr lang="en-US" dirty="0"/>
              <a:t>Performance: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C2487FE-20FB-2E70-DA0E-3A9E067E25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1264" y="2115168"/>
            <a:ext cx="4325112" cy="2040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9979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Statistical Learning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Machine Learning (</a:t>
                </a:r>
                <a:r>
                  <a:rPr lang="en-US" dirty="0" err="1"/>
                  <a:t>ish</a:t>
                </a:r>
                <a:r>
                  <a:rPr lang="en-US" dirty="0"/>
                  <a:t>)</a:t>
                </a:r>
              </a:p>
              <a:p>
                <a:pPr lvl="1"/>
                <a:r>
                  <a:rPr lang="en-US" dirty="0"/>
                  <a:t>“Statistical” learning emphasizes modern ML’s roots and foundation in probability and statistics for handling uncertainty</a:t>
                </a:r>
              </a:p>
              <a:p>
                <a:r>
                  <a:rPr lang="en-US" dirty="0"/>
                  <a:t>So what is statistical/machine learning?</a:t>
                </a:r>
              </a:p>
              <a:p>
                <a:pPr lvl="1"/>
                <a:r>
                  <a:rPr lang="en-US" dirty="0"/>
                  <a:t>A field of study concerned with making quantitative inferences and predictions from data</a:t>
                </a:r>
              </a:p>
              <a:p>
                <a:pPr lvl="1"/>
                <a:r>
                  <a:rPr lang="en-US" dirty="0"/>
                  <a:t>Uses statistical techniques and computational power to “learn” these inferences and predictions without being explicitly programmed</a:t>
                </a:r>
              </a:p>
              <a:p>
                <a:pPr lvl="1"/>
                <a:r>
                  <a:rPr lang="en-US" dirty="0"/>
                  <a:t>A little more formally: an algorithm is said to learn from data if its performance improves as the amount of data increases</a:t>
                </a:r>
              </a:p>
            </p:txBody>
          </p:sp>
        </mc:Choice>
        <mc:Fallback xmlns="">
          <p:sp>
            <p:nvSpPr>
              <p:cNvPr id="2" name="Content Placeholder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513" t="-8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200" dirty="0"/>
              <a:t>Wait, I’ve also heard about statistical learning…</a:t>
            </a:r>
          </a:p>
        </p:txBody>
      </p:sp>
    </p:spTree>
    <p:extLst>
      <p:ext uri="{BB962C8B-B14F-4D97-AF65-F5344CB8AC3E}">
        <p14:creationId xmlns:p14="http://schemas.microsoft.com/office/powerpoint/2010/main" val="2385092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685800" y="899024"/>
            <a:ext cx="3076032" cy="391494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Success of Machine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9624" y="4914199"/>
            <a:ext cx="2703583" cy="96544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110000"/>
              </a:lnSpc>
              <a:spcBef>
                <a:spcPts val="1000"/>
              </a:spcBef>
            </a:pPr>
            <a:r>
              <a:rPr lang="en-US" dirty="0"/>
              <a:t>Image colorization (Zhang et al., 2016) </a:t>
            </a:r>
            <a:endParaRPr lang="en-US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2" descr="http://richzhang.github.io/colorization/resources/images/teaser3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038600" y="901304"/>
            <a:ext cx="7353299" cy="5055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577104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Success of Machine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40313" y="2004541"/>
            <a:ext cx="55674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Image colorization (Zhang et al., 2016) </a:t>
            </a:r>
          </a:p>
        </p:txBody>
      </p:sp>
      <p:pic>
        <p:nvPicPr>
          <p:cNvPr id="4098" name="Picture 2" descr="http://richzhang.github.io/colorization/resources/images/exs_sel_aa.jpg"/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0797"/>
          <a:stretch/>
        </p:blipFill>
        <p:spPr bwMode="auto">
          <a:xfrm>
            <a:off x="1532539" y="2567605"/>
            <a:ext cx="4271075" cy="33759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http://richzhang.github.io/colorization/resources/images/exs_sel_aa.jpg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1327"/>
          <a:stretch/>
        </p:blipFill>
        <p:spPr bwMode="auto">
          <a:xfrm>
            <a:off x="6106886" y="2567605"/>
            <a:ext cx="4350126" cy="33759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/>
          <p:cNvSpPr txBox="1"/>
          <p:nvPr/>
        </p:nvSpPr>
        <p:spPr>
          <a:xfrm>
            <a:off x="2192713" y="6321998"/>
            <a:ext cx="55674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Colorized classical photographs by </a:t>
            </a:r>
            <a:r>
              <a:rPr lang="en-US" dirty="0" err="1"/>
              <a:t>Ansel</a:t>
            </a:r>
            <a:r>
              <a:rPr lang="en-US" dirty="0"/>
              <a:t> Adams</a:t>
            </a:r>
          </a:p>
        </p:txBody>
      </p:sp>
    </p:spTree>
    <p:extLst>
      <p:ext uri="{BB962C8B-B14F-4D97-AF65-F5344CB8AC3E}">
        <p14:creationId xmlns:p14="http://schemas.microsoft.com/office/powerpoint/2010/main" val="33552045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Success of Machine Learning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>
          <a:xfrm>
            <a:off x="700634" y="1568196"/>
            <a:ext cx="10691265" cy="373989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Real-time visual translation on smartphones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Find the letters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Recognize the letters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Translate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Render the translation in the same style</a:t>
            </a:r>
          </a:p>
        </p:txBody>
      </p:sp>
      <p:pic>
        <p:nvPicPr>
          <p:cNvPr id="5124" name="Picture 4" descr="https://4.bp.blogspot.com/-D7MiFwqGuNw/Vbf3lq9z8-I/AAAAAAAAApw/2Pd1hMCsnBg/s1600/image00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32344" y="3971625"/>
            <a:ext cx="8821356" cy="2205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/>
          <p:cNvSpPr txBox="1"/>
          <p:nvPr/>
        </p:nvSpPr>
        <p:spPr>
          <a:xfrm>
            <a:off x="8183880" y="6258177"/>
            <a:ext cx="2438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Google blog, 2015</a:t>
            </a:r>
          </a:p>
        </p:txBody>
      </p:sp>
    </p:spTree>
    <p:extLst>
      <p:ext uri="{BB962C8B-B14F-4D97-AF65-F5344CB8AC3E}">
        <p14:creationId xmlns:p14="http://schemas.microsoft.com/office/powerpoint/2010/main" val="26665056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Success of Machine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60056" y="1747091"/>
            <a:ext cx="6764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Object classification/detection in images (</a:t>
            </a:r>
            <a:r>
              <a:rPr lang="en-US" dirty="0" err="1"/>
              <a:t>Krizhevsky</a:t>
            </a:r>
            <a:r>
              <a:rPr lang="en-US" dirty="0"/>
              <a:t> et al., 2012) </a:t>
            </a:r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 rotWithShape="1">
          <a:blip r:embed="rId3"/>
          <a:srcRect l="9717" t="17025" r="24925" b="4651"/>
          <a:stretch/>
        </p:blipFill>
        <p:spPr>
          <a:xfrm>
            <a:off x="3224349" y="2138194"/>
            <a:ext cx="5386251" cy="4380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51554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Success of Machine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19965" y="6282386"/>
            <a:ext cx="67640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Automatic game playing</a:t>
            </a: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 rotWithShape="1">
          <a:blip r:embed="rId3"/>
          <a:srcRect t="16528" r="40773" b="26628"/>
          <a:stretch/>
        </p:blipFill>
        <p:spPr>
          <a:xfrm>
            <a:off x="1790219" y="2263369"/>
            <a:ext cx="3811773" cy="374175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619146" y="1674456"/>
            <a:ext cx="2489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Alpha Go Zero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07876" y="1674456"/>
            <a:ext cx="2489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Alpha Zero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4"/>
          <a:srcRect t="17783" r="27822" b="20416"/>
          <a:stretch/>
        </p:blipFill>
        <p:spPr>
          <a:xfrm>
            <a:off x="5924597" y="2263369"/>
            <a:ext cx="4542136" cy="3977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54753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Success of Machine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3099" y="6488668"/>
            <a:ext cx="6764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Automated programming with </a:t>
            </a:r>
            <a:r>
              <a:rPr lang="en-US" dirty="0" err="1"/>
              <a:t>ChatGPT</a:t>
            </a:r>
            <a:endParaRPr lang="en-US" dirty="0"/>
          </a:p>
        </p:txBody>
      </p:sp>
      <p:pic>
        <p:nvPicPr>
          <p:cNvPr id="1026" name="Picture 2" descr="Image"/>
          <p:cNvPicPr>
            <a:picLocks noGrp="1" noChangeAspect="1" noChangeArrowheads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5126" y="1436053"/>
            <a:ext cx="4714773" cy="5111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386976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899024"/>
            <a:ext cx="3076032" cy="391494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Success of Machine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9624" y="4914199"/>
            <a:ext cx="2703583" cy="96544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110000"/>
              </a:lnSpc>
              <a:spcBef>
                <a:spcPts val="1000"/>
              </a:spcBef>
            </a:pPr>
            <a:r>
              <a:rPr lang="en-US" dirty="0"/>
              <a:t>AI generated art</a:t>
            </a:r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3"/>
          <a:srcRect l="36167" t="9124" r="40333" b="37771"/>
          <a:stretch/>
        </p:blipFill>
        <p:spPr>
          <a:xfrm>
            <a:off x="5528840" y="723901"/>
            <a:ext cx="4372819" cy="541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07971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C830B19-4589-565A-6020-7534DF25547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3C503E5-2447-2B1F-266E-AFFFA9CBE1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I’m Just curious…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60FCB9-47EE-C123-0BE0-81545F5C5A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are some of the most interesting things you have used ML/AI for?</a:t>
            </a:r>
          </a:p>
        </p:txBody>
      </p:sp>
    </p:spTree>
    <p:extLst>
      <p:ext uri="{BB962C8B-B14F-4D97-AF65-F5344CB8AC3E}">
        <p14:creationId xmlns:p14="http://schemas.microsoft.com/office/powerpoint/2010/main" val="147589170"/>
      </p:ext>
    </p:extLst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5" name="Rectangle 2054">
            <a:extLst>
              <a:ext uri="{FF2B5EF4-FFF2-40B4-BE49-F238E27FC236}">
                <a16:creationId xmlns:a16="http://schemas.microsoft.com/office/drawing/2014/main" id="{E53615EE-C559-4E03-999B-5477F1626F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700088" y="909637"/>
            <a:ext cx="5958216" cy="1316736"/>
          </a:xfrm>
        </p:spPr>
        <p:txBody>
          <a:bodyPr>
            <a:normAutofit/>
          </a:bodyPr>
          <a:lstStyle/>
          <a:p>
            <a:r>
              <a:rPr lang="en-US" dirty="0"/>
              <a:t>Other Machine Learning Applications</a:t>
            </a:r>
          </a:p>
        </p:txBody>
      </p:sp>
      <p:cxnSp>
        <p:nvCxnSpPr>
          <p:cNvPr id="2057" name="Straight Connector 2056">
            <a:extLst>
              <a:ext uri="{FF2B5EF4-FFF2-40B4-BE49-F238E27FC236}">
                <a16:creationId xmlns:a16="http://schemas.microsoft.com/office/drawing/2014/main" id="{799A8EBD-049C-48E6-97ED-C9102D78FC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2376"/>
            <a:ext cx="57150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700088" y="2235251"/>
            <a:ext cx="5958216" cy="3713109"/>
          </a:xfrm>
        </p:spPr>
        <p:txBody>
          <a:bodyPr numCol="2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800" dirty="0"/>
              <a:t>Chatbots (NLP)</a:t>
            </a:r>
          </a:p>
          <a:p>
            <a:pPr>
              <a:lnSpc>
                <a:spcPct val="100000"/>
              </a:lnSpc>
            </a:pPr>
            <a:r>
              <a:rPr lang="en-US" sz="1800" dirty="0"/>
              <a:t>Fraud detection</a:t>
            </a:r>
          </a:p>
          <a:p>
            <a:pPr>
              <a:lnSpc>
                <a:spcPct val="100000"/>
              </a:lnSpc>
            </a:pPr>
            <a:r>
              <a:rPr lang="en-US" sz="1800" dirty="0"/>
              <a:t>Route planning</a:t>
            </a:r>
          </a:p>
          <a:p>
            <a:pPr>
              <a:lnSpc>
                <a:spcPct val="100000"/>
              </a:lnSpc>
            </a:pPr>
            <a:r>
              <a:rPr lang="en-US" sz="1800" dirty="0"/>
              <a:t>Search engine refinement</a:t>
            </a:r>
          </a:p>
          <a:p>
            <a:pPr>
              <a:lnSpc>
                <a:spcPct val="100000"/>
              </a:lnSpc>
            </a:pPr>
            <a:r>
              <a:rPr lang="en-US" sz="1800" dirty="0"/>
              <a:t>Face recognition/detection</a:t>
            </a:r>
          </a:p>
          <a:p>
            <a:pPr>
              <a:lnSpc>
                <a:spcPct val="100000"/>
              </a:lnSpc>
            </a:pPr>
            <a:r>
              <a:rPr lang="en-US" sz="1800" dirty="0"/>
              <a:t>Credit risk assessment</a:t>
            </a:r>
          </a:p>
          <a:p>
            <a:pPr>
              <a:lnSpc>
                <a:spcPct val="100000"/>
              </a:lnSpc>
            </a:pPr>
            <a:r>
              <a:rPr lang="en-US" sz="1800" dirty="0"/>
              <a:t>Financial market prediction</a:t>
            </a:r>
          </a:p>
          <a:p>
            <a:pPr>
              <a:lnSpc>
                <a:spcPct val="100000"/>
              </a:lnSpc>
            </a:pPr>
            <a:r>
              <a:rPr lang="en-US" sz="1800" dirty="0"/>
              <a:t>Medical diagnosis</a:t>
            </a:r>
          </a:p>
          <a:p>
            <a:pPr>
              <a:lnSpc>
                <a:spcPct val="100000"/>
              </a:lnSpc>
            </a:pPr>
            <a:r>
              <a:rPr lang="en-US" sz="1800" dirty="0"/>
              <a:t>Personalized medicine</a:t>
            </a:r>
          </a:p>
          <a:p>
            <a:pPr>
              <a:lnSpc>
                <a:spcPct val="100000"/>
              </a:lnSpc>
            </a:pPr>
            <a:r>
              <a:rPr lang="en-US" sz="1800" dirty="0"/>
              <a:t>Electricity demand forecasting</a:t>
            </a:r>
          </a:p>
          <a:p>
            <a:pPr>
              <a:lnSpc>
                <a:spcPct val="100000"/>
              </a:lnSpc>
            </a:pPr>
            <a:r>
              <a:rPr lang="en-US" sz="1800" dirty="0"/>
              <a:t>Spam filtering</a:t>
            </a:r>
          </a:p>
          <a:p>
            <a:pPr>
              <a:lnSpc>
                <a:spcPct val="100000"/>
              </a:lnSpc>
            </a:pPr>
            <a:r>
              <a:rPr lang="en-US" sz="1800" dirty="0"/>
              <a:t>Collision avoidance systems </a:t>
            </a:r>
          </a:p>
          <a:p>
            <a:pPr>
              <a:lnSpc>
                <a:spcPct val="100000"/>
              </a:lnSpc>
            </a:pPr>
            <a:r>
              <a:rPr lang="en-US" sz="1800" dirty="0"/>
              <a:t>Speech synthesis/analysis (e.g. Siri, Alexa)</a:t>
            </a:r>
          </a:p>
          <a:p>
            <a:pPr>
              <a:lnSpc>
                <a:spcPct val="100000"/>
              </a:lnSpc>
            </a:pPr>
            <a:r>
              <a:rPr lang="en-US" sz="1800" dirty="0"/>
              <a:t>Recommender systems (e.g. Netflix, Spotify)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rcRect l="33106" t="25935" r="3687" b="41386"/>
          <a:stretch/>
        </p:blipFill>
        <p:spPr>
          <a:xfrm>
            <a:off x="7315200" y="1074529"/>
            <a:ext cx="4076700" cy="1886408"/>
          </a:xfrm>
          <a:prstGeom prst="rect">
            <a:avLst/>
          </a:prstGeom>
        </p:spPr>
      </p:pic>
      <p:cxnSp>
        <p:nvCxnSpPr>
          <p:cNvPr id="2059" name="Straight Connector 2058">
            <a:extLst>
              <a:ext uri="{FF2B5EF4-FFF2-40B4-BE49-F238E27FC236}">
                <a16:creationId xmlns:a16="http://schemas.microsoft.com/office/drawing/2014/main" id="{07AB7C5C-C091-4C25-B1BD-93E2F6948C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38546"/>
            <a:ext cx="5715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0" name="Picture 2" descr="Image result for self driving car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315200" y="3724049"/>
            <a:ext cx="4076700" cy="22931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274813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5B3218-4B4A-EA1D-276C-F5AB7AB48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Categories of ml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EC0011-4370-5785-B7E2-646FE625C1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1746504"/>
            <a:ext cx="10691265" cy="3739896"/>
          </a:xfrm>
        </p:spPr>
        <p:txBody>
          <a:bodyPr>
            <a:normAutofit lnSpcReduction="10000"/>
          </a:bodyPr>
          <a:lstStyle/>
          <a:p>
            <a:r>
              <a:rPr lang="en-US" sz="1800" dirty="0"/>
              <a:t>Supervised Learning</a:t>
            </a:r>
          </a:p>
          <a:p>
            <a:pPr lvl="1"/>
            <a:r>
              <a:rPr lang="en-US" dirty="0"/>
              <a:t>Labeled Data</a:t>
            </a:r>
          </a:p>
          <a:p>
            <a:pPr lvl="1"/>
            <a:r>
              <a:rPr lang="en-US" dirty="0"/>
              <a:t>Predict Outcome</a:t>
            </a:r>
          </a:p>
          <a:p>
            <a:pPr lvl="1"/>
            <a:r>
              <a:rPr lang="en-US" dirty="0"/>
              <a:t>Direct Feedback (E.g., accuracy, RMSE. Etc.)</a:t>
            </a:r>
          </a:p>
          <a:p>
            <a:r>
              <a:rPr lang="en-US" sz="1800" dirty="0"/>
              <a:t>Unsupervised Learning</a:t>
            </a:r>
          </a:p>
          <a:p>
            <a:pPr lvl="1"/>
            <a:r>
              <a:rPr lang="en-US" dirty="0"/>
              <a:t>No Labels/Targets</a:t>
            </a:r>
          </a:p>
          <a:p>
            <a:pPr lvl="1"/>
            <a:r>
              <a:rPr lang="en-US" dirty="0"/>
              <a:t>“Fuzzy” Feedback: No Target = No Objective Less Clear</a:t>
            </a:r>
          </a:p>
          <a:p>
            <a:r>
              <a:rPr lang="en-US" dirty="0"/>
              <a:t>Reinforcement Learning</a:t>
            </a:r>
          </a:p>
          <a:p>
            <a:pPr lvl="1"/>
            <a:r>
              <a:rPr lang="en-US" dirty="0"/>
              <a:t>Set of states/actions</a:t>
            </a:r>
          </a:p>
          <a:p>
            <a:pPr lvl="1"/>
            <a:r>
              <a:rPr lang="en-US" dirty="0"/>
              <a:t>Maximize “reword”</a:t>
            </a:r>
          </a:p>
        </p:txBody>
      </p:sp>
    </p:spTree>
    <p:extLst>
      <p:ext uri="{BB962C8B-B14F-4D97-AF65-F5344CB8AC3E}">
        <p14:creationId xmlns:p14="http://schemas.microsoft.com/office/powerpoint/2010/main" val="33941747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D07F94-487C-5F90-AE2A-CE512BD4D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4"/>
            <a:ext cx="3076032" cy="391494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700"/>
              <a:t>Machine Learning Vocabulary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table" descr="A table with text on it&#10;&#10;AI-generated content may be incorrect.">
            <a:extLst>
              <a:ext uri="{FF2B5EF4-FFF2-40B4-BE49-F238E27FC236}">
                <a16:creationId xmlns:a16="http://schemas.microsoft.com/office/drawing/2014/main" id="{09FC7955-C7EC-1EBA-5CA9-934CB299A80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38600" y="957892"/>
            <a:ext cx="7353299" cy="4942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97958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Typically will denote a measurement as</a:t>
                </a:r>
              </a:p>
              <a:p>
                <a:r>
                  <a:rPr lang="en-US" dirty="0"/>
                  <a:t>     is usually a Euclidean vector, denoted</a:t>
                </a:r>
                <a:br>
                  <a:rPr lang="en-US" dirty="0"/>
                </a:br>
                <a:endParaRPr lang="en-US" dirty="0"/>
              </a:p>
              <a:p>
                <a:endParaRPr lang="en-US" dirty="0"/>
              </a:p>
              <a:p>
                <a:endParaRPr lang="en-US" b="0" i="1" dirty="0">
                  <a:latin typeface="Cambria Math" panose="02040503050406030204" pitchFamily="18" charset="0"/>
                </a:endParaRPr>
              </a:p>
              <a:p>
                <a:r>
                  <a:rPr lang="en-US" dirty="0"/>
                  <a:t>    is a pattern, signal, input, instance, or feature vector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is a feature, attribute, predictor, or covariate</a:t>
                </a:r>
              </a:p>
              <a:p>
                <a:r>
                  <a:rPr lang="en-US" dirty="0"/>
                  <a:t>    is typically viewed as a realization of a random variable/vector</a:t>
                </a:r>
                <a:endParaRPr lang="en-US" b="1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Content Placeholder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9"/>
                <a:stretch>
                  <a:fillRect l="-1244" t="-20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notation</a:t>
            </a:r>
          </a:p>
        </p:txBody>
      </p:sp>
      <p:pic>
        <p:nvPicPr>
          <p:cNvPr id="4" name="Picture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1798" y="2225954"/>
            <a:ext cx="1041067" cy="313600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5698" y="3167293"/>
            <a:ext cx="3532192" cy="1083428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398" y="2850518"/>
            <a:ext cx="202667" cy="155733"/>
          </a:xfrm>
          <a:prstGeom prst="rect">
            <a:avLst/>
          </a:prstGeom>
        </p:spPr>
      </p:pic>
      <p:pic>
        <p:nvPicPr>
          <p:cNvPr id="16" name="Picture 15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399" y="4558142"/>
            <a:ext cx="202667" cy="155733"/>
          </a:xfrm>
          <a:prstGeom prst="rect">
            <a:avLst/>
          </a:prstGeom>
        </p:spPr>
      </p:pic>
      <p:pic>
        <p:nvPicPr>
          <p:cNvPr id="17" name="Picture 16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398" y="5481507"/>
            <a:ext cx="202667" cy="155733"/>
          </a:xfrm>
          <a:prstGeom prst="rect">
            <a:avLst/>
          </a:prstGeom>
        </p:spPr>
      </p:pic>
      <p:pic>
        <p:nvPicPr>
          <p:cNvPr id="18" name="Picture 17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8992" y="5437773"/>
            <a:ext cx="285867" cy="2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35836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eneral model-based training framework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>
            <a:lvl1pPr defTabSz="203200">
              <a:defRPr sz="4800" spc="-48"/>
            </a:lvl1pPr>
          </a:lstStyle>
          <a:p>
            <a:r>
              <a:t>Why estimate f?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3" name="Define an appropriate objective functionâ€¦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1187818" y="2071775"/>
                <a:ext cx="8161734" cy="5128468"/>
              </a:xfrm>
              <a:prstGeom prst="rect">
                <a:avLst/>
              </a:prstGeom>
            </p:spPr>
            <p:txBody>
              <a:bodyPr/>
              <a:lstStyle/>
              <a:p>
                <a:r>
                  <a:rPr dirty="0"/>
                  <a:t>Predictio</a:t>
                </a:r>
                <a:r>
                  <a:rPr lang="en-US" dirty="0"/>
                  <a:t>n</a:t>
                </a:r>
                <a:r>
                  <a:rPr b="1" dirty="0">
                    <a:latin typeface="Graphik"/>
                    <a:ea typeface="Graphik"/>
                    <a:cs typeface="Graphik"/>
                    <a:sym typeface="Graphik"/>
                  </a:rPr>
                  <a:t>    </a:t>
                </a:r>
              </a:p>
              <a:p>
                <a:pPr lvl="3"/>
                <a:r>
                  <a:rPr sz="1600" dirty="0"/>
                  <a:t>Inputs X are available, but the output Y is unknown or future.</a:t>
                </a:r>
              </a:p>
              <a:p>
                <a:pPr lvl="3"/>
                <a14:m>
                  <m:oMath xmlns:m="http://schemas.openxmlformats.org/officeDocument/2006/math">
                    <m:acc>
                      <m:accPr>
                        <m:chr m:val="ˆ"/>
                        <m:ctrlPr>
                          <a:rPr lang="en-US" sz="160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</m:acc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ˆ"/>
                        <m:ctrlPr>
                          <a:rPr lang="en-US" sz="160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acc>
                    <m:d>
                      <m:dPr>
                        <m:ctrlPr>
                          <a:rPr lang="en-US" sz="16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</m:oMath>
                </a14:m>
                <a:r>
                  <a:rPr lang="en-US" sz="1600" dirty="0"/>
                  <a:t>: </a:t>
                </a:r>
                <a:r>
                  <a:rPr sz="1600" dirty="0"/>
                  <a:t>a black-box model can be fine if it predicts accurately.</a:t>
                </a:r>
              </a:p>
              <a:p>
                <a:r>
                  <a:rPr dirty="0"/>
                  <a:t>Inference</a:t>
                </a:r>
                <a:endParaRPr lang="en-US" b="1" dirty="0">
                  <a:latin typeface="Graphik"/>
                  <a:ea typeface="Graphik"/>
                  <a:cs typeface="Graphik"/>
                  <a:sym typeface="Graphik"/>
                </a:endParaRPr>
              </a:p>
              <a:p>
                <a:pPr lvl="3"/>
                <a:r>
                  <a:rPr lang="en-US" sz="1600" dirty="0"/>
                  <a:t>Understand how Y is related to X.</a:t>
                </a:r>
              </a:p>
              <a:p>
                <a:pPr lvl="3"/>
                <a:r>
                  <a:rPr sz="1600" dirty="0"/>
                  <a:t>Which predictors matter? What is the direction/size of each relationship?</a:t>
                </a:r>
              </a:p>
              <a:p>
                <a:pPr lvl="3"/>
                <a:r>
                  <a:rPr sz="1600" dirty="0"/>
                  <a:t>Many real problems require both prediction and inference.</a:t>
                </a:r>
              </a:p>
            </p:txBody>
          </p:sp>
        </mc:Choice>
        <mc:Fallback xmlns="">
          <p:sp>
            <p:nvSpPr>
              <p:cNvPr id="503" name="Define an appropriate objective functionâ€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1187818" y="2071775"/>
                <a:ext cx="8161734" cy="5128468"/>
              </a:xfrm>
              <a:prstGeom prst="rect">
                <a:avLst/>
              </a:prstGeom>
              <a:blipFill>
                <a:blip r:embed="rId2"/>
                <a:stretch>
                  <a:fillRect l="-672" t="-5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als of Machine Learning (Supervised)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>
            <a:lvl1pPr defTabSz="210820">
              <a:defRPr sz="4980" spc="-49"/>
            </a:lvl1pPr>
          </a:lstStyle>
          <a:p>
            <a:r>
              <a:rPr dirty="0"/>
              <a:t>Goals of Supervised</a:t>
            </a:r>
            <a:r>
              <a:rPr lang="en-US" dirty="0"/>
              <a:t> ML</a:t>
            </a:r>
            <a:endParaRPr dirty="0"/>
          </a:p>
        </p:txBody>
      </p:sp>
      <p:sp>
        <p:nvSpPr>
          <p:cNvPr id="199" name="Prediction…"/>
          <p:cNvSpPr txBox="1">
            <a:spLocks noGrp="1"/>
          </p:cNvSpPr>
          <p:nvPr>
            <p:ph type="body" idx="1"/>
          </p:nvPr>
        </p:nvSpPr>
        <p:spPr>
          <a:xfrm>
            <a:off x="1292757" y="2119753"/>
            <a:ext cx="8161734" cy="4738247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205376" indent="-205376" defTabSz="163570">
              <a:spcBef>
                <a:spcPts val="0"/>
              </a:spcBef>
              <a:spcAft>
                <a:spcPts val="200"/>
              </a:spcAft>
              <a:defRPr sz="2576"/>
            </a:pPr>
            <a:r>
              <a:rPr sz="1800" dirty="0"/>
              <a:t>Prediction</a:t>
            </a:r>
          </a:p>
          <a:p>
            <a:pPr marL="617769" lvl="2" indent="-207018" defTabSz="163570">
              <a:spcBef>
                <a:spcPts val="0"/>
              </a:spcBef>
              <a:spcAft>
                <a:spcPts val="200"/>
              </a:spcAft>
              <a:defRPr sz="2576"/>
            </a:pPr>
            <a:r>
              <a:rPr sz="1800" dirty="0"/>
              <a:t>Predict the target for new observations</a:t>
            </a:r>
          </a:p>
          <a:p>
            <a:pPr marL="617769" lvl="2" indent="-207018" defTabSz="163570">
              <a:spcBef>
                <a:spcPts val="0"/>
              </a:spcBef>
              <a:spcAft>
                <a:spcPts val="200"/>
              </a:spcAft>
              <a:defRPr sz="2576"/>
            </a:pPr>
            <a:r>
              <a:rPr sz="1800" dirty="0"/>
              <a:t>Forecast the target for future observations</a:t>
            </a:r>
            <a:br>
              <a:rPr sz="1800" dirty="0"/>
            </a:br>
            <a:endParaRPr lang="en-US" sz="1800" dirty="0"/>
          </a:p>
          <a:p>
            <a:pPr marL="205376" indent="-205376" defTabSz="163570">
              <a:spcBef>
                <a:spcPts val="0"/>
              </a:spcBef>
              <a:spcAft>
                <a:spcPts val="200"/>
              </a:spcAft>
              <a:defRPr sz="2576"/>
            </a:pPr>
            <a:r>
              <a:rPr lang="en-US" sz="1800" dirty="0"/>
              <a:t>Interpretation</a:t>
            </a:r>
          </a:p>
          <a:p>
            <a:pPr marL="617769" lvl="2" indent="-207018" defTabSz="163570">
              <a:spcBef>
                <a:spcPts val="0"/>
              </a:spcBef>
              <a:spcAft>
                <a:spcPts val="200"/>
              </a:spcAft>
              <a:defRPr sz="2576"/>
            </a:pPr>
            <a:r>
              <a:rPr sz="1800" dirty="0"/>
              <a:t>Which feature are associated with the target?</a:t>
            </a:r>
          </a:p>
          <a:p>
            <a:pPr marL="617769" lvl="2" indent="-207018" defTabSz="163570">
              <a:spcBef>
                <a:spcPts val="0"/>
              </a:spcBef>
              <a:spcAft>
                <a:spcPts val="200"/>
              </a:spcAft>
              <a:defRPr sz="2576"/>
            </a:pPr>
            <a:r>
              <a:rPr sz="1800" dirty="0"/>
              <a:t>What is the relationship between target and each feature?</a:t>
            </a:r>
          </a:p>
          <a:p>
            <a:pPr marL="617769" lvl="2" indent="-207018" defTabSz="163570">
              <a:spcBef>
                <a:spcPts val="0"/>
              </a:spcBef>
              <a:spcAft>
                <a:spcPts val="200"/>
              </a:spcAft>
              <a:defRPr sz="2576"/>
            </a:pPr>
            <a:r>
              <a:rPr sz="1800" dirty="0"/>
              <a:t>Are some features more important than others?</a:t>
            </a:r>
          </a:p>
          <a:p>
            <a:pPr marL="617769" lvl="2" indent="-207018" defTabSz="163570">
              <a:spcBef>
                <a:spcPts val="0"/>
              </a:spcBef>
              <a:spcAft>
                <a:spcPts val="200"/>
              </a:spcAft>
              <a:defRPr sz="2576"/>
            </a:pPr>
            <a:r>
              <a:rPr sz="1800" dirty="0"/>
              <a:t>Is there an explainable grouping in the data?</a:t>
            </a:r>
          </a:p>
        </p:txBody>
      </p:sp>
    </p:spTree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Supervised learning</a:t>
            </a:r>
          </a:p>
        </p:txBody>
      </p:sp>
      <p:pic>
        <p:nvPicPr>
          <p:cNvPr id="10" name="Picture 9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2192" y="2023284"/>
            <a:ext cx="8327615" cy="2811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07688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 rotWithShape="1">
          <a:blip r:embed="rId4"/>
          <a:srcRect l="36537" t="37339" r="14992" b="10953"/>
          <a:stretch/>
        </p:blipFill>
        <p:spPr>
          <a:xfrm>
            <a:off x="3499806" y="2516778"/>
            <a:ext cx="5128043" cy="2934788"/>
          </a:xfrm>
          <a:prstGeom prst="rect">
            <a:avLst/>
          </a:prstGeom>
        </p:spPr>
      </p:pic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Regression</a:t>
            </a:r>
          </a:p>
        </p:txBody>
      </p:sp>
      <p:pic>
        <p:nvPicPr>
          <p:cNvPr id="4" name="Picture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0632" y="1741020"/>
            <a:ext cx="8184969" cy="366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02846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 rotWithShape="1">
          <a:blip r:embed="rId3"/>
          <a:srcRect l="18525" t="29224" r="33494" b="18106"/>
          <a:stretch/>
        </p:blipFill>
        <p:spPr>
          <a:xfrm>
            <a:off x="7422977" y="2311260"/>
            <a:ext cx="3407906" cy="3344798"/>
          </a:xfrm>
          <a:prstGeom prst="rect">
            <a:avLst/>
          </a:prstGeom>
        </p:spPr>
      </p:pic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</a:t>
            </a:r>
          </a:p>
        </p:txBody>
      </p:sp>
      <p:pic>
        <p:nvPicPr>
          <p:cNvPr id="9" name="Picture 8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1770" y="1889387"/>
            <a:ext cx="5580190" cy="1862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7248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Unsupervised 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A831724-8844-F328-2CC8-EF9CF6ADA77B}"/>
                  </a:ext>
                </a:extLst>
              </p:cNvPr>
              <p:cNvSpPr txBox="1"/>
              <p:nvPr/>
            </p:nvSpPr>
            <p:spPr>
              <a:xfrm>
                <a:off x="1008668" y="1875934"/>
                <a:ext cx="9238268" cy="28623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Data is unlabeled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and not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i="0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/>
                  <a:t>Goal:</a:t>
                </a:r>
                <a:r>
                  <a:rPr lang="en-US" dirty="0"/>
                  <a:t> infer a property from the data, not to predict a property from future data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Examples: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b="1" dirty="0"/>
                  <a:t>Clustering:</a:t>
                </a:r>
                <a:r>
                  <a:rPr lang="en-US" dirty="0"/>
                  <a:t> What are the distinct clusters or groups in a dataset?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b="1" dirty="0"/>
                  <a:t>Density Estimation:</a:t>
                </a:r>
                <a:r>
                  <a:rPr lang="en-US" dirty="0"/>
                  <a:t> What is the probability density function that generated the data?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b="1" dirty="0"/>
                  <a:t>Dimensionality Reduction:</a:t>
                </a:r>
                <a:r>
                  <a:rPr lang="en-US" dirty="0"/>
                  <a:t> How can we reduce the dimensionality of the data without losing (much) information?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b="1" dirty="0"/>
                  <a:t> Anomaly Detection:</a:t>
                </a:r>
                <a:r>
                  <a:rPr lang="en-US" dirty="0"/>
                  <a:t> Automatically identifying outliers.</a:t>
                </a:r>
                <a:endParaRPr lang="en-US" b="1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A831724-8844-F328-2CC8-EF9CF6ADA7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8668" y="1875934"/>
                <a:ext cx="9238268" cy="2862322"/>
              </a:xfrm>
              <a:prstGeom prst="rect">
                <a:avLst/>
              </a:prstGeom>
              <a:blipFill>
                <a:blip r:embed="rId2"/>
                <a:stretch>
                  <a:fillRect l="-396" t="-1279" r="-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602233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1476312" y="1860399"/>
            <a:ext cx="8600376" cy="3936897"/>
          </a:xfrm>
        </p:spPr>
        <p:txBody>
          <a:bodyPr numCol="2">
            <a:normAutofit/>
          </a:bodyPr>
          <a:lstStyle/>
          <a:p>
            <a:r>
              <a:rPr lang="en-US" dirty="0"/>
              <a:t>Big data (both sample size and dimension)</a:t>
            </a:r>
          </a:p>
          <a:p>
            <a:r>
              <a:rPr lang="en-US" dirty="0"/>
              <a:t>Imbalanced labels</a:t>
            </a:r>
          </a:p>
          <a:p>
            <a:r>
              <a:rPr lang="en-US" dirty="0"/>
              <a:t>Noisy labels</a:t>
            </a:r>
          </a:p>
          <a:p>
            <a:r>
              <a:rPr lang="en-US" dirty="0"/>
              <a:t>Missing labels</a:t>
            </a:r>
          </a:p>
          <a:p>
            <a:r>
              <a:rPr lang="en-US" dirty="0"/>
              <a:t>Missing features</a:t>
            </a:r>
          </a:p>
          <a:p>
            <a:r>
              <a:rPr lang="en-US" dirty="0"/>
              <a:t>Uncertainty</a:t>
            </a:r>
          </a:p>
          <a:p>
            <a:r>
              <a:rPr lang="en-US" dirty="0"/>
              <a:t>Data representations</a:t>
            </a:r>
          </a:p>
          <a:p>
            <a:r>
              <a:rPr lang="en-US" dirty="0"/>
              <a:t>Safety (e.g., self-driving cars)</a:t>
            </a:r>
          </a:p>
          <a:p>
            <a:r>
              <a:rPr lang="en-US" dirty="0"/>
              <a:t>Fairness</a:t>
            </a:r>
          </a:p>
          <a:p>
            <a:r>
              <a:rPr lang="en-US" dirty="0"/>
              <a:t>Ethics</a:t>
            </a:r>
          </a:p>
          <a:p>
            <a:r>
              <a:rPr lang="en-US" dirty="0"/>
              <a:t>Explainability/Interpretability</a:t>
            </a:r>
          </a:p>
          <a:p>
            <a:r>
              <a:rPr lang="en-US" dirty="0"/>
              <a:t>Changing environment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 in Machine Learning</a:t>
            </a:r>
          </a:p>
        </p:txBody>
      </p:sp>
    </p:spTree>
    <p:extLst>
      <p:ext uri="{BB962C8B-B14F-4D97-AF65-F5344CB8AC3E}">
        <p14:creationId xmlns:p14="http://schemas.microsoft.com/office/powerpoint/2010/main" val="35499165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E630CE5-4BBF-4F6E-A8DE-2333AE891E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1810512"/>
            <a:ext cx="10691265" cy="3739896"/>
          </a:xfrm>
        </p:spPr>
        <p:txBody>
          <a:bodyPr>
            <a:normAutofit fontScale="92500" lnSpcReduction="10000"/>
          </a:bodyPr>
          <a:lstStyle/>
          <a:p>
            <a:r>
              <a:rPr lang="en-US" b="1" dirty="0"/>
              <a:t>Artificial Intelligence (AI)</a:t>
            </a:r>
            <a:r>
              <a:rPr lang="en-US" dirty="0"/>
              <a:t> is a broad field concerned with building systems that exhibit intelligent behavior</a:t>
            </a:r>
          </a:p>
          <a:p>
            <a:r>
              <a:rPr lang="en-US" dirty="0"/>
              <a:t>As a field, AI generally includes machine learning, but also includes more</a:t>
            </a:r>
          </a:p>
          <a:p>
            <a:r>
              <a:rPr lang="en-US" dirty="0"/>
              <a:t>Most recent, popular “AI” advances are better classified as machine learning advances</a:t>
            </a:r>
          </a:p>
          <a:p>
            <a:r>
              <a:rPr lang="en-US" dirty="0"/>
              <a:t>AI has become the latest buzzword, so many machine learning methods and problems are being rebranded as AI</a:t>
            </a:r>
          </a:p>
          <a:p>
            <a:r>
              <a:rPr lang="en-US" dirty="0"/>
              <a:t>Note: Many statistical methods have also been rebranded as ML methods…</a:t>
            </a:r>
          </a:p>
          <a:p>
            <a:pPr lvl="1"/>
            <a:r>
              <a:rPr lang="en-US" dirty="0"/>
              <a:t>Linear Regression (and variants, such as LASSO)</a:t>
            </a:r>
          </a:p>
          <a:p>
            <a:pPr lvl="1"/>
            <a:r>
              <a:rPr lang="en-US" dirty="0"/>
              <a:t>Logistic Regression</a:t>
            </a:r>
          </a:p>
          <a:p>
            <a:pPr lvl="1"/>
            <a:r>
              <a:rPr lang="en-US" dirty="0"/>
              <a:t>Principal Components Analysis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861CC62-5423-4B12-9139-C7F4AC8A1B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630936"/>
          </a:xfrm>
        </p:spPr>
        <p:txBody>
          <a:bodyPr>
            <a:noAutofit/>
          </a:bodyPr>
          <a:lstStyle/>
          <a:p>
            <a:r>
              <a:rPr lang="en-US" sz="3600" dirty="0"/>
              <a:t>Artificial intelligence vs. machine learning</a:t>
            </a:r>
          </a:p>
        </p:txBody>
      </p:sp>
    </p:spTree>
    <p:extLst>
      <p:ext uri="{BB962C8B-B14F-4D97-AF65-F5344CB8AC3E}">
        <p14:creationId xmlns:p14="http://schemas.microsoft.com/office/powerpoint/2010/main" val="256209224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Instance-based vs Model-based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Instance-based vs Model-based</a:t>
            </a:r>
          </a:p>
        </p:txBody>
      </p:sp>
      <p:sp>
        <p:nvSpPr>
          <p:cNvPr id="480" name="Instance-Based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Instance-Based</a:t>
            </a:r>
          </a:p>
          <a:p>
            <a:pPr lvl="2"/>
            <a:r>
              <a:rPr dirty="0"/>
              <a:t>Learn training data by heart </a:t>
            </a:r>
          </a:p>
          <a:p>
            <a:pPr lvl="2"/>
            <a:r>
              <a:rPr dirty="0"/>
              <a:t>Generalize to new observations based on </a:t>
            </a:r>
            <a:r>
              <a:rPr i="1" dirty="0">
                <a:latin typeface="Graphik"/>
                <a:ea typeface="Graphik"/>
                <a:cs typeface="Graphik"/>
                <a:sym typeface="Graphik"/>
              </a:rPr>
              <a:t>similarity</a:t>
            </a:r>
            <a:r>
              <a:rPr dirty="0"/>
              <a:t> to existing observations</a:t>
            </a:r>
          </a:p>
          <a:p>
            <a:pPr lvl="3"/>
            <a:r>
              <a:rPr sz="1600" dirty="0"/>
              <a:t>Requires a </a:t>
            </a:r>
            <a:r>
              <a:rPr sz="1600" i="1" dirty="0">
                <a:latin typeface="Graphik"/>
                <a:ea typeface="Graphik"/>
                <a:cs typeface="Graphik"/>
                <a:sym typeface="Graphik"/>
              </a:rPr>
              <a:t>metric</a:t>
            </a:r>
            <a:r>
              <a:rPr sz="1600" dirty="0"/>
              <a:t> that quantifies similarity </a:t>
            </a:r>
          </a:p>
          <a:p>
            <a:pPr lvl="2"/>
            <a:r>
              <a:rPr i="1" dirty="0">
                <a:latin typeface="Graphik"/>
                <a:ea typeface="Graphik"/>
                <a:cs typeface="Graphik"/>
                <a:sym typeface="Graphik"/>
              </a:rPr>
              <a:t>Example</a:t>
            </a:r>
            <a:r>
              <a:rPr dirty="0"/>
              <a:t>: </a:t>
            </a:r>
            <a:r>
              <a:rPr dirty="0">
                <a:solidFill>
                  <a:srgbClr val="FF7E79"/>
                </a:solidFill>
              </a:rPr>
              <a:t>k</a:t>
            </a:r>
            <a:r>
              <a:rPr dirty="0"/>
              <a:t> </a:t>
            </a:r>
            <a:r>
              <a:rPr dirty="0">
                <a:solidFill>
                  <a:srgbClr val="FF7E79"/>
                </a:solidFill>
              </a:rPr>
              <a:t>N</a:t>
            </a:r>
            <a:r>
              <a:rPr dirty="0"/>
              <a:t>earest </a:t>
            </a:r>
            <a:r>
              <a:rPr dirty="0">
                <a:solidFill>
                  <a:srgbClr val="FF7E79"/>
                </a:solidFill>
              </a:rPr>
              <a:t>N</a:t>
            </a:r>
            <a:r>
              <a:rPr dirty="0"/>
              <a:t>eighbors (k-NN) </a:t>
            </a:r>
          </a:p>
        </p:txBody>
      </p:sp>
    </p:spTree>
  </p:cSld>
  <p:clrMapOvr>
    <a:masterClrMapping/>
  </p:clrMapOvr>
  <p:transition spd="med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Instance-based vs Model-based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Instance-based vs Model-based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4" name="Model-Based…"/>
              <p:cNvSpPr txBox="1">
                <a:spLocks noGrp="1"/>
              </p:cNvSpPr>
              <p:nvPr>
                <p:ph type="body" idx="1"/>
              </p:nvPr>
            </p:nvSpPr>
            <p:spPr>
              <a:prstGeom prst="rect">
                <a:avLst/>
              </a:prstGeom>
            </p:spPr>
            <p:txBody>
              <a:bodyPr>
                <a:normAutofit fontScale="85000" lnSpcReduction="10000"/>
              </a:bodyPr>
              <a:lstStyle/>
              <a:p>
                <a:pPr marL="209840" indent="-209840" defTabSz="167125">
                  <a:spcBef>
                    <a:spcPts val="2180"/>
                  </a:spcBef>
                  <a:defRPr sz="2632"/>
                </a:pPr>
                <a:r>
                  <a:rPr dirty="0"/>
                  <a:t>Model-Based</a:t>
                </a:r>
              </a:p>
              <a:p>
                <a:pPr marL="631199" lvl="2" indent="-211518" defTabSz="167125">
                  <a:spcBef>
                    <a:spcPts val="2180"/>
                  </a:spcBef>
                  <a:defRPr sz="2632"/>
                </a:pPr>
                <a:r>
                  <a:rPr dirty="0"/>
                  <a:t>Estimate the model </a:t>
                </a:r>
                <a14:m>
                  <m:oMath xmlns:m="http://schemas.openxmlformats.org/officeDocument/2006/math">
                    <m:r>
                      <a:rPr sz="2250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sz="2250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2250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sz="2250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dirty="0"/>
                  <a:t> that defines the relationship between </a:t>
                </a:r>
                <a14:m>
                  <m:oMath xmlns:m="http://schemas.openxmlformats.org/officeDocument/2006/math">
                    <m:r>
                      <a:rPr sz="2250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dirty="0"/>
                  <a:t> and </a:t>
                </a:r>
                <a14:m>
                  <m:oMath xmlns:m="http://schemas.openxmlformats.org/officeDocument/2006/math">
                    <m:r>
                      <a:rPr sz="2250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dirty="0"/>
              </a:p>
              <a:p>
                <a:pPr marL="631199" lvl="2" indent="-211518" defTabSz="167125">
                  <a:spcBef>
                    <a:spcPts val="2180"/>
                  </a:spcBef>
                  <a:defRPr sz="2632"/>
                </a:pPr>
                <a:r>
                  <a:rPr dirty="0"/>
                  <a:t>Predictions are made by </a:t>
                </a:r>
                <a:r>
                  <a:rPr lang="en-US" dirty="0"/>
                  <a:t>introducing</a:t>
                </a:r>
                <a:r>
                  <a:rPr dirty="0"/>
                  <a:t> new observations into the model: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 </m:t>
                    </m:r>
                    <m:sSub>
                      <m:sSubPr>
                        <m:ctrlPr>
                          <a:rPr lang="en-US" sz="2250" b="0" i="1" smtClean="0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50" b="0" i="1" smtClean="0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50" b="0" i="1" smtClean="0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50" b="0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𝑛𝑒𝑤</m:t>
                        </m:r>
                      </m:sub>
                    </m:sSub>
                    <m:r>
                      <a:rPr lang="en-US" sz="2250" b="0" i="1" smtClean="0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̂"/>
                        <m:ctrlPr>
                          <a:rPr lang="en-US" sz="2250" b="0" i="1" smtClean="0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250" b="0" i="1" smtClean="0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acc>
                    <m:d>
                      <m:dPr>
                        <m:ctrlPr>
                          <a:rPr lang="en-US" sz="2250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50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50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50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𝑛𝑒𝑤</m:t>
                            </m:r>
                          </m:sub>
                        </m:sSub>
                      </m:e>
                    </m:d>
                  </m:oMath>
                </a14:m>
                <a:endParaRPr dirty="0"/>
              </a:p>
              <a:p>
                <a:pPr marL="631199" lvl="2" indent="-211518" defTabSz="167125">
                  <a:spcBef>
                    <a:spcPts val="2180"/>
                  </a:spcBef>
                  <a:defRPr sz="2632"/>
                </a:pPr>
                <a:r>
                  <a:rPr dirty="0"/>
                  <a:t>Most ML algorithms are model-based </a:t>
                </a:r>
                <a:r>
                  <a:rPr lang="en-US" dirty="0"/>
                  <a:t>(e.g., linear regression, neural networks)</a:t>
                </a:r>
                <a:endParaRPr dirty="0"/>
              </a:p>
              <a:p>
                <a:pPr marL="631199" lvl="2" indent="-211518" defTabSz="167125">
                  <a:spcBef>
                    <a:spcPts val="2180"/>
                  </a:spcBef>
                  <a:defRPr sz="2632"/>
                </a:pPr>
                <a:r>
                  <a:rPr dirty="0"/>
                  <a:t>Model-based algorithms are trained by defining an </a:t>
                </a:r>
                <a:r>
                  <a:rPr i="1" dirty="0">
                    <a:solidFill>
                      <a:srgbClr val="FF7E79"/>
                    </a:solidFill>
                    <a:latin typeface="Graphik"/>
                    <a:ea typeface="Graphik"/>
                    <a:cs typeface="Graphik"/>
                    <a:sym typeface="Graphik"/>
                  </a:rPr>
                  <a:t>objective function</a:t>
                </a:r>
                <a:r>
                  <a:rPr dirty="0"/>
                  <a:t> and finding the parameters or values that </a:t>
                </a:r>
                <a:r>
                  <a:rPr i="1" dirty="0">
                    <a:solidFill>
                      <a:srgbClr val="942193"/>
                    </a:solidFill>
                    <a:latin typeface="Graphik"/>
                    <a:ea typeface="Graphik"/>
                    <a:cs typeface="Graphik"/>
                    <a:sym typeface="Graphik"/>
                  </a:rPr>
                  <a:t>optimize</a:t>
                </a:r>
                <a:r>
                  <a:rPr dirty="0"/>
                  <a:t> the objective function</a:t>
                </a:r>
              </a:p>
            </p:txBody>
          </p:sp>
        </mc:Choice>
        <mc:Fallback xmlns="">
          <p:sp>
            <p:nvSpPr>
              <p:cNvPr id="484" name="Model-Based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prstGeom prst="rect">
                <a:avLst/>
              </a:prstGeom>
              <a:blipFill>
                <a:blip r:embed="rId2"/>
                <a:stretch>
                  <a:fillRect l="-684" t="-11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F710FDB-0919-493E-8539-8240C23F1E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704087" y="559063"/>
            <a:ext cx="3306747" cy="5256025"/>
          </a:xfrm>
        </p:spPr>
        <p:txBody>
          <a:bodyPr>
            <a:normAutofit/>
          </a:bodyPr>
          <a:lstStyle/>
          <a:p>
            <a:r>
              <a:rPr lang="en-US" sz="3600" dirty="0"/>
              <a:t>Some terms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4643022" y="622249"/>
            <a:ext cx="6844892" cy="5639712"/>
          </a:xfrm>
        </p:spPr>
        <p:txBody>
          <a:bodyPr>
            <a:normAutofit fontScale="92500" lnSpcReduction="20000"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dirty="0"/>
              <a:t>Some adjectives used to describe ML algorithms</a:t>
            </a:r>
          </a:p>
          <a:p>
            <a:pPr>
              <a:lnSpc>
                <a:spcPct val="100000"/>
              </a:lnSpc>
            </a:pPr>
            <a:r>
              <a:rPr lang="en-US" b="1" dirty="0"/>
              <a:t>Distributional assumptions</a:t>
            </a:r>
          </a:p>
          <a:p>
            <a:pPr lvl="1">
              <a:lnSpc>
                <a:spcPct val="100000"/>
              </a:lnSpc>
            </a:pPr>
            <a:r>
              <a:rPr lang="en-US" u="sng" dirty="0"/>
              <a:t>Generative</a:t>
            </a:r>
            <a:r>
              <a:rPr lang="en-US" dirty="0"/>
              <a:t>: assumes a full probabilistic model of the observed data</a:t>
            </a:r>
          </a:p>
          <a:p>
            <a:pPr lvl="1">
              <a:lnSpc>
                <a:spcPct val="100000"/>
              </a:lnSpc>
            </a:pPr>
            <a:r>
              <a:rPr lang="en-US" u="sng" dirty="0"/>
              <a:t>Discriminative</a:t>
            </a:r>
            <a:r>
              <a:rPr lang="en-US" dirty="0"/>
              <a:t>: assumes a partial or no probabilistic model</a:t>
            </a:r>
          </a:p>
          <a:p>
            <a:pPr>
              <a:lnSpc>
                <a:spcPct val="100000"/>
              </a:lnSpc>
            </a:pPr>
            <a:r>
              <a:rPr lang="en-US" b="1" dirty="0"/>
              <a:t>Computational form</a:t>
            </a:r>
          </a:p>
          <a:p>
            <a:pPr lvl="1">
              <a:lnSpc>
                <a:spcPct val="100000"/>
              </a:lnSpc>
            </a:pPr>
            <a:r>
              <a:rPr lang="en-US" u="sng" dirty="0"/>
              <a:t>Linear</a:t>
            </a:r>
            <a:r>
              <a:rPr lang="en-US" dirty="0"/>
              <a:t>: produces a linear/affine function</a:t>
            </a:r>
          </a:p>
          <a:p>
            <a:pPr lvl="1">
              <a:lnSpc>
                <a:spcPct val="100000"/>
              </a:lnSpc>
            </a:pPr>
            <a:r>
              <a:rPr lang="en-US" u="sng" dirty="0"/>
              <a:t>Nonlinear</a:t>
            </a:r>
            <a:r>
              <a:rPr lang="en-US" dirty="0"/>
              <a:t>: not linear</a:t>
            </a:r>
          </a:p>
          <a:p>
            <a:pPr>
              <a:lnSpc>
                <a:spcPct val="100000"/>
              </a:lnSpc>
            </a:pPr>
            <a:r>
              <a:rPr lang="en-US" b="1" dirty="0"/>
              <a:t>Complexity</a:t>
            </a:r>
          </a:p>
          <a:p>
            <a:pPr lvl="1">
              <a:lnSpc>
                <a:spcPct val="100000"/>
              </a:lnSpc>
            </a:pPr>
            <a:r>
              <a:rPr lang="en-US" u="sng" dirty="0"/>
              <a:t>Parametric</a:t>
            </a:r>
            <a:r>
              <a:rPr lang="en-US" dirty="0"/>
              <a:t>: # of model parameters* is independent of sample size</a:t>
            </a:r>
          </a:p>
          <a:p>
            <a:pPr lvl="1">
              <a:lnSpc>
                <a:spcPct val="100000"/>
              </a:lnSpc>
            </a:pPr>
            <a:r>
              <a:rPr lang="en-US" u="sng" dirty="0"/>
              <a:t>Nonparametric</a:t>
            </a:r>
            <a:r>
              <a:rPr lang="en-US" dirty="0"/>
              <a:t>: # of model parameters* grows with sample size</a:t>
            </a:r>
          </a:p>
          <a:p>
            <a:pPr>
              <a:lnSpc>
                <a:spcPct val="100000"/>
              </a:lnSpc>
            </a:pPr>
            <a:r>
              <a:rPr lang="en-US" b="1" dirty="0"/>
              <a:t>Learning Type</a:t>
            </a:r>
          </a:p>
          <a:p>
            <a:pPr lvl="1">
              <a:lnSpc>
                <a:spcPct val="100000"/>
              </a:lnSpc>
            </a:pPr>
            <a:r>
              <a:rPr lang="en-US" u="sng" dirty="0"/>
              <a:t>Lazy learner</a:t>
            </a:r>
            <a:r>
              <a:rPr lang="en-US" dirty="0"/>
              <a:t>: No explicit model is built at training time (usually </a:t>
            </a:r>
            <a:r>
              <a:rPr lang="en-US" b="1" dirty="0"/>
              <a:t>instance-based</a:t>
            </a:r>
            <a:r>
              <a:rPr lang="en-US" dirty="0"/>
              <a:t>).</a:t>
            </a:r>
          </a:p>
          <a:p>
            <a:pPr lvl="1">
              <a:lnSpc>
                <a:spcPct val="100000"/>
              </a:lnSpc>
            </a:pPr>
            <a:r>
              <a:rPr lang="en-US" u="sng" dirty="0"/>
              <a:t>Eager learner</a:t>
            </a:r>
            <a:r>
              <a:rPr lang="en-US" dirty="0"/>
              <a:t>: A general model is built during training.</a:t>
            </a:r>
            <a:endParaRPr lang="en-US" u="sng" dirty="0"/>
          </a:p>
          <a:p>
            <a:pPr lvl="1">
              <a:lnSpc>
                <a:spcPct val="100000"/>
              </a:lnSpc>
            </a:pPr>
            <a:endParaRPr lang="en-US" dirty="0"/>
          </a:p>
          <a:p>
            <a:pPr marL="0" indent="0">
              <a:lnSpc>
                <a:spcPct val="100000"/>
              </a:lnSpc>
              <a:buNone/>
            </a:pPr>
            <a:r>
              <a:rPr lang="en-US" dirty="0"/>
              <a:t>*Model parameters = parameters needed to represent the function produced by the learning algorithm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AFF0B6C-73E2-4B40-9280-938C14922C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223541" y="723900"/>
            <a:ext cx="15948" cy="545007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>
            <a:extLst>
              <a:ext uri="{FF2B5EF4-FFF2-40B4-BE49-F238E27FC236}">
                <a16:creationId xmlns:a16="http://schemas.microsoft.com/office/drawing/2014/main" id="{F662D2EF-7A3E-ECCF-974B-5CE7BB6D13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571" y="1432856"/>
            <a:ext cx="3534204" cy="22760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286369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Interpretability vs Flexibility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Interpretability vs Flexibility </a:t>
            </a:r>
          </a:p>
        </p:txBody>
      </p:sp>
      <p:pic>
        <p:nvPicPr>
          <p:cNvPr id="215" name="pasted-image.png" descr="pasted-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5200" y="1936850"/>
            <a:ext cx="6974087" cy="4250532"/>
          </a:xfrm>
          <a:prstGeom prst="rect">
            <a:avLst/>
          </a:prstGeom>
          <a:ln w="3175">
            <a:miter lim="400000"/>
          </a:ln>
        </p:spPr>
      </p:pic>
      <p:sp>
        <p:nvSpPr>
          <p:cNvPr id="216" name="Parametric"/>
          <p:cNvSpPr txBox="1"/>
          <p:nvPr/>
        </p:nvSpPr>
        <p:spPr>
          <a:xfrm>
            <a:off x="3166576" y="5864175"/>
            <a:ext cx="825547" cy="266933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Parametric</a:t>
            </a:r>
          </a:p>
        </p:txBody>
      </p:sp>
      <p:sp>
        <p:nvSpPr>
          <p:cNvPr id="217" name="Non-parametric"/>
          <p:cNvSpPr txBox="1"/>
          <p:nvPr/>
        </p:nvSpPr>
        <p:spPr>
          <a:xfrm>
            <a:off x="7750995" y="5864175"/>
            <a:ext cx="1170193" cy="266933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Non-parametric</a:t>
            </a:r>
          </a:p>
        </p:txBody>
      </p:sp>
      <p:sp>
        <p:nvSpPr>
          <p:cNvPr id="218" name="(Graphic from ISLP)"/>
          <p:cNvSpPr txBox="1"/>
          <p:nvPr/>
        </p:nvSpPr>
        <p:spPr>
          <a:xfrm>
            <a:off x="1746589" y="1724502"/>
            <a:ext cx="1750480" cy="299442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2100"/>
            </a:lvl1pPr>
          </a:lstStyle>
          <a:p>
            <a:r>
              <a:rPr sz="1477" dirty="0"/>
              <a:t>(Graphic from ISLP)</a:t>
            </a:r>
          </a:p>
        </p:txBody>
      </p:sp>
    </p:spTree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Example:  simple linear regression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 fontScale="90000"/>
          </a:bodyPr>
          <a:lstStyle>
            <a:lvl1pPr defTabSz="248920">
              <a:defRPr sz="5880" spc="-58"/>
            </a:lvl1pPr>
          </a:lstStyle>
          <a:p>
            <a:r>
              <a:rPr lang="en-US"/>
              <a:t>Example:  simple linear regression</a:t>
            </a:r>
            <a:endParaRPr lang="en-US" dirty="0"/>
          </a:p>
        </p:txBody>
      </p:sp>
      <p:pic>
        <p:nvPicPr>
          <p:cNvPr id="492" name="pasted-image.png" descr="pasted-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786" y="2706814"/>
            <a:ext cx="4641529" cy="3026057"/>
          </a:xfrm>
          <a:prstGeom prst="rect">
            <a:avLst/>
          </a:prstGeom>
          <a:ln w="3175">
            <a:miter lim="400000"/>
          </a:ln>
        </p:spPr>
      </p:pic>
      <p:sp>
        <p:nvSpPr>
          <p:cNvPr id="493" name="How does simple linear regression work?"/>
          <p:cNvSpPr txBox="1"/>
          <p:nvPr/>
        </p:nvSpPr>
        <p:spPr>
          <a:xfrm>
            <a:off x="6046267" y="2877232"/>
            <a:ext cx="4158437" cy="349135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35719" tIns="35719" rIns="35719" bIns="35719" anchor="ctr">
            <a:spAutoFit/>
          </a:bodyPr>
          <a:lstStyle/>
          <a:p>
            <a:r>
              <a:rPr dirty="0"/>
              <a:t>How does simple linear regression work?</a:t>
            </a:r>
          </a:p>
        </p:txBody>
      </p:sp>
    </p:spTree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Example:  simple linear regress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 fontScale="90000"/>
          </a:bodyPr>
          <a:lstStyle>
            <a:lvl1pPr defTabSz="248920">
              <a:defRPr sz="5880" spc="-58"/>
            </a:lvl1pPr>
          </a:lstStyle>
          <a:p>
            <a:r>
              <a:t>Example:  simple linear 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96" name="Objective function: (this is a cost function since we want to find the minimum)…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964008" y="2763076"/>
                <a:ext cx="11444400" cy="5320805"/>
              </a:xfrm>
              <a:prstGeom prst="rect">
                <a:avLst/>
              </a:prstGeom>
            </p:spPr>
            <p:txBody>
              <a:bodyPr/>
              <a:lstStyle/>
              <a:p>
                <a:r>
                  <a:rPr dirty="0"/>
                  <a:t>Objective function:</a:t>
                </a:r>
                <a:r>
                  <a:rPr lang="en-US" dirty="0"/>
                  <a:t> </a:t>
                </a:r>
                <a:r>
                  <a:rPr dirty="0"/>
                  <a:t>(</a:t>
                </a:r>
                <a:r>
                  <a:rPr sz="2039" dirty="0"/>
                  <a:t>this is a </a:t>
                </a:r>
                <a:r>
                  <a:rPr sz="2039" i="1" dirty="0">
                    <a:latin typeface="Graphik"/>
                    <a:ea typeface="Graphik"/>
                    <a:cs typeface="Graphik"/>
                    <a:sym typeface="Graphik"/>
                  </a:rPr>
                  <a:t>cost</a:t>
                </a:r>
                <a:r>
                  <a:rPr sz="2039" dirty="0"/>
                  <a:t> function since we want to find the </a:t>
                </a:r>
                <a:r>
                  <a:rPr sz="2039" i="1" dirty="0">
                    <a:latin typeface="Graphik"/>
                    <a:ea typeface="Graphik"/>
                    <a:cs typeface="Graphik"/>
                    <a:sym typeface="Graphik"/>
                  </a:rPr>
                  <a:t>minimum</a:t>
                </a:r>
                <a:r>
                  <a:rPr dirty="0"/>
                  <a:t>)</a:t>
                </a:r>
                <a:br>
                  <a:rPr dirty="0"/>
                </a:br>
                <a:br>
                  <a:rPr dirty="0"/>
                </a:br>
                <a14:m>
                  <m:oMath xmlns:m="http://schemas.openxmlformats.org/officeDocument/2006/math">
                    <m:r>
                      <a:rPr lang="sv-SE" i="1" dirty="0" smtClean="0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sv-SE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sv-S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sv-SE" i="1" dirty="0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sv-SE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sv-SE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sv-S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sv-SE" i="1" dirty="0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sv-SE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sv-SE" i="1" dirty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sv-SE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sv-SE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sv-SE" i="1" dirty="0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sv-SE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p>
                          <m:sSupPr>
                            <m:ctrlPr>
                              <a:rPr lang="sv-SE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sv-SE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sv-SE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i="1" dirty="0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sv-SE" i="1" dirty="0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sv-SE" i="1" dirty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d>
                                  <m:dPr>
                                    <m:ctrlPr>
                                      <a:rPr lang="sv-SE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sv-SE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sv-SE" i="1" dirty="0" smtClean="0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  <m:sub>
                                        <m:r>
                                          <a:rPr lang="sv-SE" i="1" dirty="0" smtClean="0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  <m:r>
                                      <a:rPr lang="sv-SE" i="1" dirty="0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sv-SE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sv-SE" i="1" dirty="0" smtClean="0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  <m:sub>
                                        <m:r>
                                          <a:rPr lang="sv-SE" i="1" dirty="0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sv-SE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sv-SE" i="1" dirty="0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sv-SE" i="1" dirty="0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sv-SE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endParaRPr dirty="0"/>
              </a:p>
              <a:p>
                <a:endParaRPr dirty="0"/>
              </a:p>
              <a:p>
                <a:pPr lvl="1"/>
                <a:r>
                  <a:rPr dirty="0"/>
                  <a:t>We find the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dirty="0"/>
                  <a:t>and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acc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dirty="0"/>
                  <a:t>that minimize the objective function</a:t>
                </a:r>
                <a:endParaRPr lang="en-US" dirty="0"/>
              </a:p>
              <a:p>
                <a:r>
                  <a:rPr lang="en-US" dirty="0"/>
                  <a:t>Optimization method:</a:t>
                </a:r>
              </a:p>
              <a:p>
                <a:pPr lvl="1"/>
                <a:r>
                  <a:rPr lang="en-US" i="1" dirty="0">
                    <a:latin typeface="Graphik"/>
                    <a:ea typeface="Graphik"/>
                    <a:cs typeface="Graphik"/>
                    <a:sym typeface="Graphik"/>
                  </a:rPr>
                  <a:t>How</a:t>
                </a:r>
                <a:r>
                  <a:rPr lang="en-US" dirty="0"/>
                  <a:t> do we perform the optimization?</a:t>
                </a:r>
              </a:p>
              <a:p>
                <a:pPr lvl="1"/>
                <a:endParaRPr dirty="0">
                  <a:solidFill>
                    <a:srgbClr val="53585F"/>
                  </a:solidFill>
                </a:endParaRPr>
              </a:p>
            </p:txBody>
          </p:sp>
        </mc:Choice>
        <mc:Fallback xmlns="">
          <p:sp>
            <p:nvSpPr>
              <p:cNvPr id="496" name="Objective function: (this is a cost function since we want to find the minimum)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964008" y="2763076"/>
                <a:ext cx="11444400" cy="5320805"/>
              </a:xfrm>
              <a:prstGeom prst="rect">
                <a:avLst/>
              </a:prstGeom>
              <a:blipFill>
                <a:blip r:embed="rId2"/>
                <a:stretch>
                  <a:fillRect l="-479" t="-3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eneral model-based training framework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 fontScale="90000"/>
          </a:bodyPr>
          <a:lstStyle>
            <a:lvl1pPr defTabSz="203200">
              <a:defRPr sz="4800" spc="-48"/>
            </a:lvl1pPr>
          </a:lstStyle>
          <a:p>
            <a:r>
              <a:t>General model-based training framework</a:t>
            </a:r>
          </a:p>
        </p:txBody>
      </p:sp>
      <p:sp>
        <p:nvSpPr>
          <p:cNvPr id="503" name="Define an appropriate objective function…"/>
          <p:cNvSpPr txBox="1">
            <a:spLocks noGrp="1"/>
          </p:cNvSpPr>
          <p:nvPr>
            <p:ph type="body" idx="1"/>
          </p:nvPr>
        </p:nvSpPr>
        <p:spPr>
          <a:xfrm>
            <a:off x="1274904" y="2767181"/>
            <a:ext cx="8161734" cy="5128468"/>
          </a:xfrm>
          <a:prstGeom prst="rect">
            <a:avLst/>
          </a:prstGeom>
        </p:spPr>
        <p:txBody>
          <a:bodyPr/>
          <a:lstStyle/>
          <a:p>
            <a:r>
              <a:rPr dirty="0"/>
              <a:t>Define an appropriate </a:t>
            </a:r>
            <a:r>
              <a:rPr b="1" dirty="0">
                <a:latin typeface="Graphik"/>
                <a:ea typeface="Graphik"/>
                <a:cs typeface="Graphik"/>
                <a:sym typeface="Graphik"/>
              </a:rPr>
              <a:t>objective function</a:t>
            </a:r>
          </a:p>
          <a:p>
            <a:pPr lvl="2"/>
            <a:r>
              <a:rPr dirty="0"/>
              <a:t>Cost/Loss functions are minimized</a:t>
            </a:r>
          </a:p>
          <a:p>
            <a:pPr lvl="2"/>
            <a:r>
              <a:rPr dirty="0"/>
              <a:t>Utility/Fitness functions are maximized </a:t>
            </a:r>
          </a:p>
          <a:p>
            <a:pPr lvl="3"/>
            <a:r>
              <a:rPr sz="1600" dirty="0"/>
              <a:t>For example the likelihood in MLE is a utility function</a:t>
            </a:r>
          </a:p>
          <a:p>
            <a:r>
              <a:rPr dirty="0"/>
              <a:t>“Train” the model by solving the optimization problem using an appropriate optimization </a:t>
            </a:r>
            <a:r>
              <a:rPr b="1" dirty="0">
                <a:latin typeface="Graphik"/>
                <a:ea typeface="Graphik"/>
                <a:cs typeface="Graphik"/>
                <a:sym typeface="Graphik"/>
              </a:rPr>
              <a:t>method</a:t>
            </a:r>
          </a:p>
          <a:p>
            <a:pPr lvl="2"/>
            <a:r>
              <a:rPr dirty="0"/>
              <a:t>a “closed-form” solution (rare) </a:t>
            </a:r>
          </a:p>
          <a:p>
            <a:pPr lvl="2"/>
            <a:r>
              <a:rPr dirty="0"/>
              <a:t>a numerical method (usually)</a:t>
            </a:r>
          </a:p>
        </p:txBody>
      </p:sp>
    </p:spTree>
  </p:cSld>
  <p:clrMapOvr>
    <a:masterClrMapping/>
  </p:clrMapOvr>
  <p:transition spd="med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84E50-32DF-2430-6C29-9FC6BACC1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 in ml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DC3217-A533-352E-4A53-12D55F9070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457176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Main Challenge of Machine Learn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 fontScale="90000"/>
          </a:bodyPr>
          <a:lstStyle>
            <a:lvl1pPr defTabSz="228600">
              <a:defRPr sz="5400" spc="-53"/>
            </a:lvl1pPr>
          </a:lstStyle>
          <a:p>
            <a:r>
              <a:t>Main Challenge of Machine Learning </a:t>
            </a:r>
          </a:p>
        </p:txBody>
      </p:sp>
      <p:sp>
        <p:nvSpPr>
          <p:cNvPr id="509" name="Insufficient quantity of training data…"/>
          <p:cNvSpPr txBox="1">
            <a:spLocks noGrp="1"/>
          </p:cNvSpPr>
          <p:nvPr>
            <p:ph type="body" idx="1"/>
          </p:nvPr>
        </p:nvSpPr>
        <p:spPr>
          <a:xfrm>
            <a:off x="750367" y="2661939"/>
            <a:ext cx="10691265" cy="3739896"/>
          </a:xfrm>
          <a:prstGeom prst="rect">
            <a:avLst/>
          </a:prstGeom>
        </p:spPr>
        <p:txBody>
          <a:bodyPr/>
          <a:lstStyle/>
          <a:p>
            <a:r>
              <a:rPr dirty="0"/>
              <a:t>Insufficient quantity of training data</a:t>
            </a:r>
          </a:p>
          <a:p>
            <a:r>
              <a:rPr dirty="0"/>
              <a:t>Non-representative training data</a:t>
            </a:r>
          </a:p>
          <a:p>
            <a:r>
              <a:rPr dirty="0"/>
              <a:t>Poor-quality data</a:t>
            </a:r>
          </a:p>
          <a:p>
            <a:r>
              <a:rPr dirty="0"/>
              <a:t>Irrelevant features</a:t>
            </a:r>
          </a:p>
          <a:p>
            <a:r>
              <a:rPr dirty="0"/>
              <a:t>Under- and overfitting </a:t>
            </a:r>
          </a:p>
        </p:txBody>
      </p:sp>
      <p:sp>
        <p:nvSpPr>
          <p:cNvPr id="510" name="(According to HOML)"/>
          <p:cNvSpPr txBox="1"/>
          <p:nvPr/>
        </p:nvSpPr>
        <p:spPr>
          <a:xfrm>
            <a:off x="5083740" y="1855016"/>
            <a:ext cx="3140283" cy="266933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1800">
                <a:solidFill>
                  <a:srgbClr val="000000"/>
                </a:solidFill>
              </a:defRPr>
            </a:lvl1pPr>
          </a:lstStyle>
          <a:p>
            <a:r>
              <a:rPr sz="1266" dirty="0"/>
              <a:t>(According to H</a:t>
            </a:r>
            <a:r>
              <a:rPr lang="en-US" sz="1266" dirty="0"/>
              <a:t>ands On Machine Learning</a:t>
            </a:r>
            <a:r>
              <a:rPr sz="1266" dirty="0"/>
              <a:t>)</a:t>
            </a:r>
          </a:p>
        </p:txBody>
      </p:sp>
    </p:spTree>
  </p:cSld>
  <p:clrMapOvr>
    <a:masterClrMapping/>
  </p:clrMapOvr>
  <p:transition spd="med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Main Challenge of Machine Learn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 fontScale="90000"/>
          </a:bodyPr>
          <a:lstStyle>
            <a:lvl1pPr defTabSz="228600">
              <a:defRPr sz="5400" spc="-53"/>
            </a:lvl1pPr>
          </a:lstStyle>
          <a:p>
            <a:r>
              <a:t>Main Challenge of Machine Learning </a:t>
            </a:r>
          </a:p>
        </p:txBody>
      </p:sp>
      <p:sp>
        <p:nvSpPr>
          <p:cNvPr id="514" name="Insufficient quantity of training data…"/>
          <p:cNvSpPr txBox="1">
            <a:spLocks noGrp="1"/>
          </p:cNvSpPr>
          <p:nvPr>
            <p:ph type="body" idx="1"/>
          </p:nvPr>
        </p:nvSpPr>
        <p:spPr>
          <a:xfrm>
            <a:off x="845892" y="2687819"/>
            <a:ext cx="10691265" cy="3739896"/>
          </a:xfrm>
          <a:prstGeom prst="rect">
            <a:avLst/>
          </a:prstGeom>
        </p:spPr>
        <p:txBody>
          <a:bodyPr/>
          <a:lstStyle/>
          <a:p>
            <a:pPr>
              <a:defRPr b="1">
                <a:solidFill>
                  <a:srgbClr val="FF7E79"/>
                </a:solidFill>
                <a:latin typeface="Graphik"/>
                <a:ea typeface="Graphik"/>
                <a:cs typeface="Graphik"/>
                <a:sym typeface="Graphik"/>
              </a:defRPr>
            </a:pPr>
            <a:r>
              <a:rPr dirty="0"/>
              <a:t>Insufficient quantity of training data</a:t>
            </a:r>
          </a:p>
          <a:p>
            <a:pPr>
              <a:defRPr b="1">
                <a:solidFill>
                  <a:srgbClr val="FF7E79"/>
                </a:solidFill>
                <a:latin typeface="Graphik"/>
                <a:ea typeface="Graphik"/>
                <a:cs typeface="Graphik"/>
                <a:sym typeface="Graphik"/>
              </a:defRPr>
            </a:pPr>
            <a:r>
              <a:rPr dirty="0"/>
              <a:t>Non-representative training data</a:t>
            </a:r>
            <a:r>
              <a:rPr lang="en-US" dirty="0"/>
              <a:t> (e.g., distribution shift)</a:t>
            </a:r>
            <a:endParaRPr dirty="0"/>
          </a:p>
          <a:p>
            <a:pPr>
              <a:defRPr b="1">
                <a:solidFill>
                  <a:srgbClr val="FF7E79"/>
                </a:solidFill>
                <a:latin typeface="Graphik"/>
                <a:ea typeface="Graphik"/>
                <a:cs typeface="Graphik"/>
                <a:sym typeface="Graphik"/>
              </a:defRPr>
            </a:pPr>
            <a:r>
              <a:rPr dirty="0"/>
              <a:t>Poor-quality data</a:t>
            </a:r>
          </a:p>
          <a:p>
            <a:pPr>
              <a:defRPr b="1">
                <a:solidFill>
                  <a:srgbClr val="FF7E79"/>
                </a:solidFill>
                <a:latin typeface="Graphik"/>
                <a:ea typeface="Graphik"/>
                <a:cs typeface="Graphik"/>
                <a:sym typeface="Graphik"/>
              </a:defRPr>
            </a:pPr>
            <a:r>
              <a:rPr dirty="0"/>
              <a:t>Irrelevant features</a:t>
            </a:r>
          </a:p>
          <a:p>
            <a:r>
              <a:rPr dirty="0"/>
              <a:t>Under- and overfitting </a:t>
            </a:r>
          </a:p>
        </p:txBody>
      </p:sp>
      <p:sp>
        <p:nvSpPr>
          <p:cNvPr id="516" name="Most of these issues boil down to one idea:…"/>
          <p:cNvSpPr txBox="1"/>
          <p:nvPr/>
        </p:nvSpPr>
        <p:spPr>
          <a:xfrm>
            <a:off x="845892" y="5302872"/>
            <a:ext cx="5639894" cy="626133"/>
          </a:xfrm>
          <a:prstGeom prst="rect">
            <a:avLst/>
          </a:prstGeom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/>
          <a:p>
            <a:pPr>
              <a:defRPr b="1">
                <a:latin typeface="Graphik"/>
                <a:ea typeface="Graphik"/>
                <a:cs typeface="Graphik"/>
                <a:sym typeface="Graphik"/>
              </a:defRPr>
            </a:pPr>
            <a:r>
              <a:rPr dirty="0"/>
              <a:t>Most of these issues boil down to one idea:</a:t>
            </a:r>
          </a:p>
          <a:p>
            <a:pPr>
              <a:defRPr b="1">
                <a:latin typeface="Graphik"/>
                <a:ea typeface="Graphik"/>
                <a:cs typeface="Graphik"/>
                <a:sym typeface="Graphik"/>
              </a:defRPr>
            </a:pPr>
            <a:r>
              <a:rPr dirty="0"/>
              <a:t>Your results are only as good as your data</a:t>
            </a:r>
          </a:p>
        </p:txBody>
      </p:sp>
    </p:spTree>
  </p:cSld>
  <p:clrMapOvr>
    <a:masterClrMapping/>
  </p:clrMapOvr>
  <p:transition spd="med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The importance of data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The importance of data</a:t>
            </a:r>
          </a:p>
        </p:txBody>
      </p:sp>
      <p:sp>
        <p:nvSpPr>
          <p:cNvPr id="520" name="Data is the fuel that powers our learning machine…"/>
          <p:cNvSpPr txBox="1">
            <a:spLocks noGrp="1"/>
          </p:cNvSpPr>
          <p:nvPr>
            <p:ph type="body" sz="half" idx="1"/>
          </p:nvPr>
        </p:nvSpPr>
        <p:spPr>
          <a:xfrm>
            <a:off x="1014469" y="1970293"/>
            <a:ext cx="4612167" cy="4232672"/>
          </a:xfrm>
          <a:prstGeom prst="rect">
            <a:avLst/>
          </a:prstGeom>
        </p:spPr>
        <p:txBody>
          <a:bodyPr/>
          <a:lstStyle/>
          <a:p>
            <a:r>
              <a:rPr dirty="0"/>
              <a:t>Data is the fuel that powers our learning machine</a:t>
            </a:r>
          </a:p>
          <a:p>
            <a:r>
              <a:rPr dirty="0"/>
              <a:t>No amount of model improvement can compensate for “bad” data</a:t>
            </a:r>
          </a:p>
          <a:p>
            <a:pPr lvl="1"/>
            <a:r>
              <a:rPr dirty="0"/>
              <a:t>“Bad” data is not always poor quality</a:t>
            </a:r>
          </a:p>
          <a:p>
            <a:pPr lvl="1"/>
            <a:r>
              <a:rPr dirty="0"/>
              <a:t>Sometimes “bad” data is just the wrong data for the task</a:t>
            </a:r>
          </a:p>
        </p:txBody>
      </p:sp>
      <p:pic>
        <p:nvPicPr>
          <p:cNvPr id="521" name="pasted-image.jpeg" descr="pasted-imag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8904" y="1707241"/>
            <a:ext cx="3265471" cy="4397392"/>
          </a:xfrm>
          <a:prstGeom prst="rect">
            <a:avLst/>
          </a:prstGeom>
          <a:ln w="3175">
            <a:miter lim="400000"/>
          </a:ln>
        </p:spPr>
      </p:pic>
    </p:spTree>
  </p:cSld>
  <p:clrMapOvr>
    <a:masterClrMapping/>
  </p:clrMapOvr>
  <p:transition spd="med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Things to ask of your data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Things to ask of your data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705F79-9B79-3E63-1529-2852B3B3B3D6}"/>
              </a:ext>
            </a:extLst>
          </p:cNvPr>
          <p:cNvSpPr txBox="1"/>
          <p:nvPr/>
        </p:nvSpPr>
        <p:spPr>
          <a:xfrm>
            <a:off x="1216325" y="1885562"/>
            <a:ext cx="656470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  <a:defRPr sz="3300"/>
            </a:pPr>
            <a:r>
              <a:rPr lang="en-US" sz="2000" dirty="0"/>
              <a:t>What data is available?</a:t>
            </a:r>
          </a:p>
          <a:p>
            <a:pPr marL="457200" indent="-457200">
              <a:buFont typeface="Arial" panose="020B0604020202020204" pitchFamily="34" charset="0"/>
              <a:buChar char="•"/>
              <a:defRPr sz="3300"/>
            </a:pPr>
            <a:r>
              <a:rPr lang="en-US" sz="2000" dirty="0"/>
              <a:t>Is the data still relevant?</a:t>
            </a:r>
          </a:p>
          <a:p>
            <a:pPr marL="457200" indent="-457200">
              <a:buFont typeface="Arial" panose="020B0604020202020204" pitchFamily="34" charset="0"/>
              <a:buChar char="•"/>
              <a:defRPr sz="3300"/>
            </a:pPr>
            <a:r>
              <a:rPr lang="en-US" sz="2000" dirty="0"/>
              <a:t>What other data sources might be available?</a:t>
            </a:r>
          </a:p>
          <a:p>
            <a:pPr marL="457200" indent="-457200">
              <a:buFont typeface="Arial" panose="020B0604020202020204" pitchFamily="34" charset="0"/>
              <a:buChar char="•"/>
              <a:defRPr sz="3300"/>
            </a:pPr>
            <a:r>
              <a:rPr lang="en-US" sz="2000" dirty="0"/>
              <a:t>Is there </a:t>
            </a:r>
            <a:r>
              <a:rPr lang="en-US" sz="2000" i="1" dirty="0">
                <a:latin typeface="Graphik"/>
                <a:ea typeface="Graphik"/>
                <a:cs typeface="Graphik"/>
                <a:sym typeface="Graphik"/>
              </a:rPr>
              <a:t>enough</a:t>
            </a:r>
            <a:r>
              <a:rPr lang="en-US" sz="2000" dirty="0"/>
              <a:t> data? </a:t>
            </a:r>
          </a:p>
          <a:p>
            <a:pPr marL="457200" indent="-457200">
              <a:buFont typeface="Arial" panose="020B0604020202020204" pitchFamily="34" charset="0"/>
              <a:buChar char="•"/>
              <a:defRPr sz="3300"/>
            </a:pPr>
            <a:r>
              <a:rPr lang="en-US" sz="2000" dirty="0"/>
              <a:t>Where did the data come from?  </a:t>
            </a:r>
          </a:p>
          <a:p>
            <a:pPr marL="457200" indent="-457200">
              <a:buFont typeface="Arial" panose="020B0604020202020204" pitchFamily="34" charset="0"/>
              <a:buChar char="•"/>
              <a:defRPr sz="3300"/>
            </a:pPr>
            <a:r>
              <a:rPr lang="en-US" sz="2000" dirty="0"/>
              <a:t>Do you know and trust the data source?  </a:t>
            </a:r>
          </a:p>
          <a:p>
            <a:pPr marL="457200" indent="-457200">
              <a:buFont typeface="Arial" panose="020B0604020202020204" pitchFamily="34" charset="0"/>
              <a:buChar char="•"/>
              <a:defRPr sz="3300"/>
            </a:pPr>
            <a:r>
              <a:rPr lang="en-US" sz="2000" dirty="0"/>
              <a:t>Does the available data actually answer the question?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</p:txBody>
      </p:sp>
    </p:spTree>
  </p:cSld>
  <p:clrMapOvr>
    <a:masterClrMapping/>
  </p:clrMapOvr>
  <p:transition spd="med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Potential biases in data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Potential biases in data</a:t>
            </a:r>
          </a:p>
        </p:txBody>
      </p:sp>
      <p:sp>
        <p:nvSpPr>
          <p:cNvPr id="532" name="Selection bias: Data is selected for convenience or self-selected…"/>
          <p:cNvSpPr txBox="1">
            <a:spLocks noGrp="1"/>
          </p:cNvSpPr>
          <p:nvPr>
            <p:ph type="body" idx="1"/>
          </p:nvPr>
        </p:nvSpPr>
        <p:spPr>
          <a:xfrm>
            <a:off x="1048976" y="1645831"/>
            <a:ext cx="8161734" cy="5035868"/>
          </a:xfrm>
          <a:prstGeom prst="rect">
            <a:avLst/>
          </a:prstGeom>
        </p:spPr>
        <p:txBody>
          <a:bodyPr>
            <a:noAutofit/>
          </a:bodyPr>
          <a:lstStyle/>
          <a:p>
            <a:pPr marL="196446" indent="-196446" defTabSz="156458">
              <a:defRPr sz="2464"/>
            </a:pPr>
            <a:r>
              <a:rPr sz="1800" b="1" dirty="0">
                <a:latin typeface="Graphik"/>
                <a:ea typeface="Graphik"/>
                <a:cs typeface="Graphik"/>
                <a:sym typeface="Graphik"/>
              </a:rPr>
              <a:t>Selection bias:</a:t>
            </a:r>
            <a:r>
              <a:rPr sz="1800" dirty="0"/>
              <a:t> Data is selected for convenience or self-selected</a:t>
            </a:r>
          </a:p>
          <a:p>
            <a:pPr marL="196446" indent="-196446" defTabSz="156458">
              <a:defRPr sz="2464"/>
            </a:pPr>
            <a:r>
              <a:rPr sz="1800" b="1" dirty="0">
                <a:latin typeface="Graphik"/>
                <a:ea typeface="Graphik"/>
                <a:cs typeface="Graphik"/>
                <a:sym typeface="Graphik"/>
              </a:rPr>
              <a:t>Confirmation bias:</a:t>
            </a:r>
            <a:r>
              <a:rPr sz="1800" dirty="0"/>
              <a:t> We are less critical of data (and results) that confirm our prior beliefs</a:t>
            </a:r>
          </a:p>
          <a:p>
            <a:pPr marL="196446" indent="-196446" defTabSz="156458">
              <a:defRPr sz="2464"/>
            </a:pPr>
            <a:r>
              <a:rPr sz="1800" b="1" dirty="0">
                <a:latin typeface="Graphik"/>
                <a:ea typeface="Graphik"/>
                <a:cs typeface="Graphik"/>
                <a:sym typeface="Graphik"/>
              </a:rPr>
              <a:t>Societal bias:</a:t>
            </a:r>
            <a:r>
              <a:rPr sz="1800" dirty="0"/>
              <a:t>  Data often reflects cultural stereotypes</a:t>
            </a:r>
          </a:p>
          <a:p>
            <a:pPr marL="196446" indent="-196446" defTabSz="156458">
              <a:defRPr sz="2464"/>
            </a:pPr>
            <a:r>
              <a:rPr sz="1800" b="1" dirty="0">
                <a:latin typeface="Graphik"/>
                <a:ea typeface="Graphik"/>
                <a:cs typeface="Graphik"/>
                <a:sym typeface="Graphik"/>
              </a:rPr>
              <a:t>Measurement bias:</a:t>
            </a:r>
            <a:r>
              <a:rPr sz="1800" dirty="0"/>
              <a:t> Biases due to limitations of measurement devices</a:t>
            </a:r>
          </a:p>
          <a:p>
            <a:pPr marL="196446" indent="-196446" defTabSz="156458">
              <a:defRPr sz="2464"/>
            </a:pPr>
            <a:r>
              <a:rPr sz="1800" b="1" dirty="0">
                <a:latin typeface="Graphik"/>
                <a:ea typeface="Graphik"/>
                <a:cs typeface="Graphik"/>
                <a:sym typeface="Graphik"/>
              </a:rPr>
              <a:t>Proxy measurement bias:</a:t>
            </a:r>
            <a:r>
              <a:rPr sz="1800" dirty="0"/>
              <a:t> A proxy measurement is used for something that is hard to measure</a:t>
            </a:r>
          </a:p>
          <a:p>
            <a:pPr marL="196446" indent="-196446" defTabSz="156458">
              <a:defRPr sz="2464"/>
            </a:pPr>
            <a:r>
              <a:rPr sz="1800" b="1" dirty="0">
                <a:latin typeface="Graphik"/>
                <a:ea typeface="Graphik"/>
                <a:cs typeface="Graphik"/>
                <a:sym typeface="Graphik"/>
              </a:rPr>
              <a:t>Exclusion bias</a:t>
            </a:r>
            <a:r>
              <a:rPr sz="1800" dirty="0"/>
              <a:t>: Important variables might not be measured</a:t>
            </a:r>
          </a:p>
          <a:p>
            <a:pPr marL="196446" indent="-196446" defTabSz="156458">
              <a:defRPr sz="2464"/>
            </a:pPr>
            <a:r>
              <a:rPr sz="1800" b="1" dirty="0">
                <a:latin typeface="Graphik"/>
                <a:ea typeface="Graphik"/>
                <a:cs typeface="Graphik"/>
                <a:sym typeface="Graphik"/>
              </a:rPr>
              <a:t>Sampling bias</a:t>
            </a:r>
            <a:r>
              <a:rPr sz="1800" dirty="0"/>
              <a:t>: Data isn’t representative or doesn’t reflect realities of where the ML model will run </a:t>
            </a:r>
          </a:p>
          <a:p>
            <a:pPr marL="196446" indent="-196446" defTabSz="156458">
              <a:defRPr sz="2464"/>
            </a:pPr>
            <a:r>
              <a:rPr sz="1800" b="1" dirty="0">
                <a:latin typeface="Graphik"/>
                <a:ea typeface="Graphik"/>
                <a:cs typeface="Graphik"/>
                <a:sym typeface="Graphik"/>
              </a:rPr>
              <a:t>Human bias:</a:t>
            </a:r>
            <a:r>
              <a:rPr sz="1800" dirty="0"/>
              <a:t>  All data is somehow collected by humans</a:t>
            </a:r>
          </a:p>
        </p:txBody>
      </p:sp>
    </p:spTree>
  </p:cSld>
  <p:clrMapOvr>
    <a:masterClrMapping/>
  </p:clrMapOvr>
  <p:transition spd="med"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10.2362"/>
  <p:tag name="ORIGINALWIDTH" val="365.9543"/>
  <p:tag name="LATEXADDIN" val="\documentclass{article}&#10;\usepackage{amsmath,amsfonts}&#10;\pagestyle{empty}&#10;\begin{document}&#10;&#10;$\mathbf{x}\in\mathbb{R}^d$&#10;&#10;&#10;\end{document}"/>
  <p:tag name="IGUANATEXSIZE" val="28"/>
  <p:tag name="IGUANATEXCURSOR" val="52"/>
  <p:tag name="TRANSPARENCY" val="True"/>
  <p:tag name="FILENAME" val="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533.1833"/>
  <p:tag name="ORIGINALWIDTH" val="1738.283"/>
  <p:tag name="LATEXADDIN" val="\documentclass{article}&#10;\usepackage{amsmath}&#10;\pagestyle{empty}&#10;\begin{document}&#10;&#10;$\mathbf{x}=&#10;\begin{bmatrix}&#10;x^{(1)} \\&#10;\vdots \\&#10;x^{(d)}&#10;\end{bmatrix}&#10;\text{ ~~~~or~~~~~~~}&#10;\mathbf{x}=&#10;\begin{bmatrix}&#10;x_1 \\&#10;\vdots \\&#10;x_d&#10;\end{bmatrix}&#10;$&#10;&#10;\end{document}"/>
  <p:tag name="IGUANATEXSIZE" val="20"/>
  <p:tag name="IGUANATEXCURSOR" val="164"/>
  <p:tag name="TRANSPARENCY" val="True"/>
  <p:tag name="FILENAME" val="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54.74315"/>
  <p:tag name="ORIGINALWIDTH" val="71.2411"/>
  <p:tag name="LATEXADDIN" val="\documentclass{article}&#10;\usepackage{amsmath,amsfonts}&#10;\pagestyle{empty}&#10;\begin{document}&#10;&#10;$\mathbf{x}$&#10;&#10;&#10;\end{document}"/>
  <p:tag name="IGUANATEXSIZE" val="28"/>
  <p:tag name="IGUANATEXCURSOR" val="101"/>
  <p:tag name="TRANSPARENCY" val="True"/>
  <p:tag name="FILENAME" val="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54.74315"/>
  <p:tag name="ORIGINALWIDTH" val="71.2411"/>
  <p:tag name="LATEXADDIN" val="\documentclass{article}&#10;\usepackage{amsmath,amsfonts}&#10;\pagestyle{empty}&#10;\begin{document}&#10;&#10;$\mathbf{x}$&#10;&#10;&#10;\end{document}"/>
  <p:tag name="IGUANATEXSIZE" val="28"/>
  <p:tag name="IGUANATEXCURSOR" val="101"/>
  <p:tag name="TRANSPARENCY" val="True"/>
  <p:tag name="FILENAME" val="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54.74315"/>
  <p:tag name="ORIGINALWIDTH" val="71.2411"/>
  <p:tag name="LATEXADDIN" val="\documentclass{article}&#10;\usepackage{amsmath,amsfonts}&#10;\pagestyle{empty}&#10;\begin{document}&#10;&#10;$\mathbf{x}$&#10;&#10;&#10;\end{document}"/>
  <p:tag name="IGUANATEXSIZE" val="28"/>
  <p:tag name="IGUANATEXCURSOR" val="101"/>
  <p:tag name="TRANSPARENCY" val="True"/>
  <p:tag name="FILENAME" val="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85.48929"/>
  <p:tag name="ORIGINALWIDTH" val="100.4874"/>
  <p:tag name="LATEXADDIN" val="\documentclass{article}&#10;\usepackage{amsmath}&#10;\pagestyle{empty}&#10;\begin{document}&#10;&#10;$\mathbf{X}$&#10;&#10;&#10;\end{document}"/>
  <p:tag name="IGUANATEXSIZE" val="28"/>
  <p:tag name="IGUANATEXCURSOR" val="93"/>
  <p:tag name="TRANSPARENCY" val="True"/>
  <p:tag name="FILENAME" val="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383.577"/>
  <p:tag name="ORIGINALWIDTH" val="4098.237"/>
  <p:tag name="LATEXADDIN" val="\documentclass{article}&#10;\usepackage{amsmath}&#10;\renewcommand{\familydefault}{\sfdefault}&#10;\usepackage{helvet}&#10;\pagestyle{empty}&#10;\begin{document}&#10;&#10;\begin{itemize}&#10;\item The learner/user are given training data&#10;$$(x_1,y_1),\dots,(x_n,y_n)$$&#10;\item Each $y_i$ is the output of an unknown and possibly noisy function with input $\mathbf{x}_i$&#10;\item Goal: Given a test input $\mathbf{x}$, predict the correct output&#10;\item Two primary types of supervised learning: \underline{classification} and \underline{regression}&#10;&#10;\end{itemize}&#10;&#10;&#10;\end{document}"/>
  <p:tag name="IGUANATEXSIZE" val="20"/>
  <p:tag name="IGUANATEXCURSOR" val="106"/>
  <p:tag name="TRANSPARENCY" val="True"/>
  <p:tag name="FILENAME" val="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38.7327"/>
  <p:tag name="ORIGINALWIDTH" val="3094.863"/>
  <p:tag name="LATEXADDIN" val="\documentclass{article}&#10;\usepackage{amsmath,amsfonts}&#10;\renewcommand{\familydefault}{\sfdefault}&#10;\usepackage{helvet}&#10;\pagestyle{empty}&#10;\begin{document}&#10;&#10;Outputs are called \underline{responses} and are real valued: $y\in\mathbb{R}$&#10;&#10;&#10;\end{document}"/>
  <p:tag name="IGUANATEXSIZE" val="28"/>
  <p:tag name="IGUANATEXCURSOR" val="230"/>
  <p:tag name="TRANSPARENCY" val="True"/>
  <p:tag name="FILENAME" val="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916.3854"/>
  <p:tag name="ORIGINALWIDTH" val="2746.157"/>
  <p:tag name="LATEXADDIN" val="\documentclass{article}&#10;\usepackage{amsmath}&#10;\renewcommand{\familydefault}{\sfdefault}&#10;\usepackage{helvet}&#10;\pagestyle{empty}&#10;\begin{document}&#10;&#10;\begin{itemize}&#10;\item Outputs are called labels and are typically finite: $$y\in\{1,2,\dots,C\}$$  where $C$ is the number of classes&#10;\item Example: handwritten digit recognition&#10;&#10;\end{itemize}&#10;&#10;&#10;\end{document}"/>
  <p:tag name="IGUANATEXSIZE" val="20"/>
  <p:tag name="IGUANATEXCURSOR" val="106"/>
  <p:tag name="TRANSPARENCY" val="True"/>
  <p:tag name="FILENAME" val="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529</TotalTime>
  <Words>1657</Words>
  <Application>Microsoft Office PowerPoint</Application>
  <PresentationFormat>Widescreen</PresentationFormat>
  <Paragraphs>249</Paragraphs>
  <Slides>38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5" baseType="lpstr">
      <vt:lpstr>Aptos</vt:lpstr>
      <vt:lpstr>Arial</vt:lpstr>
      <vt:lpstr>Calisto MT</vt:lpstr>
      <vt:lpstr>Cambria Math</vt:lpstr>
      <vt:lpstr>Graphik</vt:lpstr>
      <vt:lpstr>Univers Condensed</vt:lpstr>
      <vt:lpstr>ChronicleVTI</vt:lpstr>
      <vt:lpstr>Intro to Machine Learning</vt:lpstr>
      <vt:lpstr>What is Machine Learning?</vt:lpstr>
      <vt:lpstr>What is Machine Learning?</vt:lpstr>
      <vt:lpstr>Machine learning tasks</vt:lpstr>
      <vt:lpstr>Wait, I’ve also heard about statistical learning…</vt:lpstr>
      <vt:lpstr>Success of Machine Learning</vt:lpstr>
      <vt:lpstr>Success of Machine Learning</vt:lpstr>
      <vt:lpstr>Success of Machine Learning</vt:lpstr>
      <vt:lpstr>Success of Machine Learning</vt:lpstr>
      <vt:lpstr>Success of Machine Learning</vt:lpstr>
      <vt:lpstr>Success of Machine Learning</vt:lpstr>
      <vt:lpstr>Success of Machine Learning</vt:lpstr>
      <vt:lpstr>I’m Just curious…</vt:lpstr>
      <vt:lpstr>Other Machine Learning Applications</vt:lpstr>
      <vt:lpstr>Categories of ml</vt:lpstr>
      <vt:lpstr>Machine Learning Vocabulary</vt:lpstr>
      <vt:lpstr>Some notation</vt:lpstr>
      <vt:lpstr>Why estimate f?</vt:lpstr>
      <vt:lpstr>Goals of Supervised ML</vt:lpstr>
      <vt:lpstr>Supervised learning</vt:lpstr>
      <vt:lpstr>Regression</vt:lpstr>
      <vt:lpstr>Classification</vt:lpstr>
      <vt:lpstr>Unsupervised Learning</vt:lpstr>
      <vt:lpstr>Challenges in Machine Learning</vt:lpstr>
      <vt:lpstr>Artificial intelligence vs. machine learning</vt:lpstr>
      <vt:lpstr>Instance-based vs Model-based</vt:lpstr>
      <vt:lpstr>Instance-based vs Model-based</vt:lpstr>
      <vt:lpstr>Some terms</vt:lpstr>
      <vt:lpstr>Interpretability vs Flexibility </vt:lpstr>
      <vt:lpstr>Example:  simple linear regression</vt:lpstr>
      <vt:lpstr>Example:  simple linear regression</vt:lpstr>
      <vt:lpstr>General model-based training framework</vt:lpstr>
      <vt:lpstr>Challenges in ml</vt:lpstr>
      <vt:lpstr>Main Challenge of Machine Learning </vt:lpstr>
      <vt:lpstr>Main Challenge of Machine Learning </vt:lpstr>
      <vt:lpstr>The importance of data</vt:lpstr>
      <vt:lpstr>Things to ask of your data</vt:lpstr>
      <vt:lpstr>Potential biases in data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Jake Rhodes</dc:creator>
  <cp:lastModifiedBy>Jake Rhodes</cp:lastModifiedBy>
  <cp:revision>25</cp:revision>
  <dcterms:created xsi:type="dcterms:W3CDTF">2025-10-28T15:32:43Z</dcterms:created>
  <dcterms:modified xsi:type="dcterms:W3CDTF">2026-08-26T12:27:04Z</dcterms:modified>
</cp:coreProperties>
</file>