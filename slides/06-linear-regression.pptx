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24"/>
  </p:notesMasterIdLst>
  <p:sldIdLst>
    <p:sldId id="256" r:id="rId2"/>
    <p:sldId id="257" r:id="rId3"/>
    <p:sldId id="259" r:id="rId4"/>
    <p:sldId id="261" r:id="rId5"/>
    <p:sldId id="260" r:id="rId6"/>
    <p:sldId id="303" r:id="rId7"/>
    <p:sldId id="309" r:id="rId8"/>
    <p:sldId id="304" r:id="rId9"/>
    <p:sldId id="264" r:id="rId10"/>
    <p:sldId id="265" r:id="rId11"/>
    <p:sldId id="289" r:id="rId12"/>
    <p:sldId id="290" r:id="rId13"/>
    <p:sldId id="308" r:id="rId14"/>
    <p:sldId id="291" r:id="rId15"/>
    <p:sldId id="292" r:id="rId16"/>
    <p:sldId id="293" r:id="rId17"/>
    <p:sldId id="294" r:id="rId18"/>
    <p:sldId id="296" r:id="rId19"/>
    <p:sldId id="297" r:id="rId20"/>
    <p:sldId id="307" r:id="rId21"/>
    <p:sldId id="299" r:id="rId22"/>
    <p:sldId id="300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9" autoAdjust="0"/>
    <p:restoredTop sz="94660"/>
  </p:normalViewPr>
  <p:slideViewPr>
    <p:cSldViewPr snapToGrid="0">
      <p:cViewPr varScale="1">
        <p:scale>
          <a:sx n="56" d="100"/>
          <a:sy n="56" d="100"/>
        </p:scale>
        <p:origin x="72" y="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320152-7289-42ED-97D3-BBB411F9F8C0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F0E3D6-3C77-45F1-B7E2-5B66F3D24A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873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143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9720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293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919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209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9477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0403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1026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53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83652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57883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Body Level One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654844" y="2214563"/>
            <a:ext cx="10882313" cy="2277070"/>
          </a:xfrm>
          <a:prstGeom prst="rect">
            <a:avLst/>
          </a:prstGeom>
        </p:spPr>
        <p:txBody>
          <a:bodyPr anchor="ctr"/>
          <a:lstStyle>
            <a:lvl1pPr marL="0" indent="0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1pPr>
            <a:lvl2pPr marL="0" indent="223234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2pPr>
            <a:lvl3pPr marL="0" indent="446469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3pPr>
            <a:lvl4pPr marL="0" indent="669703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4pPr>
            <a:lvl5pPr marL="0" indent="892937" algn="ctr" defTabSz="250022">
              <a:lnSpc>
                <a:spcPct val="90000"/>
              </a:lnSpc>
              <a:spcBef>
                <a:spcPts val="0"/>
              </a:spcBef>
              <a:buSzTx/>
              <a:buNone/>
              <a:defRPr sz="5906" spc="-59">
                <a:latin typeface="+mn-lt"/>
                <a:ea typeface="+mn-ea"/>
                <a:cs typeface="+mn-cs"/>
                <a:sym typeface="Produkt Extralight"/>
              </a:defRPr>
            </a:lvl5pPr>
          </a:lstStyle>
          <a:p>
            <a:r>
              <a:t>Statement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68802188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lide Sub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654844" y="1017985"/>
            <a:ext cx="10882313" cy="473273"/>
          </a:xfrm>
          <a:prstGeom prst="rect">
            <a:avLst/>
          </a:prstGeom>
        </p:spPr>
        <p:txBody>
          <a:bodyPr/>
          <a:lstStyle>
            <a:lvl1pPr marL="0" indent="0" defTabSz="178587">
              <a:spcBef>
                <a:spcPts val="0"/>
              </a:spcBef>
              <a:buSzTx/>
              <a:buNone/>
              <a:defRPr sz="2250">
                <a:latin typeface="+mn-lt"/>
                <a:ea typeface="+mn-ea"/>
                <a:cs typeface="+mn-cs"/>
                <a:sym typeface="Produkt Extralight"/>
              </a:defRPr>
            </a:lvl1pPr>
          </a:lstStyle>
          <a:p>
            <a:r>
              <a:t>Slide Subtitle</a:t>
            </a:r>
          </a:p>
        </p:txBody>
      </p:sp>
      <p:sp>
        <p:nvSpPr>
          <p:cNvPr id="43" name="Slide Title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Title</a:t>
            </a:r>
          </a:p>
        </p:txBody>
      </p:sp>
      <p:sp>
        <p:nvSpPr>
          <p:cNvPr id="44" name="Body Level One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Slide bullet text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01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1186954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ection Title"/>
          <p:cNvSpPr txBox="1">
            <a:spLocks noGrp="1"/>
          </p:cNvSpPr>
          <p:nvPr>
            <p:ph type="title" hasCustomPrompt="1"/>
          </p:nvPr>
        </p:nvSpPr>
        <p:spPr>
          <a:xfrm>
            <a:off x="654844" y="2196703"/>
            <a:ext cx="10882313" cy="2321719"/>
          </a:xfrm>
          <a:prstGeom prst="rect">
            <a:avLst/>
          </a:prstGeom>
        </p:spPr>
        <p:txBody>
          <a:bodyPr anchor="ctr"/>
          <a:lstStyle>
            <a:lvl1pPr defTabSz="250022">
              <a:defRPr sz="5906" spc="-59"/>
            </a:lvl1pPr>
          </a:lstStyle>
          <a:p>
            <a:r>
              <a:t>Section Title</a:t>
            </a:r>
          </a:p>
        </p:txBody>
      </p:sp>
      <p:sp>
        <p:nvSpPr>
          <p:cNvPr id="92" name="01"/>
          <p:cNvSpPr txBox="1">
            <a:spLocks noGrp="1"/>
          </p:cNvSpPr>
          <p:nvPr>
            <p:ph type="sldNum" sz="quarter" idx="2"/>
          </p:nvPr>
        </p:nvSpPr>
        <p:spPr>
          <a:xfrm>
            <a:off x="11727656" y="6152554"/>
            <a:ext cx="274321" cy="222082"/>
          </a:xfrm>
          <a:prstGeom prst="rect">
            <a:avLst/>
          </a:prstGeom>
        </p:spPr>
        <p:txBody>
          <a:bodyPr wrap="none"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18388073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74544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  <p:sldLayoutId id="2147483687" r:id="rId12"/>
    <p:sldLayoutId id="2147483688" r:id="rId13"/>
    <p:sldLayoutId id="2147483690" r:id="rId14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EECA69B-4C2A-7F31-8019-E90DB3BD4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7DC116D-8EB3-0DDC-0D99-22CF633CB2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" y="-457202"/>
            <a:ext cx="12262760" cy="8175173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1103FDB8-D911-F8F8-F9EC-FB7FF54359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284324"/>
            <a:ext cx="12192000" cy="2573677"/>
          </a:xfrm>
          <a:prstGeom prst="rect">
            <a:avLst/>
          </a:prstGeom>
          <a:gradFill>
            <a:gsLst>
              <a:gs pos="0">
                <a:schemeClr val="bg1">
                  <a:alpha val="0"/>
                </a:schemeClr>
              </a:gs>
              <a:gs pos="46000">
                <a:schemeClr val="bg1">
                  <a:alpha val="17000"/>
                </a:schemeClr>
              </a:gs>
              <a:gs pos="65000">
                <a:schemeClr val="bg1">
                  <a:alpha val="29000"/>
                </a:schemeClr>
              </a:gs>
              <a:gs pos="100000">
                <a:schemeClr val="bg1">
                  <a:alpha val="4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sto MT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F3EC0C-B664-18E2-FAA6-07592A24E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2740" y="6061939"/>
            <a:ext cx="7983068" cy="974347"/>
          </a:xfrm>
          <a:ln>
            <a:noFill/>
          </a:ln>
        </p:spPr>
        <p:txBody>
          <a:bodyPr anchor="ctr">
            <a:normAutofit/>
          </a:bodyPr>
          <a:lstStyle/>
          <a:p>
            <a:r>
              <a:rPr lang="en-US" sz="3600" dirty="0"/>
              <a:t>Intro to regression</a:t>
            </a:r>
          </a:p>
        </p:txBody>
      </p:sp>
    </p:spTree>
    <p:extLst>
      <p:ext uri="{BB962C8B-B14F-4D97-AF65-F5344CB8AC3E}">
        <p14:creationId xmlns:p14="http://schemas.microsoft.com/office/powerpoint/2010/main" val="1284247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Linear Regression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Linear Regression</a:t>
            </a:r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Linear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Linear Regression</a:t>
            </a:r>
          </a:p>
        </p:txBody>
      </p:sp>
      <p:sp>
        <p:nvSpPr>
          <p:cNvPr id="179" name="Linear regression is a supervised learning approach for predicting a quantitative response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Clr>
                <a:srgbClr val="009193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Linear regression is a </a:t>
            </a:r>
            <a:r>
              <a:rPr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supervised</a:t>
            </a:r>
            <a:r>
              <a:rPr dirty="0"/>
              <a:t> learning approach for </a:t>
            </a:r>
            <a:r>
              <a:rPr dirty="0">
                <a:solidFill>
                  <a:srgbClr val="009193"/>
                </a:solidFill>
              </a:rPr>
              <a:t>predicting</a:t>
            </a:r>
            <a:r>
              <a:rPr dirty="0"/>
              <a:t> a </a:t>
            </a:r>
            <a:r>
              <a:rPr b="1" dirty="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quantitative</a:t>
            </a:r>
            <a:r>
              <a:rPr dirty="0"/>
              <a:t> response</a:t>
            </a:r>
          </a:p>
          <a:p>
            <a:pPr>
              <a:buClr>
                <a:srgbClr val="009193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Linear regression has been around for a long time</a:t>
            </a:r>
          </a:p>
          <a:p>
            <a:pPr marL="705403" lvl="2">
              <a:buClr>
                <a:srgbClr val="009193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Still very widely used</a:t>
            </a:r>
            <a:endParaRPr lang="en-US" dirty="0"/>
          </a:p>
          <a:p>
            <a:pPr marL="705403" lvl="2">
              <a:buClr>
                <a:srgbClr val="009193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 dirty="0"/>
              <a:t>Best method for truly linear relationships</a:t>
            </a:r>
            <a:endParaRPr dirty="0"/>
          </a:p>
          <a:p>
            <a:pPr marL="705403" lvl="2">
              <a:buClr>
                <a:srgbClr val="009193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Many "fancier" methods are based on linear regression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Training a Linear Regression Model"/>
          <p:cNvSpPr txBox="1">
            <a:spLocks noGrp="1"/>
          </p:cNvSpPr>
          <p:nvPr>
            <p:ph type="body" sz="half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Training a Linear Regression Model</a:t>
            </a:r>
          </a:p>
        </p:txBody>
      </p:sp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Least Squa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Least Squares</a:t>
            </a:r>
          </a:p>
        </p:txBody>
      </p:sp>
      <p:pic>
        <p:nvPicPr>
          <p:cNvPr id="183" name="ls3.png" descr="ls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576" y="1568196"/>
            <a:ext cx="4602148" cy="4602148"/>
          </a:xfrm>
          <a:prstGeom prst="rect">
            <a:avLst/>
          </a:prstGeom>
          <a:ln w="3175">
            <a:miter lim="400000"/>
          </a:ln>
        </p:spPr>
      </p:pic>
      <p:sp>
        <p:nvSpPr>
          <p:cNvPr id="184" name="Least squares line is the line that minimizes"/>
          <p:cNvSpPr txBox="1"/>
          <p:nvPr/>
        </p:nvSpPr>
        <p:spPr>
          <a:xfrm>
            <a:off x="7664896" y="1812055"/>
            <a:ext cx="2724762" cy="461729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 anchor="ctr">
            <a:spAutoFit/>
          </a:bodyPr>
          <a:lstStyle>
            <a:lvl1pPr>
              <a:defRPr>
                <a:solidFill>
                  <a:srgbClr val="5E5E5E"/>
                </a:solidFill>
              </a:defRPr>
            </a:lvl1pPr>
          </a:lstStyle>
          <a:p>
            <a:r>
              <a:rPr sz="1266"/>
              <a:t>Least squares line is the line that minimizes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5" name="equation.pdf"/>
              <p:cNvSpPr txBox="1"/>
              <p:nvPr/>
            </p:nvSpPr>
            <p:spPr>
              <a:xfrm>
                <a:off x="7842027" y="2530078"/>
                <a:ext cx="3252044" cy="757130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r>
                        <a:rPr lang="en-US" sz="2461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2461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61" b="1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𝜷</m:t>
                          </m:r>
                        </m:e>
                      </m:d>
                      <m:r>
                        <a:rPr lang="en-US" sz="2461" b="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limUpp>
                        <m:limUppPr>
                          <m:ctrlP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limLow>
                            <m:limLowPr>
                              <m:ctrlPr>
                                <a:rPr lang="ar-AE"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a:rPr lang="ar-AE"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∑</m:t>
                              </m:r>
                            </m:e>
                            <m:lim>
                              <m:r>
                                <a:rPr lang="ar-AE"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ar-AE" sz="2461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lim>
                          </m:limLow>
                        </m:e>
                        <m:lim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lim>
                      </m:limUpp>
                      <m:r>
                        <a:rPr lang="ar-AE" sz="246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2461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61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61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61" b="0" i="1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p>
                        <m:sSupPr>
                          <m:ctrlP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ar-AE" sz="2461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sz="2461" dirty="0"/>
              </a:p>
            </p:txBody>
          </p:sp>
        </mc:Choice>
        <mc:Fallback xmlns="">
          <p:sp>
            <p:nvSpPr>
              <p:cNvPr id="185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2027" y="2530078"/>
                <a:ext cx="3252044" cy="75713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A99A3C-AF48-ED3C-4398-0F032F9349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Objective functions and optimization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1E6C4-F429-20E7-8A5E-D4D3BD6163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63524" y="2203704"/>
            <a:ext cx="5212080" cy="3739896"/>
          </a:xfrm>
        </p:spPr>
        <p:txBody>
          <a:bodyPr/>
          <a:lstStyle/>
          <a:p>
            <a:r>
              <a:rPr lang="en-US" b="1" i="0" dirty="0"/>
              <a:t>Define an appropriate objective function</a:t>
            </a:r>
          </a:p>
          <a:p>
            <a:pPr lvl="1"/>
            <a:r>
              <a:rPr lang="en-US" b="0" i="0" dirty="0"/>
              <a:t>Cost/loss functions are minimized (machine learning)</a:t>
            </a:r>
          </a:p>
          <a:p>
            <a:pPr lvl="1"/>
            <a:r>
              <a:rPr lang="en-US" b="0" i="0" dirty="0"/>
              <a:t>Minimum vs. minimizer: the minimizer is the value </a:t>
            </a:r>
            <a:r>
              <a:rPr lang="en-US" b="0" i="1" dirty="0"/>
              <a:t>x</a:t>
            </a:r>
            <a:r>
              <a:rPr lang="en-US" b="0" i="0" dirty="0"/>
              <a:t> that produces the smallest output </a:t>
            </a:r>
            <a:r>
              <a:rPr lang="en-US" b="0" i="1" dirty="0"/>
              <a:t>f(x)</a:t>
            </a:r>
            <a:r>
              <a:rPr lang="en-US" b="0" i="0" dirty="0"/>
              <a:t>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B27ADA-9A4B-95FC-BAF9-0D050A5FE98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b="1" i="0" dirty="0"/>
              <a:t>“Train” the model by choosing an optimization method</a:t>
            </a:r>
          </a:p>
          <a:p>
            <a:pPr lvl="1"/>
            <a:r>
              <a:rPr lang="en-US" b="0" i="0" dirty="0"/>
              <a:t>A closed-form solution (rare) — differential calculus</a:t>
            </a:r>
          </a:p>
          <a:p>
            <a:pPr lvl="1"/>
            <a:r>
              <a:rPr lang="en-US" b="0" i="0" dirty="0"/>
              <a:t>A numerical method (usually), when no analytic solution exists</a:t>
            </a:r>
          </a:p>
          <a:p>
            <a:pPr lvl="1"/>
            <a:r>
              <a:rPr lang="en-US" b="0" i="0" dirty="0"/>
              <a:t>Gradient descent or variants (Adam, Newton’s method)</a:t>
            </a:r>
          </a:p>
        </p:txBody>
      </p:sp>
    </p:spTree>
    <p:extLst>
      <p:ext uri="{BB962C8B-B14F-4D97-AF65-F5344CB8AC3E}">
        <p14:creationId xmlns:p14="http://schemas.microsoft.com/office/powerpoint/2010/main" val="336462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2997E-1C3A-7EC4-901A-4E5D547B0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Typical Forms of linear regression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91388A-D814-0C2F-9289-708792D4ECB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sv-SE" dirty="0">
                    <a:latin typeface="Cambria Math" panose="02040503050406030204" pitchFamily="18" charset="0"/>
                  </a:rPr>
                  <a:t>Scalar Form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sv-SE" i="1" dirty="0" smtClean="0">
                        <a:latin typeface="Cambria Math" panose="02040503050406030204" pitchFamily="18" charset="0"/>
                      </a:rPr>
                      <m:t>+</m:t>
                    </m:r>
                    <m:nary>
                      <m:naryPr>
                        <m:chr m:val="∑"/>
                        <m:limLoc m:val="undOvr"/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sv-SE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sv-SE" i="1" dirty="0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r>
                      <a:rPr lang="sv-SE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sv-SE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sv-SE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sv-SE" i="1" dirty="0" smtClean="0">
                        <a:latin typeface="Cambria Math" panose="02040503050406030204" pitchFamily="18" charset="0"/>
                      </a:rPr>
                      <m:t> </m:t>
                    </m:r>
                    <m:r>
                      <m:rPr>
                        <m:nor/>
                      </m:rPr>
                      <a:rPr lang="sv-SE" i="0" dirty="0" smtClean="0">
                        <a:latin typeface="Cambria Math" panose="02040503050406030204" pitchFamily="18" charset="0"/>
                      </a:rPr>
                      <m:t> for </m:t>
                    </m:r>
                    <m:r>
                      <a:rPr lang="sv-SE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sv-SE" i="1" dirty="0" smtClean="0">
                        <a:latin typeface="Cambria Math" panose="02040503050406030204" pitchFamily="18" charset="0"/>
                      </a:rPr>
                      <m:t>=1,2,…,</m:t>
                    </m:r>
                    <m:r>
                      <a:rPr lang="sv-SE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endParaRPr lang="sv-SE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291388A-D814-0C2F-9289-708792D4EC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287" t="-979" r="-12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D737C0F-8011-2262-F9F9-0E2BB7891DBF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Matrix Notation</a:t>
                </a:r>
              </a:p>
              <a:p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𝐲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𝐗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𝜷</m:t>
                    </m:r>
                    <m:r>
                      <a:rPr lang="en-US" b="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D737C0F-8011-2262-F9F9-0E2BB7891DB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170" t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2571D62C-76C8-0EE0-4753-D2F021ACDA20}"/>
              </a:ext>
            </a:extLst>
          </p:cNvPr>
          <p:cNvSpPr txBox="1"/>
          <p:nvPr/>
        </p:nvSpPr>
        <p:spPr>
          <a:xfrm>
            <a:off x="4373805" y="3594539"/>
            <a:ext cx="28510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Assumptions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Linearity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Homoscedasticity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Independence of Errors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Normal Residuals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 Multicollinearity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707712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72A30-A5E5-419A-C060-ACFA4DC7E9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least squares objective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C4BA7-6E27-AC88-A788-092EA31ACEA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r>
                  <a:rPr lang="en-US" dirty="0"/>
                  <a:t>We want 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to be a </a:t>
                </a:r>
                <a:r>
                  <a:rPr lang="en-US" i="1" dirty="0"/>
                  <a:t>good</a:t>
                </a:r>
                <a:r>
                  <a:rPr lang="en-US" dirty="0"/>
                  <a:t> approximation..</a:t>
                </a:r>
              </a:p>
              <a:p>
                <a:endParaRPr lang="en-US" dirty="0"/>
              </a:p>
              <a:p>
                <a:r>
                  <a:rPr lang="en-US" dirty="0"/>
                  <a:t>How do we measure goodness?</a:t>
                </a:r>
              </a:p>
              <a:p>
                <a:r>
                  <a:rPr lang="en-US" dirty="0"/>
                  <a:t>We want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̂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 to be </a:t>
                </a:r>
                <a:r>
                  <a:rPr lang="en-US" i="1" dirty="0"/>
                  <a:t>small.</a:t>
                </a:r>
                <a:endParaRPr lang="en-US" dirty="0"/>
              </a:p>
              <a:p>
                <a:r>
                  <a:rPr lang="en-US" dirty="0"/>
                  <a:t>Why use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i="1" dirty="0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</m:d>
                      </m:e>
                      <m:sup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dirty="0"/>
                  <a:t>and not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−</m:t>
                        </m:r>
                        <m:acc>
                          <m:accPr>
                            <m:chr m:val="̂"/>
                            <m:ctrlPr>
                              <a:rPr lang="en-US" i="1" dirty="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 dirty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?</a:t>
                </a:r>
              </a:p>
              <a:p>
                <a:r>
                  <a:rPr lang="en-US" dirty="0"/>
                  <a:t>The objective function: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2AC4BA7-6E27-AC88-A788-092EA31ACE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05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A754CF-C3FE-6DEE-57BA-C1A4427C4C64}"/>
                  </a:ext>
                </a:extLst>
              </p:cNvPr>
              <p:cNvSpPr txBox="1"/>
              <p:nvPr/>
            </p:nvSpPr>
            <p:spPr>
              <a:xfrm>
                <a:off x="5060442" y="3223218"/>
                <a:ext cx="6096762" cy="6127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den>
                      </m:f>
                      <m:r>
                        <a:rPr lang="fr-FR" i="1" dirty="0" smtClean="0">
                          <a:latin typeface="Cambria Math" panose="02040503050406030204" pitchFamily="18" charset="0"/>
                        </a:rPr>
                        <m:t>​</m:t>
                      </m:r>
                      <m:sSup>
                        <m:sSup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fr-FR" i="1" dirty="0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</m:d>
                        </m:e>
                        <m:sup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fr-F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fr-FR" i="1" dirty="0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4A754CF-C3FE-6DEE-57BA-C1A4427C4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60442" y="3223218"/>
                <a:ext cx="6096762" cy="6127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2526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Method 1: Normal Equation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Method 1: Normal Equations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3" name="Matrix notation cost function: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>
                <a:normAutofit/>
              </a:bodyPr>
              <a:lstStyle/>
              <a:p>
                <a:pPr marL="169658" indent="-169658" defTabSz="135123">
                  <a:spcBef>
                    <a:spcPts val="1758"/>
                  </a:spcBef>
                  <a:defRPr sz="2128"/>
                </a:pPr>
                <a:r>
                  <a:rPr dirty="0"/>
                  <a:t>Matrix notation cost function: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sSup>
                      <m:sSupPr>
                        <m:ctrlP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𝛽</m:t>
                    </m:r>
                    <m:r>
                      <a:rPr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br>
                  <a:rPr dirty="0"/>
                </a:br>
                <a:endParaRPr dirty="0"/>
              </a:p>
              <a:p>
                <a:pPr marL="169658" indent="-169658" defTabSz="135123">
                  <a:spcBef>
                    <a:spcPts val="1758"/>
                  </a:spcBef>
                  <a:defRPr sz="2128"/>
                </a:pPr>
                <a:r>
                  <a:rPr lang="en-US" dirty="0"/>
                  <a:t>Optimal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</m:oMath>
                </a14:m>
                <a:r>
                  <a:rPr dirty="0"/>
                  <a:t>:</a:t>
                </a:r>
                <a:br>
                  <a:rPr dirty="0"/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a:rPr lang="ar-AE"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  <m:sSup>
                      <m:sSupPr>
                        <m:ctrlP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ar-AE" sz="1828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ar-AE" sz="1828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sz="1969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203" name="Matrix notation cost function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70" t="-9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0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2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20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3" grpId="0" build="p" bldLvl="5" animBg="1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Method 2: Gradient Desc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Method 2: </a:t>
            </a:r>
            <a:r>
              <a:rPr lang="en-US" dirty="0"/>
              <a:t>Numerical </a:t>
            </a:r>
            <a:r>
              <a:rPr lang="en-US" dirty="0" err="1"/>
              <a:t>APproximations</a:t>
            </a:r>
            <a:endParaRPr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CF7AF0-5C91-2D7B-01BD-38BCADC21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be continued…!</a:t>
            </a:r>
          </a:p>
        </p:txBody>
      </p:sp>
    </p:spTree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“Nonlinear” linear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“Nonlinear” linear regression</a:t>
            </a:r>
          </a:p>
        </p:txBody>
      </p:sp>
    </p:spTree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olynomial Regression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Polynomial Regression</a:t>
            </a:r>
          </a:p>
        </p:txBody>
      </p:sp>
      <p:sp>
        <p:nvSpPr>
          <p:cNvPr id="321" name="Sometimes the relationship between X and y is not a line…"/>
          <p:cNvSpPr txBox="1">
            <a:spLocks noGrp="1"/>
          </p:cNvSpPr>
          <p:nvPr>
            <p:ph type="body" idx="1"/>
          </p:nvPr>
        </p:nvSpPr>
        <p:spPr>
          <a:xfrm>
            <a:off x="700634" y="1969381"/>
            <a:ext cx="10691265" cy="3739896"/>
          </a:xfrm>
          <a:prstGeom prst="rect">
            <a:avLst/>
          </a:prstGeom>
        </p:spPr>
        <p:txBody>
          <a:bodyPr/>
          <a:lstStyle/>
          <a:p>
            <a:pPr>
              <a:buClr>
                <a:srgbClr val="000000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Sometimes the relationship between X and y is no</a:t>
            </a:r>
            <a:r>
              <a:rPr lang="en-US" dirty="0"/>
              <a:t>n-linear</a:t>
            </a:r>
            <a:endParaRPr dirty="0"/>
          </a:p>
          <a:p>
            <a:pPr>
              <a:buClr>
                <a:srgbClr val="000000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We can use linear regression to model non-linear relationships (between X and y)</a:t>
            </a:r>
          </a:p>
          <a:p>
            <a:pPr lvl="1">
              <a:buClr>
                <a:srgbClr val="000000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lang="en-US" dirty="0"/>
              <a:t>A</a:t>
            </a:r>
            <a:r>
              <a:rPr dirty="0"/>
              <a:t>dd quadratic, cubic, etc. terms to the model</a:t>
            </a:r>
          </a:p>
          <a:p>
            <a:pPr lvl="1">
              <a:buClr>
                <a:srgbClr val="000000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This is sometimes called polynomial regression</a:t>
            </a:r>
          </a:p>
          <a:p>
            <a:pPr lvl="1">
              <a:buClr>
                <a:srgbClr val="000000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(Now we are moving into the realm of multiple regression, where we have more than one predictor)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equation.pdf"/>
              <p:cNvSpPr txBox="1"/>
              <p:nvPr/>
            </p:nvSpPr>
            <p:spPr>
              <a:xfrm>
                <a:off x="2841886" y="4636009"/>
                <a:ext cx="5248424" cy="446854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non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sSubSup>
                        <m:sSubSup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p>
                      </m:sSubSup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2742" dirty="0"/>
              </a:p>
            </p:txBody>
          </p:sp>
        </mc:Choice>
        <mc:Fallback xmlns="">
          <p:sp>
            <p:nvSpPr>
              <p:cNvPr id="322" name="equation.pdf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41886" y="4636009"/>
                <a:ext cx="5248424" cy="44685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4D382-AA64-A916-A160-E571F91FA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62AE8374-E82E-C827-AAC6-F172A94872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4664" y="1738078"/>
            <a:ext cx="6728836" cy="42055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0" name="Polynomial Regression">
            <a:extLst>
              <a:ext uri="{FF2B5EF4-FFF2-40B4-BE49-F238E27FC236}">
                <a16:creationId xmlns:a16="http://schemas.microsoft.com/office/drawing/2014/main" id="{B0AF808D-8BD2-8994-A83D-EE2D7FB69E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Polynomial Regression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2" name="equation.pdf">
                <a:extLst>
                  <a:ext uri="{FF2B5EF4-FFF2-40B4-BE49-F238E27FC236}">
                    <a16:creationId xmlns:a16="http://schemas.microsoft.com/office/drawing/2014/main" id="{9496319E-20DA-85D6-1C94-A122219C2918}"/>
                  </a:ext>
                </a:extLst>
              </p:cNvPr>
              <p:cNvSpPr txBox="1"/>
              <p:nvPr/>
            </p:nvSpPr>
            <p:spPr>
              <a:xfrm>
                <a:off x="2876176" y="6217920"/>
                <a:ext cx="5248424" cy="444737"/>
              </a:xfrm>
              <a:prstGeom prst="rect">
                <a:avLst/>
              </a:prstGeom>
              <a:ln w="12700">
                <a:miter lim="400000"/>
              </a:ln>
            </p:spPr>
            <p:txBody>
              <a:bodyPr wrap="square" lIns="0" tIns="0" rIns="0" bIns="0">
                <a:spAutoFit/>
              </a:bodyPr>
              <a:lstStyle/>
              <a:p>
                <a:pPr defTabSz="642915" latinLnBrk="1">
                  <a:defRPr sz="1800">
                    <a:solidFill>
                      <a:srgbClr val="000000"/>
                    </a:solidFill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  <m:r>
                        <a:rPr sz="2742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sz="2742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sz="2742" dirty="0"/>
              </a:p>
            </p:txBody>
          </p:sp>
        </mc:Choice>
        <mc:Fallback xmlns="">
          <p:sp>
            <p:nvSpPr>
              <p:cNvPr id="322" name="equation.pdf">
                <a:extLst>
                  <a:ext uri="{FF2B5EF4-FFF2-40B4-BE49-F238E27FC236}">
                    <a16:creationId xmlns:a16="http://schemas.microsoft.com/office/drawing/2014/main" id="{9496319E-20DA-85D6-1C94-A122219C29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6176" y="6217920"/>
                <a:ext cx="5248424" cy="44473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2700">
                <a:miter lim="400000"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1878070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Terminolog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Terminology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6" name="Linear regression is &quot;linear&quot; with respect to the parameters (the model is a linear combination of the parameters)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700634" y="1856232"/>
                <a:ext cx="10691265" cy="3739896"/>
              </a:xfrm>
              <a:prstGeom prst="rect">
                <a:avLst/>
              </a:prstGeom>
            </p:spPr>
            <p:txBody>
              <a:bodyPr/>
              <a:lstStyle/>
              <a:p>
                <a:pPr>
                  <a:buClr>
                    <a:srgbClr val="212121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Linear regression is "linear" with respect to the parameters (the model is a linear combination of the parameters)</a:t>
                </a:r>
              </a:p>
              <a:p>
                <a:pPr marL="0" indent="0">
                  <a:buNone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Sup>
                      <m:sSub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/>
              </a:p>
              <a:p>
                <a:pPr>
                  <a:buClr>
                    <a:srgbClr val="212121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endParaRPr dirty="0"/>
              </a:p>
              <a:p>
                <a:pPr>
                  <a:buClr>
                    <a:srgbClr val="212121"/>
                  </a:buClr>
                  <a:buChar char="‣"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True "nonlinear" regression is where the regression model is a nonlinear combination of the parameters</a:t>
                </a:r>
                <a:r>
                  <a:rPr lang="en-US" dirty="0"/>
                  <a:t>, for example:</a:t>
                </a:r>
                <a:endParaRPr dirty="0"/>
              </a:p>
              <a:p>
                <a:pPr marL="0" indent="0">
                  <a:buClr>
                    <a:srgbClr val="212121"/>
                  </a:buClr>
                  <a:buNone/>
                  <a:defRPr>
                    <a:latin typeface="Helvetica Neue Light"/>
                    <a:ea typeface="Helvetica Neue Light"/>
                    <a:cs typeface="Helvetica Neue Light"/>
                    <a:sym typeface="Helvetica Neue Light"/>
                  </a:defRPr>
                </a:pPr>
                <a:r>
                  <a:rPr dirty="0"/>
                  <a:t>            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sz="2391" i="1">
                                <a:solidFill>
                                  <a:srgbClr val="52575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sz="2391" i="1">
                        <a:solidFill>
                          <a:srgbClr val="52575F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𝜖</m:t>
                        </m:r>
                      </m:e>
                      <m:sub>
                        <m:r>
                          <a:rPr sz="2391" i="1">
                            <a:solidFill>
                              <a:srgbClr val="52575F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326" name="Linear regression is &quot;linear&quot; with respect to the parameters (the model is a linear combination of the parameters)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700634" y="1856232"/>
                <a:ext cx="10691265" cy="3739896"/>
              </a:xfrm>
              <a:prstGeom prst="rect">
                <a:avLst/>
              </a:prstGeom>
              <a:blipFill>
                <a:blip r:embed="rId2"/>
                <a:stretch>
                  <a:fillRect l="-798" t="-1794" r="-1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More Terminology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More Terminology</a:t>
            </a:r>
          </a:p>
        </p:txBody>
      </p:sp>
      <p:sp>
        <p:nvSpPr>
          <p:cNvPr id="330" name="Just FYI if you are curious: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>
              <a:buClr>
                <a:srgbClr val="212121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dirty="0"/>
              <a:t>Just FYI:</a:t>
            </a:r>
          </a:p>
          <a:p>
            <a:pPr>
              <a:buClr>
                <a:srgbClr val="212121"/>
              </a:buClr>
              <a:buChar char="‣"/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endParaRPr dirty="0"/>
          </a:p>
          <a:p>
            <a:pPr lvl="1">
              <a:buClr>
                <a:srgbClr val="212121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FF7E79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Multiple</a:t>
            </a:r>
            <a:r>
              <a:rPr dirty="0"/>
              <a:t> regression is a regression model with more than one predictor (or feature)</a:t>
            </a:r>
          </a:p>
          <a:p>
            <a:pPr lvl="1">
              <a:buClr>
                <a:srgbClr val="212121"/>
              </a:buClr>
              <a:defRPr>
                <a:latin typeface="Helvetica Neue Light"/>
                <a:ea typeface="Helvetica Neue Light"/>
                <a:cs typeface="Helvetica Neue Light"/>
                <a:sym typeface="Helvetica Neue Light"/>
              </a:defRPr>
            </a:pPr>
            <a:r>
              <a:rPr b="1" dirty="0">
                <a:solidFill>
                  <a:srgbClr val="009193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Multivariate</a:t>
            </a:r>
            <a:r>
              <a:rPr dirty="0"/>
              <a:t> regression is a regression model with more than one response (or target)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34D8FE1-76E2-FF89-DCCC-45CD23447A94}"/>
              </a:ext>
            </a:extLst>
          </p:cNvPr>
          <p:cNvSpPr/>
          <p:nvPr/>
        </p:nvSpPr>
        <p:spPr>
          <a:xfrm>
            <a:off x="228600" y="2185416"/>
            <a:ext cx="11475720" cy="3701034"/>
          </a:xfrm>
          <a:prstGeom prst="roundRect">
            <a:avLst/>
          </a:prstGeom>
          <a:solidFill>
            <a:schemeClr val="tx1"/>
          </a:solidFill>
          <a:ln w="12700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solidFill>
                  <a:sysClr val="windowText" lastClr="000000"/>
                </a:solidFill>
              </a:ln>
            </a:endParaRPr>
          </a:p>
        </p:txBody>
      </p:sp>
      <p:sp>
        <p:nvSpPr>
          <p:cNvPr id="333" name="Interaction &amp; polynomial feature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Interaction &amp; polynomial features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D501C5-A37B-D825-9C89-752E490C087C}"/>
              </a:ext>
            </a:extLst>
          </p:cNvPr>
          <p:cNvSpPr txBox="1"/>
          <p:nvPr/>
        </p:nvSpPr>
        <p:spPr>
          <a:xfrm>
            <a:off x="1017270" y="2720340"/>
            <a:ext cx="11697105" cy="28449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linear_model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LinearRegression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sklearn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preprocessing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PolynomialFeatures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Add squared and cubed features for every predictor plus interactions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poly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PolynomialFeatures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degree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poly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fit_transform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# Only include up to 3rd-order interactions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PolynomialFeatures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degree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interaction_only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lnSpc>
                <a:spcPts val="1425"/>
              </a:lnSpc>
              <a:spcAft>
                <a:spcPts val="500"/>
              </a:spcAft>
              <a:buNone/>
            </a:pP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inter</a:t>
            </a:r>
            <a:r>
              <a:rPr lang="en-US" sz="2000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fit_transform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</p:cSld>
  <p:clrMapOvr>
    <a:masterClrMapping/>
  </p:clrMapOvr>
  <p:transition spd="med"/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Regression Metr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Regression Metrics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Evaluating a regression model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Evaluating a regression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4" name="In regression (we are predicting a numeric variable),   what does a “good” prediction look like?…"/>
              <p:cNvSpPr txBox="1">
                <a:spLocks noGrp="1"/>
              </p:cNvSpPr>
              <p:nvPr>
                <p:ph type="body" idx="1"/>
              </p:nvPr>
            </p:nvSpPr>
            <p:spPr>
              <a:prstGeom prst="rect">
                <a:avLst/>
              </a:prstGeom>
            </p:spPr>
            <p:txBody>
              <a:bodyPr/>
              <a:lstStyle/>
              <a:p>
                <a:r>
                  <a:rPr dirty="0"/>
                  <a:t>In regression (we are predicting a numeric variable), </a:t>
                </a:r>
                <a:br>
                  <a:rPr dirty="0"/>
                </a:br>
                <a:r>
                  <a:rPr b="1" dirty="0">
                    <a:latin typeface="Graphik"/>
                    <a:ea typeface="Graphik"/>
                    <a:cs typeface="Graphik"/>
                    <a:sym typeface="Graphik"/>
                  </a:rPr>
                  <a:t>what does a “good” prediction look like?</a:t>
                </a:r>
                <a:endParaRPr lang="en-US" b="1" dirty="0">
                  <a:latin typeface="Graphik"/>
                  <a:ea typeface="Graphik"/>
                  <a:cs typeface="Graphik"/>
                  <a:sym typeface="Graphik"/>
                </a:endParaRPr>
              </a:p>
              <a:p>
                <a:r>
                  <a:rPr lang="en-US" dirty="0"/>
                  <a:t>Ideally,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(the prediction) is close to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(the observed value)</a:t>
                </a:r>
                <a:endParaRPr lang="en-US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344" name="In regression (we are predicting a numeric variable),   what does a “good” prediction look like?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prstGeom prst="rect">
                <a:avLst/>
              </a:prstGeom>
              <a:blipFill>
                <a:blip r:embed="rId2"/>
                <a:stretch>
                  <a:fillRect l="-513" t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Common Regression Metr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Common Regression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8" name="Lower is better:…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654844" y="1805038"/>
                <a:ext cx="11335225" cy="456182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/>
              <a:p>
                <a:pPr marL="221002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Lower is better:</a:t>
                </a:r>
                <a:endParaRPr lang="en-US" dirty="0"/>
              </a:p>
              <a:p>
                <a:pPr marL="678202" lvl="1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Mean absolute error (MAE):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MAE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 dirty="0" err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acc>
                              <m:accPr>
                                <m:chr m:val="̂"/>
                                <m:ctrlPr>
                                  <a:rPr lang="en-US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acc>
                          </m:e>
                        </m:d>
                      </m:e>
                    </m:nary>
                  </m:oMath>
                </a14:m>
                <a:endParaRPr lang="en-US" dirty="0"/>
              </a:p>
              <a:p>
                <a:pPr marL="678202" lvl="1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Mean squared error (MSE):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i="0" dirty="0" smtClean="0">
                        <a:latin typeface="Cambria Math" panose="02040503050406030204" pitchFamily="18" charset="0"/>
                      </a:rPr>
                      <m:t>MSE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 dirty="0" err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 dirty="0" err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i="1" dirty="0" err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i="1" dirty="0" err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 dirty="0" err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dirty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en-US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sSub>
                                      <m:sSubPr>
                                        <m:ctrlP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 dirty="0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 dirty="0" err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e>
                                </m:acc>
                              </m:e>
                            </m:d>
                          </m:e>
                          <m:sup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  <a:p>
                <a:pPr marL="678202" lvl="1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Root mean squared error (RMSE): </a:t>
                </a:r>
                <a14:m>
                  <m:oMath xmlns:m="http://schemas.openxmlformats.org/officeDocument/2006/math">
                    <m:r>
                      <a:rPr sz="2572" i="1">
                        <a:latin typeface="Cambria Math" panose="02040503050406030204" pitchFamily="18" charset="0"/>
                      </a:rPr>
                      <m:t>𝑅𝑀𝑆𝐸</m:t>
                    </m:r>
                    <m:r>
                      <a:rPr sz="2572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sz="2572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sz="2572" i="1">
                            <a:latin typeface="Cambria Math" panose="02040503050406030204" pitchFamily="18" charset="0"/>
                          </a:rPr>
                          <m:t>𝑀𝑆𝐸</m:t>
                        </m:r>
                      </m:e>
                    </m:rad>
                  </m:oMath>
                </a14:m>
                <a:endParaRPr sz="2572" i="1" dirty="0">
                  <a:latin typeface="Cambria Math" panose="02040503050406030204" pitchFamily="18" charset="0"/>
                </a:endParaRPr>
              </a:p>
              <a:p>
                <a:pPr marL="221002" indent="-221002" defTabSz="176015">
                  <a:spcBef>
                    <a:spcPts val="2250"/>
                  </a:spcBef>
                  <a:defRPr sz="2772"/>
                </a:pPr>
                <a:r>
                  <a:rPr dirty="0"/>
                  <a:t>Higher is better:</a:t>
                </a:r>
                <a:endParaRPr lang="en-US" sz="1969" dirty="0">
                  <a:solidFill>
                    <a:srgbClr val="53585F"/>
                  </a:solidFill>
                </a:endParaRPr>
              </a:p>
              <a:p>
                <a:pPr marL="457200" lvl="1" indent="0" defTabSz="176015">
                  <a:spcBef>
                    <a:spcPts val="2250"/>
                  </a:spcBef>
                  <a:buNone/>
                  <a:defRPr sz="2772"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i="1" dirty="0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=1−</m:t>
                      </m:r>
                      <m:f>
                        <m:fPr>
                          <m:ctrlPr>
                            <a:rPr lang="en-US" i="1" dirty="0" err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ctrlP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̂"/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 dirty="0" err="1" smtClean="0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num>
                        <m:den>
                          <m:nary>
                            <m:naryPr>
                              <m:chr m:val="∑"/>
                              <m:ctrlP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i="1" dirty="0" err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en-US" i="1" dirty="0" err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US" i="1" dirty="0" err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i="1" dirty="0" err="1" smtClean="0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  <m:r>
                                        <a:rPr lang="en-US" i="1" dirty="0" smtClean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acc>
                                        <m:accPr>
                                          <m:chr m:val="̅"/>
                                          <m:ctrlP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i="1" dirty="0" smtClean="0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  <m:sup>
                                  <m:r>
                                    <a:rPr lang="en-US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den>
                      </m:f>
                    </m:oMath>
                  </m:oMathPara>
                </a14:m>
                <a:endParaRPr lang="en-US" sz="1969" dirty="0">
                  <a:solidFill>
                    <a:srgbClr val="53585F"/>
                  </a:solidFill>
                </a:endParaRPr>
              </a:p>
            </p:txBody>
          </p:sp>
        </mc:Choice>
        <mc:Fallback xmlns="">
          <p:sp>
            <p:nvSpPr>
              <p:cNvPr id="348" name="Lower is better:…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654844" y="1805038"/>
                <a:ext cx="11335225" cy="4561829"/>
              </a:xfrm>
              <a:prstGeom prst="rect">
                <a:avLst/>
              </a:prstGeom>
              <a:blipFill>
                <a:blip r:embed="rId2"/>
                <a:stretch>
                  <a:fillRect l="-806" t="-12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 spd="med"/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FA0CD9-14B2-D8DB-D0FF-C9B858E1D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Metric Comparisons</a:t>
            </a:r>
          </a:p>
        </p:txBody>
      </p:sp>
      <p:sp>
        <p:nvSpPr>
          <p:cNvPr id="20" name="Card 1"/>
          <p:cNvSpPr txBox="1"/>
          <p:nvPr/>
        </p:nvSpPr>
        <p:spPr>
          <a:xfrm>
            <a:off x="838200" y="2100000"/>
            <a:ext cx="4953000" cy="1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b="1" dirty="0">
                <a:solidFill>
                  <a:srgbClr val="1A1A1A"/>
                </a:solidFill>
              </a:rPr>
              <a:t>MAE</a:t>
            </a:r>
            <a:r>
              <a:rPr lang="en-US" sz="1400" b="0" dirty="0">
                <a:solidFill>
                  <a:srgbClr val="7F7F7F"/>
                </a:solidFill>
              </a:rPr>
              <a:t>  Mean Absolute Error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Easy to interpret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Tolerant of outliers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8C8C8C"/>
                </a:solidFill>
              </a:rPr>
              <a:t>−	Underweights large errors</a:t>
            </a:r>
          </a:p>
        </p:txBody>
      </p:sp>
      <p:sp>
        <p:nvSpPr>
          <p:cNvPr id="21" name="Card 2"/>
          <p:cNvSpPr txBox="1"/>
          <p:nvPr/>
        </p:nvSpPr>
        <p:spPr>
          <a:xfrm>
            <a:off x="6400800" y="2100000"/>
            <a:ext cx="4953000" cy="1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b="1" dirty="0">
                <a:solidFill>
                  <a:srgbClr val="1A1A1A"/>
                </a:solidFill>
              </a:rPr>
              <a:t>R²</a:t>
            </a:r>
            <a:r>
              <a:rPr lang="en-US" sz="1400" b="0" dirty="0">
                <a:solidFill>
                  <a:srgbClr val="7F7F7F"/>
                </a:solidFill>
              </a:rPr>
              <a:t>  Coefficient of Determination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Variance explained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Comparable across models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8C8C8C"/>
                </a:solidFill>
              </a:rPr>
              <a:t>−	Misleading for non-linear</a:t>
            </a:r>
          </a:p>
        </p:txBody>
      </p:sp>
      <p:sp>
        <p:nvSpPr>
          <p:cNvPr id="22" name="Card 3"/>
          <p:cNvSpPr txBox="1"/>
          <p:nvPr/>
        </p:nvSpPr>
        <p:spPr>
          <a:xfrm>
            <a:off x="838200" y="4300000"/>
            <a:ext cx="4953000" cy="1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b="1" dirty="0">
                <a:solidFill>
                  <a:srgbClr val="1A1A1A"/>
                </a:solidFill>
              </a:rPr>
              <a:t>MSE</a:t>
            </a:r>
            <a:r>
              <a:rPr lang="en-US" sz="1400" b="0" dirty="0">
                <a:solidFill>
                  <a:srgbClr val="7F7F7F"/>
                </a:solidFill>
              </a:rPr>
              <a:t>  Mean Squared Error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Penalizes large errors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Optimization-friendly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8C8C8C"/>
                </a:solidFill>
              </a:rPr>
              <a:t>−	Sensitive to outliers</a:t>
            </a:r>
          </a:p>
        </p:txBody>
      </p:sp>
      <p:sp>
        <p:nvSpPr>
          <p:cNvPr id="23" name="Card 4"/>
          <p:cNvSpPr txBox="1"/>
          <p:nvPr/>
        </p:nvSpPr>
        <p:spPr>
          <a:xfrm>
            <a:off x="6400800" y="4300000"/>
            <a:ext cx="4953000" cy="1900000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lang="en-US" sz="2000" b="1" dirty="0">
                <a:solidFill>
                  <a:srgbClr val="1A1A1A"/>
                </a:solidFill>
              </a:rPr>
              <a:t>RMSE</a:t>
            </a:r>
            <a:r>
              <a:rPr lang="en-US" sz="1400" b="0" dirty="0">
                <a:solidFill>
                  <a:srgbClr val="7F7F7F"/>
                </a:solidFill>
              </a:rPr>
              <a:t>  Root Mean Squared Error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Same units as target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</a:rPr>
              <a:t>+	Highlights large errors</a:t>
            </a:r>
          </a:p>
          <a:p>
            <a:pPr marL="228600" indent="-228600">
              <a:lnSpc>
                <a:spcPct val="110000"/>
              </a:lnSpc>
              <a:buNone/>
            </a:pPr>
            <a:r>
              <a:rPr lang="en-US" sz="1400" dirty="0">
                <a:solidFill>
                  <a:srgbClr val="8C8C8C"/>
                </a:solidFill>
              </a:rPr>
              <a:t>−	Sensitive to outliers</a:t>
            </a:r>
          </a:p>
        </p:txBody>
      </p:sp>
    </p:spTree>
    <p:extLst>
      <p:ext uri="{BB962C8B-B14F-4D97-AF65-F5344CB8AC3E}">
        <p14:creationId xmlns:p14="http://schemas.microsoft.com/office/powerpoint/2010/main" val="16966339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3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573" y="0"/>
            <a:ext cx="7310035" cy="6858001"/>
          </a:xfrm>
          <a:prstGeom prst="rect">
            <a:avLst/>
          </a:prstGeom>
          <a:ln w="3175">
            <a:miter lim="400000"/>
          </a:ln>
        </p:spPr>
      </p:pic>
      <p:sp>
        <p:nvSpPr>
          <p:cNvPr id="354" name="Regression Metrics in Scikit-Learn"/>
          <p:cNvSpPr txBox="1">
            <a:spLocks noGrp="1"/>
          </p:cNvSpPr>
          <p:nvPr>
            <p:ph type="title"/>
          </p:nvPr>
        </p:nvSpPr>
        <p:spPr>
          <a:xfrm>
            <a:off x="8895750" y="892481"/>
            <a:ext cx="3597239" cy="2932700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500" spc="-45"/>
            </a:lvl1pPr>
          </a:lstStyle>
          <a:p>
            <a:r>
              <a:rPr sz="4000" dirty="0"/>
              <a:t>Regression Metrics in Scikit-Learn</a:t>
            </a:r>
          </a:p>
        </p:txBody>
      </p:sp>
      <p:pic>
        <p:nvPicPr>
          <p:cNvPr id="355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556576" y="2649562"/>
            <a:ext cx="4937541" cy="409809"/>
          </a:xfrm>
          <a:prstGeom prst="rect">
            <a:avLst/>
          </a:prstGeom>
        </p:spPr>
      </p:pic>
      <p:pic>
        <p:nvPicPr>
          <p:cNvPr id="357" name="Rectangle Rectangle" descr="Rectangle Rectangl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1556576" y="4407021"/>
            <a:ext cx="4937541" cy="409810"/>
          </a:xfrm>
          <a:prstGeom prst="rect">
            <a:avLst/>
          </a:prstGeom>
        </p:spPr>
      </p:pic>
      <p:pic>
        <p:nvPicPr>
          <p:cNvPr id="359" name="Rectangle Rectangle" descr="Rectangle Rectangl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605170" y="5819221"/>
            <a:ext cx="6171256" cy="409810"/>
          </a:xfrm>
          <a:prstGeom prst="rect">
            <a:avLst/>
          </a:prstGeom>
        </p:spPr>
      </p:pic>
      <p:pic>
        <p:nvPicPr>
          <p:cNvPr id="361" name="Rectangle Rectangle" descr="Rectangle Rectangl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1556577" y="6164480"/>
            <a:ext cx="5183710" cy="409809"/>
          </a:xfrm>
          <a:prstGeom prst="rect">
            <a:avLst/>
          </a:prstGeom>
        </p:spPr>
      </p:pic>
      <p:sp>
        <p:nvSpPr>
          <p:cNvPr id="363" name="In v1.4 or greater (previous versions have a “squared” argument in the MSE function)"/>
          <p:cNvSpPr txBox="1"/>
          <p:nvPr/>
        </p:nvSpPr>
        <p:spPr>
          <a:xfrm>
            <a:off x="9132219" y="5319529"/>
            <a:ext cx="1380059" cy="1099981"/>
          </a:xfrm>
          <a:prstGeom prst="rect">
            <a:avLst/>
          </a:prstGeom>
          <a:ln w="3175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35719" tIns="35719" rIns="35719" bIns="35719">
            <a:spAutoFit/>
          </a:bodyPr>
          <a:lstStyle>
            <a:lvl1pPr>
              <a:defRPr sz="1900">
                <a:solidFill>
                  <a:srgbClr val="4F8F00"/>
                </a:solidFill>
              </a:defRPr>
            </a:lvl1pPr>
          </a:lstStyle>
          <a:p>
            <a:r>
              <a:rPr sz="1336"/>
              <a:t>In v1.4 or greater (previous versions have a “squared” argument in the MSE function)</a:t>
            </a:r>
          </a:p>
        </p:txBody>
      </p:sp>
      <p:pic>
        <p:nvPicPr>
          <p:cNvPr id="364" name="Line Line" descr="Line Line"/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 rot="10800000">
            <a:off x="7010903" y="6252337"/>
            <a:ext cx="2011474" cy="23409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Model Selection Metrics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Model Selection Metrics</a:t>
            </a:r>
          </a:p>
        </p:txBody>
      </p:sp>
      <p:sp>
        <p:nvSpPr>
          <p:cNvPr id="369" name="Models selection tools, such as “GridSearchCV” and “cross_val_score” use a scoring parameter"/>
          <p:cNvSpPr txBox="1">
            <a:spLocks noGrp="1"/>
          </p:cNvSpPr>
          <p:nvPr>
            <p:ph type="body" sz="quarter" idx="1"/>
          </p:nvPr>
        </p:nvSpPr>
        <p:spPr>
          <a:xfrm>
            <a:off x="1523643" y="1886816"/>
            <a:ext cx="8161734" cy="922516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dirty="0"/>
              <a:t>Models selection tools, such as “</a:t>
            </a:r>
            <a:r>
              <a:rPr dirty="0" err="1"/>
              <a:t>GridSearchCV</a:t>
            </a:r>
            <a:r>
              <a:rPr dirty="0"/>
              <a:t>” and “</a:t>
            </a:r>
            <a:r>
              <a:rPr dirty="0" err="1"/>
              <a:t>cross_val_score</a:t>
            </a:r>
            <a:r>
              <a:rPr dirty="0"/>
              <a:t>” use a scoring parameter </a:t>
            </a:r>
          </a:p>
        </p:txBody>
      </p:sp>
      <p:pic>
        <p:nvPicPr>
          <p:cNvPr id="370" name="pasted-movie.png" descr="pasted-mov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6492" y="2919450"/>
            <a:ext cx="8661797" cy="1518048"/>
          </a:xfrm>
          <a:prstGeom prst="rect">
            <a:avLst/>
          </a:prstGeom>
          <a:ln w="3175">
            <a:miter lim="400000"/>
          </a:ln>
        </p:spPr>
      </p:pic>
      <p:pic>
        <p:nvPicPr>
          <p:cNvPr id="371" name="Line Line" descr="Line Line"/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4721529" y="3483085"/>
            <a:ext cx="5172684" cy="101029"/>
          </a:xfrm>
          <a:prstGeom prst="rect">
            <a:avLst/>
          </a:prstGeom>
        </p:spPr>
      </p:pic>
      <p:pic>
        <p:nvPicPr>
          <p:cNvPr id="373" name="Line Line" descr="Line Line"/>
          <p:cNvPicPr>
            <a:picLocks/>
          </p:cNvPicPr>
          <p:nvPr/>
        </p:nvPicPr>
        <p:blipFill>
          <a:blip r:embed="rId4"/>
          <a:stretch>
            <a:fillRect/>
          </a:stretch>
        </p:blipFill>
        <p:spPr>
          <a:xfrm>
            <a:off x="1601179" y="3770206"/>
            <a:ext cx="2921421" cy="101029"/>
          </a:xfrm>
          <a:prstGeom prst="rect">
            <a:avLst/>
          </a:prstGeom>
        </p:spPr>
      </p:pic>
      <p:pic>
        <p:nvPicPr>
          <p:cNvPr id="375" name="Line Line" descr="Line Line"/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6539505" y="4084305"/>
            <a:ext cx="2062675" cy="101029"/>
          </a:xfrm>
          <a:prstGeom prst="rect">
            <a:avLst/>
          </a:prstGeom>
        </p:spPr>
      </p:pic>
      <p:pic>
        <p:nvPicPr>
          <p:cNvPr id="377" name="pasted-movie.png" descr="pasted-movi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49786" y="4988967"/>
            <a:ext cx="7322344" cy="457646"/>
          </a:xfrm>
          <a:prstGeom prst="rect">
            <a:avLst/>
          </a:prstGeom>
          <a:ln w="3175">
            <a:miter lim="400000"/>
          </a:ln>
        </p:spPr>
      </p:pic>
      <p:pic>
        <p:nvPicPr>
          <p:cNvPr id="378" name="pasted-movie.png" descr="pasted-movi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49786" y="5435558"/>
            <a:ext cx="7322344" cy="457646"/>
          </a:xfrm>
          <a:prstGeom prst="rect">
            <a:avLst/>
          </a:prstGeom>
          <a:ln w="3175">
            <a:miter lim="400000"/>
          </a:ln>
        </p:spPr>
      </p:pic>
      <p:pic>
        <p:nvPicPr>
          <p:cNvPr id="379" name="pasted-movie.png" descr="pasted-movi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49786" y="4572946"/>
            <a:ext cx="7322344" cy="457646"/>
          </a:xfrm>
          <a:prstGeom prst="rect">
            <a:avLst/>
          </a:prstGeom>
          <a:ln w="3175">
            <a:miter lim="400000"/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BD28F24-EFF3-A42E-28B1-6ED94D7E83DB}"/>
              </a:ext>
            </a:extLst>
          </p:cNvPr>
          <p:cNvSpPr txBox="1"/>
          <p:nvPr/>
        </p:nvSpPr>
        <p:spPr>
          <a:xfrm>
            <a:off x="2326004" y="5851579"/>
            <a:ext cx="82718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/>
              <a:t>‘</a:t>
            </a:r>
            <a:r>
              <a:rPr lang="en-US" sz="1400" i="1" dirty="0" err="1"/>
              <a:t>neg_root_mean_squared_error</a:t>
            </a:r>
            <a:r>
              <a:rPr lang="en-US" sz="1400" i="1" dirty="0"/>
              <a:t>’ requires v1.4+; earlier versions use the “squared” argument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C7DD603A-B9FE-41B4-B1A3-A23AE56DAE60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c143d8c7-590e-41a3-97a2-ffcef24df71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1154</TotalTime>
  <Words>799</Words>
  <Application>Microsoft Office PowerPoint</Application>
  <PresentationFormat>Widescreen</PresentationFormat>
  <Paragraphs>109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Aptos</vt:lpstr>
      <vt:lpstr>Arial</vt:lpstr>
      <vt:lpstr>Calisto MT</vt:lpstr>
      <vt:lpstr>Cambria Math</vt:lpstr>
      <vt:lpstr>Consolas</vt:lpstr>
      <vt:lpstr>Graphik</vt:lpstr>
      <vt:lpstr>Helvetica Neue</vt:lpstr>
      <vt:lpstr>Univers Condensed</vt:lpstr>
      <vt:lpstr>ChronicleVTI</vt:lpstr>
      <vt:lpstr>Intro to regression</vt:lpstr>
      <vt:lpstr>PowerPoint Presentation</vt:lpstr>
      <vt:lpstr>Linear Regression</vt:lpstr>
      <vt:lpstr>PowerPoint Presentation</vt:lpstr>
      <vt:lpstr>Least Squares</vt:lpstr>
      <vt:lpstr>Objective functions and optimization</vt:lpstr>
      <vt:lpstr>Typical Forms of linear regression models</vt:lpstr>
      <vt:lpstr>Ordinary least squares objective</vt:lpstr>
      <vt:lpstr>Method 1: Normal Equations </vt:lpstr>
      <vt:lpstr>Method 2: Numerical APproximations</vt:lpstr>
      <vt:lpstr>“Nonlinear” linear regression</vt:lpstr>
      <vt:lpstr>Polynomial Regression</vt:lpstr>
      <vt:lpstr>Polynomial Regression</vt:lpstr>
      <vt:lpstr>Terminology</vt:lpstr>
      <vt:lpstr>More Terminology</vt:lpstr>
      <vt:lpstr>Interaction &amp; polynomial features</vt:lpstr>
      <vt:lpstr>Regression Metrics</vt:lpstr>
      <vt:lpstr>Evaluating a regression model</vt:lpstr>
      <vt:lpstr>Common Regression Metrics</vt:lpstr>
      <vt:lpstr>Regression Metric Comparisons</vt:lpstr>
      <vt:lpstr>Regression Metrics in Scikit-Learn</vt:lpstr>
      <vt:lpstr>Model Selection Metrics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Jake Rhodes</dc:creator>
  <cp:lastModifiedBy>Jake Rhodes</cp:lastModifiedBy>
  <cp:revision>62</cp:revision>
  <dcterms:created xsi:type="dcterms:W3CDTF">2025-10-28T15:32:43Z</dcterms:created>
  <dcterms:modified xsi:type="dcterms:W3CDTF">2026-09-22T22:41:07Z</dcterms:modified>
</cp:coreProperties>
</file>