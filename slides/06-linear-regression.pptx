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301" r:id="rId6"/>
    <p:sldId id="302" r:id="rId7"/>
    <p:sldId id="261" r:id="rId8"/>
    <p:sldId id="262" r:id="rId9"/>
    <p:sldId id="303" r:id="rId10"/>
    <p:sldId id="309" r:id="rId11"/>
    <p:sldId id="304" r:id="rId12"/>
    <p:sldId id="264" r:id="rId13"/>
    <p:sldId id="265" r:id="rId14"/>
    <p:sldId id="289" r:id="rId15"/>
    <p:sldId id="290" r:id="rId16"/>
    <p:sldId id="308" r:id="rId17"/>
    <p:sldId id="291" r:id="rId18"/>
    <p:sldId id="292" r:id="rId19"/>
    <p:sldId id="293" r:id="rId20"/>
    <p:sldId id="294" r:id="rId21"/>
    <p:sldId id="296" r:id="rId22"/>
    <p:sldId id="297" r:id="rId23"/>
    <p:sldId id="307" r:id="rId24"/>
    <p:sldId id="299" r:id="rId25"/>
    <p:sldId id="30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3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54844" y="2214563"/>
            <a:ext cx="10882313" cy="2277070"/>
          </a:xfrm>
          <a:prstGeom prst="rect">
            <a:avLst/>
          </a:prstGeom>
        </p:spPr>
        <p:txBody>
          <a:bodyPr anchor="ctr"/>
          <a:lstStyle>
            <a:lvl1pPr marL="0" indent="0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1pPr>
            <a:lvl2pPr marL="0" indent="223234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2pPr>
            <a:lvl3pPr marL="0" indent="446469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3pPr>
            <a:lvl4pPr marL="0" indent="669703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4pPr>
            <a:lvl5pPr marL="0" indent="892937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880218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118695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54844" y="2196703"/>
            <a:ext cx="10882313" cy="2321719"/>
          </a:xfrm>
          <a:prstGeom prst="rect">
            <a:avLst/>
          </a:prstGeom>
        </p:spPr>
        <p:txBody>
          <a:bodyPr anchor="ctr"/>
          <a:lstStyle>
            <a:lvl1pPr defTabSz="250022">
              <a:defRPr sz="5906" spc="-59"/>
            </a:lvl1pPr>
          </a:lstStyle>
          <a:p>
            <a:r>
              <a:t>Section Title</a:t>
            </a:r>
          </a:p>
        </p:txBody>
      </p:sp>
      <p:sp>
        <p:nvSpPr>
          <p:cNvPr id="92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838807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  <p:sldLayoutId id="2147483688" r:id="rId13"/>
    <p:sldLayoutId id="2147483690" r:id="rId1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DC116D-8EB3-0DDC-0D99-22CF633CB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" y="-457202"/>
            <a:ext cx="12262760" cy="81751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40" y="6061939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 dirty="0"/>
              <a:t>Intro to regression</a:t>
            </a: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inear Regression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Linear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p:sp>
        <p:nvSpPr>
          <p:cNvPr id="179" name="Linear regression is a supervised learning approach for predicting a quantitative respons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lr>
                <a:srgbClr val="009193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Linear regression is a </a:t>
            </a:r>
            <a:r>
              <a:rPr b="1" dirty="0">
                <a:solidFill>
                  <a:srgbClr val="00B0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supervised</a:t>
            </a:r>
            <a:r>
              <a:rPr dirty="0"/>
              <a:t> learning approach for </a:t>
            </a:r>
            <a:r>
              <a:rPr dirty="0">
                <a:solidFill>
                  <a:srgbClr val="009193"/>
                </a:solidFill>
              </a:rPr>
              <a:t>predicting</a:t>
            </a:r>
            <a:r>
              <a:rPr dirty="0"/>
              <a:t> a </a:t>
            </a:r>
            <a:r>
              <a:rPr b="1" dirty="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quantitative</a:t>
            </a:r>
            <a:r>
              <a:rPr dirty="0"/>
              <a:t> response</a:t>
            </a:r>
          </a:p>
          <a:p>
            <a:pPr>
              <a:buClr>
                <a:srgbClr val="009193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Linear regression has been around for a long time</a:t>
            </a:r>
          </a:p>
          <a:p>
            <a:pPr marL="705403" lvl="2">
              <a:buClr>
                <a:srgbClr val="009193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Still very widely used</a:t>
            </a:r>
            <a:endParaRPr lang="en-US" dirty="0"/>
          </a:p>
          <a:p>
            <a:pPr marL="705403" lvl="2">
              <a:buClr>
                <a:srgbClr val="009193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dirty="0"/>
              <a:t>Best method for truly linear relationships</a:t>
            </a:r>
            <a:endParaRPr dirty="0"/>
          </a:p>
          <a:p>
            <a:pPr marL="705403" lvl="2">
              <a:buClr>
                <a:srgbClr val="009193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Many "fancier" methods are based on linear regression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Least Squa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Least Squares</a:t>
            </a:r>
          </a:p>
        </p:txBody>
      </p:sp>
      <p:pic>
        <p:nvPicPr>
          <p:cNvPr id="183" name="ls3.png" descr="l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576" y="1568196"/>
            <a:ext cx="4602148" cy="4602148"/>
          </a:xfrm>
          <a:prstGeom prst="rect">
            <a:avLst/>
          </a:prstGeom>
          <a:ln w="3175">
            <a:miter lim="400000"/>
          </a:ln>
        </p:spPr>
      </p:pic>
      <p:sp>
        <p:nvSpPr>
          <p:cNvPr id="184" name="Least squares line is the line that minimizes"/>
          <p:cNvSpPr txBox="1"/>
          <p:nvPr/>
        </p:nvSpPr>
        <p:spPr>
          <a:xfrm>
            <a:off x="7664896" y="1812055"/>
            <a:ext cx="2724762" cy="46172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r>
              <a:rPr sz="1266"/>
              <a:t>Least squares line is the line that minimizes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equation.pdf"/>
              <p:cNvSpPr txBox="1"/>
              <p:nvPr/>
            </p:nvSpPr>
            <p:spPr>
              <a:xfrm>
                <a:off x="7842027" y="2530078"/>
                <a:ext cx="3252044" cy="75713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2461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61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61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sz="2461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limUpp>
                        <m:limUppPr>
                          <m:ctrlP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lang="ar-AE"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ar-AE"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lang="ar-AE"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r>
                        <a:rPr lang="ar-AE" sz="246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6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61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61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61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461" dirty="0"/>
              </a:p>
            </p:txBody>
          </p:sp>
        </mc:Choice>
        <mc:Fallback xmlns="">
          <p:sp>
            <p:nvSpPr>
              <p:cNvPr id="185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027" y="2530078"/>
                <a:ext cx="3252044" cy="7571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Conditional Mean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578" y="2221992"/>
            <a:ext cx="8008734" cy="2714825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690451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Conditional Mean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450" y="1981417"/>
            <a:ext cx="7985099" cy="3416922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2527865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raining a Linear Regression Model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Training a Linear Regression Model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eneral model-based training frame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03200">
              <a:defRPr sz="4800" spc="-48"/>
            </a:lvl1pPr>
          </a:lstStyle>
          <a:p>
            <a:r>
              <a:rPr dirty="0"/>
              <a:t>General model-based training</a:t>
            </a:r>
          </a:p>
        </p:txBody>
      </p:sp>
      <p:sp>
        <p:nvSpPr>
          <p:cNvPr id="191" name="Define an appropriate objective function…"/>
          <p:cNvSpPr txBox="1">
            <a:spLocks noGrp="1"/>
          </p:cNvSpPr>
          <p:nvPr>
            <p:ph type="body" idx="1"/>
          </p:nvPr>
        </p:nvSpPr>
        <p:spPr>
          <a:xfrm>
            <a:off x="800100" y="2001859"/>
            <a:ext cx="10691265" cy="3739896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183052" indent="-183052" defTabSz="145791">
              <a:spcBef>
                <a:spcPts val="1898"/>
              </a:spcBef>
              <a:defRPr sz="2296"/>
            </a:pPr>
            <a:r>
              <a:rPr dirty="0"/>
              <a:t>Define an appropriate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objective function</a:t>
            </a:r>
          </a:p>
          <a:p>
            <a:pPr marL="367568" lvl="1" indent="-184516" defTabSz="145791">
              <a:spcBef>
                <a:spcPts val="1898"/>
              </a:spcBef>
              <a:defRPr sz="2296"/>
            </a:pPr>
            <a:r>
              <a:rPr dirty="0"/>
              <a:t>Cost/Loss functions are minimized</a:t>
            </a:r>
            <a:r>
              <a:rPr lang="en-US" dirty="0"/>
              <a:t> (machine learning)</a:t>
            </a:r>
            <a:endParaRPr dirty="0"/>
          </a:p>
          <a:p>
            <a:pPr marL="367568" lvl="1" indent="-184516" defTabSz="145791">
              <a:spcBef>
                <a:spcPts val="1898"/>
              </a:spcBef>
              <a:defRPr sz="2296"/>
            </a:pPr>
            <a:r>
              <a:rPr dirty="0"/>
              <a:t>Utility/Fitness functions are maximized </a:t>
            </a:r>
            <a:r>
              <a:rPr lang="en-US" dirty="0"/>
              <a:t>(statistics)</a:t>
            </a:r>
            <a:endParaRPr dirty="0"/>
          </a:p>
          <a:p>
            <a:pPr marL="550620" lvl="2" indent="-184516" defTabSz="145791">
              <a:spcBef>
                <a:spcPts val="1898"/>
              </a:spcBef>
              <a:defRPr sz="2296"/>
            </a:pPr>
            <a:r>
              <a:rPr dirty="0"/>
              <a:t>For example</a:t>
            </a:r>
            <a:r>
              <a:rPr lang="en-US" dirty="0"/>
              <a:t>,</a:t>
            </a:r>
            <a:r>
              <a:rPr dirty="0"/>
              <a:t> the likelihood in MLE is a utility function</a:t>
            </a:r>
          </a:p>
          <a:p>
            <a:pPr marL="183052" indent="-183052" defTabSz="145791">
              <a:spcBef>
                <a:spcPts val="1898"/>
              </a:spcBef>
              <a:defRPr sz="2296"/>
            </a:pPr>
            <a:r>
              <a:rPr dirty="0"/>
              <a:t>“Train” the model by solving the optimization problem using an appropriate optimization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method</a:t>
            </a:r>
          </a:p>
          <a:p>
            <a:pPr marL="367568" lvl="1" indent="-184516" defTabSz="145791">
              <a:spcBef>
                <a:spcPts val="1898"/>
              </a:spcBef>
              <a:defRPr sz="2296"/>
            </a:pPr>
            <a:r>
              <a:rPr dirty="0"/>
              <a:t>a “closed-form” solution (rare) </a:t>
            </a:r>
          </a:p>
          <a:p>
            <a:pPr marL="367568" lvl="1" indent="-184516" defTabSz="145791">
              <a:spcBef>
                <a:spcPts val="1898"/>
              </a:spcBef>
              <a:defRPr sz="2296"/>
            </a:pPr>
            <a:r>
              <a:rPr dirty="0"/>
              <a:t>a numerical method (usually)</a:t>
            </a:r>
          </a:p>
          <a:p>
            <a:pPr marL="550620" lvl="2" indent="-184516" defTabSz="145791">
              <a:spcBef>
                <a:spcPts val="1898"/>
              </a:spcBef>
              <a:defRPr sz="2296">
                <a:solidFill>
                  <a:srgbClr val="005493"/>
                </a:solidFill>
              </a:defRPr>
            </a:pPr>
            <a:r>
              <a:rPr b="1" dirty="0">
                <a:latin typeface="Graphik"/>
                <a:ea typeface="Graphik"/>
                <a:cs typeface="Graphik"/>
                <a:sym typeface="Graphik"/>
              </a:rPr>
              <a:t>Gradient descent</a:t>
            </a:r>
            <a:r>
              <a:rPr lang="en-US" b="1" dirty="0">
                <a:latin typeface="Graphik"/>
                <a:ea typeface="Graphik"/>
                <a:cs typeface="Graphik"/>
                <a:sym typeface="Graphik"/>
              </a:rPr>
              <a:t> or variants (</a:t>
            </a:r>
            <a:r>
              <a:rPr dirty="0"/>
              <a:t>Adam, Newton’s method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9A3C-AF48-ED3C-4398-0F032F93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the objective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1E6C4-F429-20E7-8A5E-D4D3BD616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524" y="2203704"/>
            <a:ext cx="5212080" cy="3739896"/>
          </a:xfrm>
        </p:spPr>
        <p:txBody>
          <a:bodyPr/>
          <a:lstStyle/>
          <a:p>
            <a:r>
              <a:rPr lang="en-US" dirty="0"/>
              <a:t>Minimum vs. Minimizer</a:t>
            </a:r>
          </a:p>
          <a:p>
            <a:r>
              <a:rPr lang="en-US" dirty="0"/>
              <a:t>Given a function, </a:t>
            </a:r>
            <a:r>
              <a:rPr lang="en-US" i="1" dirty="0"/>
              <a:t>f</a:t>
            </a:r>
            <a:r>
              <a:rPr lang="en-US" dirty="0"/>
              <a:t>, how do we minimize the function?</a:t>
            </a:r>
          </a:p>
          <a:p>
            <a:r>
              <a:rPr lang="en-US" dirty="0"/>
              <a:t>What if there is no analytic solution? (I.e., no closed form?)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27ADA-9A4B-95FC-BAF9-0D050A5FE9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 minimizer is the value </a:t>
            </a:r>
            <a:r>
              <a:rPr lang="en-US" i="1" dirty="0"/>
              <a:t>x</a:t>
            </a:r>
            <a:r>
              <a:rPr lang="en-US" dirty="0"/>
              <a:t> that produces the smallest output </a:t>
            </a:r>
            <a:r>
              <a:rPr lang="en-US" i="1" dirty="0"/>
              <a:t>f(x)</a:t>
            </a:r>
            <a:r>
              <a:rPr lang="en-US" dirty="0"/>
              <a:t>.</a:t>
            </a:r>
          </a:p>
          <a:p>
            <a:r>
              <a:rPr lang="en-US" dirty="0"/>
              <a:t>Differential calculus!</a:t>
            </a:r>
          </a:p>
          <a:p>
            <a:r>
              <a:rPr lang="en-US" dirty="0"/>
              <a:t>Numerical approaches.</a:t>
            </a:r>
          </a:p>
        </p:txBody>
      </p:sp>
    </p:spTree>
    <p:extLst>
      <p:ext uri="{BB962C8B-B14F-4D97-AF65-F5344CB8AC3E}">
        <p14:creationId xmlns:p14="http://schemas.microsoft.com/office/powerpoint/2010/main" val="33646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997E-1C3A-7EC4-901A-4E5D547B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Typical Forms of linear 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91388A-D814-0C2F-9289-708792D4ECB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sv-SE" dirty="0">
                    <a:latin typeface="Cambria Math" panose="02040503050406030204" pitchFamily="18" charset="0"/>
                  </a:rPr>
                  <a:t>Scalar Form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v-S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sv-SE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sv-S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sv-SE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sv-S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sv-S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 </m:t>
                    </m:r>
                    <m:r>
                      <m:rPr>
                        <m:nor/>
                      </m:rPr>
                      <a:rPr lang="sv-SE" i="0" dirty="0" smtClean="0">
                        <a:latin typeface="Cambria Math" panose="02040503050406030204" pitchFamily="18" charset="0"/>
                      </a:rPr>
                      <m:t> for 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sv-SE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91388A-D814-0C2F-9289-708792D4E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287" t="-979" r="-1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D737C0F-8011-2262-F9F9-0E2BB7891DB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Matrix Notation</a:t>
                </a: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D737C0F-8011-2262-F9F9-0E2BB7891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170" t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571D62C-76C8-0EE0-4753-D2F021ACDA20}"/>
              </a:ext>
            </a:extLst>
          </p:cNvPr>
          <p:cNvSpPr txBox="1"/>
          <p:nvPr/>
        </p:nvSpPr>
        <p:spPr>
          <a:xfrm>
            <a:off x="4373805" y="3594539"/>
            <a:ext cx="285103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Homoscedasticity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Independence of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 Residuals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Multicollinearity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771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2A30-A5E5-419A-C060-ACFA4DC7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C4BA7-6E27-AC88-A788-092EA31ACEA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What does it mean to “fit” a line to data?</a:t>
                </a:r>
              </a:p>
              <a:p>
                <a:r>
                  <a:rPr lang="en-US" dirty="0"/>
                  <a:t>How do we measure goodness?</a:t>
                </a:r>
              </a:p>
              <a:p>
                <a:r>
                  <a:rPr lang="en-US" dirty="0"/>
                  <a:t>We want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to be </a:t>
                </a:r>
                <a:r>
                  <a:rPr lang="en-US" i="1" dirty="0"/>
                  <a:t>small.</a:t>
                </a:r>
                <a:endParaRPr lang="en-US" dirty="0"/>
              </a:p>
              <a:p>
                <a:r>
                  <a:rPr lang="en-US" dirty="0"/>
                  <a:t>Why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and not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?</a:t>
                </a:r>
              </a:p>
              <a:p>
                <a:r>
                  <a:rPr lang="en-US" dirty="0"/>
                  <a:t>The objective function: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C4BA7-6E27-AC88-A788-092EA31ACE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05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F31E7A9-AAC2-3CC2-FD66-B09452EF6F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We want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to be a </a:t>
                </a:r>
                <a:r>
                  <a:rPr lang="en-US" i="1" dirty="0"/>
                  <a:t>good</a:t>
                </a:r>
                <a:r>
                  <a:rPr lang="en-US" dirty="0"/>
                  <a:t> approximation.</a:t>
                </a:r>
              </a:p>
              <a:p>
                <a:r>
                  <a:rPr lang="en-US" dirty="0"/>
                  <a:t>Differentiability/punishing larger errors.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F31E7A9-AAC2-3CC2-FD66-B09452EF6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05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A754CF-C3FE-6DEE-57BA-C1A4427C4C64}"/>
                  </a:ext>
                </a:extLst>
              </p:cNvPr>
              <p:cNvSpPr txBox="1"/>
              <p:nvPr/>
            </p:nvSpPr>
            <p:spPr>
              <a:xfrm>
                <a:off x="2751964" y="4453129"/>
                <a:ext cx="6096762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​</m:t>
                      </m:r>
                      <m:sSup>
                        <m:sSupPr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p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A754CF-C3FE-6DEE-57BA-C1A4427C4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964" y="4453129"/>
                <a:ext cx="6096762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25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Method 1: Normal Equ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Method 1: Normal Equations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Matrix notation cost function: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169658" indent="-169658" defTabSz="135123">
                  <a:spcBef>
                    <a:spcPts val="1758"/>
                  </a:spcBef>
                  <a:defRPr sz="2128"/>
                </a:pPr>
                <a:r>
                  <a:rPr dirty="0"/>
                  <a:t>Matrix notation cost function:</a:t>
                </a:r>
                <a:br>
                  <a:rPr dirty="0"/>
                </a:br>
                <a14:m>
                  <m:oMath xmlns:m="http://schemas.openxmlformats.org/officeDocument/2006/math"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dirty="0"/>
                </a:br>
                <a:endParaRPr dirty="0"/>
              </a:p>
              <a:p>
                <a:pPr marL="169658" indent="-169658" defTabSz="135123">
                  <a:spcBef>
                    <a:spcPts val="1758"/>
                  </a:spcBef>
                  <a:defRPr sz="2128"/>
                </a:pPr>
                <a:r>
                  <a:rPr lang="en-US" dirty="0"/>
                  <a:t>Optimal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dirty="0"/>
                  <a:t>:</a:t>
                </a:r>
                <a:br>
                  <a:rPr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ar-AE"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969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03" name="Matrix notation cost function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570" t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build="p" bldLvl="5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ethod 2: Gradient Desc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Method 2: </a:t>
            </a:r>
            <a:r>
              <a:rPr lang="en-US" dirty="0"/>
              <a:t>Numerical </a:t>
            </a:r>
            <a:r>
              <a:rPr lang="en-US" dirty="0" err="1"/>
              <a:t>APproximations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F7AF0-5C91-2D7B-01BD-38BCADC21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continued…!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“Nonlinear” linear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“Nonlinear” linear regression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olynomial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Polynomial Regression</a:t>
            </a:r>
          </a:p>
        </p:txBody>
      </p:sp>
      <p:sp>
        <p:nvSpPr>
          <p:cNvPr id="321" name="Sometimes the relationship between X and y is not a line…"/>
          <p:cNvSpPr txBox="1">
            <a:spLocks noGrp="1"/>
          </p:cNvSpPr>
          <p:nvPr>
            <p:ph type="body" idx="1"/>
          </p:nvPr>
        </p:nvSpPr>
        <p:spPr>
          <a:xfrm>
            <a:off x="700634" y="1969381"/>
            <a:ext cx="10691265" cy="3739896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Sometimes the relationship between X and y is no</a:t>
            </a:r>
            <a:r>
              <a:rPr lang="en-US" dirty="0"/>
              <a:t>n-linear</a:t>
            </a:r>
            <a:endParaRPr dirty="0"/>
          </a:p>
          <a:p>
            <a:pPr>
              <a:buClr>
                <a:srgbClr val="000000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We can use linear regression to model non-linear relationships (between X and y)</a:t>
            </a:r>
          </a:p>
          <a:p>
            <a:pPr lvl="1">
              <a:buClr>
                <a:srgbClr val="000000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dirty="0"/>
              <a:t>A</a:t>
            </a:r>
            <a:r>
              <a:rPr dirty="0"/>
              <a:t>dd quadratic, cubic, etc. terms to the model</a:t>
            </a:r>
          </a:p>
          <a:p>
            <a:pPr lvl="1">
              <a:buClr>
                <a:srgbClr val="000000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This is sometimes called polynomial regression</a:t>
            </a:r>
          </a:p>
          <a:p>
            <a:pPr lvl="1">
              <a:buClr>
                <a:srgbClr val="000000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(Now we are moving into the realm of multiple regression, where we have more than one predictor)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equation.pdf"/>
              <p:cNvSpPr txBox="1"/>
              <p:nvPr/>
            </p:nvSpPr>
            <p:spPr>
              <a:xfrm>
                <a:off x="2841886" y="4636009"/>
                <a:ext cx="5248424" cy="44685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2742" dirty="0"/>
              </a:p>
            </p:txBody>
          </p:sp>
        </mc:Choice>
        <mc:Fallback xmlns="">
          <p:sp>
            <p:nvSpPr>
              <p:cNvPr id="32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886" y="4636009"/>
                <a:ext cx="5248424" cy="4468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4D382-AA64-A916-A160-E571F91F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2AE8374-E82E-C827-AAC6-F172A9487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664" y="1738078"/>
            <a:ext cx="6728836" cy="420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0" name="Polynomial Regression">
            <a:extLst>
              <a:ext uri="{FF2B5EF4-FFF2-40B4-BE49-F238E27FC236}">
                <a16:creationId xmlns:a16="http://schemas.microsoft.com/office/drawing/2014/main" id="{B0AF808D-8BD2-8994-A83D-EE2D7FB69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Polynomial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equation.pdf">
                <a:extLst>
                  <a:ext uri="{FF2B5EF4-FFF2-40B4-BE49-F238E27FC236}">
                    <a16:creationId xmlns:a16="http://schemas.microsoft.com/office/drawing/2014/main" id="{9496319E-20DA-85D6-1C94-A122219C2918}"/>
                  </a:ext>
                </a:extLst>
              </p:cNvPr>
              <p:cNvSpPr txBox="1"/>
              <p:nvPr/>
            </p:nvSpPr>
            <p:spPr>
              <a:xfrm>
                <a:off x="2876176" y="6217920"/>
                <a:ext cx="5248424" cy="4447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2742" dirty="0"/>
              </a:p>
            </p:txBody>
          </p:sp>
        </mc:Choice>
        <mc:Fallback xmlns="">
          <p:sp>
            <p:nvSpPr>
              <p:cNvPr id="322" name="equation.pdf">
                <a:extLst>
                  <a:ext uri="{FF2B5EF4-FFF2-40B4-BE49-F238E27FC236}">
                    <a16:creationId xmlns:a16="http://schemas.microsoft.com/office/drawing/2014/main" id="{9496319E-20DA-85D6-1C94-A122219C2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176" y="6217920"/>
                <a:ext cx="5248424" cy="444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87807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rminolog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Linear regression is &quot;linear&quot; with respect to the parameters (the model is a linear combination of the parameters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0634" y="1856232"/>
                <a:ext cx="10691265" cy="3739896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buClr>
                    <a:srgbClr val="212121"/>
                  </a:buClr>
                  <a:buChar char="‣"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Linear regression is "linear" with respect to the parameters (the model is a linear combination of the parameters)</a:t>
                </a:r>
              </a:p>
              <a:p>
                <a:pPr marL="0" indent="0">
                  <a:buNone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/>
              </a:p>
              <a:p>
                <a:pPr>
                  <a:buClr>
                    <a:srgbClr val="212121"/>
                  </a:buClr>
                  <a:buChar char="‣"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>
                  <a:buClr>
                    <a:srgbClr val="212121"/>
                  </a:buClr>
                  <a:buChar char="‣"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True "nonlinear" regression is where the regression model is a nonlinear combination of the parameters</a:t>
                </a:r>
                <a:r>
                  <a:rPr lang="en-US" dirty="0"/>
                  <a:t>, for example:</a:t>
                </a:r>
                <a:endParaRPr dirty="0"/>
              </a:p>
              <a:p>
                <a:pPr marL="0" indent="0">
                  <a:buClr>
                    <a:srgbClr val="212121"/>
                  </a:buClr>
                  <a:buNone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26" name="Linear regression is &quot;linear&quot; with respect to the parameters (the model is a linear combination of the parameters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634" y="1856232"/>
                <a:ext cx="10691265" cy="3739896"/>
              </a:xfrm>
              <a:prstGeom prst="rect">
                <a:avLst/>
              </a:prstGeom>
              <a:blipFill>
                <a:blip r:embed="rId2"/>
                <a:stretch>
                  <a:fillRect l="-798" t="-1794" r="-1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More Terminolog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More Terminology</a:t>
            </a:r>
          </a:p>
        </p:txBody>
      </p:sp>
      <p:sp>
        <p:nvSpPr>
          <p:cNvPr id="330" name="Just FYI if you are curiou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lr>
                <a:srgbClr val="212121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Just FYI:</a:t>
            </a:r>
          </a:p>
          <a:p>
            <a:pPr>
              <a:buClr>
                <a:srgbClr val="212121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dirty="0"/>
          </a:p>
          <a:p>
            <a:pPr lvl="1">
              <a:buClr>
                <a:srgbClr val="212121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 dirty="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</a:t>
            </a:r>
            <a:r>
              <a:rPr dirty="0"/>
              <a:t> regression is a regression model with more than one predictor (or feature)</a:t>
            </a:r>
          </a:p>
          <a:p>
            <a:pPr lvl="1">
              <a:buClr>
                <a:srgbClr val="212121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 dirty="0">
                <a:solidFill>
                  <a:srgbClr val="0091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Multivariate</a:t>
            </a:r>
            <a:r>
              <a:rPr dirty="0"/>
              <a:t> regression is a regression model with more than one response (or target)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4D8FE1-76E2-FF89-DCCC-45CD23447A94}"/>
              </a:ext>
            </a:extLst>
          </p:cNvPr>
          <p:cNvSpPr/>
          <p:nvPr/>
        </p:nvSpPr>
        <p:spPr>
          <a:xfrm>
            <a:off x="228600" y="2185416"/>
            <a:ext cx="11475720" cy="3701034"/>
          </a:xfrm>
          <a:prstGeom prst="roundRect">
            <a:avLst/>
          </a:prstGeom>
          <a:solidFill>
            <a:schemeClr val="tx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333" name="Interaction &amp; polynomial featu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Interaction &amp; polynomial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501C5-A37B-D825-9C89-752E490C087C}"/>
              </a:ext>
            </a:extLst>
          </p:cNvPr>
          <p:cNvSpPr txBox="1"/>
          <p:nvPr/>
        </p:nvSpPr>
        <p:spPr>
          <a:xfrm>
            <a:off x="1017270" y="2720340"/>
            <a:ext cx="11697105" cy="2844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linear_model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LinearRegression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preprocessing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PolynomialFeatures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Add squared and cubed features for every predictor plus interactions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poly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PolynomialFeatures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degree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poly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Only include up to 3rd-order interactions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PolynomialFeatures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degree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interaction_only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gression Metr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Regression Metrics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Evaluating a regression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Evaluating a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In regression (we are predicting a numeric variable),   what does a “good” prediction look like?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In regression (we are predicting a numeric variable), </a:t>
                </a:r>
                <a:br>
                  <a:rPr dirty="0"/>
                </a:br>
                <a:r>
                  <a:rPr b="1" dirty="0">
                    <a:latin typeface="Graphik"/>
                    <a:ea typeface="Graphik"/>
                    <a:cs typeface="Graphik"/>
                    <a:sym typeface="Graphik"/>
                  </a:rPr>
                  <a:t>what does a “good” prediction look like?</a:t>
                </a:r>
                <a:endParaRPr lang="en-US" b="1" dirty="0">
                  <a:latin typeface="Graphik"/>
                  <a:ea typeface="Graphik"/>
                  <a:cs typeface="Graphik"/>
                  <a:sym typeface="Graphik"/>
                </a:endParaRPr>
              </a:p>
              <a:p>
                <a:r>
                  <a:rPr lang="en-US" dirty="0"/>
                  <a:t>Ideally,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, (the prediction) is close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(the observed value)</a:t>
                </a:r>
                <a:endParaRPr lang="en-US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44" name="In regression (we are predicting a numeric variable),   what does a “good” prediction look like?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ommon Regression Metr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Common Regression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Lower is better: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54844" y="1805038"/>
                <a:ext cx="11335225" cy="456182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/>
              <a:p>
                <a:pPr marL="221002" indent="-221002" defTabSz="176015">
                  <a:spcBef>
                    <a:spcPts val="2250"/>
                  </a:spcBef>
                  <a:defRPr sz="2772"/>
                </a:pPr>
                <a:r>
                  <a:rPr dirty="0"/>
                  <a:t>Lower is better:</a:t>
                </a:r>
                <a:endParaRPr lang="en-US" dirty="0"/>
              </a:p>
              <a:p>
                <a:pPr marL="678202" lvl="1" indent="-221002" defTabSz="176015">
                  <a:spcBef>
                    <a:spcPts val="2250"/>
                  </a:spcBef>
                  <a:defRPr sz="2772"/>
                </a:pPr>
                <a:r>
                  <a:rPr dirty="0"/>
                  <a:t>Mean absolute error (MAE):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MAE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678202" lvl="1" indent="-221002" defTabSz="176015">
                  <a:spcBef>
                    <a:spcPts val="2250"/>
                  </a:spcBef>
                  <a:defRPr sz="2772"/>
                </a:pPr>
                <a:r>
                  <a:rPr dirty="0"/>
                  <a:t>Mean squared error (MSE):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 dirty="0" err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678202" lvl="1" indent="-221002" defTabSz="176015">
                  <a:spcBef>
                    <a:spcPts val="2250"/>
                  </a:spcBef>
                  <a:defRPr sz="2772"/>
                </a:pPr>
                <a:r>
                  <a:rPr dirty="0"/>
                  <a:t>Root mean squared error (RMSE): </a:t>
                </a:r>
                <a14:m>
                  <m:oMath xmlns:m="http://schemas.openxmlformats.org/officeDocument/2006/math">
                    <m:r>
                      <a:rPr sz="2572" i="1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sz="2572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sz="2572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2572" i="1">
                            <a:latin typeface="Cambria Math" panose="02040503050406030204" pitchFamily="18" charset="0"/>
                          </a:rPr>
                          <m:t>𝑀𝑆𝐸</m:t>
                        </m:r>
                      </m:e>
                    </m:rad>
                  </m:oMath>
                </a14:m>
                <a:endParaRPr sz="2572" i="1" dirty="0">
                  <a:latin typeface="Cambria Math" panose="02040503050406030204" pitchFamily="18" charset="0"/>
                </a:endParaRPr>
              </a:p>
              <a:p>
                <a:pPr marL="221002" indent="-221002" defTabSz="176015">
                  <a:spcBef>
                    <a:spcPts val="2250"/>
                  </a:spcBef>
                  <a:defRPr sz="2772"/>
                </a:pPr>
                <a:r>
                  <a:rPr dirty="0"/>
                  <a:t>Higher is better:</a:t>
                </a:r>
                <a:endParaRPr lang="en-US" sz="1969" dirty="0">
                  <a:solidFill>
                    <a:srgbClr val="53585F"/>
                  </a:solidFill>
                </a:endParaRPr>
              </a:p>
              <a:p>
                <a:pPr marL="457200" lvl="1" indent="0" defTabSz="176015">
                  <a:spcBef>
                    <a:spcPts val="2250"/>
                  </a:spcBef>
                  <a:buNone/>
                  <a:defRPr sz="2772"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1969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48" name="Lower is better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4844" y="1805038"/>
                <a:ext cx="11335225" cy="4561829"/>
              </a:xfrm>
              <a:prstGeom prst="rect">
                <a:avLst/>
              </a:prstGeom>
              <a:blipFill>
                <a:blip r:embed="rId2"/>
                <a:stretch>
                  <a:fillRect l="-806" t="-1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0CD9-14B2-D8DB-D0FF-C9B858E1D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Metric Comparisons</a:t>
            </a:r>
          </a:p>
        </p:txBody>
      </p:sp>
      <p:sp>
        <p:nvSpPr>
          <p:cNvPr id="20" name="Card 1"/>
          <p:cNvSpPr txBox="1"/>
          <p:nvPr/>
        </p:nvSpPr>
        <p:spPr>
          <a:xfrm>
            <a:off x="838200" y="2100000"/>
            <a:ext cx="49530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000" b="1" dirty="0">
                <a:solidFill>
                  <a:srgbClr val="1A1A1A"/>
                </a:solidFill>
              </a:rPr>
              <a:t>MAE</a:t>
            </a:r>
            <a:r>
              <a:rPr lang="en-US" sz="1400" b="0" dirty="0">
                <a:solidFill>
                  <a:srgbClr val="7F7F7F"/>
                </a:solidFill>
              </a:rPr>
              <a:t>  Mean Absolute Error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+	Easy to interpret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+	Tolerant of outliers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8C8C8C"/>
                </a:solidFill>
              </a:rPr>
              <a:t>−	Underweights large errors</a:t>
            </a:r>
          </a:p>
        </p:txBody>
      </p:sp>
      <p:sp>
        <p:nvSpPr>
          <p:cNvPr id="21" name="Card 2"/>
          <p:cNvSpPr txBox="1"/>
          <p:nvPr/>
        </p:nvSpPr>
        <p:spPr>
          <a:xfrm>
            <a:off x="6400800" y="2100000"/>
            <a:ext cx="49530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000" b="1" dirty="0">
                <a:solidFill>
                  <a:srgbClr val="1A1A1A"/>
                </a:solidFill>
              </a:rPr>
              <a:t>R²</a:t>
            </a:r>
            <a:r>
              <a:rPr lang="en-US" sz="1400" b="0" dirty="0">
                <a:solidFill>
                  <a:srgbClr val="7F7F7F"/>
                </a:solidFill>
              </a:rPr>
              <a:t>  Coefficient of Determination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+	Variance explained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+	Comparable across models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8C8C8C"/>
                </a:solidFill>
              </a:rPr>
              <a:t>−	Misleading for non-linear</a:t>
            </a:r>
          </a:p>
        </p:txBody>
      </p:sp>
      <p:sp>
        <p:nvSpPr>
          <p:cNvPr id="22" name="Card 3"/>
          <p:cNvSpPr txBox="1"/>
          <p:nvPr/>
        </p:nvSpPr>
        <p:spPr>
          <a:xfrm>
            <a:off x="838200" y="4300000"/>
            <a:ext cx="49530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000" b="1" dirty="0">
                <a:solidFill>
                  <a:srgbClr val="1A1A1A"/>
                </a:solidFill>
              </a:rPr>
              <a:t>MSE</a:t>
            </a:r>
            <a:r>
              <a:rPr lang="en-US" sz="1400" b="0" dirty="0">
                <a:solidFill>
                  <a:srgbClr val="7F7F7F"/>
                </a:solidFill>
              </a:rPr>
              <a:t>  Mean Squared Error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+	Penalizes large errors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+	Optimization-friendly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8C8C8C"/>
                </a:solidFill>
              </a:rPr>
              <a:t>−	Sensitive to outliers</a:t>
            </a:r>
          </a:p>
        </p:txBody>
      </p:sp>
      <p:sp>
        <p:nvSpPr>
          <p:cNvPr id="23" name="Card 4"/>
          <p:cNvSpPr txBox="1"/>
          <p:nvPr/>
        </p:nvSpPr>
        <p:spPr>
          <a:xfrm>
            <a:off x="6400800" y="4300000"/>
            <a:ext cx="49530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000" b="1" dirty="0">
                <a:solidFill>
                  <a:srgbClr val="1A1A1A"/>
                </a:solidFill>
              </a:rPr>
              <a:t>RMSE</a:t>
            </a:r>
            <a:r>
              <a:rPr lang="en-US" sz="1400" b="0" dirty="0">
                <a:solidFill>
                  <a:srgbClr val="7F7F7F"/>
                </a:solidFill>
              </a:rPr>
              <a:t>  Root Mean Squared Error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+	Same units as target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+	Highlights large errors</a:t>
            </a:r>
          </a:p>
          <a:p>
            <a:pPr marL="228600" indent="-228600">
              <a:lnSpc>
                <a:spcPct val="110000"/>
              </a:lnSpc>
              <a:buNone/>
            </a:pPr>
            <a:r>
              <a:rPr lang="en-US" sz="1400" dirty="0">
                <a:solidFill>
                  <a:srgbClr val="8C8C8C"/>
                </a:solidFill>
              </a:rPr>
              <a:t>−	Sensitive to outliers</a:t>
            </a:r>
          </a:p>
        </p:txBody>
      </p:sp>
    </p:spTree>
    <p:extLst>
      <p:ext uri="{BB962C8B-B14F-4D97-AF65-F5344CB8AC3E}">
        <p14:creationId xmlns:p14="http://schemas.microsoft.com/office/powerpoint/2010/main" val="1696633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573" y="0"/>
            <a:ext cx="7310035" cy="6858001"/>
          </a:xfrm>
          <a:prstGeom prst="rect">
            <a:avLst/>
          </a:prstGeom>
          <a:ln w="3175">
            <a:miter lim="400000"/>
          </a:ln>
        </p:spPr>
      </p:pic>
      <p:sp>
        <p:nvSpPr>
          <p:cNvPr id="354" name="Regression Metrics in Scikit-Learn"/>
          <p:cNvSpPr txBox="1">
            <a:spLocks noGrp="1"/>
          </p:cNvSpPr>
          <p:nvPr>
            <p:ph type="title"/>
          </p:nvPr>
        </p:nvSpPr>
        <p:spPr>
          <a:xfrm>
            <a:off x="8895750" y="892481"/>
            <a:ext cx="3597239" cy="2932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500" spc="-45"/>
            </a:lvl1pPr>
          </a:lstStyle>
          <a:p>
            <a:r>
              <a:rPr sz="4000" dirty="0"/>
              <a:t>Regression Metrics in Scikit-Learn</a:t>
            </a:r>
          </a:p>
        </p:txBody>
      </p:sp>
      <p:pic>
        <p:nvPicPr>
          <p:cNvPr id="355" name="Rectangle Rectangle" descr="Rectangle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56576" y="2649562"/>
            <a:ext cx="4937541" cy="409809"/>
          </a:xfrm>
          <a:prstGeom prst="rect">
            <a:avLst/>
          </a:prstGeom>
        </p:spPr>
      </p:pic>
      <p:pic>
        <p:nvPicPr>
          <p:cNvPr id="357" name="Rectangle Rectangle" descr="Rectangle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56576" y="4407021"/>
            <a:ext cx="4937541" cy="409810"/>
          </a:xfrm>
          <a:prstGeom prst="rect">
            <a:avLst/>
          </a:prstGeom>
        </p:spPr>
      </p:pic>
      <p:pic>
        <p:nvPicPr>
          <p:cNvPr id="359" name="Rectangle Rectangle" descr="Rectangle Rectangl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605170" y="5819221"/>
            <a:ext cx="6171256" cy="409810"/>
          </a:xfrm>
          <a:prstGeom prst="rect">
            <a:avLst/>
          </a:prstGeom>
        </p:spPr>
      </p:pic>
      <p:pic>
        <p:nvPicPr>
          <p:cNvPr id="361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556577" y="6164480"/>
            <a:ext cx="5183710" cy="409809"/>
          </a:xfrm>
          <a:prstGeom prst="rect">
            <a:avLst/>
          </a:prstGeom>
        </p:spPr>
      </p:pic>
      <p:sp>
        <p:nvSpPr>
          <p:cNvPr id="363" name="In v1.4 or greater (previous versions have a “squared” argument in the MSE function)"/>
          <p:cNvSpPr txBox="1"/>
          <p:nvPr/>
        </p:nvSpPr>
        <p:spPr>
          <a:xfrm>
            <a:off x="9132219" y="5319529"/>
            <a:ext cx="1380059" cy="109998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>
            <a:spAutoFit/>
          </a:bodyPr>
          <a:lstStyle>
            <a:lvl1pPr>
              <a:defRPr sz="1900">
                <a:solidFill>
                  <a:srgbClr val="4F8F00"/>
                </a:solidFill>
              </a:defRPr>
            </a:lvl1pPr>
          </a:lstStyle>
          <a:p>
            <a:r>
              <a:rPr sz="1336"/>
              <a:t>In v1.4 or greater (previous versions have a “squared” argument in the MSE function)</a:t>
            </a:r>
          </a:p>
        </p:txBody>
      </p:sp>
      <p:pic>
        <p:nvPicPr>
          <p:cNvPr id="364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7010903" y="6252337"/>
            <a:ext cx="2011474" cy="23409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Model Selection Metr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Model Selection Metrics</a:t>
            </a:r>
          </a:p>
        </p:txBody>
      </p:sp>
      <p:sp>
        <p:nvSpPr>
          <p:cNvPr id="369" name="Models selection tools, such as “GridSearchCV” and “cross_val_score” use a scoring parameter"/>
          <p:cNvSpPr txBox="1">
            <a:spLocks noGrp="1"/>
          </p:cNvSpPr>
          <p:nvPr>
            <p:ph type="body" sz="quarter" idx="1"/>
          </p:nvPr>
        </p:nvSpPr>
        <p:spPr>
          <a:xfrm>
            <a:off x="1523643" y="1886816"/>
            <a:ext cx="8161734" cy="92251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Models selection tools, such as “</a:t>
            </a:r>
            <a:r>
              <a:rPr dirty="0" err="1"/>
              <a:t>GridSearchCV</a:t>
            </a:r>
            <a:r>
              <a:rPr dirty="0"/>
              <a:t>” and “</a:t>
            </a:r>
            <a:r>
              <a:rPr dirty="0" err="1"/>
              <a:t>cross_val_score</a:t>
            </a:r>
            <a:r>
              <a:rPr dirty="0"/>
              <a:t>” use a scoring parameter </a:t>
            </a:r>
          </a:p>
        </p:txBody>
      </p:sp>
      <p:pic>
        <p:nvPicPr>
          <p:cNvPr id="370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492" y="2919450"/>
            <a:ext cx="8661797" cy="1518048"/>
          </a:xfrm>
          <a:prstGeom prst="rect">
            <a:avLst/>
          </a:prstGeom>
          <a:ln w="3175">
            <a:miter lim="400000"/>
          </a:ln>
        </p:spPr>
      </p:pic>
      <p:pic>
        <p:nvPicPr>
          <p:cNvPr id="371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721529" y="3483085"/>
            <a:ext cx="5172684" cy="101029"/>
          </a:xfrm>
          <a:prstGeom prst="rect">
            <a:avLst/>
          </a:prstGeom>
        </p:spPr>
      </p:pic>
      <p:pic>
        <p:nvPicPr>
          <p:cNvPr id="373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601179" y="3770206"/>
            <a:ext cx="2921421" cy="101029"/>
          </a:xfrm>
          <a:prstGeom prst="rect">
            <a:avLst/>
          </a:prstGeom>
        </p:spPr>
      </p:pic>
      <p:pic>
        <p:nvPicPr>
          <p:cNvPr id="375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539505" y="4084305"/>
            <a:ext cx="2062675" cy="101029"/>
          </a:xfrm>
          <a:prstGeom prst="rect">
            <a:avLst/>
          </a:prstGeom>
        </p:spPr>
      </p:pic>
      <p:pic>
        <p:nvPicPr>
          <p:cNvPr id="377" name="pasted-movie.png" descr="pasted-mov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9786" y="4988967"/>
            <a:ext cx="7322344" cy="457646"/>
          </a:xfrm>
          <a:prstGeom prst="rect">
            <a:avLst/>
          </a:prstGeom>
          <a:ln w="3175">
            <a:miter lim="400000"/>
          </a:ln>
        </p:spPr>
      </p:pic>
      <p:pic>
        <p:nvPicPr>
          <p:cNvPr id="378" name="pasted-movie.png" descr="pasted-mov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9786" y="5435558"/>
            <a:ext cx="7322344" cy="457646"/>
          </a:xfrm>
          <a:prstGeom prst="rect">
            <a:avLst/>
          </a:prstGeom>
          <a:ln w="3175">
            <a:miter lim="400000"/>
          </a:ln>
        </p:spPr>
      </p:pic>
      <p:pic>
        <p:nvPicPr>
          <p:cNvPr id="379" name="pasted-movie.png" descr="pasted-mov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9786" y="4572946"/>
            <a:ext cx="7322344" cy="457646"/>
          </a:xfrm>
          <a:prstGeom prst="rect">
            <a:avLst/>
          </a:prstGeom>
          <a:ln w="3175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D28F24-EFF3-A42E-28B1-6ED94D7E83DB}"/>
              </a:ext>
            </a:extLst>
          </p:cNvPr>
          <p:cNvSpPr txBox="1"/>
          <p:nvPr/>
        </p:nvSpPr>
        <p:spPr>
          <a:xfrm>
            <a:off x="2326004" y="5851579"/>
            <a:ext cx="82718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‘</a:t>
            </a:r>
            <a:r>
              <a:rPr lang="en-US" sz="1400" i="1" dirty="0" err="1"/>
              <a:t>neg_root_mean_squared_error</a:t>
            </a:r>
            <a:r>
              <a:rPr lang="en-US" sz="1400" i="1" dirty="0"/>
              <a:t>’ requires v1.4+; earlier versions use the “squared” argument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6.337"/>
  <p:tag name="ORIGINALWIDTH" val="3850.769"/>
  <p:tag name="LATEXADDIN" val="\documentclass{article}\pagestyle{empty}&#10;\usepackage[top=1in, bottom=1in, left=2in, right=2in]{geometry}&#10;\usepackage{amsmath,amssymb,bm}&#10;\newcommand{\bu}{{\bm u}}&#10;\newcommand{\bv}{{\bm v}}&#10;\newcommand{\bw}{{\bm w}}&#10;\newcommand{\bx}{{\bm x}}&#10;\newcommand{\bmu}{{\bm \mu}}&#10;\newcommand{\btheta}{{\bm \theta}}&#10;\newcommand{\bX}{{\bm X}}&#10;\newcommand{\bzero}{{\bm 0}}&#10;\newcommand{\R}{\mathbb{R}}&#10;\newcommand{\argmax}{\operatorname{argmax}}&#10;\begin{document}&#10;\begin{itemize}&#10;\item Just like classification, there is a regression function $f^*$ that achieves the minimum value $R^*$ of the mean squared error&#10;\item {\bf Theorem:} The function&#10;$$&#10;f^*(\bx) := E_{Y|\bX}[Y|\bX = \bx]&#10;$$&#10;minimizes the mean squared error.&#10;\item This function is called the {\em conditional mean} predictor.&#10;\end{itemize}&#10;\end{document}&#10;"/>
  <p:tag name="IGUANATEXSIZE" val="20"/>
  <p:tag name="IGUANATEXCURSOR" val="775"/>
  <p:tag name="TRANSPARENCY" val="False"/>
  <p:tag name="FILENAME" val=""/>
  <p:tag name="LATEXENGINEID" val="0"/>
  <p:tag name="TEMPFOLDER" val="c:\temp\"/>
  <p:tag name="LATEXFORMHEIGHT" val="640.5"/>
  <p:tag name="LATEXFORMWIDTH" val="52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0.034"/>
  <p:tag name="ORIGINALWIDTH" val="4042.745"/>
  <p:tag name="LATEXADDIN" val="\documentclass{article}\pagestyle{empty}&#10;\usepackage[top=1in, bottom=1in, left=2in, right=2in]{geometry}&#10;\usepackage{amsmath,amssymb,bm}&#10;\newcommand{\bu}{{\bm u}}&#10;\newcommand{\bv}{{\bm v}}&#10;\newcommand{\bw}{{\bm w}}&#10;\newcommand{\bx}{{\bm x}}&#10;\newcommand{\bmu}{{\bm \mu}}&#10;\newcommand{\btheta}{{\bm \theta}}&#10;\newcommand{\bX}{{\bm X}}&#10;\newcommand{\bzero}{{\bm 0}}&#10;\newcommand{\R}{\mathbb{R}}&#10;\newcommand{\argmax}{\operatorname{argmax}}&#10;\begin{document}&#10;\noindent {\em Proof of Theorem:} Let $f$ be any regression function.&#10;\begin{align*}&#10;R(f) &amp;= E_{\bX Y}[(f(\bX) - Y)^2]\\&#10;&amp;= E_{\bX} E_{Y|\bX} [(f(\bX)-Y)^2 | \bX] \\&#10;&amp;= E_{\bX} E_{Y|\bX} [(f(\bX)-E[Y|\bX] + E[Y|\bX] - Y)^2|\bX] \\&#10;&amp;= E_{\bX} E_{Y|\bX} [(f(\bX)-E[Y|\bX])^2] + (E[Y|\bX] - Y)^2 \\&#10;&amp; \qquad - 2(f(\bX)-E[Y|\bX])(E[Y|\bX] - Y)|\bX]&#10;\end{align*}&#10;The second term is independent of $f$, and the third term is zero. The first term can be made to equal 0 by taking $f$ to be the conditional mean, so this minimizes the MSE.&#10;\end{document}&#10;"/>
  <p:tag name="IGUANATEXSIZE" val="20"/>
  <p:tag name="IGUANATEXCURSOR" val="980"/>
  <p:tag name="TRANSPARENCY" val="False"/>
  <p:tag name="FILENAME" val=""/>
  <p:tag name="LATEXENGINEID" val="0"/>
  <p:tag name="TEMPFOLDER" val="c:\temp\"/>
  <p:tag name="LATEXFORMHEIGHT" val="640.5"/>
  <p:tag name="LATEXFORMWIDTH" val="525"/>
  <p:tag name="LATEXFORMWRAP" val="True"/>
  <p:tag name="BITMAPVECTOR" val="0"/>
</p:tagLst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DD603A-B9FE-41B4-B1A3-A23AE56DAE6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143d8c7-590e-41a3-97a2-ffcef24df71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879</Words>
  <Application>Microsoft Office PowerPoint</Application>
  <PresentationFormat>Widescreen</PresentationFormat>
  <Paragraphs>120</Paragraphs>
  <Slides>25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</vt:lpstr>
      <vt:lpstr>Arial</vt:lpstr>
      <vt:lpstr>Calisto MT</vt:lpstr>
      <vt:lpstr>Cambria Math</vt:lpstr>
      <vt:lpstr>Consolas</vt:lpstr>
      <vt:lpstr>Graphik</vt:lpstr>
      <vt:lpstr>Helvetica Neue</vt:lpstr>
      <vt:lpstr>Univers Condensed</vt:lpstr>
      <vt:lpstr>ChronicleVTI</vt:lpstr>
      <vt:lpstr>Intro to regression</vt:lpstr>
      <vt:lpstr>PowerPoint Presentation</vt:lpstr>
      <vt:lpstr>Linear Regression</vt:lpstr>
      <vt:lpstr>Least Squares</vt:lpstr>
      <vt:lpstr>Conditional Mean</vt:lpstr>
      <vt:lpstr>Conditional Mean</vt:lpstr>
      <vt:lpstr>PowerPoint Presentation</vt:lpstr>
      <vt:lpstr>General model-based training</vt:lpstr>
      <vt:lpstr>Optimizing the objective function</vt:lpstr>
      <vt:lpstr>Typical Forms of linear regression models</vt:lpstr>
      <vt:lpstr>Ordinary least squares objective</vt:lpstr>
      <vt:lpstr>Method 1: Normal Equations </vt:lpstr>
      <vt:lpstr>Method 2: Numerical APproximations</vt:lpstr>
      <vt:lpstr>“Nonlinear” linear regression</vt:lpstr>
      <vt:lpstr>Polynomial Regression</vt:lpstr>
      <vt:lpstr>Polynomial Regression</vt:lpstr>
      <vt:lpstr>Terminology</vt:lpstr>
      <vt:lpstr>More Terminology</vt:lpstr>
      <vt:lpstr>Interaction &amp; polynomial features</vt:lpstr>
      <vt:lpstr>Regression Metrics</vt:lpstr>
      <vt:lpstr>Evaluating a regression model</vt:lpstr>
      <vt:lpstr>Common Regression Metrics</vt:lpstr>
      <vt:lpstr>Regression Metric Comparisons</vt:lpstr>
      <vt:lpstr>Regression Metrics in Scikit-Learn</vt:lpstr>
      <vt:lpstr>Model Selection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60</cp:revision>
  <dcterms:created xsi:type="dcterms:W3CDTF">2025-10-28T15:32:43Z</dcterms:created>
  <dcterms:modified xsi:type="dcterms:W3CDTF">2026-09-22T17:50:27Z</dcterms:modified>
</cp:coreProperties>
</file>