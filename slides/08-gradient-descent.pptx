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9_0.xml" ContentType="application/vnd.ms-powerpoint.comment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ink/ink1.xml" ContentType="application/inkml+xml"/>
  <Override PartName="/ppt/notesSlides/notesSlide2.xml" ContentType="application/vnd.openxmlformats-officedocument.presentationml.notesSlide+xml"/>
  <Override PartName="/ppt/tags/tag5.xml" ContentType="application/vnd.openxmlformats-officedocument.presentationml.tags+xml"/>
  <Override PartName="/ppt/ink/ink2.xml" ContentType="application/inkml+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comments/modernComment_10D_0.xml" ContentType="application/vnd.ms-powerpoint.comments+xml"/>
  <Override PartName="/ppt/notesSlides/notesSlide4.xml" ContentType="application/vnd.openxmlformats-officedocument.presentationml.notesSlide+xml"/>
  <Override PartName="/ppt/comments/modernComment_110_0.xml" ContentType="application/vnd.ms-powerpoint.comments+xml"/>
  <Override PartName="/ppt/notesSlides/notesSlide5.xml" ContentType="application/vnd.openxmlformats-officedocument.presentationml.notesSlide+xml"/>
  <Override PartName="/ppt/comments/modernComment_15A_1182E71.xml" ContentType="application/vnd.ms-powerpoint.comments+xml"/>
  <Override PartName="/ppt/comments/modernComment_10E_0.xml" ContentType="application/vnd.ms-powerpoint.comments+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37"/>
  </p:notesMasterIdLst>
  <p:sldIdLst>
    <p:sldId id="354" r:id="rId2"/>
    <p:sldId id="310" r:id="rId3"/>
    <p:sldId id="309" r:id="rId4"/>
    <p:sldId id="265" r:id="rId5"/>
    <p:sldId id="311" r:id="rId6"/>
    <p:sldId id="312" r:id="rId7"/>
    <p:sldId id="314" r:id="rId8"/>
    <p:sldId id="315" r:id="rId9"/>
    <p:sldId id="316" r:id="rId10"/>
    <p:sldId id="317" r:id="rId11"/>
    <p:sldId id="318" r:id="rId12"/>
    <p:sldId id="319" r:id="rId13"/>
    <p:sldId id="321" r:id="rId14"/>
    <p:sldId id="320" r:id="rId15"/>
    <p:sldId id="322" r:id="rId16"/>
    <p:sldId id="323" r:id="rId17"/>
    <p:sldId id="324" r:id="rId18"/>
    <p:sldId id="332" r:id="rId19"/>
    <p:sldId id="339" r:id="rId20"/>
    <p:sldId id="269" r:id="rId21"/>
    <p:sldId id="340" r:id="rId22"/>
    <p:sldId id="341" r:id="rId23"/>
    <p:sldId id="342" r:id="rId24"/>
    <p:sldId id="272" r:id="rId25"/>
    <p:sldId id="306" r:id="rId26"/>
    <p:sldId id="343" r:id="rId27"/>
    <p:sldId id="344" r:id="rId28"/>
    <p:sldId id="345" r:id="rId29"/>
    <p:sldId id="346" r:id="rId30"/>
    <p:sldId id="347" r:id="rId31"/>
    <p:sldId id="270" r:id="rId32"/>
    <p:sldId id="351" r:id="rId33"/>
    <p:sldId id="355" r:id="rId34"/>
    <p:sldId id="352" r:id="rId35"/>
    <p:sldId id="30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EFFCD40-A245-4928-B865-29FE5E6F6971}" name="Jake Rhodes" initials="JR" userId="S::rhodes8@byu.edu::d1f4b077-4265-4955-a594-ba96d7a35ba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4660"/>
  </p:normalViewPr>
  <p:slideViewPr>
    <p:cSldViewPr snapToGrid="0">
      <p:cViewPr varScale="1">
        <p:scale>
          <a:sx n="161" d="100"/>
          <a:sy n="161" d="100"/>
        </p:scale>
        <p:origin x="23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omments/modernComment_10D_0.xml><?xml version="1.0" encoding="utf-8"?>
<p188:cmLst xmlns:a="http://schemas.openxmlformats.org/drawingml/2006/main" xmlns:r="http://schemas.openxmlformats.org/officeDocument/2006/relationships" xmlns:p188="http://schemas.microsoft.com/office/powerpoint/2018/8/main">
  <p188:cm id="{B5DF3D45-3048-4B95-B767-57D729827A24}" authorId="{EEFFCD40-A245-4928-B865-29FE5E6F6971}" created="2026-09-14T16:12:36.266">
    <pc:sldMkLst xmlns:pc="http://schemas.microsoft.com/office/powerpoint/2013/main/command">
      <pc:docMk/>
      <pc:sldMk cId="0" sldId="269"/>
    </pc:sldMkLst>
    <p188:txBody>
      <a:bodyPr/>
      <a:lstStyle/>
      <a:p>
        <a:r>
          <a:rPr lang="en-US"/>
          <a:t>REDUNDANCY: 'Learning Rate' (OLS deck) covers the same too-large/too-small step-size trade-off as the preceding 'Step Size' slide. The figures here are the main unique value.</a:t>
        </a:r>
      </a:p>
    </p188:txBody>
  </p188:cm>
</p188:cmLst>
</file>

<file path=ppt/comments/modernComment_10E_0.xml><?xml version="1.0" encoding="utf-8"?>
<p188:cmLst xmlns:a="http://schemas.openxmlformats.org/drawingml/2006/main" xmlns:r="http://schemas.openxmlformats.org/officeDocument/2006/relationships" xmlns:p188="http://schemas.microsoft.com/office/powerpoint/2018/8/main">
  <p188:cm id="{06D90170-02FB-4EE0-B06F-AA452BB81DD7}" authorId="{EEFFCD40-A245-4928-B865-29FE5E6F6971}" created="2026-09-14T16:12:36.314">
    <pc:sldMkLst xmlns:pc="http://schemas.microsoft.com/office/powerpoint/2013/main/command">
      <pc:docMk/>
      <pc:sldMk cId="0" sldId="270"/>
    </pc:sldMkLst>
    <p188:txBody>
      <a:bodyPr/>
      <a:lstStyle/>
      <a:p>
        <a:r>
          <a:rPr lang="en-US"/>
          <a:t>REDUNDANCY: SGD (OLS deck) duplicates the three preceding SGD slides. Unique content is the explicit pros/cons list — consider merging it into the earlier SGD discussion.</a:t>
        </a:r>
      </a:p>
    </p188:txBody>
  </p188:cm>
</p188:cmLst>
</file>

<file path=ppt/comments/modernComment_15A_1182E71.xml><?xml version="1.0" encoding="utf-8"?>
<p188:cmLst xmlns:a="http://schemas.openxmlformats.org/drawingml/2006/main" xmlns:r="http://schemas.openxmlformats.org/officeDocument/2006/relationships" xmlns:p188="http://schemas.microsoft.com/office/powerpoint/2018/8/main">
  <p188:cm id="{BBC93E2F-A273-47F5-9E17-9BA66BE8569E}" authorId="{EEFFCD40-A245-4928-B865-29FE5E6F6971}" created="2026-09-14T16:12:36.284">
    <pc:sldMkLst xmlns:pc="http://schemas.microsoft.com/office/powerpoint/2013/main/command">
      <pc:docMk/>
      <pc:sldMk cId="18361969" sldId="346"/>
    </pc:sldMkLst>
    <p188:txBody>
      <a:bodyPr/>
      <a:lstStyle/>
      <a:p>
        <a:r>
          <a:rPr lang="en-US"/>
          <a:t>REDUNDANCY: The mini-batch mechanics here repeat the previous SGD slide; the genuinely new idea is the definition of an epoch. Consider trimming to the epoch loop.</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24563760-56D6-4DF0-B2E4-AC562E7E6519}" authorId="{EEFFCD40-A245-4928-B865-29FE5E6F6971}" created="2026-09-14T16:12:36.219">
    <pc:sldMkLst xmlns:pc="http://schemas.microsoft.com/office/powerpoint/2013/main/command">
      <pc:docMk/>
      <pc:sldMk cId="0" sldId="265"/>
    </pc:sldMkLst>
    <p188:txBody>
      <a:bodyPr/>
      <a:lstStyle/>
      <a:p>
        <a:r>
          <a:rPr lang="en-US"/>
          <a:t>REDUNDANCY: This high-level GD intro (from the OLS deck) repeats the gradient definition from the earlier 'Gradient' slide and previews the algorithm covered on the next two slides. Keep as the intuition slide, or cut if the math version is enough.</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58D511EA-7265-4560-956C-3A8CF406D1A9}" authorId="{EEFFCD40-A245-4928-B865-29FE5E6F6971}" created="2026-09-14T16:12:36.276">
    <pc:sldMkLst xmlns:pc="http://schemas.microsoft.com/office/powerpoint/2013/main/command">
      <pc:docMk/>
      <pc:sldMk cId="0" sldId="272"/>
    </pc:sldMkLst>
    <p188:txBody>
      <a:bodyPr/>
      <a:lstStyle/>
      <a:p>
        <a:r>
          <a:rPr lang="en-US"/>
          <a:t>PARTIAL OVERLAP: Learning schedules restate the decaying step size introduced on the 'Step Size' slide; the decay-schedule catalogue and adaptive methods are the new material.</a:t>
        </a:r>
      </a:p>
    </p188:txBody>
  </p188:cm>
</p188:cmLst>
</file>

<file path=ppt/ink/ink1.xml><?xml version="1.0" encoding="utf-8"?>
<inkml:ink xmlns:inkml="http://www.w3.org/2003/InkML">
  <inkml:definitions>
    <inkml:context xml:id="ctx0">
      <inkml:inkSource xml:id="inkSrc0">
        <inkml:traceFormat>
          <inkml:channel name="X" type="integer" max="23472" units="cm"/>
          <inkml:channel name="Y" type="integer" max="13203" units="cm"/>
          <inkml:channel name="F" type="integer" max="1023" units="dev"/>
        </inkml:traceFormat>
        <inkml:channelProperties>
          <inkml:channelProperty channel="X" name="resolution" value="1111.89014" units="1/cm"/>
          <inkml:channelProperty channel="Y" name="resolution" value="1000.22729" units="1/cm"/>
          <inkml:channelProperty channel="F" name="resolution" value="0" units="1/dev"/>
        </inkml:channelProperties>
      </inkml:inkSource>
      <inkml:timestamp xml:id="ts0" timeString="2018-10-23T18:15:34.532"/>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FF0000"/>
    </inkml:brush>
  </inkml:definitions>
  <inkml:trace contextRef="#ctx0" brushRef="#br0">5099 5689 189,'-7'-14'121,"7"14"0,-9-14-3,9 14-83,0 0-4,0 0-4,-2 23-10,6 1-2,1 9-8,1 10 2,0 11 0,3 16-2,0 10-2,5 7-1,-5 9 5,6 7-7,-2 4 7,3 2-6,-2 1 2,-1-1-3,3-4 9,-3-2-3,2-5-2,1 0 2,-4-5-2,1-2-3,-1-6 7,-2-1 2,1-3-6,-2-1 1,-2-4-1,-1-2 2,0-3-2,3-1 0,-4-3-3,1-1 1,0-2-3,1-1 3,0-3-2,0-1 0,2 1 0,-6-3 6,5 3-7,-2-1-1,1-1-4,-2 0 4,1 1-4,0 0 3,-3-2-4,0 3 5,3-4-5,-3-1 8,1 1 0,-2-1-4,1-1 4,2-1-6,-4-1 5,5 1-4,-4-2 4,1 0-5,1 0 3,-2-1 0,0 0 0,2 1 8,-3-2-6,0-1 3,0 1-3,1-2 4,-1 2-4,2-2 3,-2 0-3,0-1-3,-1-1 1,3 1 1,0-1 1,0 0-1,-1-3 2,1 0-4,1-2 4,-3 0-2,1-3 1,1 1-1,0-1-1,-3-3 0,1-1 0,-1 0 2,0-1-2,0-1 1,0-2-2,-1-2 1,1-1 0,-1 0 1,-1-2-5,1-1 3,1 1-2,0-2-1,1 0 1,1-1-1,-1-1 1,-1-2-1,0-1 4,1-2-2,-2-1 2,1-1 0,0-1-1,-1 1 2,-1 0-2,1 0 2,1-2-3,-2 0 2,2-1 0,0-10 0,-2 13 0,2-13-2,0 0-3,0 0-3,0 0-6,-9-3-18,9 3-66,-8-20-41,4 5-5,-11-14 1,6 3 1</inkml:trace>
  <inkml:trace contextRef="#ctx0" brushRef="#br0" timeOffset="1">4281 10726 243,'-16'6'114,"-1"-6"1,17 0 3,-19 0-79,19 0-15,0 0 0,0 0-2,0 0-3,0 0-3,19-11-2,-2 5-2,5-1 0,5 1-1,7-3 1,7 0-4,8 0 1,7-1-2,5 2-1,9-3-1,6 3-1,3-1-1,9-1 0,5 1-1,3-2 0,3 1-1,3-2-1,3 2 1,1 0 0,3-1 2,-4 0-2,1 3 2,1-2 0,2 2 0,-5 0-1,2 2 3,-4-1-3,1 1 0,3 1 0,-2 0-1,0 1 1,-4 1 0,4-2 0,0 1-1,0 1 1,-1-1-1,2 0 0,-3-1 0,3 0 0,-4 0-1,3 1 1,-5-2 0,-2-2-2,2 2 4,-5-2-3,1 1 4,-3 2-5,-2-2 4,-2 3-4,-3 0 4,0 2-3,0-1 0,-3 1-1,-2 2 0,1-2 1,-3 1 0,4-1-1,-1 0 1,0 0 0,0 0 1,4 0-2,-3 1 2,3 0-1,0 2-1,3-1 1,-1 1 0,1 0-1,0 1-1,0-2 1,1 1-1,2-1 1,1-2-1,-3 1 0,1-1-1,0 1 0,1-2 1,-1 1 0,2-1 0,-3 2 0,-2 0 0,1 0 0,-1 0 0,-2 1 0,-1-2 0,-1 0-1,-1 1 1,-2-2-1,-2 0 2,-2-1 0,-2 1-1,-3-1 1,-1 0-1,-6 1 2,-2-1-2,-7 2 2,-4 2-1,-4-1 0,-6 0 0,-7 0 1,-6 1 0,-5 0 0,-6-1-1,-5-1 1,-12 2-1,12-2 1,-12 2 0,0 0 0,0 0-1,-9-5-1,9 5-3,-10 0-8,10 0-23,-9-2-96,1-3-7,8 5-1,-18-5-8</inkml:trace>
  <inkml:trace contextRef="#ctx0" brushRef="#br0" timeOffset="2">12536 10907 287,'0'0'133,"-8"-11"0,8 11-1,-5-15-88,5 15-16,2-20-3,2 8-4,1-1-10,2 0-6,-2-2-1,4 0-3,-1 3 1,1-3-1,0 4 0,0 1-1,1 3 0,3 5 0,-3 6 0,2 6 1,2 6-1,1 6 1,2 7-4,1 5 0,0 5 0,3 0-1,-1 1 0,3-4-1,-3-1-2,1-6-3,0-4 0,-6-7-4,2-5-11,-8-11-13,5 6-32,-14-8-55,7-10-1,-13-3 0,6 13 3</inkml:trace>
  <inkml:trace contextRef="#ctx0" brushRef="#br0" timeOffset="3">12818 10807 335,'1'-15'136,"-7"-3"1,6 18-1,-6-13-107,6 13-6,-14 11-7,4 4-7,-5 9-10,-5 4-8,-3 8-7,-7 0-18,7 10-63,-9-9-37,5 4-1,-4-13-5,10 0 3</inkml:trace>
  <inkml:trace contextRef="#ctx0" brushRef="#br0" timeOffset="4">3941 5306 290,'-10'-19'136,"1"7"-1,-9-7-7,-2 7-112,-3-1-4,1 3 2,-5 1-8,0 4 0,1 5-2,2 8-1,1 8-3,6 9 2,4 10-1,5 11-3,7 10 1,4 10-2,4 6 0,3 4-1,3 5 0,-1-1-8,2 1-1,-4-7-11,2-2-16,-12-17-38,7-4-50,-12-13-4,1-11 4,-6-12 4</inkml:trace>
  <inkml:trace contextRef="#ctx0" brushRef="#br0" timeOffset="5">3623 6039 212,'-12'-20'128,"12"20"0,-5-11 1,5 11-80,10-4-26,1 1-4,2-4-10,7-4-8,3-2-12,2-6-6,6 2-26,-3-10-29,8 5-55,-6-7 1,3 4-3,-8-4 5</inkml:trace>
  <inkml:trace contextRef="#ctx0" brushRef="#br0" timeOffset="6">4086 5492 198,'10'-21'126,"-6"-4"4,2 12-1,-11-3-82,5 16-17,0 0-4,-13 10-10,-2 11-8,0 11-3,-2 12-3,0 11-3,-1 10 1,6 5-5,3 6-3,6-2-6,6-3-7,5-11-10,10-7-9,-5-20-21,15-8-31,-7-19-31,3-10 1,-4-12 6</inkml:trace>
  <inkml:trace contextRef="#ctx0" brushRef="#br0" timeOffset="7">4169 5787 267,'0'0'133,"0"0"-3,-1 16 0,1-16-106,9 16-1,0-8-9,6 1-6,3-1-2,3-1-5,3-1-7,1-2-5,3 0-11,-5-5-16,7 7-36,-11-10-58,5 8 0,-12-8-1,3 6 6</inkml:trace>
  <inkml:trace contextRef="#ctx0" brushRef="#br0" timeOffset="8">4363 5744 249,'-16'-10'130,"16"10"2,-14 10-2,12 3-103,-6 1-8,1 8-6,-1 6-11,1 0-12,-1 5-11,-1-6-27,9 5-48,-5-11-32,7-4 0,-2-17 0</inkml:trace>
  <inkml:trace contextRef="#ctx0" brushRef="#br0" timeOffset="9">4440 5497 231,'0'0'130,"0"0"2,0 0 1,12 13-88,-6 1-26,7 6 4,1 4-10,3 5-4,0 5-4,0 3-1,-2 5-6,-4 0-4,-1 7-14,-8-6-37,2 10-76,-14-9-2,1 5-2,-12-9-3</inkml:trace>
  <inkml:trace contextRef="#ctx0" brushRef="#br1" timeOffset="10">5627 5735 119,'0'0'102,"-10"-2"-1,10 2 0,-8 13-76,8 2-8,0 0 1,6 8 0,-3 3-3,5 9-3,-2 1 1,6 9 0,-3 6-1,6 5 0,-1 1 0,3 6 0,-1 0-4,5 3-1,-1-2 4,1 0-5,0-5 3,1 2-6,0-2 4,1 0-5,2-2 3,2 3-1,-2 0 1,2 4 0,0-1 0,2 2 0,2 1 1,0 1 0,2-2 0,2 2 1,2-3-2,3 1 2,-3-2-2,1-1 1,3-1-3,-4-1 3,2-2-2,-1 1-1,-1 0-3,0-1-2,5 2 4,-1-1 2,3 1-2,-3 0 1,6-1-1,-2-1 1,-1-2 0,-1 0 5,-2-6-8,1-3 4,0-4-4,-5-2-3,3-5 2,-3-5 0,0-3 0,0-3 0,1-3-1,0-2 0,-3-2-1,0-5 7,0 0-4,-2-3 0,-2-1 0,0-1 1,-2-5-1,-2 0 1,-1-2 0,0-2 1,0-3-2,-1 0 1,-1-3-1,0-2 1,1-1 0,0-3-3,-1 1 2,0-3 0,2-3 2,1 0-1,1-2 2,1 2-2,-1-2 2,-3 0-1,2 0 0,0-1-2,-1 2 0,0 0 0,-5-2 0,3 2-1,1-2 3,-4-1-2,3 1 1,-3-1-1,1 1 1,0-3-2,1 2 2,-1 1-2,-1-1 1,-1 2-1,-1 1 1,3 1-1,-3 0 2,1 3-2,1-3 2,-1 2-7,-1 0 3,2 3 1,0-1-2,1 1 4,1 0-4,-3 2 3,4 3-3,-2-1 8,2 2-3,0 0-1,-1 0 1,0 1-3,2 1 3,-3 1-1,-1 2 1,5 0-1,-6 3 0,3 0 0,-2 3 0,3 0 0,-5 3 0,6 1 0,-4 1 0,3 0-3,0 1 6,-3 1-5,3 4 5,-3-2-2,2 1 4,-3 2-3,1 2 3,0 2 1,-2-1-4,3 4 5,0-2-6,0 2 1,0 1-2,2-2 1,2 2 0,-2 1 0,3 0-2,-1 2 3,1-1-1,3 1 2,-1-1-2,4 3 2,-1 2-2,-2-2 1,3 1-2,-3 0 2,3 0-2,-2 0 0,0 2 0,1 0 0,-2 0-1,4 0 3,-4 1-2,3 0 2,0 1-2,3 0 1,-1-1 0,0 1 1,0-2-2,2 0 1,1 0 1,-2 0-3,-1-1 2,1 0-2,-1-1 3,0 0-4,-1-1 5,1 0-3,1-2 1,1 1 1,0-2-2,6 1 2,-1-2-2,2 0 2,3-2-1,-2-2 0,2-2-1,2-3 0,-3-1 0,2-5-1,-1-2 1,3-4-1,1-3 0,3-1 1,2-3 0,-2-3 0,2-2 2,2-1-3,0-3 1,2-1-2,0-2 2,0-2-3,2-2 1,1 0 0,1-3-1,1 0 1,0-3 1,-2-1-1,3-2 1,0-3 0,0-2 0,0-3 2,2-2-3,-1-5 2,-2-3-1,1-3 1,-1-4-1,-2-4 1,1-1 3,-2-3-5,4-3 4,-6-4-1,-1-1 1,2-6-1,-1-1 1,0-2-1,-2-4-3,-1 0 0,3-5 1,-3-1-2,4-2 3,-2-2-3,2-4 2,-1-2-2,-1-3 4,1-4-3,2 1-1,3-4 7,-2 3-5,2 1-1,-1 2 3,2 4-4,-2 3-2,-1 6 8,-1 2-5,-2 7-6,-1 3 5,0 7 2,-6 7-3,-4 5 3,-2 7 3,-7 8-8,-6 6 7,-8 8-2,-5 9 1,-6 3-2,-4 7-3,-11 10-6,13-8-14,-13 8-54,0 0-58,0 0-1,0 0-5,-9 0-2</inkml:trace>
  <inkml:trace contextRef="#ctx0" brushRef="#br2" timeOffset="11">7634 10464 315,'8'-12'127,"-10"1"2,2 11-3,-6-19-52,6 19-47,-7-9-3,7 9-8,-4-9-5,4 9-4,-13-4-1,13 4-2,-13-5-1,5 2-3,8 3 2,-18-10-1,18 10 0,-17-11 0,17 11-1,-10-3 2,10 3-2,0 0 2,-7 18-2,9-10-2,-1 6 3,4 0-2,2-1 1,-3-4-2,5-1 2,4-3 0,-2-2 0,1-4 0,1-2 0,-1-2 0,2 0-1,-5-2 1,0-2 1,-6-4-2,-3-1 1,-1 0 2,-2 0-1,-3 1 2,-3 0-1,0 2 1,-1 2-1,1 8 2,9 1-2,-15 10-1,11 2 1,-2 4-2,5 1 1,0 3-2,2 1 2,2-3-2,2-1 2,0-5-2,-5-12 0,16 11 1,-7-13-1,2-3 1,-2-4 0,-2-2-1,1-2 0,-2-1 1,-5-1 0,-2 5 1,-5-1-1,6 11 2,-16-9-2,4 12 0,1 3 0,-1 4 0,1 6 0,4-1-2,4 3 1,1-3-3,4-1 1,5-6-3,3-3-3,-2-7-4,6-1-11,-2-8-14,1 9-46,-5-10-43,7 8-4,-13-5 2,-2 9-1</inkml:trace>
  <inkml:trace contextRef="#ctx0" brushRef="#br2" timeOffset="12">11160 10317 245,'-3'-10'114,"3"10"9,-1-15-7,1 15-73,1-17-9,-1 17 4,2-15-14,-2 15-1,-3-12-4,3 12-4,0 0-2,-5-10-3,5 10-3,0 0-3,-13 6 0,13-6-1,-12 13-1,6-2-1,-1 2 1,1 2 0,1 2 0,3-2-3,-3 1 3,5-1-5,1-1 4,4-4-3,-5-10 2,15 13-3,-3-12 2,-1-3 1,1-2 0,3-4 0,-4-2 0,-1-1 3,-5-2-5,0 1 5,-3-3-4,-2 4 3,-4-2-3,-3 3 3,7 10-3,-14-13 0,14 13 2,-14-2-2,14 2 2,-16 12 1,11-3-1,0 5 1,-1 2 0,3 0-4,0 1 3,3-3-4,3-1 4,1-3-4,-4-10 3,14 10-4,-6-12 3,3-4-1,-1-4 2,1-1 3,-7-2-3,3-2 2,-6 2-3,-2 1 5,1 12-4,-11-14 4,1 10-3,1 4-2,9 0-5,-14 4-6,14-4-18,0 0-72,0 0-31,0 0-5,10 1-2,-10-1-4</inkml:trace>
</inkml:ink>
</file>

<file path=ppt/ink/ink2.xml><?xml version="1.0" encoding="utf-8"?>
<inkml:ink xmlns:inkml="http://www.w3.org/2003/InkML">
  <inkml:definitions>
    <inkml:context xml:id="ctx0">
      <inkml:inkSource xml:id="inkSrc0">
        <inkml:traceFormat>
          <inkml:channel name="X" type="integer" max="23472" units="cm"/>
          <inkml:channel name="Y" type="integer" max="13203" units="cm"/>
          <inkml:channel name="F" type="integer" max="1023" units="dev"/>
        </inkml:traceFormat>
        <inkml:channelProperties>
          <inkml:channelProperty channel="X" name="resolution" value="1111.89014" units="1/cm"/>
          <inkml:channelProperty channel="Y" name="resolution" value="1000.22729" units="1/cm"/>
          <inkml:channelProperty channel="F" name="resolution" value="0" units="1/dev"/>
        </inkml:channelProperties>
      </inkml:inkSource>
      <inkml:timestamp xml:id="ts0" timeString="2018-10-24T03:09:24.601"/>
    </inkml:context>
    <inkml:brush xml:id="br0">
      <inkml:brushProperty name="width" value="0.05292" units="cm"/>
      <inkml:brushProperty name="height" value="0.05292" units="cm"/>
      <inkml:brushProperty name="color" value="#FF0000"/>
    </inkml:brush>
  </inkml:definitions>
  <inkml:trace contextRef="#ctx0" brushRef="#br0">2109 9207 125,'0'0'111,"0"0"-1,0 0 0,0 0-54,-1 16-29,1-16 3,0 0-3,7 17-8,4 2-3,-2 2 0,8 13 0,-3 5-1,6 14-5,0 8-2,2 6-2,1 10 1,0 5-1,-1 2 1,0 4-1,-1-5-3,0 3 3,2-8-4,-2-3 2,0-5-3,1-3 2,-2-1-2,2 2 0,-2 3-1,1 1 2,2 4-1,-2 3 2,0 8 0,2 3-2,0 0 2,1 1-2,0-1 3,2 1-2,-1-2 2,1 1-2,0-5 0,0-2 3,1 4-1,-1-2 0,-1 0-2,1 2 2,-1-1-1,-1 5 0,2 2-1,-4 0 0,3 1 0,-4 1-2,2-1 2,-2 1-2,0-4 2,1-1-2,1-1 2,3-1-1,-1 0-2,3 0 3,1-1-2,3 1 0,0-2 0,3 1 1,-3 0-1,2-2 0,1 1 1,-1-2-1,1 0 0,0-1 1,-3 0 0,-1-3-3,1-2 3,1 0-1,0 0 1,-1-6 0,-2 0-1,0-4 1,4-1-1,-3-2 3,4-2-3,0-2-2,-4-5 1,6 2-1,0-5 3,5 0-4,-1-2 4,3 1-3,1-5 3,3 1 0,0-3-1,0-2 1,5-1-2,-4-2 1,2-2-2,1-4 3,0-2-4,4-3 3,0-2-1,5-2 1,-2-5 0,5-1 1,0-2-1,1-4 0,1-1 0,1-2 0,-1-3 0,-4-3-2,-1 2 1,1-3 0,-2-3 1,1 0-1,2-3 1,0-1 0,3-2 0,0-3 1,3-4-1,-2 2 1,0-6-1,-1-4 1,0-2 0,-2-1-2,2-8 3,0 0-2,6-8 2,-4-2-2,6-4 2,2-3-2,-5-5 1,5-2 0,1-2 1,-1-5 4,-1 2-5,-1-4 5,-1-1-4,2-3 4,2-3-4,-1-2 2,0-2-3,-4-1-3,4-4 7,-2-2 0,0-2-2,-5-5 1,-1 1 1,5-5-1,1-1 0,-2-2 2,2-3-5,1 1 1,-2-4 1,3 1 0,0-2 1,-2-1-2,-3-1 2,3 0-2,0-1-1,4-3-2,0 1 0,-2-3-1,2-3-1,-2 2 1,2 1-1,-7-6-1,2 1 3,-4-2-2,1 1 2,-3-3-3,2 3 4,2-5-4,-4 2 1,-1 4 4,0 0-4,-2 0 4,-2 3-4,-5 0 4,0 3 0,-5 4 0,-6 1 3,1-1-6,-3 1 6,1 5-5,-5 3 5,-2 3-6,-2 6 2,1 2 0,-5 6 0,3 8-8,-5 8 3,-3 10 0,-2 10-4,-2 9-4,-4 10-8,-9 0-16,8 23-53,-18 3-49,0 0-2,0 0-5,-2 22 2</inkml:trace>
  <inkml:trace contextRef="#ctx0" brushRef="#br0" timeOffset="1">5571 15854 216,'0'0'125,"0"0"-1,-10-14 1,-2 1-75,12 13-18,-13-19-4,13 19-8,-10-17-6,10 17-4,-17-13-2,17 13-3,-19-9-1,19 9-2,-20-3 1,20 3 0,-24 4-1,24-4-1,-20 21 0,9-1 1,6 4-1,-3 8 1,7 4-3,6 2-2,0-1 5,7-2-5,-2-5 6,6-8-7,2-9 8,3-9-7,0-8 3,-3-6 6,3-11-9,-5-2 5,-1-3-6,-2 0 7,-8 2-7,1-1 6,-6 4 0,-7 2-5,-2 6 4,9 13 1,-25-14 0,8 11 0,0 4 0,4 6-1,-5 3-1,4 6 1,3 7-1,5 0 2,3 3 1,6 0-6,2-1 3,4-3-3,7-7 2,3-7-1,1-8 1,0-6 2,4-10-5,-6 2 6,3-10-2,-7 1 3,-4 0-2,-3 0 2,-7 3-1,-5 3-5,-6 4 3,-2 1 1,-2 6-1,-6 4 0,3 6 0,1 5-1,-1 3 0,3 10 1,5 1 0,5 5-3,1-2 6,7-3-6,-1-5 3,9-3-3,-11-15 3,24 0 3,-8-13-3,-2-9 1,0-2-4,-3-2 6,-2 0-2,-5-2 1,-4 4-1,-5 2-3,-3 8 2,-5 4 1,-2 2-1,-1 8 0,-1 5-1,1 2 0,3 6-4,1-1-3,6 6-13,6-18-17,-1 36-54,1-36-37,9 22-2,-9-22-3,21 12 2</inkml:trace>
  <inkml:trace contextRef="#ctx0" brushRef="#br0" timeOffset="2">1830 17069 239,'2'14'118,"-2"-14"7,24 16-9,-6-14-87,13 3-12,-2-2 13,10 5-16,1-8 2,11 2-7,0 3 0,11-4 0,1 2 2,10 4-2,6-7 4,15 3-1,2-1 1,13 2-1,10 0-1,14 5 1,12-3-5,15-3-2,6 0 1,18 1 0,10 0-4,11-5 0,8-2-1,10 0-4,9-3 2,5 5 1,13-1-3,-4-5 5,9-2-1,4 7 4,4-7-3,2-3 4,2 2-1,5-1 0,-2-4-12,5 1 7,0 1-9,2-2 9,3 1-9,3 0 8,-6-1-9,2 5 11,-6 0-1,-4 1 0,-8-2 1,-5 4 0,-14 2 0,-9 2 1,-11 0-2,-17-2-2,-11-1 1,-18 0-4,-15 5-8,-21-8-11,-10 12-40,-31-13-76,-9 4 3,-31-8-7,-17 4 1</inkml:trace>
  <inkml:trace contextRef="#ctx0" brushRef="#br0" timeOffset="3">5618 16985 252,'0'0'134,"-13"-7"-5,13 7 5,0-24-87,8 11-18,-7-6 1,-1 19-10,6-28-4,-6 28-7,0-26 0,0 26-12,-10-18 8,10 18-10,-18-5 7,18 5-2,-26 12-1,13 4 0,-4 10 0,4 8 11,-1 7 3,5-2-3,-1 0 2,5 0-12,8-8 15,1-6-15,7-6 15,9-14-16,2-9-15,8-10 14,0-5-13,2-4 16,-1-9-15,-3 0 13,-5-2-13,-9 1 14,-5 5 2,-6 8-1,-12 3 1,-3 4 0,-5 7-1,-1 7 2,-5 2-2,1 10 1,1 7-2,3 1 1,3 6-2,4-1-1,6-3 2,5-3 0,5-1-2,-5-19 1,26 0 1,-5-10 0,-1-10 0,2-3 1,-3-3 0,-3-3-3,-4 1 4,-7 7-2,-6 3 1,-9 5-1,-3 3 1,-4 9 0,-3 5-2,1 5-1,1 7-3,1 1-5,9 9-11,-2-7-42,20 10-71,-4-14-10,17 3 4,-7-14-10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20152-7289-42ED-97D3-BBB411F9F8C0}"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0E3D6-3C77-45F1-B7E2-5B66F3D24A72}" type="slidenum">
              <a:rPr lang="en-US" smtClean="0"/>
              <a:t>‹#›</a:t>
            </a:fld>
            <a:endParaRPr lang="en-US"/>
          </a:p>
        </p:txBody>
      </p:sp>
    </p:spTree>
    <p:extLst>
      <p:ext uri="{BB962C8B-B14F-4D97-AF65-F5344CB8AC3E}">
        <p14:creationId xmlns:p14="http://schemas.microsoft.com/office/powerpoint/2010/main" val="3564873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0BDF8B-C338-49A2-B495-F87D8695459E}" type="slidenum">
              <a:rPr lang="en-US" smtClean="0"/>
              <a:t>3</a:t>
            </a:fld>
            <a:endParaRPr lang="en-US"/>
          </a:p>
        </p:txBody>
      </p:sp>
    </p:spTree>
    <p:extLst>
      <p:ext uri="{BB962C8B-B14F-4D97-AF65-F5344CB8AC3E}">
        <p14:creationId xmlns:p14="http://schemas.microsoft.com/office/powerpoint/2010/main" val="170609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Gram matrices and kernel matrices — background notes</a:t>
            </a:r>
          </a:p>
          <a:p>
            <a:endParaRPr/>
          </a:p>
          <a:p>
            <a:r>
              <a:t>GRAM MATRIX</a:t>
            </a:r>
          </a:p>
          <a:p>
            <a:r>
              <a:t>• Given vectors v1,...,vn, the Gram matrix G has entries G_ij = &lt;v_i, v_j&gt; (inner products). In matrix form, if X is the n x d data matrix whose rows are the vectors, then G = X X^T (n x n). The related d x d matrix X^T X is also commonly called a Gram matrix — it is the one that appears in the OLS normal equations.</a:t>
            </a:r>
          </a:p>
          <a:p>
            <a:r>
              <a:t>• G is always symmetric and positive semi-definite: for any z, z^T G z = z^T X X^T z = ||X^T z||^2 &gt;= 0.</a:t>
            </a:r>
          </a:p>
          <a:p>
            <a:r>
              <a:t>• G is positive definite (not just semi-definite) exactly when the vectors are linearly independent. This is why OLS has a unique solution only when X has full column rank — otherwise X^T X is singular and cannot be inverted.</a:t>
            </a:r>
          </a:p>
          <a:p>
            <a:r>
              <a:t>• Interpretation: the Gram matrix records all pairwise similarities (angles and lengths) among the vectors; it determines the configuration up to rotation.</a:t>
            </a:r>
          </a:p>
          <a:p>
            <a:endParaRPr/>
          </a:p>
          <a:p>
            <a:r>
              <a:t>KERNEL MATRIX</a:t>
            </a:r>
          </a:p>
          <a:p>
            <a:r>
              <a:t>• A kernel k(x, x') is an inner product computed in some (possibly infinite-dimensional) feature space: k(x, x') = &lt;phi(x), phi(x')&gt;. The kernel matrix (or Gram matrix of the kernel) is K with K_ij = k(x_i, x_j).</a:t>
            </a:r>
          </a:p>
          <a:p>
            <a:r>
              <a:t>• So a kernel matrix is just the Gram matrix of the transformed data phi(x_1),...,phi(x_n) — hence it is symmetric PSD for any valid kernel. Mercer's theorem: a symmetric function k is a valid kernel precisely when every such K is PSD.</a:t>
            </a:r>
          </a:p>
          <a:p>
            <a:r>
              <a:t>• The 'kernel trick': algorithms that depend on the data only through inner products (ridge regression, SVMs, PCA, Gaussian processes) can be run entirely with K, without ever forming phi(x). Common choices: linear k = x^T x', polynomial (x^T x' + c)^p, RBF/Gaussian exp(-||x - x'||^2 / 2*sigma^2).</a:t>
            </a:r>
          </a:p>
          <a:p>
            <a:r>
              <a:t>• Practical note: K is n x n, so kernel methods scale with the number of observations, not the number of features. Numerically K is often only PSD (near-singular), so a small ridge term lambda*I is added to make it PD and safely invertible.</a:t>
            </a:r>
          </a:p>
          <a:p>
            <a:endParaRPr/>
          </a:p>
          <a:p>
            <a:r>
              <a:t>WHY THIS MATTERS HERE</a:t>
            </a:r>
          </a:p>
          <a:p>
            <a:r>
              <a:t>• Both are canonical examples of symmetric PSD matrices, the same property we need for Hessians: PSD Hessian everywhere means the objective is convex, and a PD Hessian at a critical point certifies a strict local minimum.</a:t>
            </a:r>
          </a:p>
          <a:p>
            <a:endParaRPr lang="en-US"/>
          </a:p>
          <a:p>
            <a:r>
              <a:rPr lang="en-US"/>
              <a:t>WHY "SOMETIMES" FOR HESSIAN MATRICES?</a:t>
            </a:r>
          </a:p>
          <a:p>
            <a:r>
              <a:rPr lang="en-US"/>
              <a:t>• Unlike Gram, kernel, and covariance matrices, a Hessian is not PD/PSD by construction — it only is under conditions.</a:t>
            </a:r>
          </a:p>
          <a:p>
            <a:r>
              <a:rPr lang="en-US"/>
              <a:t>• Symmetry is essentially free: if f is twice continuously differentiable, mixed partials commute (Clairaut/Schwarz), so the Hessian is symmetric. Positive (semi-)definiteness is not free.</a:t>
            </a:r>
          </a:p>
          <a:p>
            <a:r>
              <a:rPr lang="en-US"/>
              <a:t>• The Hessian is PSD at every point exactly when f is convex, and PD at every point when f is strictly convex (e.g., squared-error loss, regularized logistic regression).</a:t>
            </a:r>
          </a:p>
          <a:p>
            <a:r>
              <a:rPr lang="en-US"/>
              <a:t>• If f is nonconvex (e.g., a neural network loss), the Hessian is indefinite over large regions — it has both positive and negative eigenvalues, which is precisely what a saddle point is — and it is negative definite near a local maximum.</a:t>
            </a:r>
          </a:p>
          <a:p>
            <a:r>
              <a:rPr lang="en-US"/>
              <a:t>• Locally, the second-order necessary condition only guarantees the Hessian is PSD AT a local minimizer, not at arbitrary points.</a:t>
            </a:r>
          </a:p>
          <a:p>
            <a:r>
              <a:rPr lang="en-US"/>
              <a:t>• Bottom line: Gram/kernel/covariance matrices are always PSD; a Hessian is PSD only when the function is convex or you are at a minimum. Hence "sometimes."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proof on board</a:t>
            </a:r>
          </a:p>
        </p:txBody>
      </p:sp>
      <p:sp>
        <p:nvSpPr>
          <p:cNvPr id="4" name="Slide Number Placeholder 3"/>
          <p:cNvSpPr>
            <a:spLocks noGrp="1"/>
          </p:cNvSpPr>
          <p:nvPr>
            <p:ph type="sldNum" sz="quarter" idx="10"/>
          </p:nvPr>
        </p:nvSpPr>
        <p:spPr/>
        <p:txBody>
          <a:bodyPr/>
          <a:lstStyle/>
          <a:p>
            <a:fld id="{BB0BDF8B-C338-49A2-B495-F87D8695459E}" type="slidenum">
              <a:rPr lang="en-US" smtClean="0"/>
              <a:t>15</a:t>
            </a:fld>
            <a:endParaRPr lang="en-US"/>
          </a:p>
        </p:txBody>
      </p:sp>
    </p:spTree>
    <p:extLst>
      <p:ext uri="{BB962C8B-B14F-4D97-AF65-F5344CB8AC3E}">
        <p14:creationId xmlns:p14="http://schemas.microsoft.com/office/powerpoint/2010/main" val="2833320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cover some</a:t>
            </a:r>
            <a:r>
              <a:rPr lang="en-US" baseline="0" dirty="0"/>
              <a:t> of these optimization methods in more detail in my deep learning class next semester as they become really important in that context</a:t>
            </a:r>
          </a:p>
          <a:p>
            <a:endParaRPr lang="en-US" baseline="0" dirty="0"/>
          </a:p>
          <a:p>
            <a:r>
              <a:rPr lang="en-US" baseline="0" dirty="0"/>
              <a:t>For the initialization question, draw an example on the board</a:t>
            </a:r>
            <a:endParaRPr lang="en-US" dirty="0"/>
          </a:p>
        </p:txBody>
      </p:sp>
      <p:sp>
        <p:nvSpPr>
          <p:cNvPr id="4" name="Slide Number Placeholder 3"/>
          <p:cNvSpPr>
            <a:spLocks noGrp="1"/>
          </p:cNvSpPr>
          <p:nvPr>
            <p:ph type="sldNum" sz="quarter" idx="10"/>
          </p:nvPr>
        </p:nvSpPr>
        <p:spPr/>
        <p:txBody>
          <a:bodyPr/>
          <a:lstStyle/>
          <a:p>
            <a:fld id="{BB0BDF8B-C338-49A2-B495-F87D8695459E}" type="slidenum">
              <a:rPr lang="en-US" smtClean="0"/>
              <a:t>23</a:t>
            </a:fld>
            <a:endParaRPr lang="en-US"/>
          </a:p>
        </p:txBody>
      </p:sp>
    </p:spTree>
    <p:extLst>
      <p:ext uri="{BB962C8B-B14F-4D97-AF65-F5344CB8AC3E}">
        <p14:creationId xmlns:p14="http://schemas.microsoft.com/office/powerpoint/2010/main" val="1988444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Recall that </a:t>
                </a:r>
                <a14:m>
                  <m:oMath xmlns:m="http://schemas.openxmlformats.org/officeDocument/2006/math">
                    <m:r>
                      <a:rPr lang="en-US" b="0" i="1" smtClean="0">
                        <a:latin typeface="Cambria Math" panose="02040503050406030204" pitchFamily="18" charset="0"/>
                      </a:rPr>
                      <m:t>𝐿</m:t>
                    </m:r>
                  </m:oMath>
                </a14:m>
                <a:r>
                  <a:rPr lang="en-US" dirty="0"/>
                  <a:t> is the loss function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𝜃</m:t>
                        </m:r>
                      </m:sub>
                    </m:sSub>
                  </m:oMath>
                </a14:m>
                <a:r>
                  <a:rPr lang="en-US" dirty="0"/>
                  <a:t> is</a:t>
                </a:r>
                <a:r>
                  <a:rPr lang="en-US" baseline="0" dirty="0"/>
                  <a:t> either our classification or regression function that depends on the parameters </a:t>
                </a:r>
                <a14:m>
                  <m:oMath xmlns:m="http://schemas.openxmlformats.org/officeDocument/2006/math">
                    <m:r>
                      <a:rPr lang="en-US" b="0" i="1" baseline="0" smtClean="0">
                        <a:latin typeface="Cambria Math" panose="02040503050406030204" pitchFamily="18" charset="0"/>
                      </a:rPr>
                      <m:t>𝜃</m:t>
                    </m:r>
                  </m:oMath>
                </a14:m>
                <a:endParaRPr lang="en-US" dirty="0"/>
              </a:p>
            </p:txBody>
          </p:sp>
        </mc:Choice>
        <mc:Fallback xmlns="">
          <p:sp>
            <p:nvSpPr>
              <p:cNvPr id="3" name="Notes Placeholder 2"/>
              <p:cNvSpPr>
                <a:spLocks noGrp="1"/>
              </p:cNvSpPr>
              <p:nvPr>
                <p:ph type="body" idx="1"/>
              </p:nvPr>
            </p:nvSpPr>
            <p:spPr/>
            <p:txBody>
              <a:bodyPr/>
              <a:lstStyle/>
              <a:p>
                <a:r>
                  <a:rPr lang="en-US" dirty="0" smtClean="0"/>
                  <a:t>Recall that </a:t>
                </a:r>
                <a:r>
                  <a:rPr lang="en-US" b="0" i="0" smtClean="0">
                    <a:latin typeface="Cambria Math" panose="02040503050406030204" pitchFamily="18" charset="0"/>
                  </a:rPr>
                  <a:t>𝐿</a:t>
                </a:r>
                <a:r>
                  <a:rPr lang="en-US" dirty="0" smtClean="0"/>
                  <a:t> is the loss function and </a:t>
                </a:r>
                <a:r>
                  <a:rPr lang="en-US" b="0" i="0" smtClean="0">
                    <a:latin typeface="Cambria Math" panose="02040503050406030204" pitchFamily="18" charset="0"/>
                  </a:rPr>
                  <a:t>𝑓_𝜃</a:t>
                </a:r>
                <a:r>
                  <a:rPr lang="en-US" dirty="0" smtClean="0"/>
                  <a:t> is</a:t>
                </a:r>
                <a:r>
                  <a:rPr lang="en-US" baseline="0" dirty="0" smtClean="0"/>
                  <a:t> either our classification or regression function that depends on the parameters </a:t>
                </a:r>
                <a:r>
                  <a:rPr lang="en-US" b="0" i="0" baseline="0" smtClean="0">
                    <a:latin typeface="Cambria Math" panose="02040503050406030204" pitchFamily="18" charset="0"/>
                  </a:rPr>
                  <a:t>𝜃</a:t>
                </a:r>
                <a:endParaRPr lang="en-US" dirty="0"/>
              </a:p>
            </p:txBody>
          </p:sp>
        </mc:Fallback>
      </mc:AlternateContent>
      <p:sp>
        <p:nvSpPr>
          <p:cNvPr id="4" name="Slide Number Placeholder 3"/>
          <p:cNvSpPr>
            <a:spLocks noGrp="1"/>
          </p:cNvSpPr>
          <p:nvPr>
            <p:ph type="sldNum" sz="quarter" idx="10"/>
          </p:nvPr>
        </p:nvSpPr>
        <p:spPr/>
        <p:txBody>
          <a:bodyPr/>
          <a:lstStyle/>
          <a:p>
            <a:fld id="{BB0BDF8B-C338-49A2-B495-F87D8695459E}" type="slidenum">
              <a:rPr lang="en-US" smtClean="0"/>
              <a:t>26</a:t>
            </a:fld>
            <a:endParaRPr lang="en-US"/>
          </a:p>
        </p:txBody>
      </p:sp>
    </p:spTree>
    <p:extLst>
      <p:ext uri="{BB962C8B-B14F-4D97-AF65-F5344CB8AC3E}">
        <p14:creationId xmlns:p14="http://schemas.microsoft.com/office/powerpoint/2010/main" val="3981810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Newton’s method approximates the objective function with a quadratic</a:t>
            </a:r>
            <a:r>
              <a:rPr lang="en-US" baseline="0"/>
              <a:t> function and then jumps to the minimum of that quadratic function. Repeat until convergence.</a:t>
            </a:r>
            <a:endParaRPr lang="en-US"/>
          </a:p>
        </p:txBody>
      </p:sp>
      <p:sp>
        <p:nvSpPr>
          <p:cNvPr id="4" name="Slide Number Placeholder 3"/>
          <p:cNvSpPr>
            <a:spLocks noGrp="1"/>
          </p:cNvSpPr>
          <p:nvPr>
            <p:ph type="sldNum" sz="quarter" idx="10"/>
          </p:nvPr>
        </p:nvSpPr>
        <p:spPr/>
        <p:txBody>
          <a:bodyPr/>
          <a:lstStyle/>
          <a:p>
            <a:fld id="{BB0BDF8B-C338-49A2-B495-F87D8695459E}" type="slidenum">
              <a:rPr lang="en-US" smtClean="0"/>
              <a:t>32</a:t>
            </a:fld>
            <a:endParaRPr lang="en-US"/>
          </a:p>
        </p:txBody>
      </p:sp>
    </p:spTree>
    <p:extLst>
      <p:ext uri="{BB962C8B-B14F-4D97-AF65-F5344CB8AC3E}">
        <p14:creationId xmlns:p14="http://schemas.microsoft.com/office/powerpoint/2010/main" val="1157683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10/1/2026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814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10/1/2026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97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10/1/2026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602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10/1/2026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10/1/2026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7209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10/1/2026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94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10/1/2026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040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10/1/2026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910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10/1/2026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766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10/1/2026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836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10/1/2026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5788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Subtitle"/>
          <p:cNvSpPr txBox="1">
            <a:spLocks noGrp="1"/>
          </p:cNvSpPr>
          <p:nvPr>
            <p:ph type="body" sz="quarter" idx="21" hasCustomPrompt="1"/>
          </p:nvPr>
        </p:nvSpPr>
        <p:spPr>
          <a:xfrm>
            <a:off x="654844" y="1017985"/>
            <a:ext cx="10882313" cy="473273"/>
          </a:xfrm>
          <a:prstGeom prst="rect">
            <a:avLst/>
          </a:prstGeom>
        </p:spPr>
        <p:txBody>
          <a:bodyPr/>
          <a:lstStyle>
            <a:lvl1pPr marL="0" indent="0" defTabSz="178587">
              <a:spcBef>
                <a:spcPts val="0"/>
              </a:spcBef>
              <a:buSzTx/>
              <a:buNone/>
              <a:defRPr sz="2250">
                <a:latin typeface="+mn-lt"/>
                <a:ea typeface="+mn-ea"/>
                <a:cs typeface="+mn-cs"/>
                <a:sym typeface="Produkt Extralight"/>
              </a:defRPr>
            </a:lvl1pPr>
          </a:lstStyle>
          <a:p>
            <a:r>
              <a:t>Slide Subtitle</a:t>
            </a:r>
          </a:p>
        </p:txBody>
      </p:sp>
      <p:sp>
        <p:nvSpPr>
          <p:cNvPr id="43" name="Slide Title"/>
          <p:cNvSpPr txBox="1">
            <a:spLocks noGrp="1"/>
          </p:cNvSpPr>
          <p:nvPr>
            <p:ph type="title" hasCustomPrompt="1"/>
          </p:nvPr>
        </p:nvSpPr>
        <p:spPr>
          <a:prstGeom prst="rect">
            <a:avLst/>
          </a:prstGeom>
        </p:spPr>
        <p:txBody>
          <a:bodyPr/>
          <a:lstStyle/>
          <a:p>
            <a:r>
              <a:t>Slide 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01"/>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4677566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10/1/2026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45446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 id="2147483687" r:id="rId12"/>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9_0.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3.xml"/><Relationship Id="rId7" Type="http://schemas.openxmlformats.org/officeDocument/2006/relationships/image" Target="../media/image4.gif"/><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7.png"/><Relationship Id="rId11" Type="http://schemas.openxmlformats.org/officeDocument/2006/relationships/image" Target="../media/image10.png"/><Relationship Id="rId5" Type="http://schemas.openxmlformats.org/officeDocument/2006/relationships/slideLayout" Target="../slideLayouts/slideLayout2.xml"/><Relationship Id="rId10" Type="http://schemas.openxmlformats.org/officeDocument/2006/relationships/image" Target="../media/image9.png"/><Relationship Id="rId4" Type="http://schemas.openxmlformats.org/officeDocument/2006/relationships/tags" Target="../tags/tag4.xm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10D_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microsoft.com/office/2018/10/relationships/comments" Target="../comments/modernComment_110_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microsoft.com/office/2018/10/relationships/comments" Target="../comments/modernComment_15A_1182E7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microsoft.com/office/2018/10/relationships/comments" Target="../comments/modernComment_10E_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75AB6A9-9016-16C9-4677-463285D47AC2}"/>
              </a:ext>
            </a:extLst>
          </p:cNvPr>
          <p:cNvPicPr>
            <a:picLocks noChangeAspect="1"/>
          </p:cNvPicPr>
          <p:nvPr/>
        </p:nvPicPr>
        <p:blipFill>
          <a:blip r:embed="rId2"/>
          <a:srcRect l="8264" t="9091" r="827"/>
          <a:stretch>
            <a:fillRect/>
          </a:stretch>
        </p:blipFill>
        <p:spPr>
          <a:xfrm>
            <a:off x="20" y="0"/>
            <a:ext cx="12191980" cy="6857990"/>
          </a:xfrm>
          <a:prstGeom prst="rect">
            <a:avLst/>
          </a:prstGeom>
        </p:spPr>
      </p:pic>
      <p:sp>
        <p:nvSpPr>
          <p:cNvPr id="2" name="Title 1">
            <a:extLst>
              <a:ext uri="{FF2B5EF4-FFF2-40B4-BE49-F238E27FC236}">
                <a16:creationId xmlns:a16="http://schemas.microsoft.com/office/drawing/2014/main" id="{09F3EC0C-B664-18E2-FAA6-07592A24EF44}"/>
              </a:ext>
            </a:extLst>
          </p:cNvPr>
          <p:cNvSpPr>
            <a:spLocks noGrp="1"/>
          </p:cNvSpPr>
          <p:nvPr>
            <p:ph type="ctrTitle"/>
          </p:nvPr>
        </p:nvSpPr>
        <p:spPr>
          <a:xfrm>
            <a:off x="320040" y="5702710"/>
            <a:ext cx="7983068" cy="974347"/>
          </a:xfrm>
          <a:ln>
            <a:noFill/>
          </a:ln>
        </p:spPr>
        <p:txBody>
          <a:bodyPr anchor="ctr">
            <a:normAutofit/>
          </a:bodyPr>
          <a:lstStyle/>
          <a:p>
            <a:r>
              <a:rPr lang="en-US" sz="3600" dirty="0"/>
              <a:t>Gradient Descent</a:t>
            </a:r>
          </a:p>
        </p:txBody>
      </p:sp>
    </p:spTree>
    <p:extLst>
      <p:ext uri="{BB962C8B-B14F-4D97-AF65-F5344CB8AC3E}">
        <p14:creationId xmlns:p14="http://schemas.microsoft.com/office/powerpoint/2010/main" val="351399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Many (all?) machine learning problems can be posed as a minimization or maximization problem</a:t>
            </a:r>
          </a:p>
          <a:p>
            <a:r>
              <a:rPr lang="en-US" dirty="0"/>
              <a:t>In some cases, a closed-form solution exists</a:t>
            </a:r>
          </a:p>
          <a:p>
            <a:pPr lvl="1"/>
            <a:r>
              <a:rPr lang="en-US" dirty="0"/>
              <a:t>E.g., linear regression</a:t>
            </a:r>
          </a:p>
          <a:p>
            <a:r>
              <a:rPr lang="en-US" dirty="0"/>
              <a:t>Most of the time, a closed-form (analytic) solution </a:t>
            </a:r>
            <a:r>
              <a:rPr lang="en-US" u="sng" dirty="0"/>
              <a:t>doesn’t</a:t>
            </a:r>
            <a:r>
              <a:rPr lang="en-US" dirty="0"/>
              <a:t> exist</a:t>
            </a:r>
          </a:p>
          <a:p>
            <a:pPr lvl="1"/>
            <a:r>
              <a:rPr lang="en-US" dirty="0"/>
              <a:t>E.g., logistic regression</a:t>
            </a:r>
          </a:p>
          <a:p>
            <a:r>
              <a:rPr lang="en-US" dirty="0"/>
              <a:t>We can solve these problems using optimization theory</a:t>
            </a:r>
          </a:p>
        </p:txBody>
      </p:sp>
      <p:sp>
        <p:nvSpPr>
          <p:cNvPr id="3" name="Title 2"/>
          <p:cNvSpPr>
            <a:spLocks noGrp="1"/>
          </p:cNvSpPr>
          <p:nvPr>
            <p:ph type="title"/>
          </p:nvPr>
        </p:nvSpPr>
        <p:spPr/>
        <p:txBody>
          <a:bodyPr/>
          <a:lstStyle/>
          <a:p>
            <a:r>
              <a:rPr lang="en-US" dirty="0"/>
              <a:t>Optimization in machine learning</a:t>
            </a:r>
          </a:p>
        </p:txBody>
      </p:sp>
    </p:spTree>
    <p:extLst>
      <p:ext uri="{BB962C8B-B14F-4D97-AF65-F5344CB8AC3E}">
        <p14:creationId xmlns:p14="http://schemas.microsoft.com/office/powerpoint/2010/main" val="417100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267119" y="1522929"/>
                <a:ext cx="8821356" cy="5670781"/>
              </a:xfrm>
            </p:spPr>
            <p:txBody>
              <a:bodyPr>
                <a:normAutofit/>
              </a:bodyPr>
              <a:lstStyle/>
              <a:p>
                <a:r>
                  <a:rPr lang="en-US" dirty="0"/>
                  <a:t>An </a:t>
                </a:r>
                <a:r>
                  <a:rPr lang="en-US" i="1" dirty="0"/>
                  <a:t>unconstrained optimization problem </a:t>
                </a:r>
                <a:r>
                  <a:rPr lang="en-US" dirty="0"/>
                  <a:t>has the form</a:t>
                </a:r>
              </a:p>
              <a:p>
                <a:pPr marL="0" indent="0">
                  <a:buNone/>
                </a:pPr>
                <a14:m>
                  <m:oMathPara xmlns:m="http://schemas.openxmlformats.org/officeDocument/2006/math">
                    <m:oMath>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1" i="1" smtClean="0">
                                  <a:latin typeface="Cambria Math" panose="02040503050406030204" pitchFamily="18" charset="0"/>
                                </a:rPr>
                                <m:t>𝒙</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lim>
                          </m:limLow>
                        </m:fName>
                        <m:e>
                          <m:r>
                            <a:rPr lang="en-US" b="0" i="1" smtClean="0">
                              <a:latin typeface="Cambria Math" panose="02040503050406030204" pitchFamily="18" charset="0"/>
                            </a:rPr>
                            <m:t>𝑓</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e>
                      </m:func>
                    </m:oMath>
                  </m:oMathPara>
                </a14:m>
                <a:endParaRPr lang="en-US" dirty="0"/>
              </a:p>
              <a:p>
                <a:pPr marL="457200" lvl="1" indent="0">
                  <a:buNone/>
                </a:pPr>
                <a:r>
                  <a:rPr lang="en-US" dirty="0"/>
                  <a:t>where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r>
                      <a:rPr lang="en-US" b="0" i="1" smtClean="0">
                        <a:latin typeface="Cambria Math" panose="02040503050406030204" pitchFamily="18" charset="0"/>
                      </a:rPr>
                      <m:t>→</m:t>
                    </m:r>
                    <m:r>
                      <a:rPr lang="en-US" b="0" i="1" smtClean="0">
                        <a:latin typeface="Cambria Math" panose="02040503050406030204" pitchFamily="18" charset="0"/>
                      </a:rPr>
                      <m:t>ℝ</m:t>
                    </m:r>
                  </m:oMath>
                </a14:m>
                <a:r>
                  <a:rPr lang="en-US" dirty="0"/>
                  <a:t> is called the </a:t>
                </a:r>
                <a:r>
                  <a:rPr lang="en-US" i="1" dirty="0"/>
                  <a:t>objective function</a:t>
                </a:r>
                <a:r>
                  <a:rPr lang="en-US" dirty="0"/>
                  <a:t>.</a:t>
                </a:r>
              </a:p>
              <a:p>
                <a:pPr lvl="1"/>
                <a:r>
                  <a:rPr lang="en-US" dirty="0"/>
                  <a:t>What about maximization?</a:t>
                </a:r>
              </a:p>
              <a:p>
                <a:r>
                  <a:rPr lang="en-US" dirty="0"/>
                  <a:t>A point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r>
                  <a:rPr lang="en-US" dirty="0"/>
                  <a:t> is called a </a:t>
                </a:r>
                <a:r>
                  <a:rPr lang="en-US" i="1" dirty="0"/>
                  <a:t>local minimizer </a:t>
                </a:r>
                <a:r>
                  <a:rPr lang="en-US" dirty="0"/>
                  <a:t>if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&gt;0</m:t>
                    </m:r>
                  </m:oMath>
                </a14:m>
                <a:r>
                  <a:rPr lang="en-US" dirty="0"/>
                  <a:t> </a:t>
                </a:r>
                <a:br>
                  <a:rPr lang="en-US" dirty="0"/>
                </a:br>
                <a:r>
                  <a:rPr lang="en-US" dirty="0"/>
                  <a:t>such that </a:t>
                </a:r>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𝑓</m:t>
                    </m:r>
                    <m:d>
                      <m:dPr>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0" i="1" smtClean="0">
                        <a:latin typeface="Cambria Math" panose="02040503050406030204" pitchFamily="18" charset="0"/>
                      </a:rPr>
                      <m:t>∀</m:t>
                    </m:r>
                    <m:r>
                      <a:rPr lang="en-US" b="1" i="1" smtClean="0">
                        <a:latin typeface="Cambria Math" panose="02040503050406030204" pitchFamily="18" charset="0"/>
                      </a:rPr>
                      <m:t>𝒙</m:t>
                    </m:r>
                  </m:oMath>
                </a14:m>
                <a:r>
                  <a:rPr lang="en-US" dirty="0"/>
                  <a:t> satisfying </a:t>
                </a:r>
                <a14:m>
                  <m:oMath xmlns:m="http://schemas.openxmlformats.org/officeDocument/2006/math">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𝒙</m:t>
                        </m:r>
                        <m:r>
                          <a:rPr lang="en-US" b="0"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m:t>
                            </m:r>
                          </m:sup>
                        </m:sSup>
                      </m:e>
                    </m:d>
                    <m:r>
                      <a:rPr lang="en-US" b="0" i="1" smtClean="0">
                        <a:latin typeface="Cambria Math" panose="02040503050406030204" pitchFamily="18" charset="0"/>
                      </a:rPr>
                      <m:t>&lt;</m:t>
                    </m:r>
                    <m:r>
                      <a:rPr lang="en-US" b="0" i="1" smtClean="0">
                        <a:latin typeface="Cambria Math" panose="02040503050406030204" pitchFamily="18" charset="0"/>
                      </a:rPr>
                      <m:t>𝑟</m:t>
                    </m:r>
                  </m:oMath>
                </a14:m>
                <a:endParaRPr lang="en-US" b="0" dirty="0"/>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oMath>
                </a14:m>
                <a:r>
                  <a:rPr lang="en-US" dirty="0"/>
                  <a:t> is called a </a:t>
                </a:r>
                <a:r>
                  <a:rPr lang="en-US" i="1" dirty="0"/>
                  <a:t>global minimizer </a:t>
                </a:r>
                <a:r>
                  <a:rPr lang="en-US" dirty="0"/>
                  <a:t>if</a:t>
                </a:r>
              </a:p>
              <a:p>
                <a:pPr lvl="1"/>
                <a:r>
                  <a:rPr lang="en-US" dirty="0"/>
                  <a:t> </a:t>
                </a:r>
                <a14:m>
                  <m:oMath xmlns:m="http://schemas.openxmlformats.org/officeDocument/2006/math">
                    <m:r>
                      <a:rPr lang="en-US" b="0" i="1" smtClean="0">
                        <a:latin typeface="Cambria Math" panose="02040503050406030204" pitchFamily="18" charset="0"/>
                      </a:rPr>
                      <m:t>𝑓</m:t>
                    </m:r>
                    <m:d>
                      <m:dPr>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0" i="1" smtClean="0">
                        <a:latin typeface="Cambria Math" panose="02040503050406030204" pitchFamily="18" charset="0"/>
                      </a:rPr>
                      <m:t> ∀</m:t>
                    </m:r>
                    <m:r>
                      <a:rPr lang="en-US" b="1" i="1" smtClean="0">
                        <a:latin typeface="Cambria Math" panose="02040503050406030204" pitchFamily="18" charset="0"/>
                      </a:rPr>
                      <m:t>𝒙</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endParaRPr lang="en-US" dirty="0"/>
              </a:p>
              <a:p>
                <a:r>
                  <a:rPr lang="en-US" dirty="0"/>
                  <a:t>Is a global minimizer also a local minimizer?</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267119" y="1522929"/>
                <a:ext cx="8821356" cy="5670781"/>
              </a:xfrm>
              <a:blipFill>
                <a:blip r:embed="rId3"/>
                <a:stretch>
                  <a:fillRect l="-622" t="-538"/>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Unconstrained Optimization</a:t>
            </a:r>
          </a:p>
        </p:txBody>
      </p:sp>
      <p:grpSp>
        <p:nvGrpSpPr>
          <p:cNvPr id="13" name="Group 12"/>
          <p:cNvGrpSpPr/>
          <p:nvPr/>
        </p:nvGrpSpPr>
        <p:grpSpPr>
          <a:xfrm>
            <a:off x="6923532" y="3099783"/>
            <a:ext cx="5334814" cy="3902536"/>
            <a:chOff x="4114800" y="3095211"/>
            <a:chExt cx="5334814" cy="3902536"/>
          </a:xfrm>
        </p:grpSpPr>
        <p:grpSp>
          <p:nvGrpSpPr>
            <p:cNvPr id="4" name="Group 3"/>
            <p:cNvGrpSpPr/>
            <p:nvPr/>
          </p:nvGrpSpPr>
          <p:grpSpPr>
            <a:xfrm>
              <a:off x="4114800" y="3095211"/>
              <a:ext cx="5334814" cy="3902536"/>
              <a:chOff x="4114800" y="2895595"/>
              <a:chExt cx="5334814" cy="3902536"/>
            </a:xfrm>
          </p:grpSpPr>
          <p:pic>
            <p:nvPicPr>
              <p:cNvPr id="5" name="Picture 4"/>
              <p:cNvPicPr>
                <a:picLocks noChangeAspect="1"/>
              </p:cNvPicPr>
              <p:nvPr/>
            </p:nvPicPr>
            <p:blipFill>
              <a:blip r:embed="rId4"/>
              <a:stretch>
                <a:fillRect/>
              </a:stretch>
            </p:blipFill>
            <p:spPr>
              <a:xfrm>
                <a:off x="4114800" y="2895595"/>
                <a:ext cx="5334814" cy="3902536"/>
              </a:xfrm>
              <a:prstGeom prst="rect">
                <a:avLst/>
              </a:prstGeom>
            </p:spPr>
          </p:pic>
          <p:sp>
            <p:nvSpPr>
              <p:cNvPr id="6" name="Rectangle 5"/>
              <p:cNvSpPr/>
              <p:nvPr/>
            </p:nvSpPr>
            <p:spPr>
              <a:xfrm>
                <a:off x="6713157" y="3074605"/>
                <a:ext cx="381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p:cNvSpPr txBox="1"/>
            <p:nvPr/>
          </p:nvSpPr>
          <p:spPr>
            <a:xfrm>
              <a:off x="4958366" y="5608749"/>
              <a:ext cx="676142" cy="646331"/>
            </a:xfrm>
            <a:prstGeom prst="rect">
              <a:avLst/>
            </a:prstGeom>
            <a:noFill/>
          </p:spPr>
          <p:txBody>
            <a:bodyPr wrap="square" rtlCol="0">
              <a:spAutoFit/>
            </a:bodyPr>
            <a:lstStyle/>
            <a:p>
              <a:r>
                <a:rPr lang="en-US" dirty="0"/>
                <a:t>Local</a:t>
              </a:r>
            </a:p>
          </p:txBody>
        </p:sp>
        <p:sp>
          <p:nvSpPr>
            <p:cNvPr id="8" name="TextBox 7"/>
            <p:cNvSpPr txBox="1"/>
            <p:nvPr/>
          </p:nvSpPr>
          <p:spPr>
            <a:xfrm>
              <a:off x="6388081" y="6147515"/>
              <a:ext cx="788251" cy="646331"/>
            </a:xfrm>
            <a:prstGeom prst="rect">
              <a:avLst/>
            </a:prstGeom>
            <a:noFill/>
          </p:spPr>
          <p:txBody>
            <a:bodyPr wrap="square" rtlCol="0">
              <a:spAutoFit/>
            </a:bodyPr>
            <a:lstStyle/>
            <a:p>
              <a:r>
                <a:rPr lang="en-US" dirty="0"/>
                <a:t>Global</a:t>
              </a:r>
            </a:p>
          </p:txBody>
        </p:sp>
        <p:cxnSp>
          <p:nvCxnSpPr>
            <p:cNvPr id="10" name="Straight Arrow Connector 9"/>
            <p:cNvCxnSpPr/>
            <p:nvPr/>
          </p:nvCxnSpPr>
          <p:spPr>
            <a:xfrm flipV="1">
              <a:off x="5634508" y="5679583"/>
              <a:ext cx="631064" cy="1138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7094157" y="6194738"/>
              <a:ext cx="427105" cy="13744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 name="TextBox 8"/>
              <p:cNvSpPr txBox="1"/>
              <p:nvPr/>
            </p:nvSpPr>
            <p:spPr>
              <a:xfrm>
                <a:off x="8758805" y="1720355"/>
                <a:ext cx="1772239" cy="646331"/>
              </a:xfrm>
              <a:prstGeom prst="rect">
                <a:avLst/>
              </a:prstGeom>
              <a:noFill/>
            </p:spPr>
            <p:txBody>
              <a:bodyPr wrap="square" rtlCol="0">
                <a:spAutoFit/>
              </a:bodyPr>
              <a:lstStyle/>
              <a:p>
                <a14:m>
                  <m:oMath xmlns:m="http://schemas.openxmlformats.org/officeDocument/2006/math">
                    <m:r>
                      <a:rPr lang="en-US" i="1">
                        <a:latin typeface="Cambria Math" panose="02040503050406030204" pitchFamily="18" charset="0"/>
                      </a:rPr>
                      <m:t>∃=</m:t>
                    </m:r>
                  </m:oMath>
                </a14:m>
                <a:r>
                  <a:rPr lang="en-US" dirty="0"/>
                  <a:t>“there exists”</a:t>
                </a:r>
              </a:p>
            </p:txBody>
          </p:sp>
        </mc:Choice>
        <mc:Fallback xmlns="">
          <p:sp>
            <p:nvSpPr>
              <p:cNvPr id="9" name="TextBox 8"/>
              <p:cNvSpPr txBox="1">
                <a:spLocks noRot="1" noChangeAspect="1" noMove="1" noResize="1" noEditPoints="1" noAdjustHandles="1" noChangeArrowheads="1" noChangeShapeType="1" noTextEdit="1"/>
              </p:cNvSpPr>
              <p:nvPr/>
            </p:nvSpPr>
            <p:spPr>
              <a:xfrm>
                <a:off x="8758805" y="1720355"/>
                <a:ext cx="1772239" cy="646331"/>
              </a:xfrm>
              <a:prstGeom prst="rect">
                <a:avLst/>
              </a:prstGeom>
              <a:blipFill>
                <a:blip r:embed="rId5"/>
                <a:stretch>
                  <a:fillRect l="-3093"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8758804" y="2373532"/>
                <a:ext cx="1772239" cy="369332"/>
              </a:xfrm>
              <a:prstGeom prst="rect">
                <a:avLst/>
              </a:prstGeom>
              <a:noFill/>
            </p:spPr>
            <p:txBody>
              <a:bodyPr wrap="square" rtlCol="0">
                <a:spAutoFit/>
              </a:bodyPr>
              <a:lstStyle/>
              <a:p>
                <a14:m>
                  <m:oMath xmlns:m="http://schemas.openxmlformats.org/officeDocument/2006/math">
                    <m:r>
                      <a:rPr lang="en-US" i="1">
                        <a:latin typeface="Cambria Math" panose="02040503050406030204" pitchFamily="18" charset="0"/>
                      </a:rPr>
                      <m:t>∀=</m:t>
                    </m:r>
                  </m:oMath>
                </a14:m>
                <a:r>
                  <a:rPr lang="en-US" dirty="0"/>
                  <a:t>“for all”</a:t>
                </a:r>
              </a:p>
            </p:txBody>
          </p:sp>
        </mc:Choice>
        <mc:Fallback xmlns="">
          <p:sp>
            <p:nvSpPr>
              <p:cNvPr id="12" name="TextBox 11"/>
              <p:cNvSpPr txBox="1">
                <a:spLocks noRot="1" noChangeAspect="1" noMove="1" noResize="1" noEditPoints="1" noAdjustHandles="1" noChangeArrowheads="1" noChangeShapeType="1" noTextEdit="1"/>
              </p:cNvSpPr>
              <p:nvPr/>
            </p:nvSpPr>
            <p:spPr>
              <a:xfrm>
                <a:off x="8758804" y="2373532"/>
                <a:ext cx="1772239" cy="369332"/>
              </a:xfrm>
              <a:prstGeom prst="rect">
                <a:avLst/>
              </a:prstGeom>
              <a:blipFill>
                <a:blip r:embed="rId6"/>
                <a:stretch>
                  <a:fillRect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122077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9"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Method 2: Gradient Descent"/>
          <p:cNvSpPr txBox="1">
            <a:spLocks noGrp="1"/>
          </p:cNvSpPr>
          <p:nvPr>
            <p:ph type="title"/>
          </p:nvPr>
        </p:nvSpPr>
        <p:spPr>
          <a:prstGeom prst="rect">
            <a:avLst/>
          </a:prstGeom>
        </p:spPr>
        <p:txBody>
          <a:bodyPr/>
          <a:lstStyle/>
          <a:p>
            <a:r>
              <a:rPr dirty="0"/>
              <a:t>Gradient Descent</a:t>
            </a:r>
            <a:r>
              <a:rPr lang="en-US" dirty="0"/>
              <a:t> (High level)</a:t>
            </a:r>
            <a:r>
              <a:rPr dirty="0"/>
              <a:t> </a:t>
            </a:r>
          </a:p>
        </p:txBody>
      </p:sp>
      <p:sp>
        <p:nvSpPr>
          <p:cNvPr id="207" name="Numerical optimization algorithm that tweaks parameters iteratively until the minimum is found…"/>
          <p:cNvSpPr txBox="1">
            <a:spLocks noGrp="1"/>
          </p:cNvSpPr>
          <p:nvPr>
            <p:ph type="body" idx="1"/>
          </p:nvPr>
        </p:nvSpPr>
        <p:spPr>
          <a:prstGeom prst="rect">
            <a:avLst/>
          </a:prstGeom>
        </p:spPr>
        <p:txBody>
          <a:bodyPr/>
          <a:lstStyle/>
          <a:p>
            <a:r>
              <a:rPr dirty="0"/>
              <a:t>Numerical optimization algorithm that tweaks parameters iteratively until the minimum is found</a:t>
            </a:r>
          </a:p>
          <a:p>
            <a:pPr lvl="1"/>
            <a:r>
              <a:rPr dirty="0"/>
              <a:t>“Descend” the gradient of the cost function in the steepest direction until the minimum is reached</a:t>
            </a:r>
          </a:p>
          <a:p>
            <a:r>
              <a:rPr dirty="0"/>
              <a:t>What is the gradient?</a:t>
            </a:r>
            <a:endParaRPr lang="en-US" dirty="0"/>
          </a:p>
          <a:p>
            <a:endParaRPr dirty="0"/>
          </a:p>
        </p:txBody>
      </p:sp>
      <p:pic>
        <p:nvPicPr>
          <p:cNvPr id="3" name="Picture 2" descr="A diagram of a curve&#10;&#10;AI-generated content may be incorrect.">
            <a:extLst>
              <a:ext uri="{FF2B5EF4-FFF2-40B4-BE49-F238E27FC236}">
                <a16:creationId xmlns:a16="http://schemas.microsoft.com/office/drawing/2014/main" id="{3B69C37E-6197-CBCD-92FD-28F01A5B860E}"/>
              </a:ext>
            </a:extLst>
          </p:cNvPr>
          <p:cNvPicPr>
            <a:picLocks noChangeAspect="1"/>
          </p:cNvPicPr>
          <p:nvPr/>
        </p:nvPicPr>
        <p:blipFill>
          <a:blip r:embed="rId3"/>
          <a:stretch>
            <a:fillRect/>
          </a:stretch>
        </p:blipFill>
        <p:spPr>
          <a:xfrm>
            <a:off x="3408436" y="3497739"/>
            <a:ext cx="4916697" cy="3277798"/>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10000"/>
              </a:bodyPr>
              <a:lstStyle/>
              <a:p>
                <a:r>
                  <a:rPr lang="en-US" dirty="0"/>
                  <a:t>Given a function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r>
                      <a:rPr lang="en-US" b="0" i="1" smtClean="0">
                        <a:latin typeface="Cambria Math" panose="02040503050406030204" pitchFamily="18" charset="0"/>
                      </a:rPr>
                      <m:t>→</m:t>
                    </m:r>
                    <m:r>
                      <a:rPr lang="en-US" b="0" i="1" smtClean="0">
                        <a:latin typeface="Cambria Math" panose="02040503050406030204" pitchFamily="18" charset="0"/>
                      </a:rPr>
                      <m:t>ℝ</m:t>
                    </m:r>
                  </m:oMath>
                </a14:m>
                <a:r>
                  <a:rPr lang="en-US" dirty="0"/>
                  <a:t>, the </a:t>
                </a:r>
                <a:r>
                  <a:rPr lang="en-US" i="1" dirty="0"/>
                  <a:t>gradient</a:t>
                </a:r>
                <a:r>
                  <a:rPr lang="en-US" dirty="0"/>
                  <a:t> of </a:t>
                </a:r>
                <a14:m>
                  <m:oMath xmlns:m="http://schemas.openxmlformats.org/officeDocument/2006/math">
                    <m:r>
                      <a:rPr lang="en-US" b="0" i="1" smtClean="0">
                        <a:latin typeface="Cambria Math" panose="02040503050406030204" pitchFamily="18" charset="0"/>
                      </a:rPr>
                      <m:t>𝑓</m:t>
                    </m:r>
                  </m:oMath>
                </a14:m>
                <a:r>
                  <a:rPr lang="en-US" dirty="0"/>
                  <a:t> at </a:t>
                </a: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𝑑</m:t>
                                </m:r>
                              </m:sub>
                            </m:sSub>
                          </m:e>
                        </m:d>
                      </m:e>
                      <m:sup>
                        <m:r>
                          <a:rPr lang="en-US" b="0" i="1" smtClean="0">
                            <a:latin typeface="Cambria Math" panose="02040503050406030204" pitchFamily="18" charset="0"/>
                          </a:rPr>
                          <m:t>𝑇</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r>
                  <a:rPr lang="en-US" dirty="0"/>
                  <a:t> is defined by</a:t>
                </a:r>
              </a:p>
              <a:p>
                <a:pPr marL="0" indent="0">
                  <a:buNone/>
                </a:pPr>
                <a:br>
                  <a:rPr lang="en-US" dirty="0"/>
                </a:br>
                <a14:m>
                  <m:oMathPara xmlns:m="http://schemas.openxmlformats.org/officeDocument/2006/math">
                    <m:oMath>
                      <m:r>
                        <a:rPr lang="en-US" b="0" i="0" smtClean="0">
                          <a:latin typeface="Cambria Math" panose="02040503050406030204" pitchFamily="18" charset="0"/>
                        </a:rPr>
                        <m:t>𝛻</m:t>
                      </m:r>
                      <m:r>
                        <a:rPr lang="en-US" b="0" i="1" smtClean="0">
                          <a:latin typeface="Cambria Math" panose="02040503050406030204" pitchFamily="18" charset="0"/>
                        </a:rPr>
                        <m:t>𝑓</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den>
                                </m:f>
                              </m:e>
                            </m:mr>
                            <m:mr>
                              <m:e>
                                <m:r>
                                  <a:rPr lang="en-US" b="0" i="1" smtClean="0">
                                    <a:latin typeface="Cambria Math" panose="02040503050406030204" pitchFamily="18" charset="0"/>
                                  </a:rPr>
                                  <m:t>⋮</m:t>
                                </m:r>
                              </m:e>
                            </m:mr>
                            <m:m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𝑑</m:t>
                                        </m:r>
                                      </m:sub>
                                    </m:sSub>
                                  </m:den>
                                </m:f>
                              </m:e>
                            </m:mr>
                          </m:m>
                        </m:e>
                      </m:d>
                      <m:r>
                        <a:rPr lang="en-US" b="0" i="1" smtClean="0">
                          <a:latin typeface="Cambria Math" panose="02040503050406030204" pitchFamily="18" charset="0"/>
                        </a:rPr>
                        <m:t>                     </m:t>
                      </m:r>
                    </m:oMath>
                  </m:oMathPara>
                </a14:m>
                <a:endParaRPr lang="en-US" dirty="0"/>
              </a:p>
              <a:p>
                <a:r>
                  <a:rPr lang="en-US" dirty="0"/>
                  <a:t>If the gradient exists for all </a:t>
                </a:r>
                <a:br>
                  <a:rPr lang="en-US" b="1" i="1" dirty="0">
                    <a:latin typeface="Cambria Math" panose="02040503050406030204" pitchFamily="18" charset="0"/>
                  </a:rPr>
                </a:b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r>
                  <a:rPr lang="en-US" dirty="0"/>
                  <a:t>, we say </a:t>
                </a:r>
                <a14:m>
                  <m:oMath xmlns:m="http://schemas.openxmlformats.org/officeDocument/2006/math">
                    <m:r>
                      <a:rPr lang="en-US" b="0" i="1" smtClean="0">
                        <a:latin typeface="Cambria Math" panose="02040503050406030204" pitchFamily="18" charset="0"/>
                      </a:rPr>
                      <m:t>𝑓</m:t>
                    </m:r>
                  </m:oMath>
                </a14:m>
                <a:r>
                  <a:rPr lang="en-US" dirty="0"/>
                  <a:t> is </a:t>
                </a:r>
                <a:r>
                  <a:rPr lang="en-US" i="1" dirty="0"/>
                  <a:t>differentiable</a:t>
                </a:r>
              </a:p>
              <a:p>
                <a:r>
                  <a:rPr lang="en-US" dirty="0"/>
                  <a:t>The gradient gives the direction </a:t>
                </a:r>
                <a:br>
                  <a:rPr lang="en-US" dirty="0"/>
                </a:br>
                <a:r>
                  <a:rPr lang="en-US" dirty="0"/>
                  <a:t>of </a:t>
                </a:r>
                <a:r>
                  <a:rPr lang="en-US" i="1" dirty="0"/>
                  <a:t>steepest ascent</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6"/>
                <a:stretch>
                  <a:fillRect l="-456" t="-979" b="-1958"/>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a:t>Gradient</a:t>
            </a:r>
          </a:p>
        </p:txBody>
      </p:sp>
      <p:grpSp>
        <p:nvGrpSpPr>
          <p:cNvPr id="4" name="Group 3"/>
          <p:cNvGrpSpPr>
            <a:grpSpLocks noChangeAspect="1"/>
          </p:cNvGrpSpPr>
          <p:nvPr/>
        </p:nvGrpSpPr>
        <p:grpSpPr>
          <a:xfrm>
            <a:off x="6649790" y="3727360"/>
            <a:ext cx="3897923" cy="2895600"/>
            <a:chOff x="2590800" y="3489379"/>
            <a:chExt cx="4333875" cy="3219451"/>
          </a:xfrm>
        </p:grpSpPr>
        <p:pic>
          <p:nvPicPr>
            <p:cNvPr id="5" name="Picture 2 2" descr="Image result for gradient direction of steepest asce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0" y="3489379"/>
              <a:ext cx="4333875" cy="321945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5486400" y="6042471"/>
              <a:ext cx="676571" cy="251429"/>
            </a:xfrm>
            <a:prstGeom prst="rect">
              <a:avLst/>
            </a:prstGeom>
          </p:spPr>
        </p:pic>
        <p:pic>
          <p:nvPicPr>
            <p:cNvPr id="7" name="Picture 6"/>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2749324" y="6545643"/>
              <a:ext cx="222476" cy="149333"/>
            </a:xfrm>
            <a:prstGeom prst="rect">
              <a:avLst/>
            </a:prstGeom>
          </p:spPr>
        </p:pic>
        <p:pic>
          <p:nvPicPr>
            <p:cNvPr id="8" name="Picture 7"/>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6172200" y="5189157"/>
              <a:ext cx="228571" cy="149333"/>
            </a:xfrm>
            <a:prstGeom prst="rect">
              <a:avLst/>
            </a:prstGeom>
          </p:spPr>
        </p:pic>
        <p:pic>
          <p:nvPicPr>
            <p:cNvPr id="9" name="Picture 8"/>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3024699" y="3492187"/>
              <a:ext cx="464762" cy="248486"/>
            </a:xfrm>
            <a:prstGeom prst="rect">
              <a:avLst/>
            </a:prstGeom>
          </p:spPr>
        </p:pic>
      </p:grpSp>
    </p:spTree>
    <p:extLst>
      <p:ext uri="{BB962C8B-B14F-4D97-AF65-F5344CB8AC3E}">
        <p14:creationId xmlns:p14="http://schemas.microsoft.com/office/powerpoint/2010/main" val="218933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439501" y="1892173"/>
                <a:ext cx="7122437" cy="4463360"/>
              </a:xfrm>
            </p:spPr>
            <p:txBody>
              <a:bodyPr>
                <a:normAutofit fontScale="85000" lnSpcReduction="20000"/>
              </a:bodyPr>
              <a:lstStyle/>
              <a:p>
                <a:r>
                  <a:rPr lang="en-US" dirty="0"/>
                  <a:t>If </a:t>
                </a:r>
                <a14:m>
                  <m:oMath xmlns:m="http://schemas.openxmlformats.org/officeDocument/2006/math">
                    <m:r>
                      <a:rPr lang="en-US" b="0" i="1" smtClean="0">
                        <a:latin typeface="Cambria Math" panose="02040503050406030204" pitchFamily="18" charset="0"/>
                      </a:rPr>
                      <m:t>𝑓</m:t>
                    </m:r>
                  </m:oMath>
                </a14:m>
                <a:r>
                  <a:rPr lang="en-US" dirty="0"/>
                  <a:t> is differentiable and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m:t>
                        </m:r>
                      </m:sup>
                    </m:sSup>
                  </m:oMath>
                </a14:m>
                <a:r>
                  <a:rPr lang="en-US" dirty="0"/>
                  <a:t> is a local minimizer of </a:t>
                </a:r>
                <a14:m>
                  <m:oMath xmlns:m="http://schemas.openxmlformats.org/officeDocument/2006/math">
                    <m:r>
                      <a:rPr lang="en-US" b="0" i="1" smtClean="0">
                        <a:latin typeface="Cambria Math" panose="02040503050406030204" pitchFamily="18" charset="0"/>
                      </a:rPr>
                      <m:t>𝑓</m:t>
                    </m:r>
                  </m:oMath>
                </a14:m>
                <a:r>
                  <a:rPr lang="en-US" dirty="0"/>
                  <a:t>, then</a:t>
                </a:r>
                <a:br>
                  <a:rPr lang="en-US" dirty="0"/>
                </a:b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𝑓</m:t>
                    </m:r>
                    <m:d>
                      <m:dPr>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r>
                      <a:rPr lang="en-US" b="1" i="1" smtClean="0">
                        <a:latin typeface="Cambria Math" panose="02040503050406030204" pitchFamily="18" charset="0"/>
                      </a:rPr>
                      <m:t>𝟎</m:t>
                    </m:r>
                    <m:r>
                      <a:rPr lang="en-US" b="0" i="1" smtClean="0">
                        <a:latin typeface="Cambria Math" panose="02040503050406030204" pitchFamily="18" charset="0"/>
                      </a:rPr>
                      <m:t>.</m:t>
                    </m:r>
                  </m:oMath>
                </a14:m>
                <a:endParaRPr lang="en-US" dirty="0"/>
              </a:p>
              <a:p>
                <a:endParaRPr lang="en-US" b="1" dirty="0"/>
              </a:p>
              <a:p>
                <a:endParaRPr lang="en-US" b="1" dirty="0"/>
              </a:p>
              <a:p>
                <a:endParaRPr lang="en-US" b="1" dirty="0"/>
              </a:p>
              <a:p>
                <a:endParaRPr lang="en-US" b="1" dirty="0"/>
              </a:p>
              <a:p>
                <a:endParaRPr lang="en-US" b="1" dirty="0"/>
              </a:p>
              <a:p>
                <a:endParaRPr lang="en-US" b="1" dirty="0"/>
              </a:p>
              <a:p>
                <a:r>
                  <a:rPr lang="en-US" dirty="0"/>
                  <a:t>Note that this condition is necessary but </a:t>
                </a:r>
                <a:r>
                  <a:rPr lang="en-US" u="sng" dirty="0"/>
                  <a:t>not</a:t>
                </a:r>
                <a:r>
                  <a:rPr lang="en-US" dirty="0"/>
                  <a:t> sufficient for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m:t>
                        </m:r>
                      </m:sup>
                    </m:sSup>
                  </m:oMath>
                </a14:m>
                <a:r>
                  <a:rPr lang="en-US" dirty="0"/>
                  <a:t> to be a local minimizer</a:t>
                </a:r>
              </a:p>
              <a:p>
                <a:pPr lvl="1"/>
                <a:r>
                  <a:rPr lang="en-US" dirty="0"/>
                  <a:t>Why?</a:t>
                </a:r>
              </a:p>
              <a:p>
                <a:r>
                  <a:rPr lang="en-US" dirty="0"/>
                  <a:t>If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𝑓</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0" i="1" smtClean="0">
                        <a:latin typeface="Cambria Math" panose="02040503050406030204" pitchFamily="18" charset="0"/>
                      </a:rPr>
                      <m:t>=0</m:t>
                    </m:r>
                  </m:oMath>
                </a14:m>
                <a:r>
                  <a:rPr lang="en-US" dirty="0"/>
                  <a:t> for some </a:t>
                </a:r>
                <a14:m>
                  <m:oMath xmlns:m="http://schemas.openxmlformats.org/officeDocument/2006/math">
                    <m:r>
                      <a:rPr lang="en-US" b="1" i="1" smtClean="0">
                        <a:latin typeface="Cambria Math" panose="02040503050406030204" pitchFamily="18" charset="0"/>
                      </a:rPr>
                      <m:t>𝒙</m:t>
                    </m:r>
                  </m:oMath>
                </a14:m>
                <a:r>
                  <a:rPr lang="en-US" dirty="0"/>
                  <a:t>, then </a:t>
                </a:r>
                <a14:m>
                  <m:oMath xmlns:m="http://schemas.openxmlformats.org/officeDocument/2006/math">
                    <m:r>
                      <a:rPr lang="en-US" b="1" i="1" smtClean="0">
                        <a:latin typeface="Cambria Math" panose="02040503050406030204" pitchFamily="18" charset="0"/>
                      </a:rPr>
                      <m:t>𝒙</m:t>
                    </m:r>
                  </m:oMath>
                </a14:m>
                <a:r>
                  <a:rPr lang="en-US" dirty="0"/>
                  <a:t> is said to be a critical point or a stationary point of </a:t>
                </a:r>
                <a14:m>
                  <m:oMath xmlns:m="http://schemas.openxmlformats.org/officeDocument/2006/math">
                    <m:r>
                      <a:rPr lang="en-US" b="0" i="1" smtClean="0">
                        <a:latin typeface="Cambria Math" panose="02040503050406030204" pitchFamily="18" charset="0"/>
                      </a:rPr>
                      <m:t>𝑓</m:t>
                    </m:r>
                  </m:oMath>
                </a14:m>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439501" y="1892173"/>
                <a:ext cx="7122437" cy="4463360"/>
              </a:xfrm>
              <a:blipFill>
                <a:blip r:embed="rId2"/>
                <a:stretch>
                  <a:fillRect l="-428" t="-955" r="-342"/>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a:t>First Order Necessary Condition</a:t>
            </a:r>
          </a:p>
        </p:txBody>
      </p:sp>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2487181" y="2361756"/>
              <a:ext cx="4009061" cy="2134488"/>
            </p14:xfrm>
          </p:contentPart>
        </mc:Choice>
        <mc:Fallback xmlns="">
          <p:pic>
            <p:nvPicPr>
              <p:cNvPr id="4" name="Ink 3"/>
              <p:cNvPicPr/>
              <p:nvPr/>
            </p:nvPicPr>
            <p:blipFill>
              <a:blip r:embed="rId4"/>
              <a:stretch>
                <a:fillRect/>
              </a:stretch>
            </p:blipFill>
            <p:spPr>
              <a:xfrm>
                <a:off x="2477822" y="2352396"/>
                <a:ext cx="4027780" cy="2153208"/>
              </a:xfrm>
              <a:prstGeom prst="rect">
                <a:avLst/>
              </a:prstGeom>
            </p:spPr>
          </p:pic>
        </mc:Fallback>
      </mc:AlternateContent>
    </p:spTree>
    <p:extLst>
      <p:ext uri="{BB962C8B-B14F-4D97-AF65-F5344CB8AC3E}">
        <p14:creationId xmlns:p14="http://schemas.microsoft.com/office/powerpoint/2010/main" val="329339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Hessian</a:t>
            </a:r>
          </a:p>
        </p:txBody>
      </p:sp>
      <mc:AlternateContent xmlns:mc="http://schemas.openxmlformats.org/markup-compatibility/2006" xmlns:a14="http://schemas.microsoft.com/office/drawing/2010/main">
        <mc:Choice Requires="a14">
          <p:sp>
            <p:nvSpPr>
              <p:cNvPr id="20" name="Body"/>
              <p:cNvSpPr txBox="1"/>
              <p:nvPr/>
            </p:nvSpPr>
            <p:spPr>
              <a:xfrm>
                <a:off x="704850" y="1600200"/>
                <a:ext cx="11430000" cy="5200650"/>
              </a:xfrm>
              <a:prstGeom prst="rect">
                <a:avLst/>
              </a:prstGeom>
              <a:noFill/>
            </p:spPr>
            <p:txBody>
              <a:bodyPr wrap="square" lIns="91440" tIns="45720" rIns="91440" bIns="45720">
                <a:normAutofit/>
              </a:bodyPr>
              <a:lstStyle/>
              <a:p>
                <a:pPr marL="285750" lvl="0" indent="-285750">
                  <a:spcBef>
                    <a:spcPts val="900"/>
                  </a:spcBef>
                  <a:buChar char="•"/>
                </a:pPr>
                <a:r>
                  <a:rPr lang="en-US" sz="1800" dirty="0"/>
                  <a:t>The Hessian of f at 𝒙 is the d × d matrix</a:t>
                </a:r>
              </a:p>
              <a:p>
                <a:pPr marL="0" indent="0" algn="ctr">
                  <a:buNone/>
                </a:pPr>
                <a14:m>
                  <m:oMathPara xmlns:m="http://schemas.openxmlformats.org/officeDocument/2006/math">
                    <m:oMathParaPr>
                      <m:jc m:val="center"/>
                    </m:oMathParaPr>
                    <m:oMath>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𝑓</m:t>
                      </m:r>
                      <m:d>
                        <m:dPr>
                          <m:ctrlPr>
                            <a:rPr>
                              <a:latin typeface="Cambria Math" panose="02040503050406030204" pitchFamily="18" charset="0"/>
                            </a:rPr>
                          </m:ctrlPr>
                        </m:dPr>
                        <m:e>
                          <m:r>
                            <a:rPr>
                              <a:latin typeface="Cambria Math" panose="02040503050406030204" pitchFamily="18" charset="0"/>
                            </a:rPr>
                            <m:t>𝑥</m:t>
                          </m:r>
                        </m:e>
                      </m:d>
                      <m:r>
                        <a:rPr>
                          <a:latin typeface="Cambria Math" panose="02040503050406030204" pitchFamily="18" charset="0"/>
                        </a:rPr>
                        <m:t>≔</m:t>
                      </m:r>
                      <m:d>
                        <m:dPr>
                          <m:begChr m:val="["/>
                          <m:endChr m:val="]"/>
                          <m:ctrlPr>
                            <a:rPr i="1">
                              <a:latin typeface="Cambria Math" panose="02040503050406030204" pitchFamily="18" charset="0"/>
                            </a:rPr>
                          </m:ctrlPr>
                        </m:dPr>
                        <m:e>
                          <m:m>
                            <m:mPr>
                              <m:mcs>
                                <m:mc>
                                  <m:mcPr>
                                    <m:count m:val="3"/>
                                    <m:mcJc m:val="center"/>
                                  </m:mcPr>
                                </m:mc>
                              </m:mcs>
                              <m:ctrlPr>
                                <a:rPr i="1">
                                  <a:latin typeface="Cambria Math" panose="02040503050406030204" pitchFamily="18" charset="0"/>
                                </a:rPr>
                              </m:ctrlPr>
                            </m:mPr>
                            <m:mr>
                              <m:e>
                                <m:f>
                                  <m:fPr>
                                    <m:ctrlPr>
                                      <a:rPr i="1">
                                        <a:latin typeface="Cambria Math" panose="02040503050406030204" pitchFamily="18" charset="0"/>
                                      </a:rPr>
                                    </m:ctrlPr>
                                  </m:fPr>
                                  <m:num>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𝑓</m:t>
                                    </m:r>
                                    <m:d>
                                      <m:dPr>
                                        <m:ctrlPr>
                                          <a:rPr>
                                            <a:latin typeface="Cambria Math" panose="02040503050406030204" pitchFamily="18" charset="0"/>
                                          </a:rPr>
                                        </m:ctrlPr>
                                      </m:dPr>
                                      <m:e>
                                        <m:r>
                                          <a:rPr>
                                            <a:latin typeface="Cambria Math" panose="02040503050406030204" pitchFamily="18" charset="0"/>
                                          </a:rPr>
                                          <m:t>𝑥</m:t>
                                        </m:r>
                                      </m:e>
                                    </m:d>
                                  </m:num>
                                  <m:den>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𝑥</m:t>
                                        </m:r>
                                      </m:e>
                                      <m:sub>
                                        <m:r>
                                          <a:rPr>
                                            <a:latin typeface="Cambria Math" panose="02040503050406030204" pitchFamily="18" charset="0"/>
                                          </a:rPr>
                                          <m:t>1</m:t>
                                        </m:r>
                                      </m:sub>
                                      <m:sup>
                                        <m:r>
                                          <a:rPr>
                                            <a:latin typeface="Cambria Math" panose="02040503050406030204" pitchFamily="18" charset="0"/>
                                          </a:rPr>
                                          <m:t>2</m:t>
                                        </m:r>
                                      </m:sup>
                                    </m:sSubSup>
                                  </m:den>
                                </m:f>
                              </m:e>
                              <m:e>
                                <m:r>
                                  <a:rPr>
                                    <a:latin typeface="Cambria Math" panose="02040503050406030204" pitchFamily="18" charset="0"/>
                                  </a:rPr>
                                  <m:t>⋯</m:t>
                                </m:r>
                              </m:e>
                              <m:e>
                                <m:f>
                                  <m:fPr>
                                    <m:ctrlPr>
                                      <a:rPr i="1">
                                        <a:latin typeface="Cambria Math" panose="02040503050406030204" pitchFamily="18" charset="0"/>
                                      </a:rPr>
                                    </m:ctrlPr>
                                  </m:fPr>
                                  <m:num>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𝑓</m:t>
                                    </m:r>
                                    <m:d>
                                      <m:dPr>
                                        <m:ctrlPr>
                                          <a:rPr>
                                            <a:latin typeface="Cambria Math" panose="02040503050406030204" pitchFamily="18" charset="0"/>
                                          </a:rPr>
                                        </m:ctrlPr>
                                      </m:dPr>
                                      <m:e>
                                        <m:r>
                                          <a:rPr>
                                            <a:latin typeface="Cambria Math" panose="02040503050406030204" pitchFamily="18" charset="0"/>
                                          </a:rPr>
                                          <m:t>𝑥</m:t>
                                        </m:r>
                                      </m:e>
                                    </m:d>
                                  </m:num>
                                  <m:den>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𝑑</m:t>
                                        </m:r>
                                      </m:sub>
                                    </m:sSub>
                                  </m:den>
                                </m:f>
                              </m:e>
                            </m:mr>
                            <m:mr>
                              <m:e>
                                <m:r>
                                  <a:rPr>
                                    <a:latin typeface="Cambria Math" panose="02040503050406030204" pitchFamily="18" charset="0"/>
                                  </a:rPr>
                                  <m:t>⋮</m:t>
                                </m:r>
                              </m:e>
                              <m:e>
                                <m:r>
                                  <a:rPr>
                                    <a:latin typeface="Cambria Math" panose="02040503050406030204" pitchFamily="18" charset="0"/>
                                  </a:rPr>
                                  <m:t>⋱</m:t>
                                </m:r>
                              </m:e>
                              <m:e>
                                <m:r>
                                  <a:rPr>
                                    <a:latin typeface="Cambria Math" panose="02040503050406030204" pitchFamily="18" charset="0"/>
                                  </a:rPr>
                                  <m:t>⋮</m:t>
                                </m:r>
                              </m:e>
                            </m:mr>
                            <m:mr>
                              <m:e>
                                <m:f>
                                  <m:fPr>
                                    <m:ctrlPr>
                                      <a:rPr i="1">
                                        <a:latin typeface="Cambria Math" panose="02040503050406030204" pitchFamily="18" charset="0"/>
                                      </a:rPr>
                                    </m:ctrlPr>
                                  </m:fPr>
                                  <m:num>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𝑓</m:t>
                                    </m:r>
                                    <m:d>
                                      <m:dPr>
                                        <m:ctrlPr>
                                          <a:rPr>
                                            <a:latin typeface="Cambria Math" panose="02040503050406030204" pitchFamily="18" charset="0"/>
                                          </a:rPr>
                                        </m:ctrlPr>
                                      </m:dPr>
                                      <m:e>
                                        <m:r>
                                          <a:rPr>
                                            <a:latin typeface="Cambria Math" panose="02040503050406030204" pitchFamily="18" charset="0"/>
                                          </a:rPr>
                                          <m:t>𝑥</m:t>
                                        </m:r>
                                      </m:e>
                                    </m:d>
                                  </m:num>
                                  <m:den>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𝑑</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den>
                                </m:f>
                              </m:e>
                              <m:e>
                                <m:r>
                                  <a:rPr>
                                    <a:latin typeface="Cambria Math" panose="02040503050406030204" pitchFamily="18" charset="0"/>
                                  </a:rPr>
                                  <m:t>⋯</m:t>
                                </m:r>
                              </m:e>
                              <m:e>
                                <m:f>
                                  <m:fPr>
                                    <m:ctrlPr>
                                      <a:rPr i="1">
                                        <a:latin typeface="Cambria Math" panose="02040503050406030204" pitchFamily="18" charset="0"/>
                                      </a:rPr>
                                    </m:ctrlPr>
                                  </m:fPr>
                                  <m:num>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𝑓</m:t>
                                    </m:r>
                                    <m:d>
                                      <m:dPr>
                                        <m:ctrlPr>
                                          <a:rPr>
                                            <a:latin typeface="Cambria Math" panose="02040503050406030204" pitchFamily="18" charset="0"/>
                                          </a:rPr>
                                        </m:ctrlPr>
                                      </m:dPr>
                                      <m:e>
                                        <m:r>
                                          <a:rPr>
                                            <a:latin typeface="Cambria Math" panose="02040503050406030204" pitchFamily="18" charset="0"/>
                                          </a:rPr>
                                          <m:t>𝑥</m:t>
                                        </m:r>
                                      </m:e>
                                    </m:d>
                                  </m:num>
                                  <m:den>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𝑥</m:t>
                                        </m:r>
                                      </m:e>
                                      <m:sub>
                                        <m:r>
                                          <a:rPr>
                                            <a:latin typeface="Cambria Math" panose="02040503050406030204" pitchFamily="18" charset="0"/>
                                          </a:rPr>
                                          <m:t>𝑑</m:t>
                                        </m:r>
                                      </m:sub>
                                      <m:sup>
                                        <m:r>
                                          <a:rPr>
                                            <a:latin typeface="Cambria Math" panose="02040503050406030204" pitchFamily="18" charset="0"/>
                                          </a:rPr>
                                          <m:t>2</m:t>
                                        </m:r>
                                      </m:sup>
                                    </m:sSubSup>
                                  </m:den>
                                </m:f>
                              </m:e>
                            </m:mr>
                          </m:m>
                        </m:e>
                      </m:d>
                    </m:oMath>
                  </m:oMathPara>
                </a14:m>
                <a:endParaRPr lang="en-US" sz="1800" dirty="0"/>
              </a:p>
              <a:p>
                <a:pPr marL="0" indent="0">
                  <a:buNone/>
                </a:pPr>
                <a:endParaRPr sz="600" dirty="0"/>
              </a:p>
              <a:p>
                <a:pPr marL="285750" lvl="0" indent="-285750">
                  <a:spcBef>
                    <a:spcPts val="900"/>
                  </a:spcBef>
                  <a:buChar char="•"/>
                </a:pPr>
                <a:r>
                  <a:rPr lang="en-US" sz="1800" dirty="0"/>
                  <a:t>We say that f is twice differentiable if ∇²f(𝒙) exists ∀𝒙 ∈ ℝᵈ</a:t>
                </a:r>
              </a:p>
              <a:p>
                <a:pPr marL="285750" lvl="0" indent="-285750">
                  <a:spcBef>
                    <a:spcPts val="900"/>
                  </a:spcBef>
                  <a:buChar char="•"/>
                </a:pPr>
                <a:r>
                  <a:rPr lang="en-US" sz="1800" dirty="0"/>
                  <a:t>We say f is twice continuously differentiable if it is twice differentiable and all of the second derivatives are continuous functions of 𝒙</a:t>
                </a:r>
              </a:p>
              <a:p>
                <a:pPr marL="285750" lvl="0" indent="-285750">
                  <a:spcBef>
                    <a:spcPts val="900"/>
                  </a:spcBef>
                  <a:buChar char="•"/>
                </a:pPr>
                <a:r>
                  <a:rPr lang="en-US" sz="1800" dirty="0"/>
                  <a:t>If f is twice continuously differentiable, then ∇²f(𝒙) is a symmetric matrix ∀𝒙, i.e.,</a:t>
                </a:r>
              </a:p>
              <a:p>
                <a:pPr marL="0" indent="0" algn="ctr">
                  <a:buNone/>
                </a:pPr>
                <a14:m>
                  <m:oMathPara xmlns:m="http://schemas.openxmlformats.org/officeDocument/2006/math">
                    <m:oMathParaPr>
                      <m:jc m:val="center"/>
                    </m:oMathParaPr>
                    <m:oMath>
                      <m:f>
                        <m:fPr>
                          <m:ctrlPr>
                            <a:rPr i="1">
                              <a:latin typeface="Cambria Math" panose="02040503050406030204" pitchFamily="18" charset="0"/>
                            </a:rPr>
                          </m:ctrlPr>
                        </m:fPr>
                        <m:num>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𝑓</m:t>
                          </m:r>
                          <m:d>
                            <m:dPr>
                              <m:ctrlPr>
                                <a:rPr>
                                  <a:latin typeface="Cambria Math" panose="02040503050406030204" pitchFamily="18" charset="0"/>
                                </a:rPr>
                              </m:ctrlPr>
                            </m:dPr>
                            <m:e>
                              <m:r>
                                <a:rPr>
                                  <a:latin typeface="Cambria Math" panose="02040503050406030204" pitchFamily="18" charset="0"/>
                                </a:rPr>
                                <m:t>𝑥</m:t>
                              </m:r>
                            </m:e>
                          </m:d>
                        </m:num>
                        <m:den>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𝑗</m:t>
                              </m:r>
                            </m:sub>
                          </m:sSub>
                        </m:den>
                      </m:f>
                      <m:r>
                        <a:rPr>
                          <a:latin typeface="Cambria Math" panose="02040503050406030204" pitchFamily="18" charset="0"/>
                        </a:rPr>
                        <m:t>=</m:t>
                      </m:r>
                      <m:f>
                        <m:fPr>
                          <m:ctrlPr>
                            <a:rPr i="1">
                              <a:latin typeface="Cambria Math" panose="02040503050406030204" pitchFamily="18" charset="0"/>
                            </a:rPr>
                          </m:ctrlPr>
                        </m:fPr>
                        <m:num>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𝑓</m:t>
                          </m:r>
                          <m:d>
                            <m:dPr>
                              <m:ctrlPr>
                                <a:rPr>
                                  <a:latin typeface="Cambria Math" panose="02040503050406030204" pitchFamily="18" charset="0"/>
                                </a:rPr>
                              </m:ctrlPr>
                            </m:dPr>
                            <m:e>
                              <m:r>
                                <a:rPr>
                                  <a:latin typeface="Cambria Math" panose="02040503050406030204" pitchFamily="18" charset="0"/>
                                </a:rPr>
                                <m:t>𝑥</m:t>
                              </m:r>
                            </m:e>
                          </m:d>
                        </m:num>
                        <m:den>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𝑗</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den>
                      </m:f>
                    </m:oMath>
                  </m:oMathPara>
                </a14:m>
                <a:endParaRPr lang="en-US" sz="1800" dirty="0"/>
              </a:p>
              <a:p>
                <a:pPr marL="0" lvl="0" indent="0" algn="ctr">
                  <a:spcBef>
                    <a:spcPts val="900"/>
                  </a:spcBef>
                  <a:buNone/>
                </a:pPr>
                <a:r>
                  <a:rPr lang="en-US" sz="1400" dirty="0"/>
                  <a:t>∀𝒙 ∈ ℝᵈ,  ∀i, j = 1, …, d</a:t>
                </a:r>
              </a:p>
            </p:txBody>
          </p:sp>
        </mc:Choice>
        <mc:Fallback xmlns="">
          <p:sp>
            <p:nvSpPr>
              <p:cNvPr id="20" name="Body"/>
              <p:cNvSpPr txBox="1">
                <a:spLocks noRot="1" noChangeAspect="1" noMove="1" noResize="1" noEditPoints="1" noAdjustHandles="1" noChangeArrowheads="1" noChangeShapeType="1" noTextEdit="1"/>
              </p:cNvSpPr>
              <p:nvPr/>
            </p:nvSpPr>
            <p:spPr>
              <a:xfrm>
                <a:off x="704850" y="1600200"/>
                <a:ext cx="11430000" cy="5200650"/>
              </a:xfrm>
              <a:prstGeom prst="rect">
                <a:avLst/>
              </a:prstGeom>
              <a:blipFill>
                <a:blip r:embed="rId2"/>
                <a:stretch>
                  <a:fillRect l="-427" t="-821"/>
                </a:stretch>
              </a:blipFill>
            </p:spPr>
            <p:txBody>
              <a:bodyPr/>
              <a:lstStyle/>
              <a:p>
                <a:r>
                  <a:rPr lang="en-US">
                    <a:noFill/>
                  </a:rPr>
                  <a:t> </a:t>
                </a:r>
              </a:p>
            </p:txBody>
          </p:sp>
        </mc:Fallback>
      </mc:AlternateContent>
    </p:spTree>
    <p:extLst>
      <p:ext uri="{BB962C8B-B14F-4D97-AF65-F5344CB8AC3E}">
        <p14:creationId xmlns:p14="http://schemas.microsoft.com/office/powerpoint/2010/main" val="3309055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813825" y="1765426"/>
                <a:ext cx="7773795" cy="4598693"/>
              </a:xfrm>
            </p:spPr>
            <p:txBody>
              <a:bodyPr>
                <a:normAutofit lnSpcReduction="10000"/>
              </a:bodyPr>
              <a:lstStyle/>
              <a:p>
                <a:r>
                  <a:rPr lang="en-US" dirty="0"/>
                  <a:t>Let </a:t>
                </a:r>
                <a14:m>
                  <m:oMath xmlns:m="http://schemas.openxmlformats.org/officeDocument/2006/math">
                    <m:r>
                      <a:rPr lang="en-US" b="0" i="1" smtClean="0">
                        <a:latin typeface="Cambria Math" panose="02040503050406030204" pitchFamily="18" charset="0"/>
                      </a:rPr>
                      <m:t>𝐴</m:t>
                    </m:r>
                  </m:oMath>
                </a14:m>
                <a:r>
                  <a:rPr lang="en-US" dirty="0"/>
                  <a:t> be a </a:t>
                </a:r>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𝑑</m:t>
                    </m:r>
                  </m:oMath>
                </a14:m>
                <a:r>
                  <a:rPr lang="en-US" dirty="0"/>
                  <a:t> matrix. We say that </a:t>
                </a:r>
                <a14:m>
                  <m:oMath xmlns:m="http://schemas.openxmlformats.org/officeDocument/2006/math">
                    <m:r>
                      <a:rPr lang="en-US" b="0" i="1" smtClean="0">
                        <a:latin typeface="Cambria Math" panose="02040503050406030204" pitchFamily="18" charset="0"/>
                      </a:rPr>
                      <m:t>𝐴</m:t>
                    </m:r>
                  </m:oMath>
                </a14:m>
                <a:r>
                  <a:rPr lang="en-US" dirty="0"/>
                  <a:t> is </a:t>
                </a:r>
                <a:r>
                  <a:rPr lang="en-US" i="1" dirty="0"/>
                  <a:t>positive definite </a:t>
                </a:r>
                <a:r>
                  <a:rPr lang="en-US" dirty="0"/>
                  <a:t>(PD) if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𝑇</m:t>
                        </m:r>
                      </m:sup>
                    </m:sSup>
                    <m:r>
                      <a:rPr lang="en-US" b="0" i="1" smtClean="0">
                        <a:latin typeface="Cambria Math" panose="02040503050406030204" pitchFamily="18" charset="0"/>
                      </a:rPr>
                      <m:t>𝐴</m:t>
                    </m:r>
                    <m:r>
                      <a:rPr lang="en-US" b="1" i="1" smtClean="0">
                        <a:latin typeface="Cambria Math" panose="02040503050406030204" pitchFamily="18" charset="0"/>
                      </a:rPr>
                      <m:t>𝒙</m:t>
                    </m:r>
                    <m:r>
                      <a:rPr lang="en-US" b="0" i="1" smtClean="0">
                        <a:latin typeface="Cambria Math" panose="02040503050406030204" pitchFamily="18" charset="0"/>
                      </a:rPr>
                      <m:t>&gt;0</m:t>
                    </m:r>
                  </m:oMath>
                </a14:m>
                <a:r>
                  <a:rPr lang="en-US" dirty="0"/>
                  <a:t> for all </a:t>
                </a: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r>
                      <a:rPr lang="en-US" b="1" i="1" smtClean="0">
                        <a:latin typeface="Cambria Math" panose="02040503050406030204" pitchFamily="18" charset="0"/>
                      </a:rPr>
                      <m:t>𝟎</m:t>
                    </m:r>
                  </m:oMath>
                </a14:m>
                <a:r>
                  <a:rPr lang="en-US" dirty="0"/>
                  <a:t>. We say that </a:t>
                </a:r>
                <a14:m>
                  <m:oMath xmlns:m="http://schemas.openxmlformats.org/officeDocument/2006/math">
                    <m:r>
                      <a:rPr lang="en-US" b="0" i="1" smtClean="0">
                        <a:latin typeface="Cambria Math" panose="02040503050406030204" pitchFamily="18" charset="0"/>
                      </a:rPr>
                      <m:t>𝐴</m:t>
                    </m:r>
                  </m:oMath>
                </a14:m>
                <a:r>
                  <a:rPr lang="en-US" dirty="0"/>
                  <a:t> is </a:t>
                </a:r>
                <a:r>
                  <a:rPr lang="en-US" i="1" dirty="0"/>
                  <a:t>positive semi-definite </a:t>
                </a:r>
                <a:r>
                  <a:rPr lang="en-US" dirty="0"/>
                  <a:t>(PSD) if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𝑇</m:t>
                        </m:r>
                      </m:sup>
                    </m:sSup>
                    <m:r>
                      <a:rPr lang="en-US" b="0" i="1" smtClean="0">
                        <a:latin typeface="Cambria Math" panose="02040503050406030204" pitchFamily="18" charset="0"/>
                      </a:rPr>
                      <m:t>𝐴</m:t>
                    </m:r>
                    <m:r>
                      <a:rPr lang="en-US" b="1" i="1" smtClean="0">
                        <a:latin typeface="Cambria Math" panose="02040503050406030204" pitchFamily="18" charset="0"/>
                      </a:rPr>
                      <m:t>𝒙</m:t>
                    </m:r>
                    <m:r>
                      <a:rPr lang="en-US" b="0" i="1" smtClean="0">
                        <a:latin typeface="Cambria Math" panose="02040503050406030204" pitchFamily="18" charset="0"/>
                      </a:rPr>
                      <m:t>≥0</m:t>
                    </m:r>
                  </m:oMath>
                </a14:m>
                <a:r>
                  <a:rPr lang="en-US" dirty="0"/>
                  <a:t> for all </a:t>
                </a: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r>
                  <a:rPr lang="en-US" dirty="0"/>
                  <a:t>.</a:t>
                </a:r>
              </a:p>
              <a:p>
                <a:r>
                  <a:rPr lang="en-US" dirty="0"/>
                  <a:t>PD and PSD arise frequently in ML, for example</a:t>
                </a:r>
              </a:p>
              <a:p>
                <a:pPr lvl="1"/>
                <a:r>
                  <a:rPr lang="en-US" dirty="0"/>
                  <a:t>Gram matrices (i.e., </a:t>
                </a:r>
                <a14:m>
                  <m:oMath xmlns:m="http://schemas.openxmlformats.org/officeDocument/2006/math">
                    <m:r>
                      <a:rPr lang="en-US" b="0" i="1" smtClean="0">
                        <a:latin typeface="Cambria Math" panose="02040503050406030204" pitchFamily="18" charset="0"/>
                      </a:rPr>
                      <m:t>𝑋</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𝑇</m:t>
                        </m:r>
                      </m:sup>
                    </m:sSup>
                  </m:oMath>
                </a14:m>
                <a:r>
                  <a:rPr lang="en-US" dirty="0"/>
                  <a:t>)</a:t>
                </a:r>
              </a:p>
              <a:p>
                <a:pPr lvl="1"/>
                <a:r>
                  <a:rPr lang="en-US" dirty="0"/>
                  <a:t>Kernel matrices</a:t>
                </a:r>
              </a:p>
              <a:p>
                <a:pPr lvl="1"/>
                <a:r>
                  <a:rPr lang="en-US" dirty="0"/>
                  <a:t>Covariance matrices</a:t>
                </a:r>
              </a:p>
              <a:p>
                <a:pPr lvl="1"/>
                <a:r>
                  <a:rPr lang="en-US" dirty="0"/>
                  <a:t>Hessian matrices (sometimes)</a:t>
                </a:r>
              </a:p>
              <a:p>
                <a:r>
                  <a:rPr lang="en-US" dirty="0"/>
                  <a:t>PD/PSD matrices are not necessarily symmetric, e.g. </a:t>
                </a:r>
                <a:br>
                  <a:rPr lang="en-US" i="1" dirty="0">
                    <a:latin typeface="Cambria Math" panose="02040503050406030204" pitchFamily="18" charset="0"/>
                  </a:rPr>
                </a:br>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𝑥</m:t>
                              </m:r>
                            </m:e>
                          </m:mr>
                          <m:mr>
                            <m:e>
                              <m:r>
                                <a:rPr lang="en-US" b="0" i="1" smtClean="0">
                                  <a:latin typeface="Cambria Math" panose="02040503050406030204" pitchFamily="18" charset="0"/>
                                </a:rPr>
                                <m:t>𝑦</m:t>
                              </m:r>
                            </m:e>
                          </m:mr>
                        </m:m>
                      </m:e>
                    </m:d>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mr>
                        </m:m>
                      </m:e>
                    </m:d>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𝑥</m:t>
                              </m:r>
                            </m:e>
                            <m:e>
                              <m:r>
                                <a:rPr lang="en-US" b="0" i="1" smtClean="0">
                                  <a:latin typeface="Cambria Math" panose="02040503050406030204" pitchFamily="18" charset="0"/>
                                </a:rPr>
                                <m:t>𝑦</m:t>
                              </m:r>
                            </m:e>
                          </m:mr>
                        </m:m>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2</m:t>
                        </m:r>
                      </m:sup>
                    </m:sSup>
                  </m:oMath>
                </a14:m>
                <a:endParaRPr lang="en-US" dirty="0"/>
              </a:p>
              <a:p>
                <a:pPr lvl="1"/>
                <a:r>
                  <a:rPr lang="en-US" dirty="0"/>
                  <a:t>However, we will only consider PD/PSD matrices that are also symmetric</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813825" y="1765426"/>
                <a:ext cx="7773795" cy="4598693"/>
              </a:xfrm>
              <a:blipFill>
                <a:blip r:embed="rId3"/>
                <a:stretch>
                  <a:fillRect l="-706" t="-928" r="-941"/>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Positive (Semi-)Definite Matrices</a:t>
            </a:r>
          </a:p>
        </p:txBody>
      </p:sp>
    </p:spTree>
    <p:extLst>
      <p:ext uri="{BB962C8B-B14F-4D97-AF65-F5344CB8AC3E}">
        <p14:creationId xmlns:p14="http://schemas.microsoft.com/office/powerpoint/2010/main" val="3701792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p:cNvSpPr>
                <a:spLocks noGrp="1"/>
              </p:cNvSpPr>
              <p:nvPr>
                <p:ph idx="1"/>
              </p:nvPr>
            </p:nvSpPr>
            <p:spPr>
              <a:xfrm>
                <a:off x="1542493" y="1755648"/>
                <a:ext cx="8821356" cy="5467904"/>
              </a:xfrm>
            </p:spPr>
            <p:txBody>
              <a:bodyPr>
                <a:normAutofit/>
              </a:bodyPr>
              <a:lstStyle/>
              <a:p>
                <a:r>
                  <a:rPr lang="en-US" dirty="0"/>
                  <a:t>If </a:t>
                </a:r>
                <a14:m>
                  <m:oMath xmlns:m="http://schemas.openxmlformats.org/officeDocument/2006/math">
                    <m:r>
                      <a:rPr lang="en-US" b="0" i="1" smtClean="0">
                        <a:latin typeface="Cambria Math" panose="02040503050406030204" pitchFamily="18" charset="0"/>
                      </a:rPr>
                      <m:t>𝑓</m:t>
                    </m:r>
                  </m:oMath>
                </a14:m>
                <a:r>
                  <a:rPr lang="en-US" dirty="0"/>
                  <a:t> is twice continuously differentiable </a:t>
                </a:r>
                <a:r>
                  <a:rPr lang="en-US" u="sng" dirty="0"/>
                  <a:t>and</a:t>
                </a:r>
                <a:r>
                  <a:rPr lang="en-US" dirty="0"/>
                  <a:t>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m:t>
                        </m:r>
                      </m:sup>
                    </m:sSup>
                  </m:oMath>
                </a14:m>
                <a:r>
                  <a:rPr lang="en-US" dirty="0"/>
                  <a:t> is a local min, then </a:t>
                </a:r>
                <a14:m>
                  <m:oMath xmlns:m="http://schemas.openxmlformats.org/officeDocument/2006/math">
                    <m:sSup>
                      <m:sSupPr>
                        <m:ctrlPr>
                          <a:rPr lang="en-US" b="0" i="0" smtClean="0">
                            <a:latin typeface="Cambria Math" panose="02040503050406030204" pitchFamily="18" charset="0"/>
                          </a:rPr>
                        </m:ctrlPr>
                      </m:sSupPr>
                      <m:e>
                        <m:r>
                          <a:rPr lang="en-US" b="0" i="0"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𝑓</m:t>
                    </m:r>
                    <m:r>
                      <a:rPr lang="en-US" b="0"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US" dirty="0"/>
                  <a:t> is positive semi-definite, i.e.,</a:t>
                </a:r>
                <a:br>
                  <a:rPr lang="en-US" dirty="0"/>
                </a:br>
                <a:br>
                  <a:rPr lang="en-US" dirty="0"/>
                </a:b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𝒛</m:t>
                        </m:r>
                      </m:e>
                      <m:sup>
                        <m:r>
                          <a:rPr lang="en-US" b="0" i="1" smtClean="0">
                            <a:latin typeface="Cambria Math" panose="02040503050406030204" pitchFamily="18" charset="0"/>
                          </a:rPr>
                          <m:t>𝑇</m:t>
                        </m:r>
                      </m:sup>
                    </m:sSup>
                    <m:sSup>
                      <m:sSupPr>
                        <m:ctrlPr>
                          <a:rPr lang="en-US">
                            <a:latin typeface="Cambria Math" panose="02040503050406030204" pitchFamily="18" charset="0"/>
                          </a:rPr>
                        </m:ctrlPr>
                      </m:sSupPr>
                      <m:e>
                        <m:r>
                          <a:rPr lang="en-US">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𝑓</m:t>
                    </m:r>
                    <m:d>
                      <m:dPr>
                        <m:ctrlPr>
                          <a:rPr lang="en-US" b="1" i="1">
                            <a:latin typeface="Cambria Math" panose="02040503050406030204" pitchFamily="18" charset="0"/>
                          </a:rPr>
                        </m:ctrlPr>
                      </m:dPr>
                      <m:e>
                        <m:sSup>
                          <m:sSupPr>
                            <m:ctrlPr>
                              <a:rPr lang="en-US" b="1" i="1">
                                <a:latin typeface="Cambria Math" panose="02040503050406030204" pitchFamily="18" charset="0"/>
                              </a:rPr>
                            </m:ctrlPr>
                          </m:sSupPr>
                          <m:e>
                            <m:r>
                              <a:rPr lang="en-US" b="1" i="1">
                                <a:latin typeface="Cambria Math" panose="02040503050406030204" pitchFamily="18" charset="0"/>
                              </a:rPr>
                              <m:t>𝒙</m:t>
                            </m:r>
                          </m:e>
                          <m:sup>
                            <m:r>
                              <a:rPr lang="en-US" i="1">
                                <a:latin typeface="Cambria Math" panose="02040503050406030204" pitchFamily="18" charset="0"/>
                              </a:rPr>
                              <m:t>∗</m:t>
                            </m:r>
                          </m:sup>
                        </m:sSup>
                      </m:e>
                    </m:d>
                    <m:r>
                      <a:rPr lang="en-US" b="1" i="1" smtClean="0">
                        <a:latin typeface="Cambria Math" panose="02040503050406030204" pitchFamily="18" charset="0"/>
                      </a:rPr>
                      <m:t>𝒛</m:t>
                    </m:r>
                    <m:r>
                      <a:rPr lang="en-US" b="0" i="1" smtClean="0">
                        <a:latin typeface="Cambria Math" panose="02040503050406030204" pitchFamily="18" charset="0"/>
                      </a:rPr>
                      <m:t>≥0,   ∀</m:t>
                    </m:r>
                    <m:r>
                      <a:rPr lang="en-US" b="1" i="1" smtClean="0">
                        <a:latin typeface="Cambria Math" panose="02040503050406030204" pitchFamily="18" charset="0"/>
                      </a:rPr>
                      <m:t>𝒛</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r>
                      <a:rPr lang="en-US" b="0" i="1" smtClean="0">
                        <a:latin typeface="Cambria Math" panose="02040503050406030204" pitchFamily="18" charset="0"/>
                      </a:rPr>
                      <m:t> </m:t>
                    </m:r>
                  </m:oMath>
                </a14:m>
                <a:br>
                  <a:rPr lang="en-US" dirty="0"/>
                </a:br>
                <a:endParaRPr lang="en-US" dirty="0"/>
              </a:p>
              <a:p>
                <a:endParaRPr lang="en-US" dirty="0"/>
              </a:p>
              <a:p>
                <a:pPr lvl="1"/>
                <a:r>
                  <a:rPr lang="en-US" dirty="0"/>
                  <a:t>This generalizes the result from single-variable calculus that the second derivative is nonnegative at a local min</a:t>
                </a:r>
              </a:p>
              <a:p>
                <a:pPr lvl="1"/>
                <a:r>
                  <a:rPr lang="en-US" dirty="0"/>
                  <a:t>Note: the converse is </a:t>
                </a:r>
                <a:r>
                  <a:rPr lang="en-US" i="1" dirty="0"/>
                  <a:t>not</a:t>
                </a:r>
                <a:r>
                  <a:rPr lang="en-US" dirty="0"/>
                  <a:t> true! (If PSD, then local min.. not guaranteed!)</a:t>
                </a:r>
              </a:p>
              <a:p>
                <a:pPr lvl="2"/>
                <a:r>
                  <a:rPr lang="en-US" dirty="0"/>
                  <a:t>However, if not PSD, then not min!</a:t>
                </a:r>
              </a:p>
              <a:p>
                <a:pPr lvl="1"/>
                <a:endParaRPr lang="en-US" dirty="0"/>
              </a:p>
            </p:txBody>
          </p:sp>
        </mc:Choice>
        <mc:Fallback>
          <p:sp>
            <p:nvSpPr>
              <p:cNvPr id="2" name="Content Placeholder 1"/>
              <p:cNvSpPr>
                <a:spLocks noGrp="1" noRot="1" noChangeAspect="1" noMove="1" noResize="1" noEditPoints="1" noAdjustHandles="1" noChangeArrowheads="1" noChangeShapeType="1" noTextEdit="1"/>
              </p:cNvSpPr>
              <p:nvPr>
                <p:ph idx="1"/>
              </p:nvPr>
            </p:nvSpPr>
            <p:spPr>
              <a:xfrm>
                <a:off x="1542493" y="1755648"/>
                <a:ext cx="8821356" cy="5467904"/>
              </a:xfrm>
              <a:blipFill>
                <a:blip r:embed="rId2"/>
                <a:stretch>
                  <a:fillRect l="-622" t="-446"/>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Second Order Necessary Condition </a:t>
            </a:r>
          </a:p>
        </p:txBody>
      </p:sp>
    </p:spTree>
    <p:extLst>
      <p:ext uri="{BB962C8B-B14F-4D97-AF65-F5344CB8AC3E}">
        <p14:creationId xmlns:p14="http://schemas.microsoft.com/office/powerpoint/2010/main" val="73950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Group Exercise</a:t>
            </a:r>
          </a:p>
        </p:txBody>
      </p:sp>
      <p:pic>
        <p:nvPicPr>
          <p:cNvPr id="4" name="Content Placeholder 3"/>
          <p:cNvPicPr>
            <a:picLocks noGrp="1" noChangeAspect="1"/>
          </p:cNvPicPr>
          <p:nvPr>
            <p:ph idx="1"/>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183223" y="1659477"/>
            <a:ext cx="7163732" cy="4399436"/>
          </a:xfrm>
          <a:prstGeom prst="rect">
            <a:avLst/>
          </a:prstGeom>
          <a:noFill/>
          <a:ln/>
          <a:effectLst/>
        </p:spPr>
      </p:pic>
    </p:spTree>
    <p:extLst>
      <p:ext uri="{BB962C8B-B14F-4D97-AF65-F5344CB8AC3E}">
        <p14:creationId xmlns:p14="http://schemas.microsoft.com/office/powerpoint/2010/main" val="843395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475715" y="1568196"/>
                <a:ext cx="8281280" cy="4905978"/>
              </a:xfrm>
            </p:spPr>
            <p:txBody>
              <a:bodyPr>
                <a:normAutofit fontScale="92500" lnSpcReduction="20000"/>
              </a:bodyPr>
              <a:lstStyle/>
              <a:p>
                <a:pPr marL="514350" indent="-514350">
                  <a:buFont typeface="+mj-lt"/>
                  <a:buAutoNum type="arabicPeriod"/>
                </a:pP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r>
                                <a:rPr lang="en-US" b="0" i="1" smtClean="0">
                                  <a:latin typeface="Cambria Math" panose="02040503050406030204" pitchFamily="18" charset="0"/>
                                </a:rPr>
                                <m:t>𝑥</m:t>
                              </m:r>
                              <m:r>
                                <a:rPr lang="en-US" b="0" i="1" smtClean="0">
                                  <a:latin typeface="Cambria Math" panose="02040503050406030204" pitchFamily="18" charset="0"/>
                                </a:rPr>
                                <m:t>+4</m:t>
                              </m:r>
                              <m:r>
                                <a:rPr lang="en-US" b="0" i="1" smtClean="0">
                                  <a:latin typeface="Cambria Math" panose="02040503050406030204" pitchFamily="18" charset="0"/>
                                </a:rPr>
                                <m:t>𝑦</m:t>
                              </m:r>
                              <m:r>
                                <a:rPr lang="en-US" b="0" i="1" smtClean="0">
                                  <a:latin typeface="Cambria Math" panose="02040503050406030204" pitchFamily="18" charset="0"/>
                                </a:rPr>
                                <m:t>−8</m:t>
                              </m:r>
                            </m:e>
                          </m:mr>
                          <m:mr>
                            <m:e>
                              <m:r>
                                <a:rPr lang="en-US" b="0" i="1" smtClean="0">
                                  <a:latin typeface="Cambria Math" panose="02040503050406030204" pitchFamily="18" charset="0"/>
                                </a:rPr>
                                <m:t>4</m:t>
                              </m:r>
                              <m:r>
                                <a:rPr lang="en-US" b="0" i="1" smtClean="0">
                                  <a:latin typeface="Cambria Math" panose="02040503050406030204" pitchFamily="18" charset="0"/>
                                </a:rPr>
                                <m:t>𝑥</m:t>
                              </m:r>
                              <m:r>
                                <a:rPr lang="en-US" b="0" i="1" smtClean="0">
                                  <a:latin typeface="Cambria Math" panose="02040503050406030204" pitchFamily="18" charset="0"/>
                                </a:rPr>
                                <m:t>−2</m:t>
                              </m:r>
                              <m:r>
                                <a:rPr lang="en-US" b="0" i="1" smtClean="0">
                                  <a:latin typeface="Cambria Math" panose="02040503050406030204" pitchFamily="18" charset="0"/>
                                </a:rPr>
                                <m:t>𝑦</m:t>
                              </m:r>
                              <m:r>
                                <a:rPr lang="en-US" b="0" i="1" smtClean="0">
                                  <a:latin typeface="Cambria Math" panose="02040503050406030204" pitchFamily="18" charset="0"/>
                                </a:rPr>
                                <m:t>−6</m:t>
                              </m:r>
                            </m:e>
                          </m:mr>
                        </m:m>
                      </m:e>
                    </m:d>
                  </m:oMath>
                </a14:m>
                <a:endParaRPr lang="en-US" dirty="0"/>
              </a:p>
              <a:p>
                <a:pPr marL="514350" indent="-514350">
                  <a:buFont typeface="+mj-lt"/>
                  <a:buAutoNum type="arabicPeriod"/>
                </a:pPr>
                <a14:m>
                  <m:oMath xmlns:m="http://schemas.openxmlformats.org/officeDocument/2006/math">
                    <m:sSup>
                      <m:sSupPr>
                        <m:ctrlPr>
                          <a:rPr lang="en-US" b="0" i="0" smtClean="0">
                            <a:latin typeface="Cambria Math" panose="02040503050406030204" pitchFamily="18" charset="0"/>
                          </a:rPr>
                        </m:ctrlPr>
                      </m:sSupPr>
                      <m:e>
                        <m:r>
                          <a:rPr lang="en-US" b="0" i="0"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a:rPr lang="en-US" b="0" i="1" smtClean="0">
                                  <a:latin typeface="Cambria Math" panose="02040503050406030204" pitchFamily="18" charset="0"/>
                                </a:rPr>
                                <m:t>4</m:t>
                              </m:r>
                            </m:e>
                          </m:mr>
                          <m:mr>
                            <m:e>
                              <m:r>
                                <a:rPr lang="en-US" b="0" i="1" smtClean="0">
                                  <a:latin typeface="Cambria Math" panose="02040503050406030204" pitchFamily="18" charset="0"/>
                                </a:rPr>
                                <m:t>4</m:t>
                              </m:r>
                            </m:e>
                            <m:e>
                              <m:r>
                                <a:rPr lang="en-US" b="0" i="1" smtClean="0">
                                  <a:latin typeface="Cambria Math" panose="02040503050406030204" pitchFamily="18" charset="0"/>
                                </a:rPr>
                                <m:t>−2</m:t>
                              </m:r>
                            </m:e>
                          </m:mr>
                        </m:m>
                      </m:e>
                    </m:d>
                  </m:oMath>
                </a14:m>
                <a:endParaRPr lang="en-US" dirty="0"/>
              </a:p>
              <a:p>
                <a:pPr marL="514350" indent="-514350">
                  <a:buFont typeface="+mj-lt"/>
                  <a:buAutoNum type="arabicPeriod"/>
                </a:pPr>
                <a:r>
                  <a:rPr lang="en-US" dirty="0"/>
                  <a:t>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0</m:t>
                              </m:r>
                            </m:e>
                          </m:mr>
                        </m:m>
                      </m:e>
                    </m:d>
                  </m:oMath>
                </a14:m>
                <a:br>
                  <a:rPr lang="en-US" dirty="0"/>
                </a:br>
                <a:br>
                  <a:rPr lang="en-US" dirty="0"/>
                </a:br>
                <a14:m>
                  <m:oMath xmlns:m="http://schemas.openxmlformats.org/officeDocument/2006/math">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2</m:t>
                              </m:r>
                            </m:e>
                            <m:e>
                              <m:r>
                                <a:rPr lang="en-US" i="1">
                                  <a:latin typeface="Cambria Math" panose="02040503050406030204" pitchFamily="18" charset="0"/>
                                </a:rPr>
                                <m:t>4</m:t>
                              </m:r>
                            </m:e>
                          </m:mr>
                          <m:mr>
                            <m:e>
                              <m:r>
                                <a:rPr lang="en-US" i="1">
                                  <a:latin typeface="Cambria Math" panose="02040503050406030204" pitchFamily="18" charset="0"/>
                                </a:rPr>
                                <m:t>4</m:t>
                              </m:r>
                            </m:e>
                            <m:e>
                              <m:r>
                                <a:rPr lang="en-US" i="1">
                                  <a:latin typeface="Cambria Math" panose="02040503050406030204" pitchFamily="18" charset="0"/>
                                </a:rPr>
                                <m:t>−2</m:t>
                              </m:r>
                            </m:e>
                          </m:mr>
                        </m:m>
                      </m:e>
                    </m:d>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𝑥</m:t>
                              </m:r>
                            </m:e>
                          </m:mr>
                          <m:mr>
                            <m:e>
                              <m:r>
                                <a:rPr lang="en-US" b="0" i="1" smtClean="0">
                                  <a:latin typeface="Cambria Math" panose="02040503050406030204" pitchFamily="18" charset="0"/>
                                </a:rPr>
                                <m:t>𝑦</m:t>
                              </m:r>
                            </m:e>
                          </m:mr>
                        </m:m>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8</m:t>
                              </m:r>
                            </m:e>
                          </m:mr>
                          <m:mr>
                            <m:e>
                              <m:r>
                                <a:rPr lang="en-US" b="0" i="1" smtClean="0">
                                  <a:latin typeface="Cambria Math" panose="02040503050406030204" pitchFamily="18" charset="0"/>
                                </a:rPr>
                                <m:t>6</m:t>
                              </m:r>
                            </m:e>
                          </m:mr>
                        </m:m>
                      </m:e>
                    </m:d>
                  </m:oMath>
                </a14:m>
                <a:br>
                  <a:rPr lang="en-US" dirty="0"/>
                </a:br>
                <a:br>
                  <a:rPr lang="en-US" dirty="0"/>
                </a:br>
                <a14:m>
                  <m:oMath xmlns:m="http://schemas.openxmlformats.org/officeDocument/2006/math">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𝑥</m:t>
                              </m:r>
                            </m:e>
                          </m:mr>
                          <m:mr>
                            <m:e>
                              <m:r>
                                <a:rPr lang="en-US" i="1">
                                  <a:latin typeface="Cambria Math" panose="02040503050406030204" pitchFamily="18" charset="0"/>
                                </a:rPr>
                                <m:t>𝑦</m:t>
                              </m:r>
                            </m:e>
                          </m:mr>
                        </m:m>
                      </m:e>
                    </m:d>
                  </m:oMath>
                </a14:m>
                <a:r>
                  <a:rPr lang="en-US" dirty="0"/>
                  <a:t>=</a:t>
                </a:r>
                <a14:m>
                  <m:oMath xmlns:m="http://schemas.openxmlformats.org/officeDocument/2006/math">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2</m:t>
                              </m:r>
                            </m:e>
                          </m:mr>
                          <m:mr>
                            <m:e>
                              <m:r>
                                <a:rPr lang="en-US" b="0" i="1" smtClean="0">
                                  <a:latin typeface="Cambria Math" panose="02040503050406030204" pitchFamily="18" charset="0"/>
                                </a:rPr>
                                <m:t>1</m:t>
                              </m:r>
                            </m:e>
                          </m:mr>
                        </m:m>
                      </m:e>
                    </m:d>
                  </m:oMath>
                </a14:m>
                <a:endParaRPr lang="en-US" dirty="0"/>
              </a:p>
              <a:p>
                <a:pPr marL="514350" indent="-514350">
                  <a:buFont typeface="+mj-lt"/>
                  <a:buAutoNum type="arabicPeriod"/>
                </a:pPr>
                <a14:m>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mr>
                        </m:m>
                      </m:e>
                    </m:d>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2</m:t>
                              </m:r>
                            </m:e>
                            <m:e>
                              <m:r>
                                <a:rPr lang="en-US" i="1">
                                  <a:latin typeface="Cambria Math" panose="02040503050406030204" pitchFamily="18" charset="0"/>
                                </a:rPr>
                                <m:t>4</m:t>
                              </m:r>
                            </m:e>
                          </m:mr>
                          <m:mr>
                            <m:e>
                              <m:r>
                                <a:rPr lang="en-US" i="1">
                                  <a:latin typeface="Cambria Math" panose="02040503050406030204" pitchFamily="18" charset="0"/>
                                </a:rPr>
                                <m:t>4</m:t>
                              </m:r>
                            </m:e>
                            <m:e>
                              <m:r>
                                <a:rPr lang="en-US" i="1">
                                  <a:latin typeface="Cambria Math" panose="02040503050406030204" pitchFamily="18" charset="0"/>
                                </a:rPr>
                                <m:t>−2</m:t>
                              </m:r>
                            </m:e>
                          </m:mr>
                        </m:m>
                      </m:e>
                    </m:d>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1</m:t>
                              </m:r>
                            </m:e>
                          </m:mr>
                        </m:m>
                      </m:e>
                    </m:d>
                    <m:r>
                      <a:rPr lang="en-US" b="0" i="1" smtClean="0">
                        <a:latin typeface="Cambria Math" panose="02040503050406030204" pitchFamily="18" charset="0"/>
                      </a:rPr>
                      <m:t>=−2</m:t>
                    </m:r>
                  </m:oMath>
                </a14:m>
                <a:endParaRPr lang="en-US" b="0" dirty="0"/>
              </a:p>
              <a:p>
                <a:pPr marL="1885950" lvl="3" indent="-514350">
                  <a:buFont typeface="+mj-lt"/>
                  <a:buAutoNum type="arabicPeriod"/>
                </a:pPr>
                <a:endParaRPr lang="en-US" b="0" dirty="0"/>
              </a:p>
              <a:p>
                <a:pPr lvl="1"/>
                <a:r>
                  <a:rPr lang="en-US" dirty="0"/>
                  <a:t>Similarly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
                      </m:e>
                    </m:d>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2</m:t>
                              </m:r>
                            </m:e>
                            <m:e>
                              <m:r>
                                <a:rPr lang="en-US" i="1">
                                  <a:latin typeface="Cambria Math" panose="02040503050406030204" pitchFamily="18" charset="0"/>
                                </a:rPr>
                                <m:t>4</m:t>
                              </m:r>
                            </m:e>
                          </m:mr>
                          <m:mr>
                            <m:e>
                              <m:r>
                                <a:rPr lang="en-US" i="1">
                                  <a:latin typeface="Cambria Math" panose="02040503050406030204" pitchFamily="18" charset="0"/>
                                </a:rPr>
                                <m:t>4</m:t>
                              </m:r>
                            </m:e>
                            <m:e>
                              <m:r>
                                <a:rPr lang="en-US" i="1">
                                  <a:latin typeface="Cambria Math" panose="02040503050406030204" pitchFamily="18" charset="0"/>
                                </a:rPr>
                                <m:t>−2</m:t>
                              </m:r>
                            </m:e>
                          </m:mr>
                        </m:m>
                      </m:e>
                    </m:d>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
                      </m:e>
                    </m:d>
                    <m:r>
                      <a:rPr lang="en-US" i="1">
                        <a:latin typeface="Cambria Math" panose="02040503050406030204" pitchFamily="18" charset="0"/>
                      </a:rPr>
                      <m:t>=2</m:t>
                    </m:r>
                  </m:oMath>
                </a14:m>
                <a:r>
                  <a:rPr lang="en-US" dirty="0"/>
                  <a:t> so </a:t>
                </a:r>
                <a14:m>
                  <m:oMath xmlns:m="http://schemas.openxmlformats.org/officeDocument/2006/math">
                    <m:sSup>
                      <m:sSupPr>
                        <m:ctrlPr>
                          <a:rPr lang="en-US" b="0" i="0" smtClean="0">
                            <a:latin typeface="Cambria Math" panose="02040503050406030204" pitchFamily="18" charset="0"/>
                          </a:rPr>
                        </m:ctrlPr>
                      </m:sSupPr>
                      <m:e>
                        <m:r>
                          <a:rPr lang="en-US" b="0" i="0"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𝑓</m:t>
                    </m:r>
                  </m:oMath>
                </a14:m>
                <a:r>
                  <a:rPr lang="en-US" dirty="0"/>
                  <a:t> is neither PD nor negative definite so neither</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475715" y="1568196"/>
                <a:ext cx="8281280" cy="4905978"/>
              </a:xfrm>
              <a:blipFill>
                <a:blip r:embed="rId2"/>
                <a:stretch>
                  <a:fillRect l="-589"/>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Group Exercise Solutions</a:t>
            </a:r>
          </a:p>
        </p:txBody>
      </p:sp>
      <p:pic>
        <p:nvPicPr>
          <p:cNvPr id="5" name="Picture 4"/>
          <p:cNvPicPr>
            <a:picLocks noChangeAspect="1"/>
          </p:cNvPicPr>
          <p:nvPr/>
        </p:nvPicPr>
        <p:blipFill>
          <a:blip r:embed="rId3"/>
          <a:stretch>
            <a:fillRect/>
          </a:stretch>
        </p:blipFill>
        <p:spPr>
          <a:xfrm>
            <a:off x="8231642" y="1064871"/>
            <a:ext cx="2171700" cy="2324100"/>
          </a:xfrm>
          <a:prstGeom prst="rect">
            <a:avLst/>
          </a:prstGeom>
        </p:spPr>
      </p:pic>
    </p:spTree>
    <p:extLst>
      <p:ext uri="{BB962C8B-B14F-4D97-AF65-F5344CB8AC3E}">
        <p14:creationId xmlns:p14="http://schemas.microsoft.com/office/powerpoint/2010/main" val="25070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635589" y="1769703"/>
                <a:ext cx="8821356" cy="3318593"/>
              </a:xfrm>
            </p:spPr>
            <p:txBody>
              <a:bodyPr>
                <a:normAutofit fontScale="92500" lnSpcReduction="10000"/>
              </a:bodyPr>
              <a:lstStyle/>
              <a:p>
                <a:r>
                  <a:rPr lang="en-US" dirty="0"/>
                  <a:t>We say that </a:t>
                </a:r>
                <a14:m>
                  <m:oMath xmlns:m="http://schemas.openxmlformats.org/officeDocument/2006/math">
                    <m:r>
                      <a:rPr lang="en-US" b="0" i="1" smtClean="0">
                        <a:latin typeface="Cambria Math" panose="02040503050406030204" pitchFamily="18" charset="0"/>
                      </a:rPr>
                      <m:t>𝑓</m:t>
                    </m:r>
                  </m:oMath>
                </a14:m>
                <a:r>
                  <a:rPr lang="en-US" dirty="0"/>
                  <a:t> is </a:t>
                </a:r>
                <a:r>
                  <a:rPr lang="en-US" i="1" dirty="0"/>
                  <a:t>convex</a:t>
                </a:r>
                <a:r>
                  <a:rPr lang="en-US" dirty="0"/>
                  <a:t> if </a:t>
                </a:r>
                <a:br>
                  <a:rPr lang="en-US" dirty="0"/>
                </a:br>
                <a:br>
                  <a:rPr lang="en-US" dirty="0"/>
                </a:b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1" i="1" smtClean="0">
                            <a:latin typeface="Cambria Math" panose="02040503050406030204" pitchFamily="18" charset="0"/>
                          </a:rPr>
                          <m:t>𝒙</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𝑡</m:t>
                            </m:r>
                          </m:e>
                        </m:d>
                        <m:r>
                          <a:rPr lang="en-US" b="1" i="1" smtClean="0">
                            <a:latin typeface="Cambria Math" panose="02040503050406030204" pitchFamily="18" charset="0"/>
                          </a:rPr>
                          <m:t>𝒚</m:t>
                        </m:r>
                      </m:e>
                    </m:d>
                    <m:r>
                      <a:rPr lang="en-US" b="0" i="1" smtClean="0">
                        <a:latin typeface="Cambria Math" panose="02040503050406030204" pitchFamily="18" charset="0"/>
                      </a:rPr>
                      <m:t>≤</m:t>
                    </m:r>
                    <m:r>
                      <a:rPr lang="en-US" b="0" i="1" smtClean="0">
                        <a:latin typeface="Cambria Math" panose="02040503050406030204" pitchFamily="18" charset="0"/>
                      </a:rPr>
                      <m:t>𝑡𝑓</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𝑡</m:t>
                        </m:r>
                      </m:e>
                    </m:d>
                    <m:r>
                      <a:rPr lang="en-US" b="0" i="1" smtClean="0">
                        <a:latin typeface="Cambria Math" panose="02040503050406030204" pitchFamily="18" charset="0"/>
                      </a:rPr>
                      <m:t>𝑓</m:t>
                    </m:r>
                    <m:d>
                      <m:dPr>
                        <m:ctrlPr>
                          <a:rPr lang="en-US" b="1" i="1" smtClean="0">
                            <a:latin typeface="Cambria Math" panose="02040503050406030204" pitchFamily="18" charset="0"/>
                          </a:rPr>
                        </m:ctrlPr>
                      </m:dPr>
                      <m:e>
                        <m:r>
                          <a:rPr lang="en-US" b="1" i="1" smtClean="0">
                            <a:latin typeface="Cambria Math" panose="02040503050406030204" pitchFamily="18" charset="0"/>
                          </a:rPr>
                          <m:t>𝒚</m:t>
                        </m:r>
                      </m:e>
                    </m:d>
                  </m:oMath>
                </a14:m>
                <a:br>
                  <a:rPr lang="en-US" b="0" dirty="0"/>
                </a:br>
                <a:br>
                  <a:rPr lang="en-US" b="0" dirty="0"/>
                </a:br>
                <a:r>
                  <a:rPr lang="en-US" b="0" dirty="0"/>
                  <a:t>for all </a:t>
                </a: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r>
                      <a:rPr lang="en-US" b="1" i="1" smtClean="0">
                        <a:latin typeface="Cambria Math" panose="02040503050406030204" pitchFamily="18" charset="0"/>
                      </a:rPr>
                      <m:t>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r>
                  <a:rPr lang="en-US" dirty="0"/>
                  <a:t> and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oMath>
                </a14:m>
                <a:r>
                  <a:rPr lang="en-US" dirty="0"/>
                  <a:t>.</a:t>
                </a:r>
              </a:p>
              <a:p>
                <a:r>
                  <a:rPr lang="en-US" dirty="0"/>
                  <a:t>We say </a:t>
                </a:r>
                <a14:m>
                  <m:oMath xmlns:m="http://schemas.openxmlformats.org/officeDocument/2006/math">
                    <m:r>
                      <a:rPr lang="en-US" b="0" i="1" smtClean="0">
                        <a:latin typeface="Cambria Math" panose="02040503050406030204" pitchFamily="18" charset="0"/>
                      </a:rPr>
                      <m:t>𝑓</m:t>
                    </m:r>
                  </m:oMath>
                </a14:m>
                <a:r>
                  <a:rPr lang="en-US" dirty="0"/>
                  <a:t> is </a:t>
                </a:r>
                <a:r>
                  <a:rPr lang="en-US" i="1" dirty="0"/>
                  <a:t>strictly convex</a:t>
                </a:r>
                <a:r>
                  <a:rPr lang="en-US" dirty="0"/>
                  <a:t> if </a:t>
                </a:r>
                <a:br>
                  <a:rPr lang="en-US" dirty="0"/>
                </a:br>
                <a:br>
                  <a:rPr lang="en-US" dirty="0"/>
                </a:b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r>
                          <a:rPr lang="en-US" b="1" i="1">
                            <a:latin typeface="Cambria Math" panose="02040503050406030204" pitchFamily="18" charset="0"/>
                          </a:rPr>
                          <m:t>𝒙</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𝑡</m:t>
                            </m:r>
                          </m:e>
                        </m:d>
                        <m:r>
                          <a:rPr lang="en-US" b="1" i="1">
                            <a:latin typeface="Cambria Math" panose="02040503050406030204" pitchFamily="18" charset="0"/>
                          </a:rPr>
                          <m:t>𝒚</m:t>
                        </m:r>
                      </m:e>
                    </m:d>
                    <m:r>
                      <a:rPr lang="en-US" b="0" i="1" smtClean="0">
                        <a:latin typeface="Cambria Math" panose="02040503050406030204" pitchFamily="18" charset="0"/>
                      </a:rPr>
                      <m:t>&lt;</m:t>
                    </m:r>
                    <m:r>
                      <a:rPr lang="en-US" i="1">
                        <a:latin typeface="Cambria Math" panose="02040503050406030204" pitchFamily="18" charset="0"/>
                      </a:rPr>
                      <m:t>𝑡𝑓</m:t>
                    </m:r>
                    <m:d>
                      <m:dPr>
                        <m:ctrlPr>
                          <a:rPr lang="en-US" b="1" i="1">
                            <a:latin typeface="Cambria Math" panose="02040503050406030204" pitchFamily="18" charset="0"/>
                          </a:rPr>
                        </m:ctrlPr>
                      </m:dPr>
                      <m:e>
                        <m:r>
                          <a:rPr lang="en-US" b="1" i="1">
                            <a:latin typeface="Cambria Math" panose="02040503050406030204" pitchFamily="18" charset="0"/>
                          </a:rPr>
                          <m:t>𝒙</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𝑡</m:t>
                        </m:r>
                      </m:e>
                    </m:d>
                    <m:r>
                      <a:rPr lang="en-US" i="1">
                        <a:latin typeface="Cambria Math" panose="02040503050406030204" pitchFamily="18" charset="0"/>
                      </a:rPr>
                      <m:t>𝑓</m:t>
                    </m:r>
                    <m:d>
                      <m:dPr>
                        <m:ctrlPr>
                          <a:rPr lang="en-US" b="1" i="1">
                            <a:latin typeface="Cambria Math" panose="02040503050406030204" pitchFamily="18" charset="0"/>
                          </a:rPr>
                        </m:ctrlPr>
                      </m:dPr>
                      <m:e>
                        <m:r>
                          <a:rPr lang="en-US" b="1" i="1">
                            <a:latin typeface="Cambria Math" panose="02040503050406030204" pitchFamily="18" charset="0"/>
                          </a:rPr>
                          <m:t>𝒚</m:t>
                        </m:r>
                      </m:e>
                    </m:d>
                  </m:oMath>
                </a14:m>
                <a:br>
                  <a:rPr lang="en-US" dirty="0"/>
                </a:br>
                <a:br>
                  <a:rPr lang="en-US" dirty="0"/>
                </a:br>
                <a:r>
                  <a:rPr lang="en-US" dirty="0"/>
                  <a:t> </a:t>
                </a:r>
                <a14:m>
                  <m:oMath xmlns:m="http://schemas.openxmlformats.org/officeDocument/2006/math">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r>
                      <a:rPr lang="en-US" b="1" i="1" smtClean="0">
                        <a:latin typeface="Cambria Math" panose="02040503050406030204" pitchFamily="18" charset="0"/>
                      </a:rPr>
                      <m:t>𝒚</m:t>
                    </m:r>
                  </m:oMath>
                </a14:m>
                <a:r>
                  <a:rPr lang="en-US" dirty="0"/>
                  <a:t> and </a:t>
                </a:r>
                <a14:m>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0,1</m:t>
                        </m:r>
                      </m:e>
                    </m:d>
                  </m:oMath>
                </a14:m>
                <a:r>
                  <a:rPr lang="en-US" dirty="0"/>
                  <a:t>.</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635589" y="1769703"/>
                <a:ext cx="8821356" cy="3318593"/>
              </a:xfrm>
              <a:blipFill>
                <a:blip r:embed="rId2"/>
                <a:stretch>
                  <a:fillRect l="-484" t="-1284"/>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Convexity</a:t>
            </a:r>
          </a:p>
        </p:txBody>
      </p:sp>
    </p:spTree>
    <p:extLst>
      <p:ext uri="{BB962C8B-B14F-4D97-AF65-F5344CB8AC3E}">
        <p14:creationId xmlns:p14="http://schemas.microsoft.com/office/powerpoint/2010/main" val="3049095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700635" y="1814587"/>
                <a:ext cx="10691265" cy="3739896"/>
              </a:xfrm>
            </p:spPr>
            <p:txBody>
              <a:bodyPr/>
              <a:lstStyle/>
              <a:p>
                <a:pPr marL="0" indent="0">
                  <a:buNone/>
                </a:pPr>
                <a:r>
                  <a:rPr lang="en-US" dirty="0"/>
                  <a:t>Properties of convex functions</a:t>
                </a:r>
              </a:p>
              <a:p>
                <a:pPr marL="514350" indent="-514350">
                  <a:buFont typeface="+mj-lt"/>
                  <a:buAutoNum type="arabicPeriod"/>
                </a:pPr>
                <a:r>
                  <a:rPr lang="en-US" dirty="0"/>
                  <a:t>If </a:t>
                </a:r>
                <a14:m>
                  <m:oMath xmlns:m="http://schemas.openxmlformats.org/officeDocument/2006/math">
                    <m:r>
                      <a:rPr lang="en-US" b="0" i="1" smtClean="0">
                        <a:latin typeface="Cambria Math" panose="02040503050406030204" pitchFamily="18" charset="0"/>
                      </a:rPr>
                      <m:t>𝑓</m:t>
                    </m:r>
                  </m:oMath>
                </a14:m>
                <a:r>
                  <a:rPr lang="en-US" dirty="0"/>
                  <a:t> is convex, then every local min is a global min</a:t>
                </a:r>
              </a:p>
              <a:p>
                <a:pPr marL="514350" indent="-514350">
                  <a:buFont typeface="+mj-lt"/>
                  <a:buAutoNum type="arabicPeriod"/>
                </a:pPr>
                <a:r>
                  <a:rPr lang="en-US" dirty="0"/>
                  <a:t>If </a:t>
                </a:r>
                <a14:m>
                  <m:oMath xmlns:m="http://schemas.openxmlformats.org/officeDocument/2006/math">
                    <m:r>
                      <a:rPr lang="en-US" b="0" i="1" smtClean="0">
                        <a:latin typeface="Cambria Math" panose="02040503050406030204" pitchFamily="18" charset="0"/>
                      </a:rPr>
                      <m:t>𝑓</m:t>
                    </m:r>
                  </m:oMath>
                </a14:m>
                <a:r>
                  <a:rPr lang="en-US" dirty="0"/>
                  <a:t> is strictly convex, then </a:t>
                </a:r>
                <a14:m>
                  <m:oMath xmlns:m="http://schemas.openxmlformats.org/officeDocument/2006/math">
                    <m:r>
                      <a:rPr lang="en-US" b="0" i="1" smtClean="0">
                        <a:latin typeface="Cambria Math" panose="02040503050406030204" pitchFamily="18" charset="0"/>
                      </a:rPr>
                      <m:t>𝑓</m:t>
                    </m:r>
                  </m:oMath>
                </a14:m>
                <a:r>
                  <a:rPr lang="en-US" dirty="0"/>
                  <a:t> has at most one global min</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700635" y="1814587"/>
                <a:ext cx="10691265" cy="3739896"/>
              </a:xfrm>
              <a:blipFill>
                <a:blip r:embed="rId2"/>
                <a:stretch>
                  <a:fillRect l="-627" t="-816"/>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Convex functions are nice</a:t>
            </a:r>
          </a:p>
        </p:txBody>
      </p:sp>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3636880" y="3307403"/>
              <a:ext cx="3750480" cy="2869560"/>
            </p14:xfrm>
          </p:contentPart>
        </mc:Choice>
        <mc:Fallback xmlns="">
          <p:pic>
            <p:nvPicPr>
              <p:cNvPr id="4" name="Ink 3"/>
              <p:cNvPicPr/>
              <p:nvPr/>
            </p:nvPicPr>
            <p:blipFill>
              <a:blip r:embed="rId4"/>
              <a:stretch>
                <a:fillRect/>
              </a:stretch>
            </p:blipFill>
            <p:spPr>
              <a:xfrm>
                <a:off x="3627520" y="3298043"/>
                <a:ext cx="3769200" cy="2888280"/>
              </a:xfrm>
              <a:prstGeom prst="rect">
                <a:avLst/>
              </a:prstGeom>
            </p:spPr>
          </p:pic>
        </mc:Fallback>
      </mc:AlternateContent>
    </p:spTree>
    <p:extLst>
      <p:ext uri="{BB962C8B-B14F-4D97-AF65-F5344CB8AC3E}">
        <p14:creationId xmlns:p14="http://schemas.microsoft.com/office/powerpoint/2010/main" val="1048169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Convexity Example</a:t>
            </a:r>
          </a:p>
        </p:txBody>
      </p:sp>
      <p:pic>
        <p:nvPicPr>
          <p:cNvPr id="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02536" y="2372918"/>
            <a:ext cx="7325869" cy="4136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5066123" y="2145055"/>
            <a:ext cx="1879096" cy="304800"/>
          </a:xfrm>
          <a:prstGeom prst="rect">
            <a:avLst/>
          </a:prstGeom>
        </p:spPr>
      </p:pic>
    </p:spTree>
    <p:extLst>
      <p:ext uri="{BB962C8B-B14F-4D97-AF65-F5344CB8AC3E}">
        <p14:creationId xmlns:p14="http://schemas.microsoft.com/office/powerpoint/2010/main" val="264380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Convex functions are nice</a:t>
            </a:r>
          </a:p>
        </p:txBody>
      </p:sp>
      <p:pic>
        <p:nvPicPr>
          <p:cNvPr id="4" name="Content Placeholder 3"/>
          <p:cNvPicPr>
            <a:picLocks noGrp="1" noChangeAspect="1"/>
          </p:cNvPicPr>
          <p:nvPr>
            <p:ph idx="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395690" y="2386589"/>
            <a:ext cx="7494285" cy="2468999"/>
          </a:xfrm>
          <a:prstGeom prst="rect">
            <a:avLst/>
          </a:prstGeom>
          <a:noFill/>
          <a:ln/>
          <a:effectLst/>
        </p:spPr>
      </p:pic>
    </p:spTree>
    <p:extLst>
      <p:ext uri="{BB962C8B-B14F-4D97-AF65-F5344CB8AC3E}">
        <p14:creationId xmlns:p14="http://schemas.microsoft.com/office/powerpoint/2010/main" val="1329368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pPr marL="514350" indent="-514350">
                  <a:buFont typeface="+mj-lt"/>
                  <a:buAutoNum type="arabicPeriod"/>
                </a:pPr>
                <a:r>
                  <a:rPr lang="en-US" dirty="0"/>
                  <a:t>Give an example of a function </a:t>
                </a:r>
                <a14:m>
                  <m:oMath xmlns:m="http://schemas.openxmlformats.org/officeDocument/2006/math">
                    <m:r>
                      <a:rPr lang="en-US" b="0" i="1" smtClean="0">
                        <a:latin typeface="Cambria Math" panose="02040503050406030204" pitchFamily="18" charset="0"/>
                      </a:rPr>
                      <m:t>𝑓</m:t>
                    </m:r>
                  </m:oMath>
                </a14:m>
                <a:r>
                  <a:rPr lang="en-US" dirty="0"/>
                  <a:t> that is </a:t>
                </a:r>
              </a:p>
              <a:p>
                <a:pPr lvl="1"/>
                <a:r>
                  <a:rPr lang="en-US" dirty="0"/>
                  <a:t>convex but not strictly convex</a:t>
                </a:r>
              </a:p>
              <a:p>
                <a:pPr lvl="1"/>
                <a:r>
                  <a:rPr lang="en-US" dirty="0"/>
                  <a:t>convex and has more than one global minimum</a:t>
                </a:r>
              </a:p>
              <a:p>
                <a:pPr lvl="1"/>
                <a:r>
                  <a:rPr lang="en-US" dirty="0"/>
                  <a:t>strictly convex, but has no global minimum</a:t>
                </a:r>
              </a:p>
              <a:p>
                <a:pPr marL="514350" indent="-514350">
                  <a:buFont typeface="+mj-lt"/>
                  <a:buAutoNum type="arabicPeriod"/>
                </a:pPr>
                <a:r>
                  <a:rPr lang="en-US" dirty="0"/>
                  <a:t>Is the sum of convex functions necessarily convex? Prove or provide a counter example</a:t>
                </a:r>
              </a:p>
              <a:p>
                <a:pPr marL="514350" indent="-514350">
                  <a:buFont typeface="+mj-lt"/>
                  <a:buAutoNum type="arabicPeriod"/>
                </a:pPr>
                <a:r>
                  <a:rPr lang="en-US" dirty="0"/>
                  <a:t>Is the product of convex functions necessarily convex? Prove or provide a counter example</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1451" t="-2148"/>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Group Exercise</a:t>
            </a:r>
          </a:p>
        </p:txBody>
      </p:sp>
    </p:spTree>
    <p:extLst>
      <p:ext uri="{BB962C8B-B14F-4D97-AF65-F5344CB8AC3E}">
        <p14:creationId xmlns:p14="http://schemas.microsoft.com/office/powerpoint/2010/main" val="3517911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685322" y="1671453"/>
                <a:ext cx="8821356" cy="5609306"/>
              </a:xfrm>
            </p:spPr>
            <p:txBody>
              <a:bodyPr/>
              <a:lstStyle/>
              <a:p>
                <a:pPr marL="514350" indent="-514350">
                  <a:buFont typeface="+mj-lt"/>
                  <a:buAutoNum type="arabicPeriod"/>
                </a:pPr>
                <a:r>
                  <a:rPr lang="en-US" dirty="0"/>
                  <a:t>Give an example of a function </a:t>
                </a:r>
                <a14:m>
                  <m:oMath xmlns:m="http://schemas.openxmlformats.org/officeDocument/2006/math">
                    <m:r>
                      <a:rPr lang="en-US" b="0" i="1" smtClean="0">
                        <a:latin typeface="Cambria Math" panose="02040503050406030204" pitchFamily="18" charset="0"/>
                      </a:rPr>
                      <m:t>𝑓</m:t>
                    </m:r>
                  </m:oMath>
                </a14:m>
                <a:r>
                  <a:rPr lang="en-US" dirty="0"/>
                  <a:t> that is </a:t>
                </a:r>
              </a:p>
              <a:p>
                <a:pPr lvl="1"/>
                <a:r>
                  <a:rPr lang="en-US" dirty="0"/>
                  <a:t>convex but not strictly convex</a:t>
                </a:r>
              </a:p>
              <a:p>
                <a:pPr lvl="2"/>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=2</m:t>
                    </m:r>
                    <m:r>
                      <a:rPr lang="en-US" b="0" i="1" smtClean="0">
                        <a:latin typeface="Cambria Math" panose="02040503050406030204" pitchFamily="18" charset="0"/>
                      </a:rPr>
                      <m:t>𝑥</m:t>
                    </m:r>
                    <m:r>
                      <a:rPr lang="en-US" b="0" i="1" smtClean="0">
                        <a:latin typeface="Cambria Math" panose="02040503050406030204" pitchFamily="18" charset="0"/>
                      </a:rPr>
                      <m:t>+3</m:t>
                    </m:r>
                  </m:oMath>
                </a14:m>
                <a:endParaRPr lang="en-US" dirty="0"/>
              </a:p>
              <a:p>
                <a:pPr lvl="1"/>
                <a:r>
                  <a:rPr lang="en-US" dirty="0"/>
                  <a:t>convex and has more than one global minimum</a:t>
                </a:r>
              </a:p>
              <a:p>
                <a:pPr lvl="2"/>
                <a:r>
                  <a:rPr lang="en-US" dirty="0"/>
                  <a:t>Constant function</a:t>
                </a:r>
              </a:p>
              <a:p>
                <a:pPr lvl="1"/>
                <a:r>
                  <a:rPr lang="en-US" dirty="0"/>
                  <a:t>strictly convex, but has no global minimum</a:t>
                </a:r>
              </a:p>
              <a:p>
                <a:pPr lvl="2"/>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𝑥</m:t>
                        </m:r>
                      </m:sup>
                    </m:sSup>
                  </m:oMath>
                </a14:m>
                <a:endParaRPr lang="en-US" dirty="0"/>
              </a:p>
              <a:p>
                <a:pPr marL="514350" indent="-514350">
                  <a:buFont typeface="+mj-lt"/>
                  <a:buAutoNum type="arabicPeriod"/>
                </a:pPr>
                <a:r>
                  <a:rPr lang="en-US" dirty="0"/>
                  <a:t>Is the sum of convex functions necessarily convex? Prove or provide a counter example</a:t>
                </a:r>
              </a:p>
              <a:p>
                <a:pPr lvl="1"/>
                <a:r>
                  <a:rPr lang="en-US" dirty="0"/>
                  <a:t>Yes, prove using the definition of convexity</a:t>
                </a:r>
              </a:p>
              <a:p>
                <a:pPr marL="514350" indent="-514350">
                  <a:buFont typeface="+mj-lt"/>
                  <a:buAutoNum type="arabicPeriod"/>
                </a:pPr>
                <a:r>
                  <a:rPr lang="en-US" dirty="0"/>
                  <a:t>Is the product of convex functions necessarily convex? Prove or provide a counter example</a:t>
                </a:r>
              </a:p>
              <a:p>
                <a:pPr lvl="1"/>
                <a:r>
                  <a:rPr lang="en-US" dirty="0"/>
                  <a:t>No,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𝑥</m:t>
                    </m:r>
                  </m:oMath>
                </a14:m>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685322" y="1671453"/>
                <a:ext cx="8821356" cy="5609306"/>
              </a:xfrm>
              <a:blipFill>
                <a:blip r:embed="rId2"/>
                <a:stretch>
                  <a:fillRect l="-691" t="-435"/>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Group Exercise Solutions</a:t>
            </a:r>
          </a:p>
        </p:txBody>
      </p:sp>
    </p:spTree>
    <p:extLst>
      <p:ext uri="{BB962C8B-B14F-4D97-AF65-F5344CB8AC3E}">
        <p14:creationId xmlns:p14="http://schemas.microsoft.com/office/powerpoint/2010/main" val="133323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combination of convexity and differentiability enables us to determine if a global minimum exists</a:t>
            </a:r>
          </a:p>
          <a:p>
            <a:r>
              <a:rPr lang="en-US" dirty="0"/>
              <a:t>Differentiability also provides us with methods for finding a minimum when a closed-form solution may not exist</a:t>
            </a:r>
          </a:p>
          <a:p>
            <a:r>
              <a:rPr lang="en-US" dirty="0"/>
              <a:t>Thus, when considering loss functions for an ML problem, convexity and differentiability are important properties to consider</a:t>
            </a:r>
          </a:p>
          <a:p>
            <a:endParaRPr lang="en-US" dirty="0"/>
          </a:p>
        </p:txBody>
      </p:sp>
      <p:sp>
        <p:nvSpPr>
          <p:cNvPr id="3" name="Title 2"/>
          <p:cNvSpPr>
            <a:spLocks noGrp="1"/>
          </p:cNvSpPr>
          <p:nvPr>
            <p:ph type="title"/>
          </p:nvPr>
        </p:nvSpPr>
        <p:spPr/>
        <p:txBody>
          <a:bodyPr/>
          <a:lstStyle/>
          <a:p>
            <a:r>
              <a:rPr lang="en-US" dirty="0"/>
              <a:t>Takeaways</a:t>
            </a:r>
          </a:p>
        </p:txBody>
      </p:sp>
    </p:spTree>
    <p:extLst>
      <p:ext uri="{BB962C8B-B14F-4D97-AF65-F5344CB8AC3E}">
        <p14:creationId xmlns:p14="http://schemas.microsoft.com/office/powerpoint/2010/main" val="459826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830873" y="1810693"/>
                <a:ext cx="7774286" cy="2942637"/>
              </a:xfrm>
            </p:spPr>
            <p:txBody>
              <a:bodyPr>
                <a:normAutofit fontScale="62500" lnSpcReduction="20000"/>
              </a:bodyPr>
              <a:lstStyle/>
              <a:p>
                <a:r>
                  <a:rPr lang="en-US" dirty="0"/>
                  <a:t>Consider minimizing the generic objective function </a:t>
                </a:r>
                <a14:m>
                  <m:oMath xmlns:m="http://schemas.openxmlformats.org/officeDocument/2006/math">
                    <m:r>
                      <a:rPr lang="en-US" b="0" i="1" smtClean="0">
                        <a:latin typeface="Cambria Math" panose="02040503050406030204" pitchFamily="18" charset="0"/>
                      </a:rPr>
                      <m:t>𝐽</m:t>
                    </m:r>
                    <m:d>
                      <m:dPr>
                        <m:ctrlPr>
                          <a:rPr lang="en-US" b="1" i="1" smtClean="0">
                            <a:latin typeface="Cambria Math" panose="02040503050406030204" pitchFamily="18" charset="0"/>
                          </a:rPr>
                        </m:ctrlPr>
                      </m:dPr>
                      <m:e>
                        <m:r>
                          <a:rPr lang="en-US" b="1" i="1" smtClean="0">
                            <a:latin typeface="Cambria Math" panose="02040503050406030204" pitchFamily="18" charset="0"/>
                          </a:rPr>
                          <m:t>𝜽</m:t>
                        </m:r>
                      </m:e>
                    </m:d>
                  </m:oMath>
                </a14:m>
                <a:endParaRPr lang="en-US" b="0" dirty="0"/>
              </a:p>
              <a:p>
                <a:r>
                  <a:rPr lang="en-US" dirty="0"/>
                  <a:t>What is a geometric interpretation of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𝐽</m:t>
                    </m:r>
                    <m:r>
                      <a:rPr lang="en-US" b="0" i="1" smtClean="0">
                        <a:latin typeface="Cambria Math" panose="02040503050406030204" pitchFamily="18" charset="0"/>
                      </a:rPr>
                      <m:t>(</m:t>
                    </m:r>
                    <m:r>
                      <a:rPr lang="en-US" b="1" i="1" smtClean="0">
                        <a:latin typeface="Cambria Math" panose="02040503050406030204" pitchFamily="18" charset="0"/>
                      </a:rPr>
                      <m:t>𝜽</m:t>
                    </m:r>
                    <m:r>
                      <a:rPr lang="en-US" b="0" i="1" smtClean="0">
                        <a:latin typeface="Cambria Math" panose="02040503050406030204" pitchFamily="18" charset="0"/>
                      </a:rPr>
                      <m:t>)</m:t>
                    </m:r>
                  </m:oMath>
                </a14:m>
                <a:r>
                  <a:rPr lang="en-US" dirty="0"/>
                  <a:t>?</a:t>
                </a:r>
              </a:p>
              <a:p>
                <a:pPr lvl="1"/>
                <a:r>
                  <a:rPr lang="en-US" dirty="0"/>
                  <a:t>Direction of steepest </a:t>
                </a:r>
                <a:r>
                  <a:rPr lang="en-US" u="sng" dirty="0"/>
                  <a:t>ascent</a:t>
                </a:r>
              </a:p>
              <a:p>
                <a:pPr lvl="1"/>
                <a:r>
                  <a:rPr lang="en-US" dirty="0"/>
                  <a:t>Thus iterative approaches take steps in </a:t>
                </a:r>
                <a:r>
                  <a:rPr lang="en-US" u="sng" dirty="0"/>
                  <a:t>opposite</a:t>
                </a:r>
                <a:r>
                  <a:rPr lang="en-US" dirty="0"/>
                  <a:t> direction, i.e., the direction of steepest </a:t>
                </a:r>
                <a:r>
                  <a:rPr lang="en-US" u="sng" dirty="0"/>
                  <a:t>descent</a:t>
                </a:r>
              </a:p>
              <a:p>
                <a:r>
                  <a:rPr lang="en-US" dirty="0"/>
                  <a:t>Initial guess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0</m:t>
                        </m:r>
                      </m:sub>
                    </m:sSub>
                  </m:oMath>
                </a14:m>
                <a:endParaRPr lang="en-US" b="0" dirty="0"/>
              </a:p>
              <a:p>
                <a:r>
                  <a:rPr lang="en-US" b="0" dirty="0"/>
                  <a:t>Learning rate, </a:t>
                </a:r>
                <a14:m>
                  <m:oMath xmlns:m="http://schemas.openxmlformats.org/officeDocument/2006/math">
                    <m:r>
                      <a:rPr lang="en-US" b="0" i="1" dirty="0" smtClean="0">
                        <a:latin typeface="Cambria Math" panose="02040503050406030204" pitchFamily="18" charset="0"/>
                      </a:rPr>
                      <m:t>𝛼</m:t>
                    </m:r>
                  </m:oMath>
                </a14:m>
                <a:endParaRPr lang="en-US" b="0" dirty="0"/>
              </a:p>
              <a:p>
                <a:r>
                  <a:rPr lang="en-US" dirty="0"/>
                  <a:t>For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=1,…</m:t>
                    </m:r>
                    <m:r>
                      <m:rPr>
                        <m:nor/>
                      </m:rPr>
                      <a:rPr lang="en-US" b="0" i="0" smtClean="0">
                        <a:latin typeface="Cambria Math" panose="02040503050406030204" pitchFamily="18" charset="0"/>
                      </a:rPr>
                      <m:t>, max_iter</m:t>
                    </m:r>
                  </m:oMath>
                </a14:m>
                <a:endParaRPr lang="en-US" b="0" dirty="0"/>
              </a:p>
              <a:p>
                <a:pPr marL="0" indent="0">
                  <a:buNone/>
                </a:pPr>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𝐽</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oMath>
                </a14:m>
                <a:endParaRPr lang="en-US" b="0" dirty="0"/>
              </a:p>
              <a:p>
                <a:pPr marL="0" indent="0">
                  <a:buNone/>
                </a:pPr>
                <a:r>
                  <a:rPr lang="en-US" dirty="0"/>
                  <a:t>	If convergence condition satisfied, exit</a:t>
                </a:r>
              </a:p>
              <a:p>
                <a:pPr marL="0" indent="0">
                  <a:buNone/>
                </a:pPr>
                <a:r>
                  <a:rPr lang="en-US" dirty="0"/>
                  <a:t>   End</a:t>
                </a:r>
              </a:p>
              <a:p>
                <a:pPr marL="0" indent="0">
                  <a:buNone/>
                </a:pPr>
                <a:endParaRPr lang="en-US" dirty="0"/>
              </a:p>
              <a:p>
                <a:pPr lvl="1"/>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830873" y="1810693"/>
                <a:ext cx="7774286" cy="2942637"/>
              </a:xfrm>
              <a:blipFill>
                <a:blip r:embed="rId2"/>
                <a:stretch>
                  <a:fillRect t="-828"/>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Gradient Descent (GD)</a:t>
            </a:r>
          </a:p>
        </p:txBody>
      </p:sp>
      <p:pic>
        <p:nvPicPr>
          <p:cNvPr id="4" name="Picture 3"/>
          <p:cNvPicPr>
            <a:picLocks noChangeAspect="1"/>
          </p:cNvPicPr>
          <p:nvPr/>
        </p:nvPicPr>
        <p:blipFill>
          <a:blip r:embed="rId3"/>
          <a:stretch>
            <a:fillRect/>
          </a:stretch>
        </p:blipFill>
        <p:spPr>
          <a:xfrm>
            <a:off x="2670771" y="4918962"/>
            <a:ext cx="6094491" cy="1714818"/>
          </a:xfrm>
          <a:prstGeom prst="rect">
            <a:avLst/>
          </a:prstGeom>
        </p:spPr>
      </p:pic>
    </p:spTree>
    <p:extLst>
      <p:ext uri="{BB962C8B-B14F-4D97-AF65-F5344CB8AC3E}">
        <p14:creationId xmlns:p14="http://schemas.microsoft.com/office/powerpoint/2010/main" val="481238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Learning Rate"/>
          <p:cNvSpPr txBox="1">
            <a:spLocks noGrp="1"/>
          </p:cNvSpPr>
          <p:nvPr>
            <p:ph type="title"/>
          </p:nvPr>
        </p:nvSpPr>
        <p:spPr>
          <a:prstGeom prst="rect">
            <a:avLst/>
          </a:prstGeom>
        </p:spPr>
        <p:txBody>
          <a:bodyPr/>
          <a:lstStyle/>
          <a:p>
            <a:r>
              <a:rPr dirty="0"/>
              <a:t>Learning Rate</a:t>
            </a:r>
          </a:p>
        </p:txBody>
      </p:sp>
      <p:sp>
        <p:nvSpPr>
          <p:cNvPr id="223" name="If the learning rate is too high, the gradient descent algorithm will bounce around the minimum and never converge…"/>
          <p:cNvSpPr txBox="1">
            <a:spLocks noGrp="1"/>
          </p:cNvSpPr>
          <p:nvPr>
            <p:ph type="body" idx="1"/>
          </p:nvPr>
        </p:nvSpPr>
        <p:spPr>
          <a:prstGeom prst="rect">
            <a:avLst/>
          </a:prstGeom>
        </p:spPr>
        <p:txBody>
          <a:bodyPr/>
          <a:lstStyle/>
          <a:p>
            <a:r>
              <a:rPr dirty="0"/>
              <a:t>If the learning rate is too high, the gradient descent algorithm will bounce around the minimum and never converge </a:t>
            </a:r>
          </a:p>
          <a:p>
            <a:pPr lvl="1"/>
            <a:r>
              <a:rPr dirty="0"/>
              <a:t>(See Figure 4-5 in HOML)</a:t>
            </a:r>
          </a:p>
          <a:p>
            <a:r>
              <a:rPr dirty="0"/>
              <a:t>If the learning rate is too low, it could take a very long time to find the minimum </a:t>
            </a:r>
          </a:p>
          <a:p>
            <a:pPr lvl="1"/>
            <a:r>
              <a:rPr dirty="0"/>
              <a:t>(See Figure 4-4 in HOML)</a:t>
            </a:r>
          </a:p>
          <a:p>
            <a:r>
              <a:rPr dirty="0"/>
              <a:t>It is common to start with a small learning rate (~0.01) and adjust based on the performance of the model</a:t>
            </a:r>
          </a:p>
        </p:txBody>
      </p:sp>
    </p:spTree>
  </p:cSld>
  <p:clrMapOvr>
    <a:masterClrMapping/>
  </p:clrMapOvr>
  <p:transition spd="med"/>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725905" y="1741017"/>
                <a:ext cx="8821356" cy="3874177"/>
              </a:xfrm>
            </p:spPr>
            <p:txBody>
              <a:bodyPr>
                <a:normAutofit/>
              </a:bodyPr>
              <a:lstStyle/>
              <a:p>
                <a:r>
                  <a:rPr lang="en-US" dirty="0"/>
                  <a:t>In practice, typically need </a:t>
                </a:r>
                <a14:m>
                  <m:oMath xmlns:m="http://schemas.openxmlformats.org/officeDocument/2006/math">
                    <m:r>
                      <a:rPr lang="en-US" b="0" i="1" smtClean="0">
                        <a:latin typeface="Cambria Math" panose="02040503050406030204" pitchFamily="18" charset="0"/>
                      </a:rPr>
                      <m:t>𝛼</m:t>
                    </m:r>
                  </m:oMath>
                </a14:m>
                <a:r>
                  <a:rPr lang="en-US" dirty="0"/>
                  <a:t> to decrease as a function of </a:t>
                </a:r>
                <a14:m>
                  <m:oMath xmlns:m="http://schemas.openxmlformats.org/officeDocument/2006/math">
                    <m:r>
                      <a:rPr lang="en-US" b="0" i="1" smtClean="0">
                        <a:latin typeface="Cambria Math" panose="02040503050406030204" pitchFamily="18" charset="0"/>
                      </a:rPr>
                      <m:t>𝑡</m:t>
                    </m:r>
                  </m:oMath>
                </a14:m>
                <a:endParaRPr lang="en-US" dirty="0"/>
              </a:p>
              <a:p>
                <a:pPr lvl="1"/>
                <a:r>
                  <a:rPr lang="en-US" dirty="0"/>
                  <a:t>Example: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𝑡</m:t>
                        </m:r>
                      </m:den>
                    </m:f>
                  </m:oMath>
                </a14:m>
                <a:endParaRPr lang="en-US" dirty="0"/>
              </a:p>
              <a:p>
                <a:pPr lvl="1"/>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725905" y="1741017"/>
                <a:ext cx="8821356" cy="3874177"/>
              </a:xfrm>
              <a:blipFill>
                <a:blip r:embed="rId2"/>
                <a:stretch>
                  <a:fillRect l="-622" t="-787"/>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Learning Rate as a Function</a:t>
            </a:r>
          </a:p>
        </p:txBody>
      </p:sp>
      <p:pic>
        <p:nvPicPr>
          <p:cNvPr id="4" name="Picture 3"/>
          <p:cNvPicPr>
            <a:picLocks noChangeAspect="1"/>
          </p:cNvPicPr>
          <p:nvPr/>
        </p:nvPicPr>
        <p:blipFill>
          <a:blip r:embed="rId3"/>
          <a:stretch>
            <a:fillRect/>
          </a:stretch>
        </p:blipFill>
        <p:spPr>
          <a:xfrm>
            <a:off x="2071116" y="3282912"/>
            <a:ext cx="7620000" cy="2144053"/>
          </a:xfrm>
          <a:prstGeom prst="rect">
            <a:avLst/>
          </a:prstGeom>
        </p:spPr>
      </p:pic>
    </p:spTree>
    <p:extLst>
      <p:ext uri="{BB962C8B-B14F-4D97-AF65-F5344CB8AC3E}">
        <p14:creationId xmlns:p14="http://schemas.microsoft.com/office/powerpoint/2010/main" val="3109006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685322" y="1568196"/>
                <a:ext cx="8821356" cy="3874177"/>
              </a:xfrm>
            </p:spPr>
            <p:txBody>
              <a:bodyPr>
                <a:normAutofit/>
              </a:bodyPr>
              <a:lstStyle/>
              <a:p>
                <a:pPr marL="514350" indent="-514350">
                  <a:buFont typeface="+mj-lt"/>
                  <a:buAutoNum type="arabicPeriod"/>
                </a:pPr>
                <a:r>
                  <a:rPr lang="en-US" dirty="0"/>
                  <a:t>What would be a good convergence condition (also known as a stopping criterion) for terminating GD?</a:t>
                </a:r>
              </a:p>
              <a:p>
                <a:pPr marL="514350" indent="-514350">
                  <a:buFont typeface="+mj-lt"/>
                  <a:buAutoNum type="arabicPeriod"/>
                </a:pPr>
                <a:r>
                  <a:rPr lang="en-US" dirty="0"/>
                  <a:t>What are some potential problems with setting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𝑡</m:t>
                        </m:r>
                      </m:den>
                    </m:f>
                  </m:oMath>
                </a14:m>
                <a:r>
                  <a:rPr lang="en-US" dirty="0"/>
                  <a:t>?</a:t>
                </a:r>
              </a:p>
              <a:p>
                <a:pPr marL="514350" indent="-514350">
                  <a:buFont typeface="+mj-lt"/>
                  <a:buAutoNum type="arabicPeriod"/>
                </a:pPr>
                <a:r>
                  <a:rPr lang="en-US" dirty="0"/>
                  <a:t>How could you choose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oMath>
                </a14:m>
                <a:r>
                  <a:rPr lang="en-US" dirty="0"/>
                  <a:t> to counter these problems?</a:t>
                </a:r>
              </a:p>
              <a:p>
                <a:pPr marL="514350" indent="-514350">
                  <a:buFont typeface="+mj-lt"/>
                  <a:buAutoNum type="arabicPeriod"/>
                </a:pPr>
                <a:r>
                  <a:rPr lang="en-US" dirty="0"/>
                  <a:t>Does the initialization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0</m:t>
                        </m:r>
                      </m:sub>
                    </m:sSub>
                  </m:oMath>
                </a14:m>
                <a:r>
                  <a:rPr lang="en-US" dirty="0"/>
                  <a:t> affect the result?</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685322" y="1568196"/>
                <a:ext cx="8821356" cy="3874177"/>
              </a:xfrm>
              <a:blipFill>
                <a:blip r:embed="rId2"/>
                <a:stretch>
                  <a:fillRect l="-691" t="-629"/>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Group Exercise</a:t>
            </a:r>
          </a:p>
        </p:txBody>
      </p:sp>
      <p:pic>
        <p:nvPicPr>
          <p:cNvPr id="4" name="Picture 3"/>
          <p:cNvPicPr>
            <a:picLocks noChangeAspect="1"/>
          </p:cNvPicPr>
          <p:nvPr/>
        </p:nvPicPr>
        <p:blipFill>
          <a:blip r:embed="rId3"/>
          <a:stretch>
            <a:fillRect/>
          </a:stretch>
        </p:blipFill>
        <p:spPr>
          <a:xfrm>
            <a:off x="2286000" y="4485348"/>
            <a:ext cx="7620000" cy="2144053"/>
          </a:xfrm>
          <a:prstGeom prst="rect">
            <a:avLst/>
          </a:prstGeom>
        </p:spPr>
      </p:pic>
    </p:spTree>
    <p:extLst>
      <p:ext uri="{BB962C8B-B14F-4D97-AF65-F5344CB8AC3E}">
        <p14:creationId xmlns:p14="http://schemas.microsoft.com/office/powerpoint/2010/main" val="825400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868146" y="1908305"/>
                <a:ext cx="7121945" cy="4035295"/>
              </a:xfrm>
            </p:spPr>
            <p:txBody>
              <a:bodyPr>
                <a:normAutofit fontScale="85000" lnSpcReduction="20000"/>
              </a:bodyPr>
              <a:lstStyle/>
              <a:p>
                <a:pPr marL="514350" indent="-514350">
                  <a:buFont typeface="+mj-lt"/>
                  <a:buAutoNum type="arabicPeriod"/>
                </a:pPr>
                <a:r>
                  <a:rPr lang="en-US" dirty="0"/>
                  <a:t>What would be a good convergence condition (also known as a stopping criterion) for terminating GD?</a:t>
                </a:r>
              </a:p>
              <a:p>
                <a:pPr lvl="1"/>
                <a:r>
                  <a:rPr lang="en-US" dirty="0"/>
                  <a:t>If the norm of the gradient is small</a:t>
                </a:r>
              </a:p>
              <a:p>
                <a:pPr lvl="1"/>
                <a:r>
                  <a:rPr lang="en-US" dirty="0"/>
                  <a:t>If the decrease in the objective function or the parameter values is small</a:t>
                </a:r>
              </a:p>
              <a:p>
                <a:pPr lvl="1"/>
                <a:r>
                  <a:rPr lang="en-US" dirty="0"/>
                  <a:t>A fixed number of iterations</a:t>
                </a:r>
              </a:p>
              <a:p>
                <a:pPr marL="514350" indent="-514350">
                  <a:buFont typeface="+mj-lt"/>
                  <a:buAutoNum type="arabicPeriod"/>
                </a:pPr>
                <a:r>
                  <a:rPr lang="en-US" dirty="0"/>
                  <a:t>What are some potential problems with setting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𝑡</m:t>
                        </m:r>
                      </m:den>
                    </m:f>
                  </m:oMath>
                </a14:m>
                <a:r>
                  <a:rPr lang="en-US" dirty="0"/>
                  <a:t>?</a:t>
                </a:r>
              </a:p>
              <a:p>
                <a:pPr lvl="1"/>
                <a:r>
                  <a:rPr lang="en-US" dirty="0"/>
                  <a:t>The step size may decay too rapidly</a:t>
                </a:r>
              </a:p>
              <a:p>
                <a:pPr marL="514350" indent="-514350">
                  <a:buFont typeface="+mj-lt"/>
                  <a:buAutoNum type="arabicPeriod"/>
                </a:pPr>
                <a:r>
                  <a:rPr lang="en-US" dirty="0"/>
                  <a:t>How could you choose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oMath>
                </a14:m>
                <a:r>
                  <a:rPr lang="en-US" dirty="0"/>
                  <a:t> to counter these problems?</a:t>
                </a:r>
              </a:p>
              <a:p>
                <a:pPr lvl="1"/>
                <a:r>
                  <a:rPr lang="en-US" dirty="0"/>
                  <a:t>Could choose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oMath>
                </a14:m>
                <a:r>
                  <a:rPr lang="en-US" dirty="0"/>
                  <a:t> adaptively; e.g., use momentum</a:t>
                </a:r>
              </a:p>
              <a:p>
                <a:pPr marL="514350" indent="-514350">
                  <a:buFont typeface="+mj-lt"/>
                  <a:buAutoNum type="arabicPeriod"/>
                </a:pPr>
                <a:r>
                  <a:rPr lang="en-US" dirty="0"/>
                  <a:t>Does the initialization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0</m:t>
                        </m:r>
                      </m:sub>
                    </m:sSub>
                  </m:oMath>
                </a14:m>
                <a:r>
                  <a:rPr lang="en-US" dirty="0"/>
                  <a:t> affect the result?</a:t>
                </a:r>
              </a:p>
              <a:p>
                <a:pPr lvl="1"/>
                <a:r>
                  <a:rPr lang="en-US" dirty="0"/>
                  <a:t>If </a:t>
                </a:r>
                <a14:m>
                  <m:oMath xmlns:m="http://schemas.openxmlformats.org/officeDocument/2006/math">
                    <m:r>
                      <a:rPr lang="en-US" b="0" i="1" smtClean="0">
                        <a:latin typeface="Cambria Math" panose="02040503050406030204" pitchFamily="18" charset="0"/>
                      </a:rPr>
                      <m:t>𝐽</m:t>
                    </m:r>
                  </m:oMath>
                </a14:m>
                <a:r>
                  <a:rPr lang="en-US" dirty="0"/>
                  <a:t> is convex, we will eventually find the global min although, the initialization may affect the number of iterations required. If </a:t>
                </a:r>
                <a14:m>
                  <m:oMath xmlns:m="http://schemas.openxmlformats.org/officeDocument/2006/math">
                    <m:r>
                      <a:rPr lang="en-US" b="0" i="1" smtClean="0">
                        <a:latin typeface="Cambria Math" panose="02040503050406030204" pitchFamily="18" charset="0"/>
                      </a:rPr>
                      <m:t>𝐽</m:t>
                    </m:r>
                  </m:oMath>
                </a14:m>
                <a:r>
                  <a:rPr lang="en-US" dirty="0"/>
                  <a:t> is not convex, we may end up at a local min instead</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868146" y="1908305"/>
                <a:ext cx="7121945" cy="4035295"/>
              </a:xfrm>
              <a:blipFill>
                <a:blip r:embed="rId3"/>
                <a:stretch>
                  <a:fillRect l="-428" t="-1057"/>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Group Exercise Solutions</a:t>
            </a:r>
          </a:p>
        </p:txBody>
      </p:sp>
    </p:spTree>
    <p:extLst>
      <p:ext uri="{BB962C8B-B14F-4D97-AF65-F5344CB8AC3E}">
        <p14:creationId xmlns:p14="http://schemas.microsoft.com/office/powerpoint/2010/main" val="135093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Learning Schedule"/>
          <p:cNvSpPr txBox="1">
            <a:spLocks noGrp="1"/>
          </p:cNvSpPr>
          <p:nvPr>
            <p:ph type="title"/>
          </p:nvPr>
        </p:nvSpPr>
        <p:spPr>
          <a:prstGeom prst="rect">
            <a:avLst/>
          </a:prstGeom>
        </p:spPr>
        <p:txBody>
          <a:bodyPr/>
          <a:lstStyle/>
          <a:p>
            <a:r>
              <a:t>Learning Schedule</a:t>
            </a:r>
          </a:p>
        </p:txBody>
      </p:sp>
      <p:sp>
        <p:nvSpPr>
          <p:cNvPr id="235" name="A way to help “settle” stochastic gradient descent…"/>
          <p:cNvSpPr txBox="1">
            <a:spLocks noGrp="1"/>
          </p:cNvSpPr>
          <p:nvPr>
            <p:ph type="body" idx="1"/>
          </p:nvPr>
        </p:nvSpPr>
        <p:spPr>
          <a:prstGeom prst="rect">
            <a:avLst/>
          </a:prstGeom>
        </p:spPr>
        <p:txBody>
          <a:bodyPr>
            <a:normAutofit fontScale="85000" lnSpcReduction="10000"/>
          </a:bodyPr>
          <a:lstStyle/>
          <a:p>
            <a:r>
              <a:rPr dirty="0"/>
              <a:t>A way to help “settle” stochastic gradient descent </a:t>
            </a:r>
          </a:p>
          <a:p>
            <a:r>
              <a:rPr dirty="0"/>
              <a:t>Gradually reduce the learning rate according to a function called the “learning schedule”</a:t>
            </a:r>
          </a:p>
          <a:p>
            <a:r>
              <a:rPr lang="en-US" dirty="0"/>
              <a:t>Additional Points:</a:t>
            </a:r>
          </a:p>
          <a:p>
            <a:pPr lvl="1"/>
            <a:r>
              <a:rPr lang="en-US" dirty="0"/>
              <a:t>Common schedules include:</a:t>
            </a:r>
          </a:p>
          <a:p>
            <a:pPr lvl="1"/>
            <a:r>
              <a:rPr lang="en-US" dirty="0"/>
              <a:t>Step decay: Reduce learning rate by a factor after a fixed number of epochs.</a:t>
            </a:r>
          </a:p>
          <a:p>
            <a:pPr lvl="1"/>
            <a:r>
              <a:rPr lang="en-US" dirty="0"/>
              <a:t>Exponential decay: Multiply learning rate by a constant factor each epoch.</a:t>
            </a:r>
          </a:p>
          <a:p>
            <a:pPr lvl="1"/>
            <a:r>
              <a:rPr lang="en-US" dirty="0"/>
              <a:t>Polynomial decay: Decrease learning rate following a polynomial function.</a:t>
            </a:r>
          </a:p>
          <a:p>
            <a:r>
              <a:rPr lang="en-US" dirty="0"/>
              <a:t>Modern techniques:</a:t>
            </a:r>
          </a:p>
          <a:p>
            <a:pPr lvl="1"/>
            <a:r>
              <a:rPr lang="en-US" dirty="0"/>
              <a:t>Cosine Annealing: Learning rate follows a cosine curve, often combined with restarts.</a:t>
            </a:r>
          </a:p>
          <a:p>
            <a:pPr lvl="1"/>
            <a:r>
              <a:rPr lang="en-US" dirty="0"/>
              <a:t>One-cycle policy: Increase learning rate initially, then decrease sharply for better convergence.</a:t>
            </a:r>
          </a:p>
          <a:p>
            <a:pPr lvl="1"/>
            <a:r>
              <a:rPr lang="en-US" dirty="0"/>
              <a:t>Adaptive methods (Adam, </a:t>
            </a:r>
            <a:r>
              <a:rPr lang="en-US" dirty="0" err="1"/>
              <a:t>RMSProp</a:t>
            </a:r>
            <a:r>
              <a:rPr lang="en-US" dirty="0"/>
              <a:t>): Adjust learning rate per parameter automatically based on gradient history.</a:t>
            </a:r>
            <a:endParaRPr dirty="0"/>
          </a:p>
        </p:txBody>
      </p:sp>
    </p:spTree>
  </p:cSld>
  <p:clrMapOvr>
    <a:masterClrMapping/>
  </p:clrMapOvr>
  <p:transition spd="med"/>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28ABB5-FA59-A509-E9F0-95283644922D}"/>
              </a:ext>
            </a:extLst>
          </p:cNvPr>
          <p:cNvPicPr>
            <a:picLocks noChangeAspect="1"/>
          </p:cNvPicPr>
          <p:nvPr/>
        </p:nvPicPr>
        <p:blipFill>
          <a:blip r:embed="rId2"/>
          <a:stretch>
            <a:fillRect/>
          </a:stretch>
        </p:blipFill>
        <p:spPr>
          <a:xfrm>
            <a:off x="1089211" y="91141"/>
            <a:ext cx="10013577" cy="6675718"/>
          </a:xfrm>
          <a:prstGeom prst="rect">
            <a:avLst/>
          </a:prstGeom>
        </p:spPr>
      </p:pic>
    </p:spTree>
    <p:extLst>
      <p:ext uri="{BB962C8B-B14F-4D97-AF65-F5344CB8AC3E}">
        <p14:creationId xmlns:p14="http://schemas.microsoft.com/office/powerpoint/2010/main" val="1673694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dirty="0"/>
                  <a:t>In many ML problems, we can write</a:t>
                </a:r>
                <a:br>
                  <a:rPr lang="en-US" dirty="0"/>
                </a:br>
                <a14:m>
                  <m:oMath xmlns:m="http://schemas.openxmlformats.org/officeDocument/2006/math">
                    <m:r>
                      <a:rPr lang="en-US" b="0" i="1" smtClean="0">
                        <a:latin typeface="Cambria Math" panose="02040503050406030204" pitchFamily="18" charset="0"/>
                      </a:rPr>
                      <m:t>𝐽</m:t>
                    </m:r>
                    <m:d>
                      <m:dPr>
                        <m:ctrlPr>
                          <a:rPr lang="en-US" b="1" i="1" smtClean="0">
                            <a:latin typeface="Cambria Math" panose="02040503050406030204" pitchFamily="18" charset="0"/>
                          </a:rPr>
                        </m:ctrlPr>
                      </m:dPr>
                      <m:e>
                        <m:r>
                          <a:rPr lang="en-US" b="1" i="1" smtClean="0">
                            <a:latin typeface="Cambria Math" panose="02040503050406030204" pitchFamily="18" charset="0"/>
                          </a:rPr>
                          <m:t>𝜽</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1" i="1" smtClean="0">
                            <a:latin typeface="Cambria Math" panose="02040503050406030204" pitchFamily="18" charset="0"/>
                          </a:rPr>
                          <m:t>𝜽</m:t>
                        </m:r>
                        <m:r>
                          <a:rPr lang="en-US" b="0" i="1" smtClean="0">
                            <a:latin typeface="Cambria Math" panose="02040503050406030204" pitchFamily="18" charset="0"/>
                          </a:rPr>
                          <m:t>)</m:t>
                        </m:r>
                      </m:e>
                    </m:nary>
                  </m:oMath>
                </a14:m>
                <a:endParaRPr lang="en-US" dirty="0"/>
              </a:p>
              <a:p>
                <a:pPr marL="457200" lvl="1" indent="0">
                  <a:buNone/>
                </a:pPr>
                <a:endParaRPr lang="en-US" dirty="0"/>
              </a:p>
              <a:p>
                <a:r>
                  <a:rPr lang="en-US" dirty="0"/>
                  <a:t>Thus</a:t>
                </a:r>
                <a:br>
                  <a:rPr lang="en-US" dirty="0"/>
                </a:b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𝐽</m:t>
                    </m:r>
                    <m:d>
                      <m:dPr>
                        <m:ctrlPr>
                          <a:rPr lang="en-US" b="1" i="1">
                            <a:latin typeface="Cambria Math" panose="02040503050406030204" pitchFamily="18" charset="0"/>
                          </a:rPr>
                        </m:ctrlPr>
                      </m:dPr>
                      <m:e>
                        <m:r>
                          <a:rPr lang="en-US" b="1" i="1">
                            <a:latin typeface="Cambria Math" panose="02040503050406030204" pitchFamily="18" charset="0"/>
                          </a:rPr>
                          <m:t>𝜽</m:t>
                        </m:r>
                      </m:e>
                    </m:d>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𝐽</m:t>
                            </m:r>
                          </m:e>
                          <m:sub>
                            <m:r>
                              <a:rPr lang="en-US" i="1">
                                <a:latin typeface="Cambria Math" panose="02040503050406030204" pitchFamily="18" charset="0"/>
                              </a:rPr>
                              <m:t>𝑖</m:t>
                            </m:r>
                          </m:sub>
                        </m:sSub>
                        <m:r>
                          <a:rPr lang="en-US" i="1">
                            <a:latin typeface="Cambria Math" panose="02040503050406030204" pitchFamily="18" charset="0"/>
                          </a:rPr>
                          <m:t>(</m:t>
                        </m:r>
                        <m:r>
                          <a:rPr lang="en-US" b="1" i="1">
                            <a:latin typeface="Cambria Math" panose="02040503050406030204" pitchFamily="18" charset="0"/>
                          </a:rPr>
                          <m:t>𝜽</m:t>
                        </m:r>
                        <m:r>
                          <a:rPr lang="en-US" i="1">
                            <a:latin typeface="Cambria Math" panose="02040503050406030204" pitchFamily="18" charset="0"/>
                          </a:rPr>
                          <m:t>)</m:t>
                        </m:r>
                      </m:e>
                    </m:nary>
                  </m:oMath>
                </a14:m>
                <a:endParaRPr lang="en-US" dirty="0"/>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3"/>
                <a:stretch>
                  <a:fillRect l="-513" t="-816"/>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Stochastic Gradient Descent (SGD)</a:t>
            </a:r>
          </a:p>
        </p:txBody>
      </p:sp>
    </p:spTree>
    <p:extLst>
      <p:ext uri="{BB962C8B-B14F-4D97-AF65-F5344CB8AC3E}">
        <p14:creationId xmlns:p14="http://schemas.microsoft.com/office/powerpoint/2010/main" val="8383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732344" y="1819015"/>
                <a:ext cx="8821356" cy="5112092"/>
              </a:xfrm>
            </p:spPr>
            <p:txBody>
              <a:bodyPr/>
              <a:lstStyle/>
              <a:p>
                <a:r>
                  <a:rPr lang="en-US" dirty="0"/>
                  <a:t>In GD, we calculate the gradient using all of the data</a:t>
                </a:r>
              </a:p>
              <a:p>
                <a:pPr lvl="1"/>
                <a:r>
                  <a:rPr lang="en-US" dirty="0"/>
                  <a:t>For large </a:t>
                </a:r>
                <a14:m>
                  <m:oMath xmlns:m="http://schemas.openxmlformats.org/officeDocument/2006/math">
                    <m:r>
                      <a:rPr lang="en-US" i="1">
                        <a:latin typeface="Cambria Math" panose="02040503050406030204" pitchFamily="18" charset="0"/>
                      </a:rPr>
                      <m:t>𝑛</m:t>
                    </m:r>
                  </m:oMath>
                </a14:m>
                <a:r>
                  <a:rPr lang="en-US" dirty="0"/>
                  <a:t>, each step in the parameter space </a:t>
                </a:r>
                <a14:m>
                  <m:oMath xmlns:m="http://schemas.openxmlformats.org/officeDocument/2006/math">
                    <m:r>
                      <a:rPr lang="en-US" b="1" i="1" smtClean="0">
                        <a:latin typeface="Cambria Math" panose="02040503050406030204" pitchFamily="18" charset="0"/>
                      </a:rPr>
                      <m:t>𝜽</m:t>
                    </m:r>
                  </m:oMath>
                </a14:m>
                <a:r>
                  <a:rPr lang="en-US" dirty="0"/>
                  <a:t> takes a lot of computations</a:t>
                </a:r>
              </a:p>
              <a:p>
                <a:pPr lvl="1"/>
                <a:r>
                  <a:rPr lang="en-US" dirty="0"/>
                  <a:t>Thus learning can occur slowly</a:t>
                </a:r>
              </a:p>
              <a:p>
                <a:r>
                  <a:rPr lang="en-US" dirty="0"/>
                  <a:t>For SGD, we estimate the gradient using a small random sample of training inputs</a:t>
                </a:r>
              </a:p>
              <a:p>
                <a:pPr lvl="1"/>
                <a:r>
                  <a:rPr lang="en-US" dirty="0"/>
                  <a:t>Speeds up gradient descent and learning</a:t>
                </a:r>
              </a:p>
              <a:p>
                <a:pPr lvl="1"/>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732344" y="1819015"/>
                <a:ext cx="8821356" cy="5112092"/>
              </a:xfrm>
              <a:blipFill>
                <a:blip r:embed="rId2"/>
                <a:stretch>
                  <a:fillRect l="-622" t="-477"/>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Stochastic Gradient Descent (SGD)</a:t>
            </a:r>
          </a:p>
        </p:txBody>
      </p:sp>
    </p:spTree>
    <p:extLst>
      <p:ext uri="{BB962C8B-B14F-4D97-AF65-F5344CB8AC3E}">
        <p14:creationId xmlns:p14="http://schemas.microsoft.com/office/powerpoint/2010/main" val="1139856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732344" y="2007551"/>
                <a:ext cx="8821356" cy="5112092"/>
              </a:xfrm>
            </p:spPr>
            <p:txBody>
              <a:bodyPr/>
              <a:lstStyle/>
              <a:p>
                <a:r>
                  <a:rPr lang="en-US" dirty="0"/>
                  <a:t>Pick a random set of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&lt;</m:t>
                    </m:r>
                    <m:r>
                      <a:rPr lang="en-US" b="0" i="1" smtClean="0">
                        <a:latin typeface="Cambria Math" panose="02040503050406030204" pitchFamily="18" charset="0"/>
                      </a:rPr>
                      <m:t>𝑛</m:t>
                    </m:r>
                  </m:oMath>
                </a14:m>
                <a:r>
                  <a:rPr lang="en-US" dirty="0"/>
                  <a:t> training inputs</a:t>
                </a:r>
              </a:p>
              <a:p>
                <a:pPr lvl="1"/>
                <a:r>
                  <a:rPr lang="en-US" dirty="0"/>
                  <a:t>Referred to as a </a:t>
                </a:r>
                <a:r>
                  <a:rPr lang="en-US" i="1" dirty="0"/>
                  <a:t>mini-batch</a:t>
                </a:r>
              </a:p>
              <a:p>
                <a:r>
                  <a:rPr lang="en-US" dirty="0"/>
                  <a:t>Estimate the gradient using the samples from the mini-batch and take a step in the direction of the negative gradient</a:t>
                </a:r>
              </a:p>
              <a:p>
                <a:r>
                  <a:rPr lang="en-US" dirty="0"/>
                  <a:t>If </a:t>
                </a:r>
                <a14:m>
                  <m:oMath xmlns:m="http://schemas.openxmlformats.org/officeDocument/2006/math">
                    <m:r>
                      <a:rPr lang="en-US" b="0" i="1" smtClean="0">
                        <a:latin typeface="Cambria Math" panose="02040503050406030204" pitchFamily="18" charset="0"/>
                      </a:rPr>
                      <m:t>𝑚</m:t>
                    </m:r>
                  </m:oMath>
                </a14:m>
                <a:r>
                  <a:rPr lang="en-US" dirty="0"/>
                  <a:t> is large enough, then the estimated gradient will be roughly equal to the gradient using the full data</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732344" y="2007551"/>
                <a:ext cx="8821356" cy="5112092"/>
              </a:xfrm>
              <a:blipFill>
                <a:blip r:embed="rId2"/>
                <a:stretch>
                  <a:fillRect l="-622" t="-477" r="-1175"/>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Stochastic Gradient Descent</a:t>
            </a:r>
          </a:p>
        </p:txBody>
      </p:sp>
    </p:spTree>
    <p:extLst>
      <p:ext uri="{BB962C8B-B14F-4D97-AF65-F5344CB8AC3E}">
        <p14:creationId xmlns:p14="http://schemas.microsoft.com/office/powerpoint/2010/main" val="315145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A training </a:t>
            </a:r>
            <a:r>
              <a:rPr lang="en-US" b="1" i="1" dirty="0"/>
              <a:t>epoch</a:t>
            </a:r>
            <a:r>
              <a:rPr lang="en-US" dirty="0"/>
              <a:t>:</a:t>
            </a:r>
          </a:p>
          <a:p>
            <a:pPr marL="514350" indent="-514350">
              <a:buFont typeface="+mj-lt"/>
              <a:buAutoNum type="arabicPeriod"/>
            </a:pPr>
            <a:r>
              <a:rPr lang="en-US" dirty="0"/>
              <a:t>Pick a random subset of the training data</a:t>
            </a:r>
          </a:p>
          <a:p>
            <a:pPr lvl="1"/>
            <a:r>
              <a:rPr lang="en-US" dirty="0"/>
              <a:t>Referred to as a mini-batch</a:t>
            </a:r>
          </a:p>
          <a:p>
            <a:pPr marL="514350" indent="-514350">
              <a:buFont typeface="+mj-lt"/>
              <a:buAutoNum type="arabicPeriod"/>
            </a:pPr>
            <a:r>
              <a:rPr lang="en-US" dirty="0"/>
              <a:t>Update the parameters using the gradient estimates from the mini-batch</a:t>
            </a:r>
          </a:p>
          <a:p>
            <a:pPr marL="514350" indent="-514350">
              <a:buFont typeface="+mj-lt"/>
              <a:buAutoNum type="arabicPeriod"/>
            </a:pPr>
            <a:r>
              <a:rPr lang="en-US" dirty="0"/>
              <a:t>Pick another random mini-batch from the remaining training points and repeat step 2</a:t>
            </a:r>
          </a:p>
          <a:p>
            <a:pPr lvl="1"/>
            <a:r>
              <a:rPr lang="en-US" dirty="0"/>
              <a:t>Repeat until all training inputs have been used</a:t>
            </a:r>
          </a:p>
          <a:p>
            <a:endParaRPr lang="en-US" dirty="0"/>
          </a:p>
          <a:p>
            <a:pPr marL="0" indent="0">
              <a:buNone/>
            </a:pPr>
            <a:r>
              <a:rPr lang="en-US" dirty="0"/>
              <a:t>Repeat multiple epochs until stopping conditions are met</a:t>
            </a:r>
          </a:p>
        </p:txBody>
      </p:sp>
      <p:sp>
        <p:nvSpPr>
          <p:cNvPr id="3" name="Title 2"/>
          <p:cNvSpPr>
            <a:spLocks noGrp="1"/>
          </p:cNvSpPr>
          <p:nvPr>
            <p:ph type="title"/>
          </p:nvPr>
        </p:nvSpPr>
        <p:spPr/>
        <p:txBody>
          <a:bodyPr>
            <a:normAutofit/>
          </a:bodyPr>
          <a:lstStyle/>
          <a:p>
            <a:r>
              <a:rPr lang="en-US" dirty="0"/>
              <a:t>Stochastic Gradient Descent Summary</a:t>
            </a:r>
          </a:p>
        </p:txBody>
      </p:sp>
    </p:spTree>
    <p:extLst>
      <p:ext uri="{BB962C8B-B14F-4D97-AF65-F5344CB8AC3E}">
        <p14:creationId xmlns:p14="http://schemas.microsoft.com/office/powerpoint/2010/main" val="18361969"/>
      </p:ext>
    </p:extLst>
  </p:cSld>
  <p:clrMapOvr>
    <a:masterClrMapping/>
  </p:clrMapOvr>
  <p:extLst>
    <p:ext uri="{6950BFC3-D8DA-4A85-94F7-54DA5524770B}">
      <p188:commentRel xmlns:p188="http://schemas.microsoft.com/office/powerpoint/2018/8/main" r:id="rId2"/>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032096" y="1828800"/>
                <a:ext cx="7143184" cy="4035487"/>
              </a:xfrm>
            </p:spPr>
            <p:txBody>
              <a:bodyPr>
                <a:normAutofit fontScale="92500" lnSpcReduction="20000"/>
              </a:bodyPr>
              <a:lstStyle/>
              <a:p>
                <a:r>
                  <a:rPr lang="en-US" dirty="0"/>
                  <a:t>Much easier to carry out a poll than run a full election</a:t>
                </a:r>
              </a:p>
              <a:p>
                <a:r>
                  <a:rPr lang="en-US" dirty="0"/>
                  <a:t>Similarly, it’s much easier to estimate gradients from mini-batches than the entire training set</a:t>
                </a:r>
              </a:p>
              <a:p>
                <a:r>
                  <a:rPr lang="en-US" dirty="0"/>
                  <a:t>Downside: gradient estimates will be noisier in SGD</a:t>
                </a:r>
              </a:p>
              <a:p>
                <a:r>
                  <a:rPr lang="en-US" dirty="0"/>
                  <a:t>Generally ok as we only need </a:t>
                </a:r>
                <a:br>
                  <a:rPr lang="en-US" dirty="0"/>
                </a:br>
                <a:r>
                  <a:rPr lang="en-US" dirty="0"/>
                  <a:t>to move in a general direction</a:t>
                </a:r>
                <a:br>
                  <a:rPr lang="en-US" dirty="0"/>
                </a:br>
                <a:r>
                  <a:rPr lang="en-US" dirty="0"/>
                  <a:t>that decreases </a:t>
                </a:r>
                <a14:m>
                  <m:oMath xmlns:m="http://schemas.openxmlformats.org/officeDocument/2006/math">
                    <m:r>
                      <a:rPr lang="en-US" b="0" i="1" smtClean="0">
                        <a:latin typeface="Cambria Math" panose="02040503050406030204" pitchFamily="18" charset="0"/>
                      </a:rPr>
                      <m:t>𝐽</m:t>
                    </m:r>
                  </m:oMath>
                </a14:m>
                <a:endParaRPr lang="en-US" dirty="0"/>
              </a:p>
              <a:p>
                <a:pPr lvl="1"/>
                <a:r>
                  <a:rPr lang="en-US" dirty="0"/>
                  <a:t>This can be an advantage when</a:t>
                </a:r>
                <a:br>
                  <a:rPr lang="en-US" dirty="0"/>
                </a:br>
                <a:r>
                  <a:rPr lang="en-US" dirty="0"/>
                  <a:t>the problem is nonconvex</a:t>
                </a:r>
              </a:p>
              <a:p>
                <a:r>
                  <a:rPr lang="en-US" dirty="0"/>
                  <a:t>In practice, SGD (or its </a:t>
                </a:r>
                <a:br>
                  <a:rPr lang="en-US" dirty="0"/>
                </a:br>
                <a:r>
                  <a:rPr lang="en-US" dirty="0"/>
                  <a:t>variants) are used extensively</a:t>
                </a:r>
                <a:br>
                  <a:rPr lang="en-US" dirty="0"/>
                </a:br>
                <a:r>
                  <a:rPr lang="en-US" dirty="0"/>
                  <a:t> in learning neural networks</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032096" y="1828800"/>
                <a:ext cx="7143184" cy="4035487"/>
              </a:xfrm>
              <a:blipFill>
                <a:blip r:embed="rId2"/>
                <a:stretch>
                  <a:fillRect l="-597" t="-1662" r="-1280"/>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Analogy to political polling</a:t>
            </a:r>
          </a:p>
        </p:txBody>
      </p:sp>
      <p:pic>
        <p:nvPicPr>
          <p:cNvPr id="4" name="Picture 2 1" descr="Image result for gradient descent vs stochastic gradient desc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5741" y="3429000"/>
            <a:ext cx="4162158" cy="3090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205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Gradient Descent Variations"/>
          <p:cNvSpPr txBox="1">
            <a:spLocks noGrp="1"/>
          </p:cNvSpPr>
          <p:nvPr>
            <p:ph type="title"/>
          </p:nvPr>
        </p:nvSpPr>
        <p:spPr>
          <a:prstGeom prst="rect">
            <a:avLst/>
          </a:prstGeom>
        </p:spPr>
        <p:txBody>
          <a:bodyPr/>
          <a:lstStyle/>
          <a:p>
            <a:r>
              <a:rPr dirty="0"/>
              <a:t>Gradient Descent Variations</a:t>
            </a:r>
          </a:p>
        </p:txBody>
      </p:sp>
      <p:sp>
        <p:nvSpPr>
          <p:cNvPr id="227" name="Stochastic gradient descent…"/>
          <p:cNvSpPr txBox="1">
            <a:spLocks noGrp="1"/>
          </p:cNvSpPr>
          <p:nvPr>
            <p:ph type="body" idx="1"/>
          </p:nvPr>
        </p:nvSpPr>
        <p:spPr>
          <a:xfrm>
            <a:off x="640080" y="1691640"/>
            <a:ext cx="5577840" cy="4754880"/>
          </a:xfrm>
          <a:prstGeom prst="rect">
            <a:avLst/>
          </a:prstGeom>
        </p:spPr>
        <p:txBody>
          <a:bodyPr>
            <a:normAutofit fontScale="85000" lnSpcReduction="10000"/>
          </a:bodyPr>
          <a:lstStyle/>
          <a:p>
            <a:pPr marL="198678" indent="-198678" defTabSz="158236">
              <a:spcBef>
                <a:spcPts val="500"/>
              </a:spcBef>
              <a:defRPr sz="2492"/>
            </a:pPr>
            <a:r>
              <a:rPr lang="en-US" dirty="0"/>
              <a:t>Stochastic Gradient Descent (SGD)</a:t>
            </a:r>
          </a:p>
          <a:p>
            <a:pPr marL="655878" lvl="1" indent="-198678" defTabSz="158236">
              <a:defRPr sz="2492"/>
            </a:pPr>
            <a:r>
              <a:rPr lang="en-US" sz="2000" dirty="0"/>
              <a:t>How it works:</a:t>
            </a:r>
          </a:p>
          <a:p>
            <a:pPr marL="1113078" lvl="2" indent="-198678" defTabSz="158236">
              <a:defRPr sz="2492"/>
            </a:pPr>
            <a:r>
              <a:rPr lang="en-US" sz="2000"/>
              <a:t>Uses </a:t>
            </a:r>
            <a:r>
              <a:rPr lang="en-US" sz="2000" dirty="0"/>
              <a:t>one random </a:t>
            </a:r>
            <a:r>
              <a:rPr lang="en-US" sz="2000"/>
              <a:t>training </a:t>
            </a:r>
            <a:r>
              <a:rPr lang="en-US" sz="2000" dirty="0"/>
              <a:t>instance at each step</a:t>
            </a:r>
          </a:p>
          <a:p>
            <a:pPr marL="1113078" lvl="2" indent="-198678" defTabSz="158236">
              <a:defRPr sz="2492"/>
            </a:pPr>
            <a:r>
              <a:rPr lang="en-US" sz="2000" dirty="0"/>
              <a:t>Computes the gradient </a:t>
            </a:r>
            <a:r>
              <a:rPr lang="en-US" sz="2000"/>
              <a:t>from </a:t>
            </a:r>
            <a:r>
              <a:rPr lang="en-US" sz="2000" dirty="0"/>
              <a:t>that single instance</a:t>
            </a:r>
          </a:p>
          <a:p>
            <a:pPr marL="655878" lvl="1" indent="-198678" defTabSz="158236">
              <a:defRPr sz="2492"/>
            </a:pPr>
            <a:r>
              <a:rPr lang="en-US" sz="2000" b="1" dirty="0"/>
              <a:t>Pros</a:t>
            </a:r>
            <a:r>
              <a:rPr lang="en-US" sz="2000" dirty="0"/>
              <a:t>:</a:t>
            </a:r>
          </a:p>
          <a:p>
            <a:pPr marL="1113078" lvl="2" indent="-198678" defTabSz="158236">
              <a:defRPr sz="2492"/>
            </a:pPr>
            <a:r>
              <a:rPr lang="en-US" sz="2000"/>
              <a:t>Fastest </a:t>
            </a:r>
            <a:r>
              <a:rPr lang="en-US" sz="2000" dirty="0"/>
              <a:t>per update (</a:t>
            </a:r>
            <a:r>
              <a:rPr lang="en-US" sz="2000"/>
              <a:t>very </a:t>
            </a:r>
            <a:r>
              <a:rPr lang="en-US" sz="2000" dirty="0"/>
              <a:t>small computation</a:t>
            </a:r>
            <a:r>
              <a:rPr lang="en-US" sz="2000"/>
              <a:t>)</a:t>
            </a:r>
            <a:endParaRPr lang="en-US" sz="2000" dirty="0"/>
          </a:p>
          <a:p>
            <a:pPr marL="1113078" lvl="2" indent="-198678" defTabSz="158236">
              <a:defRPr sz="2492"/>
            </a:pPr>
            <a:r>
              <a:rPr lang="en-US" sz="2000" dirty="0"/>
              <a:t>Randomness helps escape local minima on complex cost surfaces</a:t>
            </a:r>
          </a:p>
          <a:p>
            <a:pPr marL="655878" lvl="1" indent="-198678" defTabSz="158236">
              <a:defRPr sz="2492"/>
            </a:pPr>
            <a:r>
              <a:rPr lang="en-US" sz="2000" b="1"/>
              <a:t>Cons</a:t>
            </a:r>
            <a:r>
              <a:rPr lang="en-US" sz="2000"/>
              <a:t>:</a:t>
            </a:r>
          </a:p>
          <a:p>
            <a:pPr marL="1113078" lvl="2" indent="-198678" defTabSz="158236">
              <a:defRPr sz="2492"/>
            </a:pPr>
            <a:r>
              <a:rPr lang="en-US" sz="2000" dirty="0"/>
              <a:t>Updates are noisy; the algorithm never fully “settles</a:t>
            </a:r>
            <a:r>
              <a:rPr lang="en-US" sz="2000"/>
              <a:t>”</a:t>
            </a:r>
            <a:endParaRPr lang="en-US" sz="2000" dirty="0"/>
          </a:p>
          <a:p>
            <a:pPr marL="1113078" lvl="2" indent="-198678" defTabSz="158236">
              <a:defRPr sz="2492"/>
            </a:pPr>
            <a:r>
              <a:rPr lang="en-US" sz="2000" dirty="0"/>
              <a:t>True minimum is rarely reached—</a:t>
            </a:r>
            <a:r>
              <a:rPr lang="en-US" sz="2000"/>
              <a:t>it </a:t>
            </a:r>
            <a:r>
              <a:rPr lang="en-US" sz="2000" dirty="0"/>
              <a:t>oscillates around it</a:t>
            </a:r>
            <a:endParaRPr lang="en-US" sz="2000"/>
          </a:p>
        </p:txBody>
      </p:sp>
      <p:sp>
        <p:nvSpPr>
          <p:cNvPr id="400" name="Mini-Batch column"/>
          <p:cNvSpPr txBox="1">
            <a:spLocks noGrp="1"/>
          </p:cNvSpPr>
          <p:nvPr>
            <p:ph type="body" idx="1"/>
          </p:nvPr>
        </p:nvSpPr>
        <p:spPr>
          <a:xfrm>
            <a:off x="6309360" y="1691640"/>
            <a:ext cx="5394960" cy="4754880"/>
          </a:xfrm>
          <a:prstGeom prst="rect">
            <a:avLst/>
          </a:prstGeom>
        </p:spPr>
        <p:txBody>
          <a:bodyPr>
            <a:normAutofit fontScale="85000" lnSpcReduction="10000"/>
          </a:bodyPr>
          <a:lstStyle/>
          <a:p>
            <a:pPr marL="198678" indent="-198678" defTabSz="158236">
              <a:spcBef>
                <a:spcPts val="500"/>
              </a:spcBef>
              <a:defRPr sz="2492"/>
            </a:pPr>
            <a:r>
              <a:rPr lang="en-US"/>
              <a:t>Mini-Batch Gradient Descent</a:t>
            </a:r>
          </a:p>
          <a:p>
            <a:pPr marL="655878" lvl="1" indent="-198678" defTabSz="158236">
              <a:defRPr sz="2492"/>
            </a:pPr>
            <a:r>
              <a:rPr lang="en-US" sz="2000"/>
              <a:t>How it works:</a:t>
            </a:r>
          </a:p>
          <a:p>
            <a:pPr marL="1113078" lvl="2" indent="-198678" defTabSz="158236">
              <a:defRPr sz="2492"/>
            </a:pPr>
            <a:r>
              <a:rPr lang="en-US" sz="2000"/>
              <a:t>Uses a small random subset (mini-batch) at each step</a:t>
            </a:r>
          </a:p>
          <a:p>
            <a:pPr marL="1113078" lvl="2" indent="-198678" defTabSz="158236">
              <a:defRPr sz="2492"/>
            </a:pPr>
            <a:r>
              <a:rPr lang="en-US" sz="2000"/>
              <a:t>Computes the gradient from that subset</a:t>
            </a:r>
          </a:p>
          <a:p>
            <a:pPr marL="655878" lvl="1" indent="-198678" defTabSz="158236">
              <a:defRPr sz="2492"/>
            </a:pPr>
            <a:r>
              <a:rPr lang="en-US" sz="2000" b="1"/>
              <a:t>Pros</a:t>
            </a:r>
            <a:r>
              <a:rPr lang="en-US" sz="2000"/>
              <a:t>:</a:t>
            </a:r>
          </a:p>
          <a:p>
            <a:pPr marL="1113078" lvl="2" indent="-198678" defTabSz="158236">
              <a:defRPr sz="2492"/>
            </a:pPr>
            <a:r>
              <a:rPr lang="en-US" sz="2000"/>
              <a:t>More stable than SGD (less noisy updates)</a:t>
            </a:r>
          </a:p>
          <a:p>
            <a:pPr marL="1113078" lvl="2" indent="-198678" defTabSz="158236">
              <a:defRPr sz="2492"/>
            </a:pPr>
            <a:r>
              <a:rPr lang="en-US" sz="2000"/>
              <a:t>Faster than full batch GD on large datasets</a:t>
            </a:r>
          </a:p>
          <a:p>
            <a:pPr marL="1113078" lvl="2" indent="-198678" defTabSz="158236">
              <a:defRPr sz="2492"/>
            </a:pPr>
            <a:r>
              <a:rPr lang="en-US" sz="2000"/>
              <a:t>Leverages vectorized operations for efficiency</a:t>
            </a:r>
          </a:p>
          <a:p>
            <a:pPr marL="655878" lvl="1" indent="-198678" defTabSz="158236">
              <a:defRPr sz="2492"/>
            </a:pPr>
            <a:r>
              <a:rPr lang="en-US" sz="2000" b="1"/>
              <a:t>Cons</a:t>
            </a:r>
            <a:r>
              <a:rPr lang="en-US" sz="2000"/>
              <a:t>:</a:t>
            </a:r>
          </a:p>
          <a:p>
            <a:pPr marL="1113078" lvl="2" indent="-198678" defTabSz="158236">
              <a:defRPr sz="2492"/>
            </a:pPr>
            <a:r>
              <a:rPr lang="en-US" sz="2000"/>
              <a:t>Still random, so convergence is not perfectly smooth</a:t>
            </a:r>
          </a:p>
          <a:p>
            <a:pPr marL="1113078" lvl="2" indent="-198678" defTabSz="158236">
              <a:defRPr sz="2492"/>
            </a:pPr>
            <a:r>
              <a:rPr lang="en-US" sz="2000"/>
              <a:t>Requires tuning the batch size (too small = noisy, too large = slow)</a:t>
            </a:r>
          </a:p>
        </p:txBody>
      </p:sp>
    </p:spTree>
  </p:cSld>
  <p:clrMapOvr>
    <a:masterClrMapping/>
  </p:clrMapOvr>
  <p:transition spd="med"/>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731520" y="1645920"/>
                <a:ext cx="5852160" cy="4754880"/>
              </a:xfrm>
            </p:spPr>
            <p:txBody>
              <a:bodyPr>
                <a:normAutofit/>
              </a:bodyPr>
              <a:lstStyle/>
              <a:p>
                <a:r>
                  <a:rPr lang="en-US"/>
                  <a:t>Goal is to solve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𝐽</m:t>
                    </m:r>
                    <m:d>
                      <m:dPr>
                        <m:ctrlPr>
                          <a:rPr lang="en-US" b="1" i="1" smtClean="0">
                            <a:latin typeface="Cambria Math" panose="02040503050406030204" pitchFamily="18" charset="0"/>
                          </a:rPr>
                        </m:ctrlPr>
                      </m:dPr>
                      <m:e>
                        <m:r>
                          <a:rPr lang="en-US" b="1" i="1" smtClean="0">
                            <a:latin typeface="Cambria Math" panose="02040503050406030204" pitchFamily="18" charset="0"/>
                          </a:rPr>
                          <m:t>𝜽</m:t>
                        </m:r>
                      </m:e>
                    </m:d>
                    <m:r>
                      <a:rPr lang="en-US" b="0" i="1" smtClean="0">
                        <a:latin typeface="Cambria Math" panose="02040503050406030204" pitchFamily="18" charset="0"/>
                      </a:rPr>
                      <m:t>=</m:t>
                    </m:r>
                    <m:r>
                      <a:rPr lang="en-US" b="1" i="1" smtClean="0">
                        <a:latin typeface="Cambria Math" panose="02040503050406030204" pitchFamily="18" charset="0"/>
                      </a:rPr>
                      <m:t>𝟎</m:t>
                    </m:r>
                  </m:oMath>
                </a14:m>
                <a:r>
                  <a:rPr lang="en-US" b="1"/>
                  <a:t> </a:t>
                </a:r>
                <a:r>
                  <a:rPr lang="en-US"/>
                  <a:t>for an objective function </a:t>
                </a:r>
                <a14:m>
                  <m:oMath xmlns:m="http://schemas.openxmlformats.org/officeDocument/2006/math">
                    <m:r>
                      <a:rPr lang="en-US" b="0" i="1" smtClean="0">
                        <a:latin typeface="Cambria Math" panose="02040503050406030204" pitchFamily="18" charset="0"/>
                      </a:rPr>
                      <m:t>𝐽</m:t>
                    </m:r>
                  </m:oMath>
                </a14:m>
                <a:endParaRPr lang="en-US"/>
              </a:p>
              <a:p>
                <a:r>
                  <a:rPr lang="en-US"/>
                  <a:t>Newton’s method AKA Newton-</a:t>
                </a:r>
                <a:r>
                  <a:rPr lang="en-US" err="1"/>
                  <a:t>Raphson</a:t>
                </a:r>
                <a:r>
                  <a:rPr lang="en-US"/>
                  <a:t>:</a:t>
                </a:r>
              </a:p>
              <a:p>
                <a:pPr marL="0" indent="0">
                  <a:buNone/>
                </a:pPr>
                <a:br>
                  <a:rPr lang="en-US"/>
                </a:b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0" smtClean="0">
                                      <a:latin typeface="Cambria Math" panose="02040503050406030204" pitchFamily="18" charset="0"/>
                                    </a:rPr>
                                  </m:ctrlPr>
                                </m:sSupPr>
                                <m:e>
                                  <m:r>
                                    <a:rPr lang="en-US" b="0" i="0"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𝐽</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sub>
                                  </m:sSub>
                                </m:e>
                              </m:d>
                            </m:e>
                          </m:d>
                        </m:e>
                        <m:sup>
                          <m:r>
                            <a:rPr lang="en-US" b="0" i="1" smtClean="0">
                              <a:latin typeface="Cambria Math" panose="02040503050406030204" pitchFamily="18" charset="0"/>
                            </a:rPr>
                            <m:t>−1</m:t>
                          </m:r>
                        </m:sup>
                      </m:sSup>
                      <m:r>
                        <a:rPr lang="en-US" b="0" i="0" smtClean="0">
                          <a:latin typeface="Cambria Math" panose="02040503050406030204" pitchFamily="18" charset="0"/>
                        </a:rPr>
                        <m:t>𝛻</m:t>
                      </m:r>
                      <m:r>
                        <a:rPr lang="en-US" b="0" i="1" smtClean="0">
                          <a:latin typeface="Cambria Math" panose="02040503050406030204" pitchFamily="18" charset="0"/>
                        </a:rPr>
                        <m:t>𝐽</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sub>
                          </m:sSub>
                        </m:e>
                      </m:d>
                    </m:oMath>
                  </m:oMathPara>
                </a14:m>
                <a:endParaRPr lang="en-US" b="0"/>
              </a:p>
              <a:p>
                <a:endParaRPr lang="en-US"/>
              </a:p>
              <a:p>
                <a:endParaRPr lang="en-US"/>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731520" y="1645920"/>
                <a:ext cx="5852160" cy="4754880"/>
              </a:xfrm>
              <a:blipFill>
                <a:blip r:embed="rId3"/>
                <a:stretch>
                  <a:fillRect l="-938" t="-513"/>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a:t>Newton’s method</a:t>
            </a:r>
          </a:p>
        </p:txBody>
      </p:sp>
      <mc:AlternateContent xmlns:mc="http://schemas.openxmlformats.org/markup-compatibility/2006" xmlns:a14="http://schemas.microsoft.com/office/drawing/2010/main">
        <mc:Choice Requires="a14">
          <p:sp>
            <p:nvSpPr>
              <p:cNvPr id="4" name="Content Placeholder 1"/>
              <p:cNvSpPr txBox="1">
                <a:spLocks/>
              </p:cNvSpPr>
              <p:nvPr/>
            </p:nvSpPr>
            <p:spPr>
              <a:xfrm>
                <a:off x="1732343" y="3693814"/>
                <a:ext cx="6135117" cy="29066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900"/>
              </a:p>
              <a:p>
                <a:r>
                  <a:rPr lang="en-US" sz="1900"/>
                  <a:t>Newton’s method can be viewed as minimizing the second order approximation:</a:t>
                </a:r>
              </a:p>
              <a:p>
                <a:pPr marL="0" indent="0">
                  <a:buNone/>
                </a:pPr>
                <a:br>
                  <a:rPr lang="en-US" sz="1900"/>
                </a:br>
                <a14:m>
                  <m:oMathPara xmlns:m="http://schemas.openxmlformats.org/officeDocument/2006/math">
                    <m:oMath>
                      <m:r>
                        <a:rPr lang="en-US" sz="1900" i="1">
                          <a:latin typeface="Cambria Math" panose="02040503050406030204" pitchFamily="18" charset="0"/>
                        </a:rPr>
                        <m:t>𝐽</m:t>
                      </m:r>
                      <m:d>
                        <m:dPr>
                          <m:ctrlPr>
                            <a:rPr lang="en-US" sz="1900" b="1" i="1">
                              <a:latin typeface="Cambria Math" panose="02040503050406030204" pitchFamily="18" charset="0"/>
                            </a:rPr>
                          </m:ctrlPr>
                        </m:dPr>
                        <m:e>
                          <m:r>
                            <a:rPr lang="en-US" sz="1900" b="1" i="1">
                              <a:latin typeface="Cambria Math" panose="02040503050406030204" pitchFamily="18" charset="0"/>
                            </a:rPr>
                            <m:t>𝜽</m:t>
                          </m:r>
                        </m:e>
                      </m:d>
                      <m:r>
                        <a:rPr lang="en-US" sz="1900" i="1">
                          <a:latin typeface="Cambria Math" panose="02040503050406030204" pitchFamily="18" charset="0"/>
                        </a:rPr>
                        <m:t>≈</m:t>
                      </m:r>
                      <m:r>
                        <a:rPr lang="en-US" sz="1900" i="1">
                          <a:latin typeface="Cambria Math" panose="02040503050406030204" pitchFamily="18" charset="0"/>
                        </a:rPr>
                        <m:t>𝐽</m:t>
                      </m:r>
                      <m:d>
                        <m:dPr>
                          <m:ctrlPr>
                            <a:rPr lang="en-US" sz="1900" b="1" i="1">
                              <a:latin typeface="Cambria Math" panose="02040503050406030204" pitchFamily="18" charset="0"/>
                            </a:rPr>
                          </m:ctrlPr>
                        </m:dPr>
                        <m:e>
                          <m:sSub>
                            <m:sSubPr>
                              <m:ctrlPr>
                                <a:rPr lang="en-US" sz="1900" b="1" i="1">
                                  <a:latin typeface="Cambria Math" panose="02040503050406030204" pitchFamily="18" charset="0"/>
                                </a:rPr>
                              </m:ctrlPr>
                            </m:sSubPr>
                            <m:e>
                              <m:r>
                                <a:rPr lang="en-US" sz="1900" b="1" i="1">
                                  <a:latin typeface="Cambria Math" panose="02040503050406030204" pitchFamily="18" charset="0"/>
                                </a:rPr>
                                <m:t>𝜽</m:t>
                              </m:r>
                            </m:e>
                            <m:sub>
                              <m:r>
                                <a:rPr lang="en-US" sz="1900" i="1">
                                  <a:latin typeface="Cambria Math" panose="02040503050406030204" pitchFamily="18" charset="0"/>
                                </a:rPr>
                                <m:t>𝑡</m:t>
                              </m:r>
                            </m:sub>
                          </m:sSub>
                        </m:e>
                      </m:d>
                      <m:r>
                        <a:rPr lang="en-US" sz="1900" i="1">
                          <a:latin typeface="Cambria Math" panose="02040503050406030204" pitchFamily="18" charset="0"/>
                        </a:rPr>
                        <m:t>+</m:t>
                      </m:r>
                      <m:r>
                        <a:rPr lang="en-US" sz="1900">
                          <a:latin typeface="Cambria Math" panose="02040503050406030204" pitchFamily="18" charset="0"/>
                        </a:rPr>
                        <m:t>𝛻</m:t>
                      </m:r>
                      <m:r>
                        <a:rPr lang="en-US" sz="1900" i="1">
                          <a:latin typeface="Cambria Math" panose="02040503050406030204" pitchFamily="18" charset="0"/>
                        </a:rPr>
                        <m:t>𝐽</m:t>
                      </m:r>
                      <m:sSup>
                        <m:sSupPr>
                          <m:ctrlPr>
                            <a:rPr lang="en-US" sz="1900" b="1" i="1">
                              <a:latin typeface="Cambria Math" panose="02040503050406030204" pitchFamily="18" charset="0"/>
                            </a:rPr>
                          </m:ctrlPr>
                        </m:sSupPr>
                        <m:e>
                          <m:d>
                            <m:dPr>
                              <m:ctrlPr>
                                <a:rPr lang="en-US" sz="1900" b="1" i="1">
                                  <a:latin typeface="Cambria Math" panose="02040503050406030204" pitchFamily="18" charset="0"/>
                                </a:rPr>
                              </m:ctrlPr>
                            </m:dPr>
                            <m:e>
                              <m:sSub>
                                <m:sSubPr>
                                  <m:ctrlPr>
                                    <a:rPr lang="en-US" sz="1900" b="1" i="1">
                                      <a:latin typeface="Cambria Math" panose="02040503050406030204" pitchFamily="18" charset="0"/>
                                    </a:rPr>
                                  </m:ctrlPr>
                                </m:sSubPr>
                                <m:e>
                                  <m:r>
                                    <a:rPr lang="en-US" sz="1900" b="1" i="1">
                                      <a:latin typeface="Cambria Math" panose="02040503050406030204" pitchFamily="18" charset="0"/>
                                    </a:rPr>
                                    <m:t>𝜽</m:t>
                                  </m:r>
                                </m:e>
                                <m:sub>
                                  <m:r>
                                    <a:rPr lang="en-US" sz="1900" i="1">
                                      <a:latin typeface="Cambria Math" panose="02040503050406030204" pitchFamily="18" charset="0"/>
                                    </a:rPr>
                                    <m:t>𝑡</m:t>
                                  </m:r>
                                </m:sub>
                              </m:sSub>
                            </m:e>
                          </m:d>
                        </m:e>
                        <m:sup>
                          <m:r>
                            <a:rPr lang="en-US" sz="1900" i="1">
                              <a:latin typeface="Cambria Math" panose="02040503050406030204" pitchFamily="18" charset="0"/>
                            </a:rPr>
                            <m:t>𝑇</m:t>
                          </m:r>
                        </m:sup>
                      </m:sSup>
                      <m:d>
                        <m:dPr>
                          <m:ctrlPr>
                            <a:rPr lang="en-US" sz="1900" b="1" i="1">
                              <a:latin typeface="Cambria Math" panose="02040503050406030204" pitchFamily="18" charset="0"/>
                            </a:rPr>
                          </m:ctrlPr>
                        </m:dPr>
                        <m:e>
                          <m:r>
                            <a:rPr lang="en-US" sz="1900" b="1" i="1">
                              <a:latin typeface="Cambria Math" panose="02040503050406030204" pitchFamily="18" charset="0"/>
                            </a:rPr>
                            <m:t>𝜽</m:t>
                          </m:r>
                          <m:r>
                            <a:rPr lang="en-US" sz="1900" i="1">
                              <a:latin typeface="Cambria Math" panose="02040503050406030204" pitchFamily="18" charset="0"/>
                            </a:rPr>
                            <m:t>−</m:t>
                          </m:r>
                          <m:sSub>
                            <m:sSubPr>
                              <m:ctrlPr>
                                <a:rPr lang="en-US" sz="1900" b="1" i="1">
                                  <a:latin typeface="Cambria Math" panose="02040503050406030204" pitchFamily="18" charset="0"/>
                                </a:rPr>
                              </m:ctrlPr>
                            </m:sSubPr>
                            <m:e>
                              <m:r>
                                <a:rPr lang="en-US" sz="1900" b="1" i="1">
                                  <a:latin typeface="Cambria Math" panose="02040503050406030204" pitchFamily="18" charset="0"/>
                                </a:rPr>
                                <m:t>𝜽</m:t>
                              </m:r>
                            </m:e>
                            <m:sub>
                              <m:r>
                                <a:rPr lang="en-US" sz="1900" i="1">
                                  <a:latin typeface="Cambria Math" panose="02040503050406030204" pitchFamily="18" charset="0"/>
                                </a:rPr>
                                <m:t>𝑡</m:t>
                              </m:r>
                            </m:sub>
                          </m:sSub>
                        </m:e>
                      </m:d>
                    </m:oMath>
                    <m:oMath>
                      <m:r>
                        <a:rPr lang="en-US" sz="1900" i="1">
                          <a:latin typeface="Cambria Math" panose="02040503050406030204" pitchFamily="18" charset="0"/>
                        </a:rPr>
                        <m:t>+</m:t>
                      </m:r>
                      <m:f>
                        <m:fPr>
                          <m:ctrlPr>
                            <a:rPr lang="en-US" sz="1900" i="1">
                              <a:latin typeface="Cambria Math" panose="02040503050406030204" pitchFamily="18" charset="0"/>
                            </a:rPr>
                          </m:ctrlPr>
                        </m:fPr>
                        <m:num>
                          <m:r>
                            <a:rPr lang="en-US" sz="1900" i="1">
                              <a:latin typeface="Cambria Math" panose="02040503050406030204" pitchFamily="18" charset="0"/>
                            </a:rPr>
                            <m:t>1</m:t>
                          </m:r>
                        </m:num>
                        <m:den>
                          <m:r>
                            <a:rPr lang="en-US" sz="1900" i="1">
                              <a:latin typeface="Cambria Math" panose="02040503050406030204" pitchFamily="18" charset="0"/>
                            </a:rPr>
                            <m:t>2</m:t>
                          </m:r>
                        </m:den>
                      </m:f>
                      <m:sSup>
                        <m:sSupPr>
                          <m:ctrlPr>
                            <a:rPr lang="en-US" sz="1900" b="1" i="1">
                              <a:latin typeface="Cambria Math" panose="02040503050406030204" pitchFamily="18" charset="0"/>
                            </a:rPr>
                          </m:ctrlPr>
                        </m:sSupPr>
                        <m:e>
                          <m:d>
                            <m:dPr>
                              <m:ctrlPr>
                                <a:rPr lang="en-US" sz="1900" b="1" i="1">
                                  <a:latin typeface="Cambria Math" panose="02040503050406030204" pitchFamily="18" charset="0"/>
                                </a:rPr>
                              </m:ctrlPr>
                            </m:dPr>
                            <m:e>
                              <m:r>
                                <a:rPr lang="en-US" sz="1900" b="1" i="1">
                                  <a:latin typeface="Cambria Math" panose="02040503050406030204" pitchFamily="18" charset="0"/>
                                </a:rPr>
                                <m:t>𝜽</m:t>
                              </m:r>
                              <m:r>
                                <a:rPr lang="en-US" sz="1900" i="1">
                                  <a:latin typeface="Cambria Math" panose="02040503050406030204" pitchFamily="18" charset="0"/>
                                </a:rPr>
                                <m:t>−</m:t>
                              </m:r>
                              <m:sSub>
                                <m:sSubPr>
                                  <m:ctrlPr>
                                    <a:rPr lang="en-US" sz="1900" b="1" i="1">
                                      <a:latin typeface="Cambria Math" panose="02040503050406030204" pitchFamily="18" charset="0"/>
                                    </a:rPr>
                                  </m:ctrlPr>
                                </m:sSubPr>
                                <m:e>
                                  <m:r>
                                    <a:rPr lang="en-US" sz="1900" b="1" i="1">
                                      <a:latin typeface="Cambria Math" panose="02040503050406030204" pitchFamily="18" charset="0"/>
                                    </a:rPr>
                                    <m:t>𝜽</m:t>
                                  </m:r>
                                </m:e>
                                <m:sub>
                                  <m:r>
                                    <a:rPr lang="en-US" sz="1900" i="1">
                                      <a:latin typeface="Cambria Math" panose="02040503050406030204" pitchFamily="18" charset="0"/>
                                    </a:rPr>
                                    <m:t>𝑡</m:t>
                                  </m:r>
                                </m:sub>
                              </m:sSub>
                            </m:e>
                          </m:d>
                        </m:e>
                        <m:sup>
                          <m:r>
                            <a:rPr lang="en-US" sz="1900" i="1">
                              <a:latin typeface="Cambria Math" panose="02040503050406030204" pitchFamily="18" charset="0"/>
                            </a:rPr>
                            <m:t>𝑇</m:t>
                          </m:r>
                        </m:sup>
                      </m:sSup>
                      <m:sSup>
                        <m:sSupPr>
                          <m:ctrlPr>
                            <a:rPr lang="en-US" sz="1900">
                              <a:latin typeface="Cambria Math" panose="02040503050406030204" pitchFamily="18" charset="0"/>
                            </a:rPr>
                          </m:ctrlPr>
                        </m:sSupPr>
                        <m:e>
                          <m:r>
                            <a:rPr lang="en-US" sz="1900">
                              <a:latin typeface="Cambria Math" panose="02040503050406030204" pitchFamily="18" charset="0"/>
                            </a:rPr>
                            <m:t>𝛻</m:t>
                          </m:r>
                        </m:e>
                        <m:sup>
                          <m:r>
                            <a:rPr lang="en-US" sz="1900" i="1">
                              <a:latin typeface="Cambria Math" panose="02040503050406030204" pitchFamily="18" charset="0"/>
                            </a:rPr>
                            <m:t>2</m:t>
                          </m:r>
                        </m:sup>
                      </m:sSup>
                      <m:r>
                        <a:rPr lang="en-US" sz="1900" i="1">
                          <a:latin typeface="Cambria Math" panose="02040503050406030204" pitchFamily="18" charset="0"/>
                        </a:rPr>
                        <m:t>𝐽</m:t>
                      </m:r>
                      <m:d>
                        <m:dPr>
                          <m:ctrlPr>
                            <a:rPr lang="en-US" sz="1900" b="1" i="1">
                              <a:latin typeface="Cambria Math" panose="02040503050406030204" pitchFamily="18" charset="0"/>
                            </a:rPr>
                          </m:ctrlPr>
                        </m:dPr>
                        <m:e>
                          <m:sSub>
                            <m:sSubPr>
                              <m:ctrlPr>
                                <a:rPr lang="en-US" sz="1900" b="1" i="1">
                                  <a:latin typeface="Cambria Math" panose="02040503050406030204" pitchFamily="18" charset="0"/>
                                </a:rPr>
                              </m:ctrlPr>
                            </m:sSubPr>
                            <m:e>
                              <m:r>
                                <a:rPr lang="en-US" sz="1900" b="1" i="1">
                                  <a:latin typeface="Cambria Math" panose="02040503050406030204" pitchFamily="18" charset="0"/>
                                </a:rPr>
                                <m:t>𝜽</m:t>
                              </m:r>
                            </m:e>
                            <m:sub>
                              <m:r>
                                <a:rPr lang="en-US" sz="1900" i="1">
                                  <a:latin typeface="Cambria Math" panose="02040503050406030204" pitchFamily="18" charset="0"/>
                                </a:rPr>
                                <m:t>𝑡</m:t>
                              </m:r>
                            </m:sub>
                          </m:sSub>
                        </m:e>
                      </m:d>
                      <m:d>
                        <m:dPr>
                          <m:ctrlPr>
                            <a:rPr lang="en-US" sz="1900" b="1" i="1">
                              <a:latin typeface="Cambria Math" panose="02040503050406030204" pitchFamily="18" charset="0"/>
                            </a:rPr>
                          </m:ctrlPr>
                        </m:dPr>
                        <m:e>
                          <m:r>
                            <a:rPr lang="en-US" sz="1900" b="1" i="1">
                              <a:latin typeface="Cambria Math" panose="02040503050406030204" pitchFamily="18" charset="0"/>
                            </a:rPr>
                            <m:t>𝜽</m:t>
                          </m:r>
                          <m:r>
                            <a:rPr lang="en-US" sz="1900" i="1">
                              <a:latin typeface="Cambria Math" panose="02040503050406030204" pitchFamily="18" charset="0"/>
                            </a:rPr>
                            <m:t>−</m:t>
                          </m:r>
                          <m:sSub>
                            <m:sSubPr>
                              <m:ctrlPr>
                                <a:rPr lang="en-US" sz="1900" b="1" i="1">
                                  <a:latin typeface="Cambria Math" panose="02040503050406030204" pitchFamily="18" charset="0"/>
                                </a:rPr>
                              </m:ctrlPr>
                            </m:sSubPr>
                            <m:e>
                              <m:r>
                                <a:rPr lang="en-US" sz="1900" b="1" i="1">
                                  <a:latin typeface="Cambria Math" panose="02040503050406030204" pitchFamily="18" charset="0"/>
                                </a:rPr>
                                <m:t>𝜽</m:t>
                              </m:r>
                            </m:e>
                            <m:sub>
                              <m:r>
                                <a:rPr lang="en-US" sz="1900" i="1">
                                  <a:latin typeface="Cambria Math" panose="02040503050406030204" pitchFamily="18" charset="0"/>
                                </a:rPr>
                                <m:t>𝑡</m:t>
                              </m:r>
                            </m:sub>
                          </m:sSub>
                        </m:e>
                      </m:d>
                    </m:oMath>
                  </m:oMathPara>
                </a14:m>
                <a:endParaRPr lang="en-US" sz="1900"/>
              </a:p>
            </p:txBody>
          </p:sp>
        </mc:Choice>
        <mc:Fallback xmlns="">
          <p:sp>
            <p:nvSpPr>
              <p:cNvPr id="4" name="Content Placeholder 1"/>
              <p:cNvSpPr txBox="1">
                <a:spLocks noRot="1" noChangeAspect="1" noMove="1" noResize="1" noEditPoints="1" noAdjustHandles="1" noChangeArrowheads="1" noChangeShapeType="1" noTextEdit="1"/>
              </p:cNvSpPr>
              <p:nvPr/>
            </p:nvSpPr>
            <p:spPr>
              <a:xfrm>
                <a:off x="1732343" y="3693814"/>
                <a:ext cx="6135117" cy="2906610"/>
              </a:xfrm>
              <a:prstGeom prst="rect">
                <a:avLst/>
              </a:prstGeom>
              <a:blipFill>
                <a:blip r:embed="rId4"/>
                <a:stretch>
                  <a:fillRect l="-695"/>
                </a:stretch>
              </a:blipFill>
            </p:spPr>
            <p:txBody>
              <a:bodyPr/>
              <a:lstStyle/>
              <a:p>
                <a:r>
                  <a:rPr lang="en-US">
                    <a:noFill/>
                  </a:rPr>
                  <a:t> </a:t>
                </a:r>
              </a:p>
            </p:txBody>
          </p:sp>
        </mc:Fallback>
      </mc:AlternateContent>
      <p:pic>
        <p:nvPicPr>
          <p:cNvPr id="5" name="Picture 4"/>
          <p:cNvPicPr>
            <a:picLocks noChangeAspect="1"/>
          </p:cNvPicPr>
          <p:nvPr/>
        </p:nvPicPr>
        <p:blipFill>
          <a:blip r:embed="rId5"/>
          <a:stretch>
            <a:fillRect/>
          </a:stretch>
        </p:blipFill>
        <p:spPr>
          <a:xfrm>
            <a:off x="6903720" y="1920240"/>
            <a:ext cx="4480560" cy="4297680"/>
          </a:xfrm>
          <a:prstGeom prst="rect">
            <a:avLst/>
          </a:prstGeom>
        </p:spPr>
      </p:pic>
    </p:spTree>
    <p:extLst>
      <p:ext uri="{BB962C8B-B14F-4D97-AF65-F5344CB8AC3E}">
        <p14:creationId xmlns:p14="http://schemas.microsoft.com/office/powerpoint/2010/main" val="1417129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850" y="914400"/>
            <a:ext cx="10694670" cy="1308100"/>
          </a:xfrm>
        </p:spPr>
        <p:txBody>
          <a:bodyPr/>
          <a:lstStyle/>
          <a:p>
            <a:r>
              <a:rPr lang="en-US" dirty="0"/>
              <a:t>Newton’s Method: Intuition</a:t>
            </a:r>
          </a:p>
        </p:txBody>
      </p:sp>
      <p:sp>
        <p:nvSpPr>
          <p:cNvPr id="3" name="Body"/>
          <p:cNvSpPr txBox="1"/>
          <p:nvPr/>
        </p:nvSpPr>
        <p:spPr>
          <a:xfrm>
            <a:off x="822960" y="1737360"/>
            <a:ext cx="11430000" cy="5029200"/>
          </a:xfrm>
          <a:prstGeom prst="rect">
            <a:avLst/>
          </a:prstGeom>
          <a:noFill/>
        </p:spPr>
        <p:txBody>
          <a:bodyPr wrap="square" lIns="91440" tIns="45720" rIns="91440" bIns="45720">
            <a:normAutofit/>
          </a:bodyPr>
          <a:lstStyle/>
          <a:p>
            <a:pPr marL="228600" lvl="0" indent="-228600">
              <a:spcBef>
                <a:spcPts val="600"/>
              </a:spcBef>
              <a:buFont typeface="Arial"/>
              <a:buChar char="•"/>
            </a:pPr>
            <a:r>
              <a:rPr lang="en-US" sz="2000" b="1" dirty="0">
                <a:latin typeface="Calisto MT"/>
              </a:rPr>
              <a:t>GD fits a line; Newton fits a parabola</a:t>
            </a:r>
          </a:p>
          <a:p>
            <a:pPr marL="571500" lvl="1" indent="-228600">
              <a:spcBef>
                <a:spcPts val="300"/>
              </a:spcBef>
              <a:buFont typeface="Arial"/>
              <a:buChar char="•"/>
            </a:pPr>
            <a:r>
              <a:rPr lang="en-US" sz="1700" dirty="0">
                <a:latin typeface="Calisto MT"/>
              </a:rPr>
              <a:t>Jumps straight to the minimum of its quadratic model of J</a:t>
            </a:r>
          </a:p>
          <a:p>
            <a:pPr marL="228600" lvl="0" indent="-228600">
              <a:spcBef>
                <a:spcPts val="600"/>
              </a:spcBef>
              <a:buFont typeface="Arial"/>
              <a:buChar char="•"/>
            </a:pPr>
            <a:r>
              <a:rPr lang="en-US" sz="2000" b="1" dirty="0">
                <a:latin typeface="Calisto MT"/>
              </a:rPr>
              <a:t>The Hessian is an automatic learning rate</a:t>
            </a:r>
          </a:p>
          <a:p>
            <a:pPr marL="571500" lvl="1" indent="-228600">
              <a:spcBef>
                <a:spcPts val="300"/>
              </a:spcBef>
              <a:buFont typeface="Arial"/>
              <a:buChar char="•"/>
            </a:pPr>
            <a:r>
              <a:rPr lang="en-US" sz="1700" dirty="0">
                <a:latin typeface="Calisto MT"/>
              </a:rPr>
              <a:t>(∇²J)⁻¹ shortens steps where curvature is high — no α to tune</a:t>
            </a:r>
          </a:p>
          <a:p>
            <a:pPr marL="228600" lvl="0" indent="-228600">
              <a:spcBef>
                <a:spcPts val="600"/>
              </a:spcBef>
              <a:buFont typeface="Arial"/>
              <a:buChar char="•"/>
            </a:pPr>
            <a:r>
              <a:rPr lang="en-US" sz="2000" b="1" dirty="0">
                <a:latin typeface="Calisto MT"/>
              </a:rPr>
              <a:t>Fast when it works</a:t>
            </a:r>
          </a:p>
          <a:p>
            <a:pPr marL="571500" lvl="1" indent="-228600">
              <a:spcBef>
                <a:spcPts val="300"/>
              </a:spcBef>
              <a:buFont typeface="Arial"/>
              <a:buChar char="•"/>
            </a:pPr>
            <a:r>
              <a:rPr lang="en-US" sz="1700" dirty="0">
                <a:latin typeface="Calisto MT"/>
              </a:rPr>
              <a:t>Exact in one step on a quadratic; quadratic convergence near a min</a:t>
            </a:r>
          </a:p>
          <a:p>
            <a:pPr marL="228600" lvl="0" indent="-228600">
              <a:spcBef>
                <a:spcPts val="600"/>
              </a:spcBef>
              <a:buFont typeface="Arial"/>
              <a:buChar char="•"/>
            </a:pPr>
            <a:r>
              <a:rPr lang="en-US" sz="2000" b="1" dirty="0">
                <a:latin typeface="Calisto MT"/>
              </a:rPr>
              <a:t>But expensive and fragile</a:t>
            </a:r>
          </a:p>
          <a:p>
            <a:pPr marL="571500" lvl="1" indent="-228600">
              <a:spcBef>
                <a:spcPts val="300"/>
              </a:spcBef>
              <a:buFont typeface="Arial"/>
              <a:buChar char="•"/>
            </a:pPr>
            <a:r>
              <a:rPr lang="en-US" sz="1700" dirty="0">
                <a:latin typeface="Calisto MT"/>
              </a:rPr>
              <a:t>O(d³) per step; Hessian may not be PD far from a min</a:t>
            </a:r>
          </a:p>
          <a:p>
            <a:pPr marL="571500" lvl="1" indent="-228600">
              <a:spcBef>
                <a:spcPts val="300"/>
              </a:spcBef>
              <a:buFont typeface="Arial"/>
              <a:buChar char="•"/>
            </a:pPr>
            <a:r>
              <a:rPr lang="en-US" sz="2000" dirty="0">
                <a:latin typeface="Calisto MT"/>
              </a:rPr>
              <a:t>Fixes: damping, trust regions, quasi-Newton (BFGS, L-BFGS)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One advantage of Newton’s method is that it converges to a minimum in relatively few steps. What is a disadvantage of Newton’s method?</a:t>
            </a:r>
          </a:p>
          <a:p>
            <a:endParaRPr lang="en-US" dirty="0"/>
          </a:p>
          <a:p>
            <a:r>
              <a:rPr lang="en-US" dirty="0"/>
              <a:t>Answer: You have to invert a matrix (the Hessian) at each step</a:t>
            </a:r>
          </a:p>
          <a:p>
            <a:pPr lvl="1"/>
            <a:r>
              <a:rPr lang="en-US" dirty="0"/>
              <a:t>This can be very slow for high-dimensional data</a:t>
            </a:r>
          </a:p>
          <a:p>
            <a:pPr lvl="1"/>
            <a:endParaRPr lang="en-US" dirty="0"/>
          </a:p>
          <a:p>
            <a:r>
              <a:rPr lang="en-US" dirty="0"/>
              <a:t>Thus in practice, Newton’s method is rarely used</a:t>
            </a:r>
          </a:p>
          <a:p>
            <a:r>
              <a:rPr lang="en-US" dirty="0"/>
              <a:t>However, Newton’s method has provided inspiration for other optimization techniques that are faster to compute</a:t>
            </a:r>
          </a:p>
        </p:txBody>
      </p:sp>
      <p:sp>
        <p:nvSpPr>
          <p:cNvPr id="3" name="Title 2"/>
          <p:cNvSpPr>
            <a:spLocks noGrp="1"/>
          </p:cNvSpPr>
          <p:nvPr>
            <p:ph type="title"/>
          </p:nvPr>
        </p:nvSpPr>
        <p:spPr/>
        <p:txBody>
          <a:bodyPr/>
          <a:lstStyle/>
          <a:p>
            <a:r>
              <a:rPr lang="en-US" dirty="0"/>
              <a:t>Group exercise</a:t>
            </a:r>
          </a:p>
        </p:txBody>
      </p:sp>
    </p:spTree>
    <p:extLst>
      <p:ext uri="{BB962C8B-B14F-4D97-AF65-F5344CB8AC3E}">
        <p14:creationId xmlns:p14="http://schemas.microsoft.com/office/powerpoint/2010/main" val="3310090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A9BFD-6E0B-47A4-FBC7-AFBD0F3F2309}"/>
            </a:ext>
          </a:extLst>
        </p:cNvPr>
        <p:cNvGrpSpPr/>
        <p:nvPr/>
      </p:nvGrpSpPr>
      <p:grpSpPr>
        <a:xfrm>
          <a:off x="0" y="0"/>
          <a:ext cx="0" cy="0"/>
          <a:chOff x="0" y="0"/>
          <a:chExt cx="0" cy="0"/>
        </a:xfrm>
      </p:grpSpPr>
      <p:sp>
        <p:nvSpPr>
          <p:cNvPr id="230" name="Gradient Descent Variations">
            <a:extLst>
              <a:ext uri="{FF2B5EF4-FFF2-40B4-BE49-F238E27FC236}">
                <a16:creationId xmlns:a16="http://schemas.microsoft.com/office/drawing/2014/main" id="{7C467131-4776-FA4B-BC65-BD81931E6E27}"/>
              </a:ext>
            </a:extLst>
          </p:cNvPr>
          <p:cNvSpPr txBox="1">
            <a:spLocks noGrp="1"/>
          </p:cNvSpPr>
          <p:nvPr>
            <p:ph type="title"/>
          </p:nvPr>
        </p:nvSpPr>
        <p:spPr>
          <a:prstGeom prst="rect">
            <a:avLst/>
          </a:prstGeom>
        </p:spPr>
        <p:txBody>
          <a:bodyPr/>
          <a:lstStyle/>
          <a:p>
            <a:r>
              <a:rPr dirty="0"/>
              <a:t>Gradient Descent Variations</a:t>
            </a:r>
          </a:p>
        </p:txBody>
      </p:sp>
      <mc:AlternateContent xmlns:mc="http://schemas.openxmlformats.org/markup-compatibility/2006" xmlns:a14="http://schemas.microsoft.com/office/drawing/2010/main">
        <mc:Choice Requires="a14">
          <p:sp>
            <p:nvSpPr>
              <p:cNvPr id="231" name="Mini-batch gradient descent…">
                <a:extLst>
                  <a:ext uri="{FF2B5EF4-FFF2-40B4-BE49-F238E27FC236}">
                    <a16:creationId xmlns:a16="http://schemas.microsoft.com/office/drawing/2014/main" id="{A7AEB135-C451-7FA7-5059-91331A271174}"/>
                  </a:ext>
                </a:extLst>
              </p:cNvPr>
              <p:cNvSpPr txBox="1">
                <a:spLocks noGrp="1"/>
              </p:cNvSpPr>
              <p:nvPr>
                <p:ph type="body" idx="1"/>
              </p:nvPr>
            </p:nvSpPr>
            <p:spPr>
              <a:xfrm>
                <a:off x="700635" y="1888236"/>
                <a:ext cx="10691265" cy="3739896"/>
              </a:xfrm>
              <a:prstGeom prst="rect">
                <a:avLst/>
              </a:prstGeom>
            </p:spPr>
            <p:txBody>
              <a:bodyPr>
                <a:normAutofit/>
              </a:bodyPr>
              <a:lstStyle/>
              <a:p>
                <a:r>
                  <a:rPr lang="en-US" dirty="0"/>
                  <a:t>Adam Optimizer</a:t>
                </a:r>
              </a:p>
              <a:p>
                <a:r>
                  <a:rPr lang="en-US" dirty="0"/>
                  <a:t>How it works:</a:t>
                </a:r>
              </a:p>
              <a:p>
                <a:pPr lvl="1"/>
                <a:r>
                  <a:rPr lang="en-US" dirty="0"/>
                  <a:t>Maintains two moving averages:</a:t>
                </a:r>
              </a:p>
              <a:p>
                <a:pPr lvl="1"/>
                <a:r>
                  <a:rPr lang="en-US" dirty="0"/>
                  <a:t>First moment (m): average of gradients (like momentum).</a:t>
                </a:r>
              </a:p>
              <a:p>
                <a:pPr lvl="1"/>
                <a:r>
                  <a:rPr lang="en-US" dirty="0"/>
                  <a:t>Second moment (v): average of squared gradients</a:t>
                </a:r>
              </a:p>
              <a:p>
                <a:pPr lvl="1"/>
                <a:r>
                  <a:rPr lang="en-US" dirty="0"/>
                  <a:t>Applies bias correction to both moments.</a:t>
                </a:r>
              </a:p>
              <a:p>
                <a:pPr lvl="1"/>
                <a:r>
                  <a:rPr lang="en-US" dirty="0"/>
                  <a:t>Update rule:</a:t>
                </a:r>
              </a:p>
              <a:p>
                <a:pPr marL="914400" lvl="2" indent="0">
                  <a:buNone/>
                </a:pPr>
                <a:r>
                  <a:rPr lang="en-US"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𝛽</m:t>
                        </m:r>
                      </m:e>
                      <m:sub>
                        <m:r>
                          <a:rPr lang="en-US" i="1" dirty="0" smtClean="0">
                            <a:latin typeface="Cambria Math" panose="02040503050406030204" pitchFamily="18" charset="0"/>
                          </a:rPr>
                          <m:t>𝑛𝑒𝑤</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𝛽</m:t>
                        </m:r>
                      </m:e>
                      <m:sub>
                        <m:r>
                          <a:rPr lang="en-US" i="1" dirty="0" smtClean="0">
                            <a:latin typeface="Cambria Math" panose="02040503050406030204" pitchFamily="18" charset="0"/>
                          </a:rPr>
                          <m:t>𝑜𝑙𝑑</m:t>
                        </m:r>
                      </m:sub>
                    </m:sSub>
                    <m:r>
                      <a:rPr lang="en-US" i="1" dirty="0" smtClean="0">
                        <a:latin typeface="Cambria Math" panose="02040503050406030204" pitchFamily="18" charset="0"/>
                      </a:rPr>
                      <m:t>−</m:t>
                    </m:r>
                    <m:r>
                      <a:rPr lang="en-US" i="1" dirty="0" smtClean="0">
                        <a:latin typeface="Cambria Math" panose="02040503050406030204" pitchFamily="18" charset="0"/>
                      </a:rPr>
                      <m:t>𝛼</m:t>
                    </m:r>
                    <m:f>
                      <m:fPr>
                        <m:ctrlPr>
                          <a:rPr lang="en-US" i="1" dirty="0" smtClean="0">
                            <a:latin typeface="Cambria Math" panose="02040503050406030204" pitchFamily="18" charset="0"/>
                          </a:rPr>
                        </m:ctrlPr>
                      </m:fPr>
                      <m:num>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𝑚</m:t>
                            </m:r>
                          </m:e>
                        </m:acc>
                      </m:num>
                      <m:den>
                        <m:rad>
                          <m:radPr>
                            <m:degHide m:val="on"/>
                            <m:ctrlPr>
                              <a:rPr lang="en-US" i="1" dirty="0" smtClean="0">
                                <a:latin typeface="Cambria Math" panose="02040503050406030204" pitchFamily="18" charset="0"/>
                              </a:rPr>
                            </m:ctrlPr>
                          </m:radPr>
                          <m:deg/>
                          <m:e>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𝑣</m:t>
                                </m:r>
                              </m:e>
                            </m:acc>
                          </m:e>
                        </m:rad>
                        <m:r>
                          <a:rPr lang="en-US" i="1" dirty="0" smtClean="0">
                            <a:latin typeface="Cambria Math" panose="02040503050406030204" pitchFamily="18" charset="0"/>
                          </a:rPr>
                          <m:t>+</m:t>
                        </m:r>
                        <m:r>
                          <a:rPr lang="en-US" i="1" dirty="0" smtClean="0">
                            <a:latin typeface="Cambria Math" panose="02040503050406030204" pitchFamily="18" charset="0"/>
                          </a:rPr>
                          <m:t>𝜖</m:t>
                        </m:r>
                      </m:den>
                    </m:f>
                  </m:oMath>
                </a14:m>
                <a:endParaRPr lang="en-US" dirty="0"/>
              </a:p>
              <a:p>
                <a:pPr marL="914400" lvl="2" indent="0">
                  <a:buNone/>
                </a:pPr>
                <a:endParaRPr lang="en-US" dirty="0"/>
              </a:p>
            </p:txBody>
          </p:sp>
        </mc:Choice>
        <mc:Fallback xmlns="">
          <p:sp>
            <p:nvSpPr>
              <p:cNvPr id="231" name="Mini-batch gradient descent…">
                <a:extLst>
                  <a:ext uri="{FF2B5EF4-FFF2-40B4-BE49-F238E27FC236}">
                    <a16:creationId xmlns:a16="http://schemas.microsoft.com/office/drawing/2014/main" id="{A7AEB135-C451-7FA7-5059-91331A271174}"/>
                  </a:ext>
                </a:extLst>
              </p:cNvPr>
              <p:cNvSpPr txBox="1">
                <a:spLocks noGrp="1" noRot="1" noChangeAspect="1" noMove="1" noResize="1" noEditPoints="1" noAdjustHandles="1" noChangeArrowheads="1" noChangeShapeType="1" noTextEdit="1"/>
              </p:cNvSpPr>
              <p:nvPr>
                <p:ph type="body" idx="1"/>
              </p:nvPr>
            </p:nvSpPr>
            <p:spPr>
              <a:xfrm>
                <a:off x="700635" y="1888236"/>
                <a:ext cx="10691265" cy="3739896"/>
              </a:xfrm>
              <a:prstGeom prst="rect">
                <a:avLst/>
              </a:prstGeom>
              <a:blipFill>
                <a:blip r:embed="rId2"/>
                <a:stretch>
                  <a:fillRect l="-513" t="-816"/>
                </a:stretch>
              </a:blipFill>
            </p:spPr>
            <p:txBody>
              <a:bodyPr/>
              <a:lstStyle/>
              <a:p>
                <a:r>
                  <a:rPr lang="en-US">
                    <a:noFill/>
                  </a:rPr>
                  <a:t> </a:t>
                </a:r>
              </a:p>
            </p:txBody>
          </p:sp>
        </mc:Fallback>
      </mc:AlternateContent>
    </p:spTree>
    <p:extLst>
      <p:ext uri="{BB962C8B-B14F-4D97-AF65-F5344CB8AC3E}">
        <p14:creationId xmlns:p14="http://schemas.microsoft.com/office/powerpoint/2010/main" val="3678491146"/>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23.7346"/>
  <p:tag name="ORIGINALWIDTH" val="332.9583"/>
  <p:tag name="LATEXADDIN" val="\documentclass{article}&#10;\usepackage{amsmath}&#10;\pagestyle{empty}&#10;\begin{document}&#10;$\nabla f({\bf x})$&#10;\end{document}"/>
  <p:tag name="IGUANATEXSIZE" val="20"/>
  <p:tag name="IGUANATEXCURSOR" val="99"/>
  <p:tag name="TRANSPARENCY" val="False"/>
  <p:tag name="FILENAME" val=""/>
  <p:tag name="LATEXENGINEID" val="0"/>
  <p:tag name="TEMPFOLDER" val="c:\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109.4863"/>
  <p:tag name="LATEXADDIN" val="\documentclass{article}&#10;\usepackage{amsmath}&#10;\pagestyle{empty}&#10;\begin{document}&#10;$x_1$&#10;\end{document}"/>
  <p:tag name="IGUANATEXSIZE" val="20"/>
  <p:tag name="IGUANATEXCURSOR" val="85"/>
  <p:tag name="TRANSPARENCY" val="False"/>
  <p:tag name="FILENAME" val=""/>
  <p:tag name="LATEXENGINEID" val="0"/>
  <p:tag name="TEMPFOLDER" val="c:\temp\"/>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112.4859"/>
  <p:tag name="LATEXADDIN" val="\documentclass{article}&#10;\usepackage{amsmath}&#10;\pagestyle{empty}&#10;\begin{document}&#10;$x_2$&#10;\end{document}"/>
  <p:tag name="IGUANATEXSIZE" val="20"/>
  <p:tag name="IGUANATEXCURSOR" val="84"/>
  <p:tag name="TRANSPARENCY" val="False"/>
  <p:tag name="FILENAME" val=""/>
  <p:tag name="LATEXENGINEID" val="0"/>
  <p:tag name="TEMPFOLDER" val="c:\temp\"/>
  <p:tag name="LATEXFORMHEIGHT" val="312"/>
  <p:tag name="LATEXFORMWIDTH" val="384"/>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23.7346"/>
  <p:tag name="ORIGINALWIDTH" val="228.7214"/>
  <p:tag name="LATEXADDIN" val="\documentclass{article}&#10;\usepackage{amsmath}&#10;\pagestyle{empty}&#10;\begin{document}&#10;$f({\bf x})$&#10;\end{document}"/>
  <p:tag name="IGUANATEXSIZE" val="20"/>
  <p:tag name="IGUANATEXCURSOR" val="89"/>
  <p:tag name="TRANSPARENCY" val="False"/>
  <p:tag name="FILENAME" val=""/>
  <p:tag name="LATEXENGINEID" val="0"/>
  <p:tag name="TEMPFOLDER" val="c:\temp\"/>
  <p:tag name="LATEXFORMHEIGHT" val="312"/>
  <p:tag name="LATEXFORMWIDTH" val="384"/>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1888.264"/>
  <p:tag name="ORIGINALWIDTH" val="3076.865"/>
  <p:tag name="LATEXADDIN" val="\documentclass{article}\pagestyle{empty}&#10;\usepackage[top=1in, bottom=1in, left=2in, right=2in]{geometry}&#10;\usepackage{amsmath,amssymb,bm}&#10;\newcommand{\bu}{{\bm u}}&#10;\newcommand{\bv}{{\bm v}}&#10;\newcommand{\bx}{{\bm x}}&#10;\begin{document}&#10;\noindent Notation:&#10;$$&#10;\bx = \begin{bmatrix}&#10;x \\&#10;y&#10;\end{bmatrix}&#10;$$&#10;Consider the function&#10;$$&#10;f(x,y) = x^2 + 4xy - y^2 - 8x - 6y + 10&#10;$$&#10;\begin{enumerate}&#10;\item Determine $\nabla f(x,y)$&#10;\item Determine $\nabla^2 f(x,y)$&#10;\item Determine a critical point $\bx^*$&#10;\item Is $\bx^*$ a local min, a local max, or neither?&#10;\end{enumerate}&#10;&#10;\end{document}&#10;"/>
  <p:tag name="IGUANATEXSIZE" val="20"/>
  <p:tag name="IGUANATEXCURSOR" val="91"/>
  <p:tag name="TRANSPARENCY" val="False"/>
  <p:tag name="FILENAME" val=""/>
  <p:tag name="LATEXENGINEID" val="0"/>
  <p:tag name="TEMPFOLDER" val="c:\temp\"/>
  <p:tag name="LATEXFORMHEIGHT" val="537"/>
  <p:tag name="LATEXFORMWIDTH" val="483"/>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TEXPOINT" val="template"/>
  <p:tag name="SOURCE" val="TPT1  equation f(x,y) = x^2 + y^2  template TPT1  env TPENV1  fore 0  back 16777215  eqnno 1"/>
  <p:tag name="FILENAME" val="TP_tmp"/>
  <p:tag name="ORIGWIDTH" val="74"/>
  <p:tag name="PICTUREFILESIZE" val="31262"/>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332.583"/>
  <p:tag name="ORIGINALWIDTH" val="4043.494"/>
  <p:tag name="LATEXADDIN" val="\documentclass{article}\pagestyle{empty}&#10;\usepackage[top=1in, bottom=1in, left=2in, right=2in]{geometry}&#10;\usepackage{amsmath,amssymb,bm}&#10;\newcommand{\bu}{{\bm u}}&#10;\newcommand{\bv}{{\bm v}}&#10;\newcommand{\bx}{{\bm x}}&#10;\newcommand{\by}{{\bm y}}&#10;\newcommand{\bz}{{\bm z}}&#10;\newcommand{\bzero}{{\bm 0}}&#10;\begin{document}&#10;\noindent {\em Proof of 1}:   Suppose $\bx^*$ is a local min but not a global min. Then $\exists \by^* \in \mathbb{R^d}$ such that $f(\by^*) &lt; f(\bx^*)$. By convexity, $\forall t \in [0, 1)$ we have&#10;  \begin{align*}&#10;    f(t \bx^* + (1 - t)\by^*) &amp; \leq t f(\bx^*) + (1-t)f(\by^*) \\&#10;    &amp; &lt; t f(\bx^*) + (1-t)f(\bx^*) \\&#10;    &amp; = f(\bx^*)&#10;  \end{align*}&#10;&#10;  Taking $t \nearrow 1$, the above strict inequality contradicts local minimality of $\bx^*$. Thus $\bx^*$ is a global min.&#10;\end{document}&#10;"/>
  <p:tag name="IGUANATEXSIZE" val="20"/>
  <p:tag name="IGUANATEXCURSOR" val="230"/>
  <p:tag name="TRANSPARENCY" val="False"/>
  <p:tag name="FILENAME" val=""/>
  <p:tag name="LATEXENGINEID" val="0"/>
  <p:tag name="TEMPFOLDER" val="c:\temp\"/>
  <p:tag name="LATEXFORMHEIGHT" val="640.5"/>
  <p:tag name="LATEXFORMWIDTH" val="525"/>
  <p:tag name="LATEXFORMWRAP" val="True"/>
  <p:tag name="BITMAPVECTOR" val="0"/>
</p:tagLst>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679</TotalTime>
  <Words>3022</Words>
  <Application>Microsoft Office PowerPoint</Application>
  <PresentationFormat>Widescreen</PresentationFormat>
  <Paragraphs>276</Paragraphs>
  <Slides>35</Slides>
  <Notes>6</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Arial</vt:lpstr>
      <vt:lpstr>Calisto MT</vt:lpstr>
      <vt:lpstr>Cambria Math</vt:lpstr>
      <vt:lpstr>Univers Condensed</vt:lpstr>
      <vt:lpstr>ChronicleVTI</vt:lpstr>
      <vt:lpstr>Gradient Descent</vt:lpstr>
      <vt:lpstr>Optimization in machine learning</vt:lpstr>
      <vt:lpstr>Unconstrained Optimization</vt:lpstr>
      <vt:lpstr>Gradient Descent (High level) </vt:lpstr>
      <vt:lpstr>Gradient</vt:lpstr>
      <vt:lpstr>First Order Necessary Condition</vt:lpstr>
      <vt:lpstr>Hessian</vt:lpstr>
      <vt:lpstr>Positive (Semi-)Definite Matrices</vt:lpstr>
      <vt:lpstr>Second Order Necessary Condition </vt:lpstr>
      <vt:lpstr>Group Exercise</vt:lpstr>
      <vt:lpstr>Group Exercise Solutions</vt:lpstr>
      <vt:lpstr>Convexity</vt:lpstr>
      <vt:lpstr>Convex functions are nice</vt:lpstr>
      <vt:lpstr>Convexity Example</vt:lpstr>
      <vt:lpstr>Convex functions are nice</vt:lpstr>
      <vt:lpstr>Group Exercise</vt:lpstr>
      <vt:lpstr>Group Exercise Solutions</vt:lpstr>
      <vt:lpstr>Takeaways</vt:lpstr>
      <vt:lpstr>Gradient Descent (GD)</vt:lpstr>
      <vt:lpstr>Learning Rate</vt:lpstr>
      <vt:lpstr>Learning Rate as a Function</vt:lpstr>
      <vt:lpstr>Group Exercise</vt:lpstr>
      <vt:lpstr>Group Exercise Solutions</vt:lpstr>
      <vt:lpstr>Learning Schedule</vt:lpstr>
      <vt:lpstr>PowerPoint Presentation</vt:lpstr>
      <vt:lpstr>Stochastic Gradient Descent (SGD)</vt:lpstr>
      <vt:lpstr>Stochastic Gradient Descent (SGD)</vt:lpstr>
      <vt:lpstr>Stochastic Gradient Descent</vt:lpstr>
      <vt:lpstr>Stochastic Gradient Descent Summary</vt:lpstr>
      <vt:lpstr>Analogy to political polling</vt:lpstr>
      <vt:lpstr>Gradient Descent Variations</vt:lpstr>
      <vt:lpstr>Newton’s method</vt:lpstr>
      <vt:lpstr>Newton’s Method: Intuition</vt:lpstr>
      <vt:lpstr>Group exercise</vt:lpstr>
      <vt:lpstr>Gradient Descent Variations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Rhodes</dc:creator>
  <cp:lastModifiedBy>Jake Rhodes</cp:lastModifiedBy>
  <cp:revision>37</cp:revision>
  <dcterms:created xsi:type="dcterms:W3CDTF">2025-10-28T15:32:43Z</dcterms:created>
  <dcterms:modified xsi:type="dcterms:W3CDTF">2026-10-01T21:23:07Z</dcterms:modified>
</cp:coreProperties>
</file>