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9"/>
  </p:notesMasterIdLst>
  <p:sldIdLst>
    <p:sldId id="256" r:id="rId2"/>
    <p:sldId id="335" r:id="rId3"/>
    <p:sldId id="321" r:id="rId4"/>
    <p:sldId id="328" r:id="rId5"/>
    <p:sldId id="322" r:id="rId6"/>
    <p:sldId id="323" r:id="rId7"/>
    <p:sldId id="329" r:id="rId8"/>
    <p:sldId id="330" r:id="rId9"/>
    <p:sldId id="324" r:id="rId10"/>
    <p:sldId id="325" r:id="rId11"/>
    <p:sldId id="326" r:id="rId12"/>
    <p:sldId id="331" r:id="rId13"/>
    <p:sldId id="332" r:id="rId14"/>
    <p:sldId id="333" r:id="rId15"/>
    <p:sldId id="334" r:id="rId16"/>
    <p:sldId id="336" r:id="rId17"/>
    <p:sldId id="32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139" d="100"/>
          <a:sy n="139" d="100"/>
        </p:scale>
        <p:origin x="100" y="5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9/10/2026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9/10/2026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9/10/2026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9/10/2026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9/10/2026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9/10/2026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9/10/2026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9/10/2026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9/10/2026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9/10/2026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9/10/2026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Subtitle"/>
          <p:cNvSpPr txBox="1">
            <a:spLocks noGrp="1"/>
          </p:cNvSpPr>
          <p:nvPr>
            <p:ph type="body" sz="quarter" idx="21" hasCustomPrompt="1"/>
          </p:nvPr>
        </p:nvSpPr>
        <p:spPr>
          <a:xfrm>
            <a:off x="654844" y="1017985"/>
            <a:ext cx="10882313" cy="473273"/>
          </a:xfrm>
          <a:prstGeom prst="rect">
            <a:avLst/>
          </a:prstGeom>
        </p:spPr>
        <p:txBody>
          <a:bodyPr/>
          <a:lstStyle>
            <a:lvl1pPr marL="0" indent="0" defTabSz="178587">
              <a:spcBef>
                <a:spcPts val="0"/>
              </a:spcBef>
              <a:buSzTx/>
              <a:buNone/>
              <a:defRPr sz="2250">
                <a:latin typeface="+mn-lt"/>
                <a:ea typeface="+mn-ea"/>
                <a:cs typeface="+mn-cs"/>
                <a:sym typeface="Produkt Extralight"/>
              </a:defRPr>
            </a:lvl1pPr>
          </a:lstStyle>
          <a:p>
            <a:r>
              <a:t>Slide Subtitle</a:t>
            </a:r>
          </a:p>
        </p:txBody>
      </p:sp>
      <p:sp>
        <p:nvSpPr>
          <p:cNvPr id="43" name="Slide Title"/>
          <p:cNvSpPr txBox="1">
            <a:spLocks noGrp="1"/>
          </p:cNvSpPr>
          <p:nvPr>
            <p:ph type="title" hasCustomPrompt="1"/>
          </p:nvPr>
        </p:nvSpPr>
        <p:spPr>
          <a:prstGeom prst="rect">
            <a:avLst/>
          </a:prstGeom>
        </p:spPr>
        <p:txBody>
          <a:bodyPr/>
          <a:lstStyle/>
          <a:p>
            <a:r>
              <a:t>Slide 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01"/>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7280455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Title Only">
    <p:spTree>
      <p:nvGrpSpPr>
        <p:cNvPr id="1" name=""/>
        <p:cNvGrpSpPr/>
        <p:nvPr/>
      </p:nvGrpSpPr>
      <p:grpSpPr>
        <a:xfrm>
          <a:off x="0" y="0"/>
          <a:ext cx="0" cy="0"/>
          <a:chOff x="0" y="0"/>
          <a:chExt cx="0" cy="0"/>
        </a:xfrm>
      </p:grpSpPr>
      <p:sp>
        <p:nvSpPr>
          <p:cNvPr id="99" name="Slide Subtitle"/>
          <p:cNvSpPr txBox="1">
            <a:spLocks noGrp="1"/>
          </p:cNvSpPr>
          <p:nvPr>
            <p:ph type="body" sz="quarter" idx="21" hasCustomPrompt="1"/>
          </p:nvPr>
        </p:nvSpPr>
        <p:spPr>
          <a:xfrm>
            <a:off x="654844" y="1017985"/>
            <a:ext cx="10882313" cy="473273"/>
          </a:xfrm>
          <a:prstGeom prst="rect">
            <a:avLst/>
          </a:prstGeom>
        </p:spPr>
        <p:txBody>
          <a:bodyPr/>
          <a:lstStyle>
            <a:lvl1pPr marL="0" indent="0" defTabSz="178587">
              <a:spcBef>
                <a:spcPts val="0"/>
              </a:spcBef>
              <a:buSzTx/>
              <a:buNone/>
              <a:defRPr sz="2250">
                <a:latin typeface="+mn-lt"/>
                <a:ea typeface="+mn-ea"/>
                <a:cs typeface="+mn-cs"/>
                <a:sym typeface="Produkt Extralight"/>
              </a:defRPr>
            </a:lvl1pPr>
          </a:lstStyle>
          <a:p>
            <a:r>
              <a:t>Slide Subtitle</a:t>
            </a:r>
          </a:p>
        </p:txBody>
      </p:sp>
      <p:sp>
        <p:nvSpPr>
          <p:cNvPr id="100" name="Slide Title"/>
          <p:cNvSpPr txBox="1">
            <a:spLocks noGrp="1"/>
          </p:cNvSpPr>
          <p:nvPr>
            <p:ph type="title" hasCustomPrompt="1"/>
          </p:nvPr>
        </p:nvSpPr>
        <p:spPr>
          <a:prstGeom prst="rect">
            <a:avLst/>
          </a:prstGeom>
        </p:spPr>
        <p:txBody>
          <a:bodyPr/>
          <a:lstStyle/>
          <a:p>
            <a:r>
              <a:t>Slide Title</a:t>
            </a:r>
          </a:p>
        </p:txBody>
      </p:sp>
      <p:sp>
        <p:nvSpPr>
          <p:cNvPr id="101" name="01"/>
          <p:cNvSpPr txBox="1">
            <a:spLocks noGrp="1"/>
          </p:cNvSpPr>
          <p:nvPr>
            <p:ph type="sldNum" sz="quarter" idx="2"/>
          </p:nvPr>
        </p:nvSpPr>
        <p:spPr>
          <a:xfrm>
            <a:off x="11727656" y="6152554"/>
            <a:ext cx="274321" cy="222082"/>
          </a:xfrm>
          <a:prstGeom prst="rect">
            <a:avLst/>
          </a:prstGeom>
        </p:spPr>
        <p:txBody>
          <a:bodyPr wrap="none"/>
          <a:lstStyle/>
          <a:p>
            <a:fld id="{86CB4B4D-7CA3-9044-876B-883B54F8677D}" type="slidenum">
              <a:t>‹#›</a:t>
            </a:fld>
            <a:endParaRPr/>
          </a:p>
        </p:txBody>
      </p:sp>
    </p:spTree>
    <p:extLst>
      <p:ext uri="{BB962C8B-B14F-4D97-AF65-F5344CB8AC3E}">
        <p14:creationId xmlns:p14="http://schemas.microsoft.com/office/powerpoint/2010/main" val="10320820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9/10/2026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8" r:id="rId12"/>
    <p:sldLayoutId id="2147483689" r:id="rId13"/>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hyperlink" Target="http://scikit-learn.org/"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hyperlink" Target="https://scikit-learn.org/stable/"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2DB4CC9-9798-1BBD-A26A-E90044E389AC}"/>
              </a:ext>
            </a:extLst>
          </p:cNvPr>
          <p:cNvPicPr>
            <a:picLocks noChangeAspect="1"/>
          </p:cNvPicPr>
          <p:nvPr/>
        </p:nvPicPr>
        <p:blipFill>
          <a:blip r:embed="rId2"/>
          <a:srcRect t="9520" b="621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612349FF-7742-42ED-ADF3-238B5DDD1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237318"/>
            <a:ext cx="12188952" cy="2620682"/>
          </a:xfrm>
          <a:prstGeom prst="rect">
            <a:avLst/>
          </a:prstGeom>
          <a:gradFill>
            <a:gsLst>
              <a:gs pos="42000">
                <a:srgbClr val="000000">
                  <a:alpha val="14000"/>
                </a:srgbClr>
              </a:gs>
              <a:gs pos="0">
                <a:srgbClr val="000000">
                  <a:alpha val="0"/>
                </a:srgbClr>
              </a:gs>
              <a:gs pos="100000">
                <a:srgbClr val="000000">
                  <a:alpha val="3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705158" y="5528235"/>
            <a:ext cx="10696574" cy="770964"/>
          </a:xfrm>
        </p:spPr>
        <p:txBody>
          <a:bodyPr anchor="b">
            <a:normAutofit/>
          </a:bodyPr>
          <a:lstStyle/>
          <a:p>
            <a:pPr>
              <a:lnSpc>
                <a:spcPct val="90000"/>
              </a:lnSpc>
            </a:pPr>
            <a:r>
              <a:rPr lang="en-US" sz="2200">
                <a:solidFill>
                  <a:srgbClr val="FFFFFF"/>
                </a:solidFill>
              </a:rPr>
              <a:t>Introduction to </a:t>
            </a:r>
            <a:br>
              <a:rPr lang="en-US" sz="2200">
                <a:solidFill>
                  <a:srgbClr val="FFFFFF"/>
                </a:solidFill>
              </a:rPr>
            </a:br>
            <a:r>
              <a:rPr lang="en-US" sz="2200">
                <a:solidFill>
                  <a:srgbClr val="FFFFFF"/>
                </a:solidFill>
              </a:rPr>
              <a:t>Scikit-Learn</a:t>
            </a:r>
          </a:p>
        </p:txBody>
      </p: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What we'll cover</a:t>
            </a:r>
            <a:endParaRPr/>
          </a:p>
        </p:txBody>
      </p:sp>
      <p:sp>
        <p:nvSpPr>
          <p:cNvPr id="4" name="Text Placeholder 3"/>
          <p:cNvSpPr>
            <a:spLocks noGrp="1"/>
          </p:cNvSpPr>
          <p:nvPr>
            <p:ph type="body" idx="1"/>
          </p:nvPr>
        </p:nvSpPr>
        <p:spPr/>
        <p:txBody>
          <a:bodyPr wrap="square" lIns="73152" tIns="36576" rIns="54864" bIns="36576" anchor="t"/>
          <a:lstStyle/>
          <a:p>
            <a:pPr>
              <a:spcAft>
                <a:spcPts val="700"/>
              </a:spcAft>
              <a:defRPr sz="2300" b="1">
                <a:solidFill>
                  <a:srgbClr val="734B67"/>
                </a:solidFill>
                <a:latin typeface="Calisto MT"/>
              </a:defRPr>
            </a:pPr>
            <a:r>
              <a:rPr lang="en-US"/>
              <a:t>Scikit-Learn as an object-oriented library</a:t>
            </a:r>
          </a:p>
          <a:p>
            <a:pPr>
              <a:spcAft>
                <a:spcPts val="700"/>
              </a:spcAft>
              <a:defRPr sz="2300" b="1">
                <a:solidFill>
                  <a:srgbClr val="734B67"/>
                </a:solidFill>
                <a:latin typeface="Calisto MT"/>
              </a:defRPr>
            </a:pPr>
            <a:r>
              <a:rPr lang="en-US"/>
              <a:t>The three core object types: estimators, transformers, predictors</a:t>
            </a:r>
          </a:p>
          <a:p>
            <a:pPr>
              <a:spcAft>
                <a:spcPts val="700"/>
              </a:spcAft>
              <a:defRPr sz="2300" b="1">
                <a:solidFill>
                  <a:srgbClr val="734B67"/>
                </a:solidFill>
                <a:latin typeface="Calisto MT"/>
              </a:defRPr>
            </a:pPr>
            <a:r>
              <a:rPr lang="en-US"/>
              <a:t>Getting your data into the right shape</a:t>
            </a:r>
          </a:p>
          <a:p>
            <a:pPr>
              <a:spcAft>
                <a:spcPts val="700"/>
              </a:spcAft>
              <a:defRPr sz="2300" b="1">
                <a:solidFill>
                  <a:srgbClr val="734B67"/>
                </a:solidFill>
                <a:latin typeface="Calisto MT"/>
              </a:defRPr>
            </a:pPr>
            <a:r>
              <a:rPr lang="en-US"/>
              <a:t>A worked modeling example</a:t>
            </a:r>
          </a:p>
          <a:p>
            <a:pPr>
              <a:spcAft>
                <a:spcPts val="700"/>
              </a:spcAft>
              <a:defRPr sz="2300" b="1">
                <a:solidFill>
                  <a:srgbClr val="734B67"/>
                </a:solidFill>
                <a:latin typeface="Calisto MT"/>
              </a:defRPr>
            </a:pPr>
            <a:r>
              <a:rPr lang="en-US"/>
              <a:t>Pipelines: avoiding leakage and keeping workflows reproducible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What is Scikit-Learn"/>
          <p:cNvSpPr txBox="1">
            <a:spLocks noGrp="1"/>
          </p:cNvSpPr>
          <p:nvPr>
            <p:ph type="title"/>
          </p:nvPr>
        </p:nvSpPr>
        <p:spPr>
          <a:prstGeom prst="rect">
            <a:avLst/>
          </a:prstGeom>
        </p:spPr>
        <p:txBody>
          <a:bodyPr/>
          <a:lstStyle/>
          <a:p>
            <a:r>
              <a:t>What is Scikit-Learn</a:t>
            </a:r>
          </a:p>
        </p:txBody>
      </p:sp>
      <p:sp>
        <p:nvSpPr>
          <p:cNvPr id="634" name="Scikit-Learn is one of the best known python packages for machine learning…"/>
          <p:cNvSpPr txBox="1">
            <a:spLocks noGrp="1"/>
          </p:cNvSpPr>
          <p:nvPr>
            <p:ph type="body" idx="1"/>
          </p:nvPr>
        </p:nvSpPr>
        <p:spPr>
          <a:xfrm>
            <a:off x="2015133" y="1871904"/>
            <a:ext cx="8161734" cy="4759169"/>
          </a:xfrm>
          <a:prstGeom prst="rect">
            <a:avLst/>
          </a:prstGeom>
        </p:spPr>
        <p:txBody>
          <a:bodyPr>
            <a:normAutofit fontScale="77500" lnSpcReduction="20000"/>
          </a:bodyPr>
          <a:lstStyle/>
          <a:p>
            <a:pPr marL="221002" indent="-221002" defTabSz="176015">
              <a:spcBef>
                <a:spcPts val="2250"/>
              </a:spcBef>
              <a:defRPr sz="2772"/>
            </a:pPr>
            <a:r>
              <a:rPr dirty="0"/>
              <a:t>Scikit-Learn is one of the </a:t>
            </a:r>
            <a:r>
              <a:rPr lang="en-US" dirty="0"/>
              <a:t>best-known</a:t>
            </a:r>
            <a:r>
              <a:rPr dirty="0"/>
              <a:t> </a:t>
            </a:r>
            <a:r>
              <a:rPr lang="en-US" dirty="0"/>
              <a:t>Python</a:t>
            </a:r>
            <a:r>
              <a:rPr dirty="0"/>
              <a:t> packages for machine learning</a:t>
            </a:r>
          </a:p>
          <a:p>
            <a:pPr marL="221002" indent="-221002" defTabSz="176015">
              <a:spcBef>
                <a:spcPts val="2250"/>
              </a:spcBef>
              <a:defRPr sz="2772"/>
            </a:pPr>
            <a:r>
              <a:rPr u="sng" dirty="0">
                <a:hlinkClick r:id="rId2"/>
              </a:rPr>
              <a:t>scikit-learn.org</a:t>
            </a:r>
            <a:r>
              <a:rPr dirty="0"/>
              <a:t> </a:t>
            </a:r>
          </a:p>
          <a:p>
            <a:pPr marL="221002" indent="-221002" defTabSz="176015">
              <a:spcBef>
                <a:spcPts val="2250"/>
              </a:spcBef>
              <a:defRPr sz="2772"/>
            </a:pPr>
            <a:r>
              <a:rPr dirty="0"/>
              <a:t>It provides efficient versions of many common ML algorithms</a:t>
            </a:r>
          </a:p>
          <a:p>
            <a:pPr marL="221002" indent="-221002" defTabSz="176015">
              <a:spcBef>
                <a:spcPts val="2250"/>
              </a:spcBef>
              <a:defRPr sz="2772"/>
            </a:pPr>
            <a:r>
              <a:rPr dirty="0"/>
              <a:t>It has a clean, uniform, and streamlined API</a:t>
            </a:r>
          </a:p>
          <a:p>
            <a:pPr marL="664773" lvl="2" indent="-222770" defTabSz="176015">
              <a:defRPr sz="2772"/>
            </a:pPr>
            <a:r>
              <a:rPr dirty="0"/>
              <a:t>Once you understand the syntax of Scikit-Learn, it is straightforward to use any model inside the library</a:t>
            </a:r>
          </a:p>
          <a:p>
            <a:pPr marL="221002" indent="-221002" defTabSz="176015">
              <a:spcBef>
                <a:spcPts val="2250"/>
              </a:spcBef>
              <a:defRPr sz="2772"/>
            </a:pPr>
            <a:r>
              <a:rPr dirty="0"/>
              <a:t>In </a:t>
            </a:r>
            <a:r>
              <a:rPr lang="en-US" dirty="0"/>
              <a:t>Python</a:t>
            </a:r>
            <a:r>
              <a:rPr dirty="0"/>
              <a:t>, Scikit-Learn is called with </a:t>
            </a:r>
            <a:r>
              <a:rPr dirty="0" err="1">
                <a:latin typeface="Courier"/>
                <a:ea typeface="Courier"/>
                <a:cs typeface="Courier"/>
                <a:sym typeface="Courier"/>
              </a:rPr>
              <a:t>sklearn</a:t>
            </a:r>
            <a:r>
              <a:rPr dirty="0"/>
              <a:t>  </a:t>
            </a:r>
          </a:p>
          <a:p>
            <a:pPr marL="664773" lvl="2" indent="-222770" defTabSz="176015">
              <a:spcBef>
                <a:spcPts val="2250"/>
              </a:spcBef>
              <a:defRPr sz="2772" b="1">
                <a:latin typeface="Courier New"/>
                <a:ea typeface="Courier New"/>
                <a:cs typeface="Courier New"/>
                <a:sym typeface="Courier New"/>
              </a:defRPr>
            </a:pPr>
            <a:r>
              <a:rPr dirty="0"/>
              <a:t>import </a:t>
            </a:r>
            <a:r>
              <a:rPr dirty="0" err="1"/>
              <a:t>sklearn</a:t>
            </a: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5123-03AC-49EB-EA6D-74D26E76AC6F}"/>
              </a:ext>
            </a:extLst>
          </p:cNvPr>
          <p:cNvSpPr>
            <a:spLocks noGrp="1"/>
          </p:cNvSpPr>
          <p:nvPr>
            <p:ph type="title"/>
          </p:nvPr>
        </p:nvSpPr>
        <p:spPr/>
        <p:txBody>
          <a:bodyPr/>
          <a:lstStyle/>
          <a:p>
            <a:r>
              <a:rPr lang="en-US" dirty="0"/>
              <a:t>Object-oriented modeling</a:t>
            </a:r>
          </a:p>
        </p:txBody>
      </p:sp>
      <p:sp>
        <p:nvSpPr>
          <p:cNvPr id="3" name="Content Placeholder 2">
            <a:extLst>
              <a:ext uri="{FF2B5EF4-FFF2-40B4-BE49-F238E27FC236}">
                <a16:creationId xmlns:a16="http://schemas.microsoft.com/office/drawing/2014/main" id="{DC147735-00F0-8EBC-5C89-AC1921633E0E}"/>
              </a:ext>
            </a:extLst>
          </p:cNvPr>
          <p:cNvSpPr>
            <a:spLocks noGrp="1"/>
          </p:cNvSpPr>
          <p:nvPr>
            <p:ph sz="half" idx="1"/>
          </p:nvPr>
        </p:nvSpPr>
        <p:spPr/>
        <p:txBody>
          <a:bodyPr>
            <a:normAutofit fontScale="92500" lnSpcReduction="10000"/>
          </a:bodyPr>
          <a:lstStyle/>
          <a:p>
            <a:r>
              <a:rPr lang="en-US" dirty="0"/>
              <a:t>A model is an </a:t>
            </a:r>
            <a:r>
              <a:rPr lang="en-US" b="1" dirty="0"/>
              <a:t>object</a:t>
            </a:r>
            <a:r>
              <a:rPr lang="en-US" dirty="0"/>
              <a:t>:</a:t>
            </a:r>
          </a:p>
          <a:p>
            <a:pPr lvl="1"/>
            <a:r>
              <a:rPr lang="en-US" dirty="0"/>
              <a:t>It has </a:t>
            </a:r>
            <a:r>
              <a:rPr lang="en-US" b="1" dirty="0"/>
              <a:t>state</a:t>
            </a:r>
            <a:r>
              <a:rPr lang="en-US" dirty="0"/>
              <a:t> (learned parameters)</a:t>
            </a:r>
          </a:p>
          <a:p>
            <a:pPr lvl="1"/>
            <a:r>
              <a:rPr lang="en-US" dirty="0"/>
              <a:t>It has </a:t>
            </a:r>
            <a:r>
              <a:rPr lang="en-US" b="1" dirty="0"/>
              <a:t>methods</a:t>
            </a:r>
            <a:r>
              <a:rPr lang="en-US" dirty="0"/>
              <a:t> (fit, predict)</a:t>
            </a:r>
          </a:p>
          <a:p>
            <a:r>
              <a:rPr lang="en-US" dirty="0"/>
              <a:t>This allows:</a:t>
            </a:r>
          </a:p>
          <a:p>
            <a:pPr lvl="1"/>
            <a:r>
              <a:rPr lang="en-US" dirty="0"/>
              <a:t>Reuse</a:t>
            </a:r>
          </a:p>
          <a:p>
            <a:pPr lvl="1"/>
            <a:r>
              <a:rPr lang="en-US" dirty="0"/>
              <a:t>Inspection</a:t>
            </a:r>
          </a:p>
          <a:p>
            <a:pPr lvl="1"/>
            <a:r>
              <a:rPr lang="en-US" dirty="0"/>
              <a:t>Composition (pipelines)</a:t>
            </a:r>
          </a:p>
        </p:txBody>
      </p:sp>
      <p:sp>
        <p:nvSpPr>
          <p:cNvPr id="4" name="Content Placeholder 3">
            <a:extLst>
              <a:ext uri="{FF2B5EF4-FFF2-40B4-BE49-F238E27FC236}">
                <a16:creationId xmlns:a16="http://schemas.microsoft.com/office/drawing/2014/main" id="{03E0D369-A01D-2EA7-0939-76A1FE027A5F}"/>
              </a:ext>
            </a:extLst>
          </p:cNvPr>
          <p:cNvSpPr>
            <a:spLocks noGrp="1"/>
          </p:cNvSpPr>
          <p:nvPr>
            <p:ph sz="half" idx="2"/>
          </p:nvPr>
        </p:nvSpPr>
        <p:spPr/>
        <p:txBody>
          <a:bodyPr>
            <a:normAutofit fontScale="92500" lnSpcReduction="10000"/>
          </a:bodyPr>
          <a:lstStyle/>
          <a:p>
            <a:pPr marL="0" indent="0">
              <a:spcBef>
                <a:spcPts val="0"/>
              </a:spcBef>
              <a:buNone/>
            </a:pPr>
            <a:r>
              <a:rPr lang="en-US" dirty="0">
                <a:latin typeface="Courier"/>
              </a:rPr>
              <a:t>from </a:t>
            </a:r>
            <a:r>
              <a:rPr lang="en-US" dirty="0" err="1">
                <a:latin typeface="Courier"/>
              </a:rPr>
              <a:t>sklearn.linear_model</a:t>
            </a:r>
            <a:r>
              <a:rPr lang="en-US" dirty="0">
                <a:latin typeface="Courier"/>
              </a:rPr>
              <a:t> import </a:t>
            </a:r>
            <a:r>
              <a:rPr lang="en-US" dirty="0" err="1">
                <a:latin typeface="Courier"/>
              </a:rPr>
              <a:t>LinearRegression</a:t>
            </a:r>
            <a:endParaRPr lang="en-US" dirty="0">
              <a:latin typeface="Courier"/>
            </a:endParaRPr>
          </a:p>
          <a:p>
            <a:pPr marL="0" indent="0">
              <a:spcBef>
                <a:spcPts val="0"/>
              </a:spcBef>
              <a:buNone/>
            </a:pPr>
            <a:endParaRPr lang="en-US" dirty="0">
              <a:latin typeface="Courier"/>
            </a:endParaRPr>
          </a:p>
          <a:p>
            <a:pPr marL="0" indent="0">
              <a:spcBef>
                <a:spcPts val="0"/>
              </a:spcBef>
              <a:buNone/>
            </a:pPr>
            <a:r>
              <a:rPr lang="en-US" dirty="0">
                <a:latin typeface="Courier"/>
              </a:rPr>
              <a:t># Model instantiation</a:t>
            </a:r>
          </a:p>
          <a:p>
            <a:pPr marL="0" indent="0">
              <a:spcBef>
                <a:spcPts val="0"/>
              </a:spcBef>
              <a:buNone/>
            </a:pPr>
            <a:r>
              <a:rPr lang="en-US" dirty="0">
                <a:latin typeface="Courier"/>
              </a:rPr>
              <a:t>model = </a:t>
            </a:r>
            <a:r>
              <a:rPr lang="en-US" dirty="0" err="1">
                <a:latin typeface="Courier"/>
              </a:rPr>
              <a:t>LinearRegression</a:t>
            </a:r>
            <a:r>
              <a:rPr lang="en-US" dirty="0">
                <a:latin typeface="Courier"/>
              </a:rPr>
              <a:t>()</a:t>
            </a:r>
          </a:p>
          <a:p>
            <a:pPr marL="0" indent="0">
              <a:spcBef>
                <a:spcPts val="0"/>
              </a:spcBef>
              <a:buNone/>
            </a:pPr>
            <a:endParaRPr lang="en-US" dirty="0">
              <a:latin typeface="Courier"/>
            </a:endParaRPr>
          </a:p>
          <a:p>
            <a:pPr marL="0" indent="0">
              <a:spcBef>
                <a:spcPts val="0"/>
              </a:spcBef>
              <a:buNone/>
            </a:pPr>
            <a:r>
              <a:rPr lang="en-US" dirty="0">
                <a:latin typeface="Courier"/>
              </a:rPr>
              <a:t>#Model fit</a:t>
            </a:r>
          </a:p>
          <a:p>
            <a:pPr marL="0" indent="0">
              <a:spcBef>
                <a:spcPts val="0"/>
              </a:spcBef>
              <a:buNone/>
            </a:pPr>
            <a:r>
              <a:rPr lang="en-US" dirty="0" err="1">
                <a:latin typeface="Courier"/>
              </a:rPr>
              <a:t>model.fit</a:t>
            </a:r>
            <a:r>
              <a:rPr lang="en-US" dirty="0">
                <a:latin typeface="Courier"/>
              </a:rPr>
              <a:t>(X, y)</a:t>
            </a:r>
          </a:p>
          <a:p>
            <a:pPr marL="0" indent="0">
              <a:spcBef>
                <a:spcPts val="0"/>
              </a:spcBef>
              <a:buNone/>
            </a:pPr>
            <a:r>
              <a:rPr lang="en-US" dirty="0" err="1">
                <a:latin typeface="Courier"/>
              </a:rPr>
              <a:t>model.predict</a:t>
            </a:r>
            <a:r>
              <a:rPr lang="en-US" dirty="0">
                <a:latin typeface="Courier"/>
              </a:rPr>
              <a:t>(</a:t>
            </a:r>
            <a:r>
              <a:rPr lang="en-US" dirty="0" err="1">
                <a:latin typeface="Courier"/>
              </a:rPr>
              <a:t>X_new</a:t>
            </a:r>
            <a:r>
              <a:rPr lang="en-US" dirty="0">
                <a:latin typeface="Courier"/>
              </a:rPr>
              <a:t>)</a:t>
            </a:r>
          </a:p>
          <a:p>
            <a:pPr marL="0" indent="0">
              <a:spcBef>
                <a:spcPts val="0"/>
              </a:spcBef>
              <a:buNone/>
            </a:pPr>
            <a:br>
              <a:rPr lang="en-US" dirty="0">
                <a:latin typeface="Courier"/>
              </a:rPr>
            </a:br>
            <a:r>
              <a:rPr lang="en-US" dirty="0">
                <a:latin typeface="Courier"/>
              </a:rPr>
              <a:t>#Model learned parameters:</a:t>
            </a:r>
          </a:p>
          <a:p>
            <a:pPr marL="0" indent="0">
              <a:spcBef>
                <a:spcPts val="0"/>
              </a:spcBef>
              <a:buNone/>
            </a:pPr>
            <a:r>
              <a:rPr lang="en-US" dirty="0">
                <a:latin typeface="Courier"/>
              </a:rPr>
              <a:t>coefficients = </a:t>
            </a:r>
            <a:r>
              <a:rPr lang="en-US" dirty="0" err="1">
                <a:latin typeface="Courier"/>
              </a:rPr>
              <a:t>model.coef</a:t>
            </a:r>
            <a:r>
              <a:rPr lang="en-US" dirty="0">
                <a:latin typeface="Courier"/>
              </a:rPr>
              <a:t>_</a:t>
            </a:r>
          </a:p>
        </p:txBody>
      </p:sp>
    </p:spTree>
    <p:extLst>
      <p:ext uri="{BB962C8B-B14F-4D97-AF65-F5344CB8AC3E}">
        <p14:creationId xmlns:p14="http://schemas.microsoft.com/office/powerpoint/2010/main" val="298418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6" name="Scikit-Learn Design"/>
          <p:cNvSpPr txBox="1">
            <a:spLocks noGrp="1"/>
          </p:cNvSpPr>
          <p:nvPr>
            <p:ph type="title"/>
          </p:nvPr>
        </p:nvSpPr>
        <p:spPr>
          <a:xfrm>
            <a:off x="682528" y="832919"/>
            <a:ext cx="10691265" cy="1307592"/>
          </a:xfrm>
          <a:prstGeom prst="rect">
            <a:avLst/>
          </a:prstGeom>
        </p:spPr>
        <p:txBody>
          <a:bodyPr/>
          <a:lstStyle/>
          <a:p>
            <a:r>
              <a:rPr lang="en-US"/>
              <a:t>Two conventions worth knowing</a:t>
            </a:r>
            <a:endParaRPr dirty="0"/>
          </a:p>
        </p:txBody>
      </p:sp>
      <p:sp>
        <p:nvSpPr>
          <p:cNvPr id="637" name="Consistency:   * All objects share a consistent and sensible interface…"/>
          <p:cNvSpPr txBox="1">
            <a:spLocks noGrp="1"/>
          </p:cNvSpPr>
          <p:nvPr>
            <p:ph type="body" idx="1"/>
          </p:nvPr>
        </p:nvSpPr>
        <p:spPr>
          <a:xfrm>
            <a:off x="2015133" y="1391768"/>
            <a:ext cx="8161734" cy="4975099"/>
          </a:xfrm>
          <a:prstGeom prst="rect">
            <a:avLst/>
          </a:prstGeom>
        </p:spPr>
        <p:txBody>
          <a:bodyPr>
            <a:normAutofit/>
          </a:bodyPr>
          <a:lstStyle/>
          <a:p>
            <a:pPr marL="0" indent="0" defTabSz="161792">
              <a:spcBef>
                <a:spcPts val="700"/>
              </a:spcBef>
              <a:buNone/>
              <a:defRPr sz="1900"/>
            </a:pPr>
            <a:r>
              <a:rPr lang="en-US" sz="1900" b="1" dirty="0">
                <a:latin typeface="Graphik"/>
                <a:ea typeface="Graphik"/>
                <a:cs typeface="Graphik"/>
                <a:sym typeface="Graphik"/>
              </a:rPr>
              <a:t>Inspection</a:t>
            </a:r>
            <a:r>
              <a:rPr lang="en-US" sz="1900" dirty="0"/>
              <a:t>:</a:t>
            </a:r>
          </a:p>
          <a:p>
            <a:pPr marL="357188" indent="-203143" defTabSz="161792">
              <a:spcBef>
                <a:spcPts val="300"/>
              </a:spcBef>
              <a:defRPr sz="1900"/>
            </a:pPr>
            <a:r>
              <a:rPr lang="en-US" sz="1900" dirty="0"/>
              <a:t>Hyperparameters and learned parameters are plain attributes</a:t>
            </a:r>
          </a:p>
          <a:p>
            <a:pPr marL="357188" indent="-203143" defTabSz="161792">
              <a:spcBef>
                <a:spcPts val="300"/>
              </a:spcBef>
              <a:defRPr sz="1900"/>
            </a:pPr>
            <a:r>
              <a:rPr lang="en-US" sz="1900" dirty="0"/>
              <a:t>Learned parameters end in an underscore</a:t>
            </a:r>
          </a:p>
          <a:p>
            <a:pPr marL="0" indent="0" defTabSz="161792">
              <a:spcBef>
                <a:spcPts val="700"/>
              </a:spcBef>
              <a:buNone/>
              <a:defRPr sz="1900"/>
            </a:pPr>
            <a:r>
              <a:rPr lang="en-US" sz="1900" b="1" dirty="0">
                <a:latin typeface="Graphik"/>
                <a:ea typeface="Graphik"/>
                <a:cs typeface="Graphik"/>
                <a:sym typeface="Graphik"/>
              </a:rPr>
              <a:t>Sensible defaults</a:t>
            </a:r>
            <a:r>
              <a:rPr lang="en-US" sz="1900" dirty="0"/>
              <a:t>:</a:t>
            </a:r>
          </a:p>
          <a:p>
            <a:pPr marL="357188" indent="-203143" defTabSz="161792">
              <a:spcBef>
                <a:spcPts val="300"/>
              </a:spcBef>
              <a:defRPr sz="1900"/>
            </a:pPr>
            <a:r>
              <a:rPr lang="en-US" sz="1900" dirty="0"/>
              <a:t>Most parameters come with reasonable defaults</a:t>
            </a:r>
            <a:endParaRPr lang="en-US"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Scikit-Learn Design: Consistency"/>
          <p:cNvSpPr txBox="1">
            <a:spLocks noGrp="1"/>
          </p:cNvSpPr>
          <p:nvPr>
            <p:ph type="title"/>
          </p:nvPr>
        </p:nvSpPr>
        <p:spPr>
          <a:xfrm>
            <a:off x="750367" y="715224"/>
            <a:ext cx="10691265" cy="1307592"/>
          </a:xfrm>
          <a:prstGeom prst="rect">
            <a:avLst/>
          </a:prstGeom>
        </p:spPr>
        <p:txBody>
          <a:bodyPr/>
          <a:lstStyle/>
          <a:p>
            <a:r>
              <a:rPr lang="en-US" dirty="0"/>
              <a:t>Estimators</a:t>
            </a:r>
            <a:endParaRPr dirty="0"/>
          </a:p>
        </p:txBody>
      </p:sp>
      <p:sp>
        <p:nvSpPr>
          <p:cNvPr id="640" name="Estimators:…"/>
          <p:cNvSpPr txBox="1">
            <a:spLocks noGrp="1"/>
          </p:cNvSpPr>
          <p:nvPr>
            <p:ph type="body" idx="1"/>
          </p:nvPr>
        </p:nvSpPr>
        <p:spPr>
          <a:xfrm>
            <a:off x="1144251" y="1688808"/>
            <a:ext cx="7456541" cy="5527380"/>
          </a:xfrm>
          <a:prstGeom prst="rect">
            <a:avLst/>
          </a:prstGeom>
        </p:spPr>
        <p:txBody>
          <a:bodyPr>
            <a:normAutofit/>
          </a:bodyPr>
          <a:lstStyle/>
          <a:p>
            <a:pPr marL="200911" indent="-200911" defTabSz="160014">
              <a:spcBef>
                <a:spcPts val="500"/>
              </a:spcBef>
              <a:defRPr sz="2520"/>
            </a:pPr>
            <a:r>
              <a:rPr lang="en-US" b="1" dirty="0">
                <a:latin typeface="Graphik"/>
                <a:ea typeface="Graphik"/>
                <a:cs typeface="Graphik"/>
                <a:sym typeface="Graphik"/>
              </a:rPr>
              <a:t>Estimators</a:t>
            </a:r>
            <a:r>
              <a:rPr lang="en-US" dirty="0"/>
              <a:t>:</a:t>
            </a:r>
          </a:p>
          <a:p>
            <a:pPr marL="403428" lvl="1" indent="-202517" defTabSz="160014">
              <a:defRPr sz="2520"/>
            </a:pPr>
            <a:r>
              <a:rPr lang="en-US" sz="2000" dirty="0"/>
              <a:t>Any object that can estimate a parameter based on a dataset</a:t>
            </a:r>
          </a:p>
          <a:p>
            <a:pPr marL="403428" lvl="1" indent="-202517" defTabSz="160014">
              <a:defRPr sz="2520"/>
            </a:pPr>
            <a:r>
              <a:rPr lang="en-US" sz="2000" dirty="0"/>
              <a:t>The </a:t>
            </a:r>
            <a:r>
              <a:rPr lang="en-US" sz="2000" dirty="0">
                <a:latin typeface="Courier"/>
                <a:ea typeface="Courier"/>
                <a:cs typeface="Courier"/>
                <a:sym typeface="Courier"/>
              </a:rPr>
              <a:t>.fit() </a:t>
            </a:r>
            <a:r>
              <a:rPr lang="en-US" sz="2000" dirty="0"/>
              <a:t>method performs the estimation </a:t>
            </a:r>
          </a:p>
          <a:p>
            <a:pPr marL="0" indent="-256289" defTabSz="160014">
              <a:defRPr sz="2520"/>
            </a:pPr>
            <a:r>
              <a:rPr lang="en-US" sz="2200" b="1" dirty="0"/>
              <a:t>Two Forms:</a:t>
            </a:r>
          </a:p>
          <a:p>
            <a:pPr marL="457200" lvl="1" indent="-256289" defTabSz="160014">
              <a:defRPr sz="2520"/>
            </a:pPr>
            <a:r>
              <a:rPr lang="en-US" sz="2000" dirty="0"/>
              <a:t>Transformer</a:t>
            </a:r>
          </a:p>
          <a:p>
            <a:pPr marL="457200" lvl="1" indent="-256289" defTabSz="160014">
              <a:defRPr sz="2520"/>
            </a:pPr>
            <a:r>
              <a:rPr lang="en-US" sz="2000" dirty="0"/>
              <a:t>Predictor</a:t>
            </a:r>
          </a:p>
          <a:p>
            <a:pPr marL="0" indent="0" defTabSz="160014">
              <a:spcBef>
                <a:spcPts val="500"/>
              </a:spcBef>
              <a:buNone/>
              <a:defRPr sz="2520"/>
            </a:pPr>
            <a:endParaRPr lang="en-US" sz="2520" b="1" dirty="0">
              <a:latin typeface="Graphik"/>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CE4033-365D-38D0-6615-1D0A81394364}"/>
            </a:ext>
          </a:extLst>
        </p:cNvPr>
        <p:cNvGrpSpPr/>
        <p:nvPr/>
      </p:nvGrpSpPr>
      <p:grpSpPr>
        <a:xfrm>
          <a:off x="0" y="0"/>
          <a:ext cx="0" cy="0"/>
          <a:chOff x="0" y="0"/>
          <a:chExt cx="0" cy="0"/>
        </a:xfrm>
      </p:grpSpPr>
      <p:cxnSp>
        <p:nvCxnSpPr>
          <p:cNvPr id="656" name="Straight Connector 655">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8" name="Straight Connector 657">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660" name="Rectangle 65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Scikit-Learn Design: Consistency">
            <a:extLst>
              <a:ext uri="{FF2B5EF4-FFF2-40B4-BE49-F238E27FC236}">
                <a16:creationId xmlns:a16="http://schemas.microsoft.com/office/drawing/2014/main" id="{295BBDB0-119F-45EA-7613-479C974678D3}"/>
              </a:ext>
            </a:extLst>
          </p:cNvPr>
          <p:cNvSpPr txBox="1">
            <a:spLocks noGrp="1"/>
          </p:cNvSpPr>
          <p:nvPr>
            <p:ph type="title"/>
          </p:nvPr>
        </p:nvSpPr>
        <p:spPr>
          <a:xfrm>
            <a:off x="704088" y="914400"/>
            <a:ext cx="3799763" cy="1473200"/>
          </a:xfrm>
          <a:prstGeom prst="rect">
            <a:avLst/>
          </a:prstGeom>
        </p:spPr>
        <p:txBody>
          <a:bodyPr vert="horz" lIns="91440" tIns="45720" rIns="91440" bIns="45720" rtlCol="0" anchor="t">
            <a:normAutofit/>
          </a:bodyPr>
          <a:lstStyle/>
          <a:p>
            <a:pPr>
              <a:lnSpc>
                <a:spcPct val="90000"/>
              </a:lnSpc>
            </a:pPr>
            <a:r>
              <a:rPr lang="en-US" sz="3300"/>
              <a:t>Transformers</a:t>
            </a:r>
            <a:endParaRPr lang="en-US" sz="3300" dirty="0"/>
          </a:p>
        </p:txBody>
      </p:sp>
      <p:cxnSp>
        <p:nvCxnSpPr>
          <p:cNvPr id="662" name="Straight Connector 66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40" name="Estimators:…">
            <a:extLst>
              <a:ext uri="{FF2B5EF4-FFF2-40B4-BE49-F238E27FC236}">
                <a16:creationId xmlns:a16="http://schemas.microsoft.com/office/drawing/2014/main" id="{16917AC0-EEC6-89D4-D9B7-10C7708A79F0}"/>
              </a:ext>
            </a:extLst>
          </p:cNvPr>
          <p:cNvSpPr txBox="1">
            <a:spLocks noGrp="1"/>
          </p:cNvSpPr>
          <p:nvPr>
            <p:ph type="body" idx="1"/>
          </p:nvPr>
        </p:nvSpPr>
        <p:spPr>
          <a:xfrm>
            <a:off x="704088" y="2387600"/>
            <a:ext cx="5391912" cy="3767328"/>
          </a:xfrm>
          <a:prstGeom prst="rect">
            <a:avLst/>
          </a:prstGeom>
        </p:spPr>
        <p:txBody>
          <a:bodyPr vert="horz" lIns="91440" tIns="45720" rIns="91440" bIns="45720" rtlCol="0">
            <a:normAutofit/>
          </a:bodyPr>
          <a:lstStyle/>
          <a:p>
            <a:pPr marL="200911">
              <a:lnSpc>
                <a:spcPct val="100000"/>
              </a:lnSpc>
              <a:spcBef>
                <a:spcPts val="500"/>
              </a:spcBef>
              <a:defRPr sz="2520"/>
            </a:pPr>
            <a:r>
              <a:rPr lang="en-US" b="1" dirty="0">
                <a:sym typeface="Graphik"/>
              </a:rPr>
              <a:t>Transformers</a:t>
            </a:r>
            <a:r>
              <a:rPr lang="en-US" dirty="0"/>
              <a:t>:</a:t>
            </a:r>
          </a:p>
          <a:p>
            <a:pPr marL="403428" lvl="1">
              <a:lnSpc>
                <a:spcPct val="100000"/>
              </a:lnSpc>
              <a:defRPr sz="2520"/>
            </a:pPr>
            <a:r>
              <a:rPr lang="en-US" sz="2000" dirty="0"/>
              <a:t>Estimators that can also transform a dataset</a:t>
            </a:r>
          </a:p>
          <a:p>
            <a:pPr marL="403428" lvl="1">
              <a:lnSpc>
                <a:spcPct val="100000"/>
              </a:lnSpc>
              <a:defRPr sz="2520"/>
            </a:pPr>
            <a:r>
              <a:rPr lang="en-US" sz="2000" dirty="0"/>
              <a:t>Transformation is performed with the </a:t>
            </a:r>
            <a:r>
              <a:rPr lang="en-US" sz="2000" dirty="0">
                <a:sym typeface="Courier"/>
              </a:rPr>
              <a:t>.transform() </a:t>
            </a:r>
            <a:r>
              <a:rPr lang="en-US" sz="2000" dirty="0"/>
              <a:t>method</a:t>
            </a:r>
          </a:p>
          <a:p>
            <a:pPr marL="403428" lvl="1">
              <a:lnSpc>
                <a:spcPct val="100000"/>
              </a:lnSpc>
              <a:defRPr sz="2520"/>
            </a:pPr>
            <a:r>
              <a:rPr lang="en-US" sz="2000" dirty="0"/>
              <a:t>The </a:t>
            </a:r>
            <a:r>
              <a:rPr lang="en-US" sz="2000" dirty="0">
                <a:sym typeface="Courier"/>
              </a:rPr>
              <a:t>.</a:t>
            </a:r>
            <a:r>
              <a:rPr lang="en-US" sz="2000" dirty="0" err="1">
                <a:sym typeface="Courier"/>
              </a:rPr>
              <a:t>fit_transform</a:t>
            </a:r>
            <a:r>
              <a:rPr lang="en-US" sz="2000" dirty="0">
                <a:sym typeface="Courier"/>
              </a:rPr>
              <a:t>()</a:t>
            </a:r>
            <a:r>
              <a:rPr lang="en-US" sz="2000" dirty="0"/>
              <a:t> method fits and transforms in one step</a:t>
            </a:r>
          </a:p>
          <a:p>
            <a:pPr marL="403428" lvl="1">
              <a:lnSpc>
                <a:spcPct val="100000"/>
              </a:lnSpc>
              <a:defRPr sz="2520"/>
            </a:pPr>
            <a:r>
              <a:rPr lang="en-US" sz="2000" dirty="0"/>
              <a:t>Example: </a:t>
            </a:r>
            <a:r>
              <a:rPr lang="en-US" sz="2000" dirty="0" err="1"/>
              <a:t>StandardScaler</a:t>
            </a:r>
            <a:endParaRPr lang="en-US" sz="2000" dirty="0"/>
          </a:p>
        </p:txBody>
      </p:sp>
      <p:pic>
        <p:nvPicPr>
          <p:cNvPr id="3" name="Picture 2">
            <a:extLst>
              <a:ext uri="{FF2B5EF4-FFF2-40B4-BE49-F238E27FC236}">
                <a16:creationId xmlns:a16="http://schemas.microsoft.com/office/drawing/2014/main" id="{71C2B866-7594-1503-84E2-5FB57039F084}"/>
              </a:ext>
            </a:extLst>
          </p:cNvPr>
          <p:cNvPicPr>
            <a:picLocks noChangeAspect="1"/>
          </p:cNvPicPr>
          <p:nvPr/>
        </p:nvPicPr>
        <p:blipFill>
          <a:blip r:embed="rId2"/>
          <a:srcRect r="4423" b="-3"/>
          <a:stretch>
            <a:fillRect/>
          </a:stretch>
        </p:blipFill>
        <p:spPr>
          <a:xfrm>
            <a:off x="6477988" y="1208747"/>
            <a:ext cx="5332023" cy="4449187"/>
          </a:xfrm>
          <a:prstGeom prst="rect">
            <a:avLst/>
          </a:prstGeom>
        </p:spPr>
      </p:pic>
    </p:spTree>
    <p:extLst>
      <p:ext uri="{BB962C8B-B14F-4D97-AF65-F5344CB8AC3E}">
        <p14:creationId xmlns:p14="http://schemas.microsoft.com/office/powerpoint/2010/main" val="193141727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B8BEF0-E703-0167-2DCB-D585C8269119}"/>
            </a:ext>
          </a:extLst>
        </p:cNvPr>
        <p:cNvGrpSpPr/>
        <p:nvPr/>
      </p:nvGrpSpPr>
      <p:grpSpPr>
        <a:xfrm>
          <a:off x="0" y="0"/>
          <a:ext cx="0" cy="0"/>
          <a:chOff x="0" y="0"/>
          <a:chExt cx="0" cy="0"/>
        </a:xfrm>
      </p:grpSpPr>
      <p:cxnSp>
        <p:nvCxnSpPr>
          <p:cNvPr id="653" name="Straight Connector 65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4" name="Straight Connector 653">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655" name="Rectangle 65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Scikit-Learn Design: Consistency">
            <a:extLst>
              <a:ext uri="{FF2B5EF4-FFF2-40B4-BE49-F238E27FC236}">
                <a16:creationId xmlns:a16="http://schemas.microsoft.com/office/drawing/2014/main" id="{7AF64854-DA6B-F33E-2FC9-DCE69D60F5E5}"/>
              </a:ext>
            </a:extLst>
          </p:cNvPr>
          <p:cNvSpPr txBox="1">
            <a:spLocks noGrp="1"/>
          </p:cNvSpPr>
          <p:nvPr>
            <p:ph type="title"/>
          </p:nvPr>
        </p:nvSpPr>
        <p:spPr>
          <a:xfrm>
            <a:off x="704088" y="914400"/>
            <a:ext cx="3799763" cy="1473200"/>
          </a:xfrm>
          <a:prstGeom prst="rect">
            <a:avLst/>
          </a:prstGeom>
        </p:spPr>
        <p:txBody>
          <a:bodyPr vert="horz" lIns="91440" tIns="45720" rIns="91440" bIns="45720" rtlCol="0" anchor="t">
            <a:normAutofit/>
          </a:bodyPr>
          <a:lstStyle/>
          <a:p>
            <a:pPr>
              <a:lnSpc>
                <a:spcPct val="90000"/>
              </a:lnSpc>
            </a:pPr>
            <a:r>
              <a:rPr lang="en-US" sz="3300"/>
              <a:t>Predictors</a:t>
            </a:r>
            <a:endParaRPr lang="en-US" sz="3300" dirty="0"/>
          </a:p>
        </p:txBody>
      </p:sp>
      <p:cxnSp>
        <p:nvCxnSpPr>
          <p:cNvPr id="656" name="Straight Connector 65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40" name="Estimators:…">
            <a:extLst>
              <a:ext uri="{FF2B5EF4-FFF2-40B4-BE49-F238E27FC236}">
                <a16:creationId xmlns:a16="http://schemas.microsoft.com/office/drawing/2014/main" id="{622968C8-BCE6-19A4-F041-0656748DA4EF}"/>
              </a:ext>
            </a:extLst>
          </p:cNvPr>
          <p:cNvSpPr txBox="1">
            <a:spLocks noGrp="1"/>
          </p:cNvSpPr>
          <p:nvPr>
            <p:ph type="body" idx="1"/>
          </p:nvPr>
        </p:nvSpPr>
        <p:spPr>
          <a:xfrm>
            <a:off x="704088" y="2387600"/>
            <a:ext cx="5006599" cy="3767328"/>
          </a:xfrm>
          <a:prstGeom prst="rect">
            <a:avLst/>
          </a:prstGeom>
        </p:spPr>
        <p:txBody>
          <a:bodyPr vert="horz" lIns="91440" tIns="45720" rIns="91440" bIns="45720" rtlCol="0">
            <a:normAutofit/>
          </a:bodyPr>
          <a:lstStyle/>
          <a:p>
            <a:pPr marL="200911">
              <a:lnSpc>
                <a:spcPct val="100000"/>
              </a:lnSpc>
              <a:spcBef>
                <a:spcPts val="500"/>
              </a:spcBef>
              <a:defRPr sz="2520"/>
            </a:pPr>
            <a:r>
              <a:rPr lang="en-US" sz="2400" b="1" dirty="0">
                <a:sym typeface="Graphik"/>
              </a:rPr>
              <a:t>Predictors</a:t>
            </a:r>
            <a:r>
              <a:rPr lang="en-US" sz="2400" dirty="0"/>
              <a:t>:</a:t>
            </a:r>
          </a:p>
          <a:p>
            <a:pPr marL="403428" lvl="1">
              <a:lnSpc>
                <a:spcPct val="100000"/>
              </a:lnSpc>
              <a:defRPr sz="2520"/>
            </a:pPr>
            <a:r>
              <a:rPr lang="en-US" sz="2000" dirty="0"/>
              <a:t>Estimators that are capable of making predictions</a:t>
            </a:r>
          </a:p>
          <a:p>
            <a:pPr marL="403428" lvl="1">
              <a:lnSpc>
                <a:spcPct val="100000"/>
              </a:lnSpc>
              <a:defRPr sz="2520"/>
            </a:pPr>
            <a:r>
              <a:rPr lang="en-US" sz="2000" dirty="0"/>
              <a:t>Has a </a:t>
            </a:r>
            <a:r>
              <a:rPr lang="en-US" sz="2000" dirty="0">
                <a:sym typeface="Courier"/>
              </a:rPr>
              <a:t>.predict()</a:t>
            </a:r>
            <a:r>
              <a:rPr lang="en-US" sz="2000" dirty="0"/>
              <a:t> method </a:t>
            </a:r>
          </a:p>
          <a:p>
            <a:pPr marL="403428" lvl="1">
              <a:lnSpc>
                <a:spcPct val="100000"/>
              </a:lnSpc>
              <a:defRPr sz="2520"/>
            </a:pPr>
            <a:r>
              <a:rPr lang="en-US" sz="2000" dirty="0"/>
              <a:t>Usually have a built-in .score() method</a:t>
            </a:r>
          </a:p>
          <a:p>
            <a:pPr marL="403428" lvl="1">
              <a:lnSpc>
                <a:spcPct val="100000"/>
              </a:lnSpc>
              <a:defRPr sz="2520"/>
            </a:pPr>
            <a:r>
              <a:rPr lang="en-US" sz="2000" dirty="0"/>
              <a:t>Example: </a:t>
            </a:r>
            <a:r>
              <a:rPr lang="en-US" sz="2000" dirty="0" err="1"/>
              <a:t>LinearRegression</a:t>
            </a:r>
            <a:endParaRPr lang="en-US" sz="2000" dirty="0"/>
          </a:p>
        </p:txBody>
      </p:sp>
      <p:pic>
        <p:nvPicPr>
          <p:cNvPr id="3" name="Picture 2">
            <a:extLst>
              <a:ext uri="{FF2B5EF4-FFF2-40B4-BE49-F238E27FC236}">
                <a16:creationId xmlns:a16="http://schemas.microsoft.com/office/drawing/2014/main" id="{CB4B4D60-586F-C94E-3D6C-A68ADB052028}"/>
              </a:ext>
            </a:extLst>
          </p:cNvPr>
          <p:cNvPicPr>
            <a:picLocks noChangeAspect="1"/>
          </p:cNvPicPr>
          <p:nvPr/>
        </p:nvPicPr>
        <p:blipFill>
          <a:blip r:embed="rId2"/>
          <a:srcRect r="2330" b="2"/>
          <a:stretch>
            <a:fillRect/>
          </a:stretch>
        </p:blipFill>
        <p:spPr>
          <a:xfrm>
            <a:off x="5949123" y="1045837"/>
            <a:ext cx="5538789" cy="4621718"/>
          </a:xfrm>
          <a:prstGeom prst="rect">
            <a:avLst/>
          </a:prstGeom>
        </p:spPr>
      </p:pic>
    </p:spTree>
    <p:extLst>
      <p:ext uri="{BB962C8B-B14F-4D97-AF65-F5344CB8AC3E}">
        <p14:creationId xmlns:p14="http://schemas.microsoft.com/office/powerpoint/2010/main" val="414952844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Simple Scikit-Learn Usage"/>
          <p:cNvSpPr txBox="1">
            <a:spLocks noGrp="1"/>
          </p:cNvSpPr>
          <p:nvPr>
            <p:ph type="title"/>
          </p:nvPr>
        </p:nvSpPr>
        <p:spPr>
          <a:prstGeom prst="rect">
            <a:avLst/>
          </a:prstGeom>
        </p:spPr>
        <p:txBody>
          <a:bodyPr/>
          <a:lstStyle/>
          <a:p>
            <a:r>
              <a:rPr dirty="0"/>
              <a:t>Simple Scikit-Learn Usage</a:t>
            </a:r>
          </a:p>
        </p:txBody>
      </p:sp>
      <p:sp>
        <p:nvSpPr>
          <p:cNvPr id="644" name="Prepare the data into a feature matrix and a target vector…"/>
          <p:cNvSpPr txBox="1">
            <a:spLocks noGrp="1"/>
          </p:cNvSpPr>
          <p:nvPr>
            <p:ph type="body" idx="1"/>
          </p:nvPr>
        </p:nvSpPr>
        <p:spPr>
          <a:xfrm>
            <a:off x="1743529" y="1842458"/>
            <a:ext cx="8161734" cy="4549245"/>
          </a:xfrm>
          <a:prstGeom prst="rect">
            <a:avLst/>
          </a:prstGeom>
        </p:spPr>
        <p:txBody>
          <a:bodyPr/>
          <a:lstStyle/>
          <a:p>
            <a:pPr marL="321457" indent="-321457">
              <a:buAutoNum type="arabicPeriod"/>
            </a:pPr>
            <a:r>
              <a:rPr lang="en-US"/>
              <a:t>Prepare the data into a feature matrix and a target vector</a:t>
            </a:r>
          </a:p>
          <a:p>
            <a:pPr marL="321457" indent="-321457">
              <a:buAutoNum type="arabicPeriod"/>
            </a:pPr>
            <a:r>
              <a:rPr lang="en-US"/>
              <a:t>Choose a model and import </a:t>
            </a:r>
            <a:r>
              <a:rPr lang="en-US" dirty="0"/>
              <a:t>the </a:t>
            </a:r>
            <a:r>
              <a:rPr lang="en-US"/>
              <a:t>estimator </a:t>
            </a:r>
            <a:r>
              <a:rPr lang="en-US" b="1" i="1">
                <a:solidFill>
                  <a:srgbClr val="009051"/>
                </a:solidFill>
                <a:latin typeface="Graphik"/>
                <a:ea typeface="Graphik"/>
                <a:cs typeface="Graphik"/>
                <a:sym typeface="Graphik"/>
              </a:rPr>
              <a:t>class</a:t>
            </a:r>
            <a:r>
              <a:rPr lang="en-US"/>
              <a:t> from Scikit-Learn</a:t>
            </a:r>
            <a:endParaRPr lang="en-US" dirty="0"/>
          </a:p>
          <a:p>
            <a:pPr marL="321457" indent="-321457">
              <a:buAutoNum type="arabicPeriod"/>
            </a:pPr>
            <a:r>
              <a:rPr lang="en-US"/>
              <a:t>Instantiate the model class and choose </a:t>
            </a:r>
            <a:r>
              <a:rPr lang="en-US" b="1" i="1">
                <a:solidFill>
                  <a:srgbClr val="FF7E79"/>
                </a:solidFill>
                <a:latin typeface="Graphik"/>
                <a:ea typeface="Graphik"/>
                <a:cs typeface="Graphik"/>
                <a:sym typeface="Graphik"/>
              </a:rPr>
              <a:t>hyperparameters</a:t>
            </a:r>
            <a:r>
              <a:rPr lang="en-US"/>
              <a:t> </a:t>
            </a:r>
            <a:br>
              <a:rPr lang="en-US"/>
            </a:br>
            <a:r>
              <a:rPr lang="en-US"/>
              <a:t>(not all model classes have hyperparameters)</a:t>
            </a:r>
          </a:p>
          <a:p>
            <a:pPr marL="321457" indent="-321457">
              <a:buAutoNum type="arabicPeriod"/>
            </a:pPr>
            <a:r>
              <a:rPr lang="en-US"/>
              <a:t>Fit the model by calling the </a:t>
            </a:r>
            <a:r>
              <a:rPr lang="en-US">
                <a:latin typeface="Courier"/>
                <a:ea typeface="Courier"/>
                <a:cs typeface="Courier"/>
                <a:sym typeface="Courier"/>
              </a:rPr>
              <a:t>.fit()</a:t>
            </a:r>
            <a:r>
              <a:rPr lang="en-US"/>
              <a:t> method</a:t>
            </a:r>
          </a:p>
          <a:p>
            <a:pPr marL="321457" indent="-321457">
              <a:buAutoNum type="arabicPeriod"/>
            </a:pPr>
            <a:r>
              <a:rPr lang="en-US"/>
              <a:t>Apply the model with the </a:t>
            </a:r>
            <a:r>
              <a:rPr lang="en-US">
                <a:latin typeface="Courier"/>
                <a:ea typeface="Courier"/>
                <a:cs typeface="Courier"/>
                <a:sym typeface="Courier"/>
              </a:rPr>
              <a:t>.predict()</a:t>
            </a:r>
            <a:r>
              <a:rPr lang="en-US"/>
              <a:t> or the </a:t>
            </a:r>
            <a:r>
              <a:rPr lang="en-US">
                <a:latin typeface="Courier"/>
                <a:ea typeface="Courier"/>
                <a:cs typeface="Courier"/>
                <a:sym typeface="Courier"/>
              </a:rPr>
              <a:t>.transform() </a:t>
            </a:r>
            <a:r>
              <a:rPr lang="en-US"/>
              <a:t>method</a:t>
            </a:r>
            <a:endParaRPr dirty="0"/>
          </a:p>
        </p:txBody>
      </p:sp>
      <p:sp>
        <p:nvSpPr>
          <p:cNvPr id="645" name="Hyperparameters:   Also called tuning parameters are parameters of the learning algorithm and not the model.  That is, its value is used to control the learning process and is chosen by the modeler rather than learned from the data."/>
          <p:cNvSpPr txBox="1"/>
          <p:nvPr/>
        </p:nvSpPr>
        <p:spPr>
          <a:xfrm>
            <a:off x="1984579" y="5333159"/>
            <a:ext cx="8222842" cy="75405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a:defRPr sz="2100">
                <a:solidFill>
                  <a:srgbClr val="5E5E5E"/>
                </a:solidFill>
              </a:defRPr>
            </a:pPr>
            <a:r>
              <a:rPr lang="en-US" sz="1477" i="1">
                <a:solidFill>
                  <a:srgbClr val="FF7E79"/>
                </a:solidFill>
                <a:latin typeface="Graphik"/>
                <a:ea typeface="Graphik"/>
                <a:cs typeface="Graphik"/>
                <a:sym typeface="Graphik"/>
              </a:rPr>
              <a:t>Hyperparameters</a:t>
            </a:r>
            <a:r>
              <a:rPr lang="en-US" sz="1477"/>
              <a:t>:   </a:t>
            </a:r>
            <a:r>
              <a:rPr lang="en-US" sz="1477" i="1">
                <a:latin typeface="Graphik"/>
                <a:ea typeface="Graphik"/>
                <a:cs typeface="Graphik"/>
                <a:sym typeface="Graphik"/>
              </a:rPr>
              <a:t>settings you choose before fitting; they control learning and are not learned from the data</a:t>
            </a:r>
            <a:endParaRPr sz="1477" i="1">
              <a:latin typeface="Graphik"/>
              <a:ea typeface="Graphik"/>
              <a:cs typeface="Graphik"/>
              <a:sym typeface="Graphik"/>
            </a:endParaRPr>
          </a:p>
        </p:txBody>
      </p:sp>
      <p:sp>
        <p:nvSpPr>
          <p:cNvPr id="646" name="Class:   Scikit-Learn makes extensive use of python classes and object oriented programming principles"/>
          <p:cNvSpPr txBox="1"/>
          <p:nvPr/>
        </p:nvSpPr>
        <p:spPr>
          <a:xfrm>
            <a:off x="1984579" y="4953451"/>
            <a:ext cx="8222842" cy="35227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normAutofit/>
          </a:bodyPr>
          <a:lstStyle/>
          <a:p>
            <a:pPr>
              <a:defRPr sz="2100">
                <a:solidFill>
                  <a:srgbClr val="5E5E5E"/>
                </a:solidFill>
              </a:defRPr>
            </a:pPr>
            <a:r>
              <a:rPr lang="en-US" sz="1477" i="1">
                <a:solidFill>
                  <a:srgbClr val="009051"/>
                </a:solidFill>
                <a:latin typeface="Graphik"/>
                <a:ea typeface="Graphik"/>
                <a:cs typeface="Graphik"/>
                <a:sym typeface="Graphik"/>
              </a:rPr>
              <a:t>Class</a:t>
            </a:r>
            <a:r>
              <a:rPr lang="en-US" sz="1477"/>
              <a:t>:   Scikit-Learn is built on Python classes and object-oriented principles</a:t>
            </a:r>
            <a:r>
              <a:rPr lang="en-US" sz="1477" i="1">
                <a:latin typeface="Graphik"/>
                <a:ea typeface="Graphik"/>
                <a:cs typeface="Graphik"/>
                <a:sym typeface="Graphik"/>
              </a:rPr>
              <a:t> </a:t>
            </a:r>
            <a:endParaRPr sz="1477" i="1">
              <a:latin typeface="Graphik"/>
              <a:ea typeface="Graphik"/>
              <a:cs typeface="Graphik"/>
              <a:sym typeface="Graphik"/>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Preparing your data"/>
          <p:cNvSpPr txBox="1">
            <a:spLocks noGrp="1"/>
          </p:cNvSpPr>
          <p:nvPr>
            <p:ph type="title"/>
          </p:nvPr>
        </p:nvSpPr>
        <p:spPr>
          <a:prstGeom prst="rect">
            <a:avLst/>
          </a:prstGeom>
        </p:spPr>
        <p:txBody>
          <a:bodyPr/>
          <a:lstStyle/>
          <a:p>
            <a:r>
              <a:rPr dirty="0"/>
              <a:t>Preparing your data</a:t>
            </a:r>
          </a:p>
        </p:txBody>
      </p:sp>
      <p:sp>
        <p:nvSpPr>
          <p:cNvPr id="650" name="The data should be in tabular form…"/>
          <p:cNvSpPr txBox="1">
            <a:spLocks noGrp="1"/>
          </p:cNvSpPr>
          <p:nvPr>
            <p:ph type="body" idx="1"/>
          </p:nvPr>
        </p:nvSpPr>
        <p:spPr>
          <a:xfrm>
            <a:off x="700634" y="1714998"/>
            <a:ext cx="10691265" cy="3739896"/>
          </a:xfrm>
          <a:prstGeom prst="rect">
            <a:avLst/>
          </a:prstGeom>
        </p:spPr>
        <p:txBody>
          <a:bodyPr>
            <a:normAutofit/>
          </a:bodyPr>
          <a:lstStyle/>
          <a:p>
            <a:r>
              <a:rPr lang="en-US"/>
              <a:t>The data should be in tabular form </a:t>
            </a:r>
          </a:p>
          <a:p>
            <a:pPr lvl="2"/>
            <a:r>
              <a:rPr lang="en-US" sz="2000" dirty="0"/>
              <a:t>G</a:t>
            </a:r>
            <a:r>
              <a:rPr lang="en-US" sz="2000"/>
              <a:t>enerally</a:t>
            </a:r>
            <a:r>
              <a:rPr lang="en-US" sz="2000" dirty="0"/>
              <a:t>,</a:t>
            </a:r>
            <a:r>
              <a:rPr lang="en-US" sz="2000"/>
              <a:t> NumPy or </a:t>
            </a:r>
            <a:r>
              <a:rPr lang="en-US" sz="2000" dirty="0"/>
              <a:t>Pandas</a:t>
            </a:r>
            <a:r>
              <a:rPr lang="en-US" sz="2000"/>
              <a:t> </a:t>
            </a:r>
            <a:r>
              <a:rPr lang="en-US" sz="2000" dirty="0"/>
              <a:t>objects</a:t>
            </a:r>
            <a:endParaRPr lang="en-US" sz="2000"/>
          </a:p>
          <a:p>
            <a:pPr lvl="2"/>
            <a:r>
              <a:rPr lang="en-US" sz="2000"/>
              <a:t>The rows should be the observations or samples</a:t>
            </a:r>
          </a:p>
          <a:p>
            <a:r>
              <a:rPr lang="en-US"/>
              <a:t>The feature matrix (X) should be a </a:t>
            </a:r>
            <a:r>
              <a:rPr lang="en-US">
                <a:solidFill>
                  <a:srgbClr val="FF7E79"/>
                </a:solidFill>
              </a:rPr>
              <a:t>2D </a:t>
            </a:r>
            <a:r>
              <a:rPr lang="en-US"/>
              <a:t>NumPy array or a </a:t>
            </a:r>
            <a:r>
              <a:rPr lang="en-US" dirty="0"/>
              <a:t>Pandas</a:t>
            </a:r>
            <a:r>
              <a:rPr lang="en-US"/>
              <a:t> </a:t>
            </a:r>
            <a:r>
              <a:rPr lang="en-US">
                <a:solidFill>
                  <a:srgbClr val="FF7E79"/>
                </a:solidFill>
              </a:rPr>
              <a:t>DataFrame</a:t>
            </a:r>
            <a:r>
              <a:rPr lang="en-US"/>
              <a:t> </a:t>
            </a:r>
          </a:p>
          <a:p>
            <a:pPr lvl="2"/>
            <a:r>
              <a:rPr lang="en-US" sz="2000"/>
              <a:t>This applies even when there is only 1 feature</a:t>
            </a:r>
            <a:endParaRPr lang="en-US" sz="2000" dirty="0"/>
          </a:p>
          <a:p>
            <a:pPr lvl="2"/>
            <a:r>
              <a:rPr lang="en-US" sz="2000" b="1" dirty="0"/>
              <a:t>Note</a:t>
            </a:r>
            <a:r>
              <a:rPr lang="en-US" sz="2000" dirty="0"/>
              <a:t>: if only one feature, it often must be reshaped using </a:t>
            </a:r>
            <a:r>
              <a:rPr lang="en-US" sz="2000" dirty="0">
                <a:latin typeface="Courier"/>
              </a:rPr>
              <a:t>.reshape(-1, 1)</a:t>
            </a:r>
            <a:endParaRPr lang="en-US" sz="2000">
              <a:latin typeface="Courier"/>
            </a:endParaRPr>
          </a:p>
          <a:p>
            <a:r>
              <a:rPr lang="en-US"/>
              <a:t>The target (y) should be a </a:t>
            </a:r>
            <a:r>
              <a:rPr lang="en-US">
                <a:solidFill>
                  <a:srgbClr val="FF7E79"/>
                </a:solidFill>
              </a:rPr>
              <a:t>1D</a:t>
            </a:r>
            <a:r>
              <a:rPr lang="en-US"/>
              <a:t> NumPy array or a </a:t>
            </a:r>
            <a:r>
              <a:rPr lang="en-US" dirty="0"/>
              <a:t>Pandas</a:t>
            </a:r>
            <a:r>
              <a:rPr lang="en-US"/>
              <a:t> </a:t>
            </a:r>
            <a:r>
              <a:rPr lang="en-US">
                <a:solidFill>
                  <a:srgbClr val="FF7E79"/>
                </a:solidFill>
              </a:rPr>
              <a:t>Series</a:t>
            </a:r>
            <a:endParaRPr dirty="0">
              <a:solidFill>
                <a:srgbClr val="FF7E79"/>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E1E2B55-C104-B864-80BC-EE3ECD462C4E}"/>
              </a:ext>
            </a:extLst>
          </p:cNvPr>
          <p:cNvSpPr/>
          <p:nvPr/>
        </p:nvSpPr>
        <p:spPr>
          <a:xfrm>
            <a:off x="101600" y="1712901"/>
            <a:ext cx="11930743" cy="5021943"/>
          </a:xfrm>
          <a:prstGeom prst="round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Example"/>
          <p:cNvSpPr txBox="1">
            <a:spLocks noGrp="1"/>
          </p:cNvSpPr>
          <p:nvPr>
            <p:ph type="title"/>
          </p:nvPr>
        </p:nvSpPr>
        <p:spPr>
          <a:prstGeom prst="rect">
            <a:avLst/>
          </a:prstGeom>
        </p:spPr>
        <p:txBody>
          <a:bodyPr/>
          <a:lstStyle/>
          <a:p>
            <a:r>
              <a:t>Example</a:t>
            </a:r>
          </a:p>
        </p:txBody>
      </p:sp>
      <p:sp>
        <p:nvSpPr>
          <p:cNvPr id="3" name="TextBox 2">
            <a:extLst>
              <a:ext uri="{FF2B5EF4-FFF2-40B4-BE49-F238E27FC236}">
                <a16:creationId xmlns:a16="http://schemas.microsoft.com/office/drawing/2014/main" id="{E3492A81-78D2-10DE-7393-AD9189B54544}"/>
              </a:ext>
            </a:extLst>
          </p:cNvPr>
          <p:cNvSpPr txBox="1"/>
          <p:nvPr/>
        </p:nvSpPr>
        <p:spPr>
          <a:xfrm>
            <a:off x="493485" y="2075974"/>
            <a:ext cx="14615886" cy="4402487"/>
          </a:xfrm>
          <a:prstGeom prst="rect">
            <a:avLst/>
          </a:prstGeom>
          <a:noFill/>
        </p:spPr>
        <p:txBody>
          <a:bodyPr wrap="square">
            <a:spAutoFit/>
          </a:bodyPr>
          <a:lstStyle/>
          <a:p>
            <a:pPr>
              <a:lnSpc>
                <a:spcPts val="1250"/>
              </a:lnSpc>
              <a:spcAft>
                <a:spcPts val="200"/>
              </a:spcAft>
              <a:buNone/>
            </a:pPr>
            <a:r>
              <a:rPr lang="en-US" sz="1450" b="0">
                <a:solidFill>
                  <a:srgbClr val="C586C0"/>
                </a:solidFill>
                <a:effectLst/>
                <a:latin typeface="Courier"/>
              </a:rPr>
              <a:t>import</a:t>
            </a:r>
            <a:r>
              <a:rPr lang="en-US" sz="1450" b="0">
                <a:solidFill>
                  <a:srgbClr val="CCCCCC"/>
                </a:solidFill>
                <a:effectLst/>
                <a:latin typeface="Courier"/>
              </a:rPr>
              <a:t> numpy </a:t>
            </a:r>
            <a:r>
              <a:rPr lang="en-US" sz="1450" b="0">
                <a:solidFill>
                  <a:srgbClr val="C586C0"/>
                </a:solidFill>
                <a:effectLst/>
                <a:latin typeface="Courier"/>
              </a:rPr>
              <a:t>as</a:t>
            </a:r>
            <a:r>
              <a:rPr lang="en-US" sz="1450" b="0">
                <a:solidFill>
                  <a:srgbClr val="CCCCCC"/>
                </a:solidFill>
                <a:effectLst/>
                <a:latin typeface="Courier"/>
              </a:rPr>
              <a:t> np</a:t>
            </a:r>
          </a:p>
          <a:p>
            <a:pPr>
              <a:lnSpc>
                <a:spcPts val="1250"/>
              </a:lnSpc>
              <a:spcAft>
                <a:spcPts val="200"/>
              </a:spcAft>
              <a:buNone/>
            </a:pPr>
            <a:r>
              <a:rPr lang="en-US" sz="1450" b="0">
                <a:solidFill>
                  <a:srgbClr val="C586C0"/>
                </a:solidFill>
                <a:effectLst/>
                <a:latin typeface="Courier"/>
              </a:rPr>
              <a:t>from</a:t>
            </a:r>
            <a:r>
              <a:rPr lang="en-US" sz="1450" b="0">
                <a:solidFill>
                  <a:srgbClr val="CCCCCC"/>
                </a:solidFill>
                <a:effectLst/>
                <a:latin typeface="Courier"/>
              </a:rPr>
              <a:t> sklearn.linear_model </a:t>
            </a:r>
            <a:r>
              <a:rPr lang="en-US" sz="1450" b="0">
                <a:solidFill>
                  <a:srgbClr val="C586C0"/>
                </a:solidFill>
                <a:effectLst/>
                <a:latin typeface="Courier"/>
              </a:rPr>
              <a:t>import</a:t>
            </a:r>
            <a:r>
              <a:rPr lang="en-US" sz="1450" b="0">
                <a:solidFill>
                  <a:srgbClr val="CCCCCC"/>
                </a:solidFill>
                <a:effectLst/>
                <a:latin typeface="Courier"/>
              </a:rPr>
              <a:t> LinearRegression</a:t>
            </a:r>
          </a:p>
          <a:p>
            <a:pPr>
              <a:lnSpc>
                <a:spcPts val="1250"/>
              </a:lnSpc>
              <a:spcAft>
                <a:spcPts val="200"/>
              </a:spcAft>
              <a:buNone/>
            </a:pPr>
            <a:r>
              <a:rPr lang="en-US" sz="1450" b="0">
                <a:solidFill>
                  <a:srgbClr val="C586C0"/>
                </a:solidFill>
                <a:effectLst/>
                <a:latin typeface="Courier"/>
              </a:rPr>
              <a:t>from</a:t>
            </a:r>
            <a:r>
              <a:rPr lang="en-US" sz="1450" b="0">
                <a:solidFill>
                  <a:srgbClr val="CCCCCC"/>
                </a:solidFill>
                <a:effectLst/>
                <a:latin typeface="Courier"/>
              </a:rPr>
              <a:t> sklearn.model_selection </a:t>
            </a:r>
            <a:r>
              <a:rPr lang="en-US" sz="1450" b="0">
                <a:solidFill>
                  <a:srgbClr val="C586C0"/>
                </a:solidFill>
                <a:effectLst/>
                <a:latin typeface="Courier"/>
              </a:rPr>
              <a:t>import</a:t>
            </a:r>
            <a:r>
              <a:rPr lang="en-US" sz="1450" b="0">
                <a:solidFill>
                  <a:srgbClr val="CCCCCC"/>
                </a:solidFill>
                <a:effectLst/>
                <a:latin typeface="Courier"/>
              </a:rPr>
              <a:t> </a:t>
            </a:r>
            <a:r>
              <a:rPr lang="en-US" sz="1450" b="0">
                <a:solidFill>
                  <a:srgbClr val="DCDCAA"/>
                </a:solidFill>
                <a:effectLst/>
                <a:latin typeface="Courier"/>
              </a:rPr>
              <a:t>train_test_split</a:t>
            </a:r>
            <a:endParaRPr lang="en-US" sz="1450" b="0">
              <a:solidFill>
                <a:srgbClr val="CCCCCC"/>
              </a:solidFill>
              <a:effectLst/>
              <a:latin typeface="Courier"/>
            </a:endParaRPr>
          </a:p>
          <a:p>
            <a:pPr>
              <a:lnSpc>
                <a:spcPts val="1250"/>
              </a:lnSpc>
              <a:spcAft>
                <a:spcPts val="200"/>
              </a:spcAft>
              <a:buNone/>
            </a:pPr>
            <a:br>
              <a:rPr lang="en-US" sz="1450" b="0">
                <a:solidFill>
                  <a:srgbClr val="CCCCCC"/>
                </a:solidFill>
                <a:effectLst/>
                <a:latin typeface="Courier"/>
              </a:rPr>
            </a:br>
            <a:endParaRPr lang="en-US" sz="1450" b="0">
              <a:solidFill>
                <a:srgbClr val="CCCCCC"/>
              </a:solidFill>
              <a:effectLst/>
              <a:latin typeface="Courier"/>
            </a:endParaRPr>
          </a:p>
          <a:p>
            <a:pPr>
              <a:lnSpc>
                <a:spcPts val="1250"/>
              </a:lnSpc>
              <a:spcAft>
                <a:spcPts val="200"/>
              </a:spcAft>
              <a:buNone/>
            </a:pPr>
            <a:r>
              <a:rPr lang="en-US" sz="1450" b="0">
                <a:solidFill>
                  <a:srgbClr val="6A9955"/>
                </a:solidFill>
                <a:effectLst/>
                <a:latin typeface="Courier"/>
              </a:rPr>
              <a:t># Create simple data</a:t>
            </a:r>
            <a:endParaRPr lang="en-US" sz="1450" b="0">
              <a:solidFill>
                <a:srgbClr val="CCCCCC"/>
              </a:solidFill>
              <a:effectLst/>
              <a:latin typeface="Courier"/>
            </a:endParaRPr>
          </a:p>
          <a:p>
            <a:pPr>
              <a:lnSpc>
                <a:spcPts val="1250"/>
              </a:lnSpc>
              <a:spcAft>
                <a:spcPts val="200"/>
              </a:spcAft>
              <a:buNone/>
            </a:pPr>
            <a:r>
              <a:rPr lang="en-US" sz="1450" b="0">
                <a:solidFill>
                  <a:srgbClr val="CCCCCC"/>
                </a:solidFill>
                <a:effectLst/>
                <a:latin typeface="Courier"/>
              </a:rPr>
              <a:t>X </a:t>
            </a:r>
            <a:r>
              <a:rPr lang="en-US" sz="1450" b="0">
                <a:solidFill>
                  <a:srgbClr val="D4D4D4"/>
                </a:solidFill>
                <a:effectLst/>
                <a:latin typeface="Courier"/>
              </a:rPr>
              <a:t>=</a:t>
            </a:r>
            <a:r>
              <a:rPr lang="en-US" sz="1450" b="0">
                <a:solidFill>
                  <a:srgbClr val="CCCCCC"/>
                </a:solidFill>
                <a:effectLst/>
                <a:latin typeface="Courier"/>
              </a:rPr>
              <a:t> np.arange(</a:t>
            </a:r>
            <a:r>
              <a:rPr lang="en-US" sz="1450" b="0">
                <a:solidFill>
                  <a:srgbClr val="B5CEA8"/>
                </a:solidFill>
                <a:effectLst/>
                <a:latin typeface="Courier"/>
              </a:rPr>
              <a:t>1</a:t>
            </a:r>
            <a:r>
              <a:rPr lang="en-US" sz="1450" b="0">
                <a:solidFill>
                  <a:srgbClr val="CCCCCC"/>
                </a:solidFill>
                <a:effectLst/>
                <a:latin typeface="Courier"/>
              </a:rPr>
              <a:t>, </a:t>
            </a:r>
            <a:r>
              <a:rPr lang="en-US" sz="1450" b="0">
                <a:solidFill>
                  <a:srgbClr val="B5CEA8"/>
                </a:solidFill>
                <a:effectLst/>
                <a:latin typeface="Courier"/>
              </a:rPr>
              <a:t>21</a:t>
            </a:r>
            <a:r>
              <a:rPr lang="en-US" sz="1450" b="0">
                <a:solidFill>
                  <a:srgbClr val="CCCCCC"/>
                </a:solidFill>
                <a:effectLst/>
                <a:latin typeface="Courier"/>
              </a:rPr>
              <a:t>).reshape(</a:t>
            </a:r>
            <a:r>
              <a:rPr lang="en-US" sz="1450" b="0">
                <a:solidFill>
                  <a:srgbClr val="D4D4D4"/>
                </a:solidFill>
                <a:effectLst/>
                <a:latin typeface="Courier"/>
              </a:rPr>
              <a:t>-</a:t>
            </a:r>
            <a:r>
              <a:rPr lang="en-US" sz="1450" b="0">
                <a:solidFill>
                  <a:srgbClr val="B5CEA8"/>
                </a:solidFill>
                <a:effectLst/>
                <a:latin typeface="Courier"/>
              </a:rPr>
              <a:t>1</a:t>
            </a:r>
            <a:r>
              <a:rPr lang="en-US" sz="1450" b="0">
                <a:solidFill>
                  <a:srgbClr val="CCCCCC"/>
                </a:solidFill>
                <a:effectLst/>
                <a:latin typeface="Courier"/>
              </a:rPr>
              <a:t>, </a:t>
            </a:r>
            <a:r>
              <a:rPr lang="en-US" sz="1450" b="0">
                <a:solidFill>
                  <a:srgbClr val="B5CEA8"/>
                </a:solidFill>
                <a:effectLst/>
                <a:latin typeface="Courier"/>
              </a:rPr>
              <a:t>1</a:t>
            </a:r>
            <a:r>
              <a:rPr lang="en-US" sz="1450" b="0">
                <a:solidFill>
                  <a:srgbClr val="CCCCCC"/>
                </a:solidFill>
                <a:effectLst/>
                <a:latin typeface="Courier"/>
              </a:rPr>
              <a:t>)   </a:t>
            </a:r>
            <a:r>
              <a:rPr lang="en-US" sz="1450" b="0">
                <a:solidFill>
                  <a:srgbClr val="6A9955"/>
                </a:solidFill>
                <a:effectLst/>
                <a:latin typeface="Courier"/>
              </a:rPr>
              <a:t># feature matrix (n_samples, n_features)</a:t>
            </a:r>
            <a:endParaRPr lang="en-US" sz="1450" b="0">
              <a:solidFill>
                <a:srgbClr val="CCCCCC"/>
              </a:solidFill>
              <a:effectLst/>
              <a:latin typeface="Courier"/>
            </a:endParaRPr>
          </a:p>
          <a:p>
            <a:pPr>
              <a:lnSpc>
                <a:spcPts val="1250"/>
              </a:lnSpc>
              <a:spcAft>
                <a:spcPts val="200"/>
              </a:spcAft>
              <a:buNone/>
            </a:pPr>
            <a:r>
              <a:rPr lang="en-US" sz="1450" b="0">
                <a:solidFill>
                  <a:srgbClr val="CCCCCC"/>
                </a:solidFill>
                <a:effectLst/>
                <a:latin typeface="Courier"/>
              </a:rPr>
              <a:t>y </a:t>
            </a:r>
            <a:r>
              <a:rPr lang="en-US" sz="1450" b="0">
                <a:solidFill>
                  <a:srgbClr val="D4D4D4"/>
                </a:solidFill>
                <a:effectLst/>
                <a:latin typeface="Courier"/>
              </a:rPr>
              <a:t>=</a:t>
            </a:r>
            <a:r>
              <a:rPr lang="en-US" sz="1450" b="0">
                <a:solidFill>
                  <a:srgbClr val="CCCCCC"/>
                </a:solidFill>
                <a:effectLst/>
                <a:latin typeface="Courier"/>
              </a:rPr>
              <a:t> </a:t>
            </a:r>
            <a:r>
              <a:rPr lang="en-US" sz="1450" b="0">
                <a:solidFill>
                  <a:srgbClr val="B5CEA8"/>
                </a:solidFill>
                <a:effectLst/>
                <a:latin typeface="Courier"/>
              </a:rPr>
              <a:t>2</a:t>
            </a:r>
            <a:r>
              <a:rPr lang="en-US" sz="1450" b="0">
                <a:solidFill>
                  <a:srgbClr val="CCCCCC"/>
                </a:solidFill>
                <a:effectLst/>
                <a:latin typeface="Courier"/>
              </a:rPr>
              <a:t> </a:t>
            </a:r>
            <a:r>
              <a:rPr lang="en-US" sz="1450" b="0">
                <a:solidFill>
                  <a:srgbClr val="D4D4D4"/>
                </a:solidFill>
                <a:effectLst/>
                <a:latin typeface="Courier"/>
              </a:rPr>
              <a:t>*</a:t>
            </a:r>
            <a:r>
              <a:rPr lang="en-US" sz="1450" b="0">
                <a:solidFill>
                  <a:srgbClr val="CCCCCC"/>
                </a:solidFill>
                <a:effectLst/>
                <a:latin typeface="Courier"/>
              </a:rPr>
              <a:t> X.ravel()                     </a:t>
            </a:r>
            <a:r>
              <a:rPr lang="en-US" sz="1450" b="0">
                <a:solidFill>
                  <a:srgbClr val="6A9955"/>
                </a:solidFill>
                <a:effectLst/>
                <a:latin typeface="Courier"/>
              </a:rPr>
              <a:t># target vector</a:t>
            </a:r>
            <a:endParaRPr lang="en-US" sz="1450" b="0">
              <a:solidFill>
                <a:srgbClr val="CCCCCC"/>
              </a:solidFill>
              <a:effectLst/>
              <a:latin typeface="Courier"/>
            </a:endParaRPr>
          </a:p>
          <a:p>
            <a:pPr>
              <a:lnSpc>
                <a:spcPts val="1250"/>
              </a:lnSpc>
              <a:spcAft>
                <a:spcPts val="200"/>
              </a:spcAft>
              <a:buNone/>
            </a:pPr>
            <a:br>
              <a:rPr lang="en-US" sz="1450" b="0">
                <a:solidFill>
                  <a:srgbClr val="CCCCCC"/>
                </a:solidFill>
                <a:effectLst/>
                <a:latin typeface="Courier"/>
              </a:rPr>
            </a:br>
            <a:endParaRPr lang="en-US" sz="1450" b="0">
              <a:solidFill>
                <a:srgbClr val="CCCCCC"/>
              </a:solidFill>
              <a:effectLst/>
              <a:latin typeface="Courier"/>
            </a:endParaRPr>
          </a:p>
          <a:p>
            <a:pPr>
              <a:lnSpc>
                <a:spcPts val="1250"/>
              </a:lnSpc>
              <a:spcAft>
                <a:spcPts val="200"/>
              </a:spcAft>
              <a:buNone/>
            </a:pPr>
            <a:r>
              <a:rPr lang="en-US" sz="1450" b="0">
                <a:solidFill>
                  <a:srgbClr val="6A9955"/>
                </a:solidFill>
                <a:effectLst/>
                <a:latin typeface="Courier"/>
              </a:rPr>
              <a:t># Hold out a test set</a:t>
            </a:r>
            <a:endParaRPr lang="en-US" sz="1450" b="0">
              <a:solidFill>
                <a:srgbClr val="CCCCCC"/>
              </a:solidFill>
              <a:effectLst/>
              <a:latin typeface="Courier"/>
            </a:endParaRPr>
          </a:p>
          <a:p>
            <a:pPr>
              <a:lnSpc>
                <a:spcPts val="1250"/>
              </a:lnSpc>
              <a:spcAft>
                <a:spcPts val="200"/>
              </a:spcAft>
              <a:buNone/>
            </a:pPr>
            <a:r>
              <a:rPr lang="en-US" sz="1450" b="0">
                <a:solidFill>
                  <a:srgbClr val="CCCCCC"/>
                </a:solidFill>
                <a:effectLst/>
                <a:latin typeface="Courier"/>
              </a:rPr>
              <a:t>X_train, X_test, y_train, y_test </a:t>
            </a:r>
            <a:r>
              <a:rPr lang="en-US" sz="1450" b="0">
                <a:solidFill>
                  <a:srgbClr val="D4D4D4"/>
                </a:solidFill>
                <a:effectLst/>
                <a:latin typeface="Courier"/>
              </a:rPr>
              <a:t>=</a:t>
            </a:r>
            <a:r>
              <a:rPr lang="en-US" sz="1450" b="0">
                <a:solidFill>
                  <a:srgbClr val="CCCCCC"/>
                </a:solidFill>
                <a:effectLst/>
                <a:latin typeface="Courier"/>
              </a:rPr>
              <a:t> </a:t>
            </a:r>
            <a:r>
              <a:rPr lang="en-US" sz="1450" b="0">
                <a:solidFill>
                  <a:srgbClr val="DCDCAA"/>
                </a:solidFill>
                <a:effectLst/>
                <a:latin typeface="Courier"/>
              </a:rPr>
              <a:t>train_test_split</a:t>
            </a:r>
            <a:r>
              <a:rPr lang="en-US" sz="1450" b="0">
                <a:solidFill>
                  <a:srgbClr val="CCCCCC"/>
                </a:solidFill>
                <a:effectLst/>
                <a:latin typeface="Courier"/>
              </a:rPr>
              <a:t>(X, y, test_size</a:t>
            </a:r>
            <a:r>
              <a:rPr lang="en-US" sz="1450" b="0">
                <a:solidFill>
                  <a:srgbClr val="D4D4D4"/>
                </a:solidFill>
                <a:effectLst/>
                <a:latin typeface="Courier"/>
              </a:rPr>
              <a:t>=</a:t>
            </a:r>
            <a:r>
              <a:rPr lang="en-US" sz="1450" b="0">
                <a:solidFill>
                  <a:srgbClr val="B5CEA8"/>
                </a:solidFill>
                <a:effectLst/>
                <a:latin typeface="Courier"/>
              </a:rPr>
              <a:t>0.2</a:t>
            </a:r>
            <a:r>
              <a:rPr lang="en-US" sz="1450" b="0">
                <a:solidFill>
                  <a:srgbClr val="CCCCCC"/>
                </a:solidFill>
                <a:effectLst/>
                <a:latin typeface="Courier"/>
              </a:rPr>
              <a:t>, random_state</a:t>
            </a:r>
            <a:r>
              <a:rPr lang="en-US" sz="1450" b="0">
                <a:solidFill>
                  <a:srgbClr val="D4D4D4"/>
                </a:solidFill>
                <a:effectLst/>
                <a:latin typeface="Courier"/>
              </a:rPr>
              <a:t>=</a:t>
            </a:r>
            <a:r>
              <a:rPr lang="en-US" sz="1450" b="0">
                <a:solidFill>
                  <a:srgbClr val="B5CEA8"/>
                </a:solidFill>
                <a:effectLst/>
                <a:latin typeface="Courier"/>
              </a:rPr>
              <a:t>0</a:t>
            </a:r>
            <a:r>
              <a:rPr lang="en-US" sz="1450" b="0">
                <a:solidFill>
                  <a:srgbClr val="CCCCCC"/>
                </a:solidFill>
                <a:effectLst/>
                <a:latin typeface="Courier"/>
              </a:rPr>
              <a:t>)</a:t>
            </a:r>
          </a:p>
          <a:p>
            <a:pPr>
              <a:lnSpc>
                <a:spcPts val="1250"/>
              </a:lnSpc>
              <a:spcAft>
                <a:spcPts val="200"/>
              </a:spcAft>
              <a:buNone/>
            </a:pPr>
            <a:br>
              <a:rPr lang="en-US" sz="1450" b="0">
                <a:solidFill>
                  <a:srgbClr val="CCCCCC"/>
                </a:solidFill>
                <a:effectLst/>
                <a:latin typeface="Courier"/>
              </a:rPr>
            </a:br>
            <a:endParaRPr lang="en-US" sz="1450" b="0">
              <a:solidFill>
                <a:srgbClr val="CCCCCC"/>
              </a:solidFill>
              <a:effectLst/>
              <a:latin typeface="Courier"/>
            </a:endParaRPr>
          </a:p>
          <a:p>
            <a:pPr>
              <a:lnSpc>
                <a:spcPts val="1250"/>
              </a:lnSpc>
              <a:spcAft>
                <a:spcPts val="200"/>
              </a:spcAft>
              <a:buNone/>
            </a:pPr>
            <a:r>
              <a:rPr lang="en-US" sz="1450" b="0">
                <a:solidFill>
                  <a:srgbClr val="6A9955"/>
                </a:solidFill>
                <a:effectLst/>
                <a:latin typeface="Courier"/>
              </a:rPr>
              <a:t># Fit on the training data only</a:t>
            </a:r>
            <a:endParaRPr lang="en-US" sz="1450" b="0">
              <a:solidFill>
                <a:srgbClr val="CCCCCC"/>
              </a:solidFill>
              <a:effectLst/>
              <a:latin typeface="Courier"/>
            </a:endParaRPr>
          </a:p>
          <a:p>
            <a:pPr>
              <a:lnSpc>
                <a:spcPts val="1250"/>
              </a:lnSpc>
              <a:spcAft>
                <a:spcPts val="200"/>
              </a:spcAft>
              <a:buNone/>
            </a:pPr>
            <a:r>
              <a:rPr lang="en-US" sz="1450" b="0">
                <a:solidFill>
                  <a:srgbClr val="CCCCCC"/>
                </a:solidFill>
                <a:effectLst/>
                <a:latin typeface="Courier"/>
              </a:rPr>
              <a:t>model </a:t>
            </a:r>
            <a:r>
              <a:rPr lang="en-US" sz="1450" b="0">
                <a:solidFill>
                  <a:srgbClr val="D4D4D4"/>
                </a:solidFill>
                <a:effectLst/>
                <a:latin typeface="Courier"/>
              </a:rPr>
              <a:t>=</a:t>
            </a:r>
            <a:r>
              <a:rPr lang="en-US" sz="1450" b="0">
                <a:solidFill>
                  <a:srgbClr val="CCCCCC"/>
                </a:solidFill>
                <a:effectLst/>
                <a:latin typeface="Courier"/>
              </a:rPr>
              <a:t> LinearRegression()</a:t>
            </a:r>
          </a:p>
          <a:p>
            <a:pPr>
              <a:lnSpc>
                <a:spcPts val="1250"/>
              </a:lnSpc>
              <a:spcAft>
                <a:spcPts val="200"/>
              </a:spcAft>
              <a:buNone/>
            </a:pPr>
            <a:r>
              <a:rPr lang="en-US" sz="1450" b="0">
                <a:solidFill>
                  <a:srgbClr val="CCCCCC"/>
                </a:solidFill>
                <a:effectLst/>
                <a:latin typeface="Courier"/>
              </a:rPr>
              <a:t>model.fit(X_train, y_train)</a:t>
            </a:r>
          </a:p>
          <a:p>
            <a:pPr>
              <a:lnSpc>
                <a:spcPts val="1250"/>
              </a:lnSpc>
              <a:spcAft>
                <a:spcPts val="200"/>
              </a:spcAft>
              <a:buNone/>
            </a:pPr>
            <a:br>
              <a:rPr lang="en-US" sz="1450" b="0">
                <a:solidFill>
                  <a:srgbClr val="CCCCCC"/>
                </a:solidFill>
                <a:effectLst/>
                <a:latin typeface="Courier"/>
              </a:rPr>
            </a:br>
            <a:endParaRPr lang="en-US" sz="1450" b="0">
              <a:solidFill>
                <a:srgbClr val="CCCCCC"/>
              </a:solidFill>
              <a:effectLst/>
              <a:latin typeface="Courier"/>
            </a:endParaRPr>
          </a:p>
          <a:p>
            <a:pPr>
              <a:lnSpc>
                <a:spcPts val="1250"/>
              </a:lnSpc>
              <a:spcAft>
                <a:spcPts val="200"/>
              </a:spcAft>
              <a:buNone/>
            </a:pPr>
            <a:r>
              <a:rPr lang="en-US" sz="1450" b="0">
                <a:solidFill>
                  <a:srgbClr val="6A9955"/>
                </a:solidFill>
                <a:effectLst/>
                <a:latin typeface="Courier"/>
              </a:rPr>
              <a:t># Predict on the unseen test data</a:t>
            </a:r>
            <a:endParaRPr lang="en-US" sz="1450" b="0">
              <a:solidFill>
                <a:srgbClr val="CCCCCC"/>
              </a:solidFill>
              <a:effectLst/>
              <a:latin typeface="Courier"/>
            </a:endParaRPr>
          </a:p>
          <a:p>
            <a:pPr>
              <a:lnSpc>
                <a:spcPts val="1250"/>
              </a:lnSpc>
              <a:spcAft>
                <a:spcPts val="200"/>
              </a:spcAft>
              <a:buNone/>
            </a:pPr>
            <a:r>
              <a:rPr lang="en-US" sz="1450" b="0">
                <a:solidFill>
                  <a:srgbClr val="CCCCCC"/>
                </a:solidFill>
                <a:effectLst/>
                <a:latin typeface="Courier"/>
              </a:rPr>
              <a:t>y_pred </a:t>
            </a:r>
            <a:r>
              <a:rPr lang="en-US" sz="1450" b="0">
                <a:solidFill>
                  <a:srgbClr val="D4D4D4"/>
                </a:solidFill>
                <a:effectLst/>
                <a:latin typeface="Courier"/>
              </a:rPr>
              <a:t>=</a:t>
            </a:r>
            <a:r>
              <a:rPr lang="en-US" sz="1450" b="0">
                <a:solidFill>
                  <a:srgbClr val="CCCCCC"/>
                </a:solidFill>
                <a:effectLst/>
                <a:latin typeface="Courier"/>
              </a:rPr>
              <a:t> model.predict(X_test)</a:t>
            </a:r>
          </a:p>
          <a:p>
            <a:pPr>
              <a:lnSpc>
                <a:spcPts val="1250"/>
              </a:lnSpc>
              <a:spcAft>
                <a:spcPts val="200"/>
              </a:spcAft>
              <a:buNone/>
            </a:pPr>
            <a:r>
              <a:rPr lang="en-US" sz="1450" b="0">
                <a:solidFill>
                  <a:srgbClr val="DCDCAA"/>
                </a:solidFill>
                <a:effectLst/>
                <a:latin typeface="Courier"/>
              </a:rPr>
              <a:t>print</a:t>
            </a:r>
            <a:r>
              <a:rPr lang="en-US" sz="1450" b="0">
                <a:solidFill>
                  <a:srgbClr val="CCCCCC"/>
                </a:solidFill>
                <a:effectLst/>
                <a:latin typeface="Courier"/>
              </a:rPr>
              <a:t>(</a:t>
            </a:r>
            <a:r>
              <a:rPr lang="en-US" sz="1450" b="0">
                <a:solidFill>
                  <a:srgbClr val="CE9178"/>
                </a:solidFill>
                <a:effectLst/>
                <a:latin typeface="Courier"/>
              </a:rPr>
              <a:t>"Slope:"</a:t>
            </a:r>
            <a:r>
              <a:rPr lang="en-US" sz="1450" b="0">
                <a:solidFill>
                  <a:srgbClr val="CCCCCC"/>
                </a:solidFill>
                <a:effectLst/>
                <a:latin typeface="Courier"/>
              </a:rPr>
              <a:t>, model.coef_[</a:t>
            </a:r>
            <a:r>
              <a:rPr lang="en-US" sz="1450" b="0">
                <a:solidFill>
                  <a:srgbClr val="B5CEA8"/>
                </a:solidFill>
                <a:effectLst/>
                <a:latin typeface="Courier"/>
              </a:rPr>
              <a:t>0</a:t>
            </a:r>
            <a:r>
              <a:rPr lang="en-US" sz="1450" b="0">
                <a:solidFill>
                  <a:srgbClr val="CCCCCC"/>
                </a:solidFill>
                <a:effectLst/>
                <a:latin typeface="Courier"/>
              </a:rPr>
              <a:t>])</a:t>
            </a:r>
          </a:p>
          <a:p>
            <a:pPr>
              <a:lnSpc>
                <a:spcPts val="1250"/>
              </a:lnSpc>
              <a:spcAft>
                <a:spcPts val="200"/>
              </a:spcAft>
              <a:buNone/>
            </a:pPr>
            <a:r>
              <a:rPr lang="en-US" sz="1450" b="0">
                <a:solidFill>
                  <a:srgbClr val="DCDCAA"/>
                </a:solidFill>
                <a:effectLst/>
                <a:latin typeface="Courier"/>
              </a:rPr>
              <a:t>print</a:t>
            </a:r>
            <a:r>
              <a:rPr lang="en-US" sz="1450" b="0">
                <a:solidFill>
                  <a:srgbClr val="CCCCCC"/>
                </a:solidFill>
                <a:effectLst/>
                <a:latin typeface="Courier"/>
              </a:rPr>
              <a:t>(</a:t>
            </a:r>
            <a:r>
              <a:rPr lang="en-US" sz="1450" b="0">
                <a:solidFill>
                  <a:srgbClr val="CE9178"/>
                </a:solidFill>
                <a:effectLst/>
                <a:latin typeface="Courier"/>
              </a:rPr>
              <a:t>"Intercept:"</a:t>
            </a:r>
            <a:r>
              <a:rPr lang="en-US" sz="1450" b="0">
                <a:solidFill>
                  <a:srgbClr val="CCCCCC"/>
                </a:solidFill>
                <a:effectLst/>
                <a:latin typeface="Courier"/>
              </a:rPr>
              <a:t>, model.intercept_)</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00635" y="914400"/>
            <a:ext cx="10691265" cy="897147"/>
          </a:xfrm>
        </p:spPr>
        <p:txBody>
          <a:bodyPr/>
          <a:lstStyle/>
          <a:p>
            <a:r>
              <a:rPr lang="en-US" dirty="0"/>
              <a:t>Preprocessing</a:t>
            </a:r>
            <a:r>
              <a:rPr dirty="0"/>
              <a:t> can leak information</a:t>
            </a:r>
          </a:p>
        </p:txBody>
      </p:sp>
      <p:sp>
        <p:nvSpPr>
          <p:cNvPr id="3" name="Content Placeholder 2"/>
          <p:cNvSpPr>
            <a:spLocks noGrp="1"/>
          </p:cNvSpPr>
          <p:nvPr>
            <p:ph sz="half" idx="1"/>
          </p:nvPr>
        </p:nvSpPr>
        <p:spPr/>
        <p:txBody>
          <a:bodyPr wrap="square" lIns="73152" tIns="36576" rIns="54864" bIns="36576" anchor="t">
            <a:normAutofit/>
          </a:bodyPr>
          <a:lstStyle/>
          <a:p>
            <a:pPr>
              <a:spcAft>
                <a:spcPts val="600"/>
              </a:spcAft>
              <a:defRPr sz="2000" b="1">
                <a:solidFill>
                  <a:srgbClr val="DB9A8F"/>
                </a:solidFill>
                <a:latin typeface="Calisto MT"/>
              </a:defRPr>
            </a:pPr>
            <a:r>
              <a:rPr dirty="0"/>
              <a:t>Without a pipeline</a:t>
            </a:r>
          </a:p>
          <a:p>
            <a:pPr lvl="1">
              <a:spcAft>
                <a:spcPts val="300"/>
              </a:spcAft>
              <a:defRPr sz="1900" b="0">
                <a:latin typeface="Calisto MT"/>
              </a:defRPr>
            </a:pPr>
            <a:r>
              <a:rPr dirty="0"/>
              <a:t>Fit preprocessing on all of X.</a:t>
            </a:r>
          </a:p>
          <a:p>
            <a:pPr lvl="1">
              <a:spcAft>
                <a:spcPts val="300"/>
              </a:spcAft>
              <a:defRPr sz="1900" b="0">
                <a:latin typeface="Calisto MT"/>
              </a:defRPr>
            </a:pPr>
            <a:r>
              <a:rPr dirty="0"/>
              <a:t>Then cross-validate the model.</a:t>
            </a:r>
          </a:p>
          <a:p>
            <a:pPr lvl="1">
              <a:spcAft>
                <a:spcPts val="600"/>
              </a:spcAft>
              <a:defRPr sz="2000" b="0">
                <a:latin typeface="Calisto MT"/>
              </a:defRPr>
            </a:pPr>
            <a:r>
              <a:rPr dirty="0"/>
              <a:t>Validation-fold values influence the preprocessing statistics.</a:t>
            </a:r>
          </a:p>
          <a:p>
            <a:pPr>
              <a:spcAft>
                <a:spcPts val="600"/>
              </a:spcAft>
              <a:defRPr sz="2000" b="1">
                <a:solidFill>
                  <a:srgbClr val="DB9A8F"/>
                </a:solidFill>
                <a:latin typeface="Calisto MT"/>
              </a:defRPr>
            </a:pPr>
            <a:r>
              <a:rPr dirty="0"/>
              <a:t>Result: overly optimistic scores.</a:t>
            </a:r>
          </a:p>
        </p:txBody>
      </p:sp>
      <p:sp>
        <p:nvSpPr>
          <p:cNvPr id="4" name="Content Placeholder 3"/>
          <p:cNvSpPr>
            <a:spLocks noGrp="1"/>
          </p:cNvSpPr>
          <p:nvPr>
            <p:ph sz="half" idx="2"/>
          </p:nvPr>
        </p:nvSpPr>
        <p:spPr/>
        <p:txBody>
          <a:bodyPr wrap="square" lIns="73152" tIns="36576" rIns="54864" bIns="36576" anchor="t">
            <a:normAutofit/>
          </a:bodyPr>
          <a:lstStyle/>
          <a:p>
            <a:pPr>
              <a:spcAft>
                <a:spcPts val="600"/>
              </a:spcAft>
              <a:defRPr sz="2000" b="1">
                <a:solidFill>
                  <a:srgbClr val="596781"/>
                </a:solidFill>
                <a:latin typeface="Calisto MT"/>
              </a:defRPr>
            </a:pPr>
            <a:r>
              <a:rPr dirty="0"/>
              <a:t>With a pipeline</a:t>
            </a:r>
          </a:p>
          <a:p>
            <a:pPr lvl="1">
              <a:spcAft>
                <a:spcPts val="300"/>
              </a:spcAft>
              <a:defRPr sz="1900" b="0">
                <a:latin typeface="Calisto MT"/>
              </a:defRPr>
            </a:pPr>
            <a:r>
              <a:rPr dirty="0"/>
              <a:t>Fit preprocessing only on each training fold.</a:t>
            </a:r>
          </a:p>
          <a:p>
            <a:pPr lvl="1">
              <a:spcAft>
                <a:spcPts val="300"/>
              </a:spcAft>
              <a:defRPr sz="1900" b="0">
                <a:latin typeface="Calisto MT"/>
              </a:defRPr>
            </a:pPr>
            <a:r>
              <a:rPr dirty="0"/>
              <a:t>Apply learned steps to that fold's validation data.</a:t>
            </a:r>
          </a:p>
          <a:p>
            <a:pPr lvl="1">
              <a:spcAft>
                <a:spcPts val="600"/>
              </a:spcAft>
              <a:defRPr sz="2000" b="0">
                <a:latin typeface="Calisto MT"/>
              </a:defRPr>
            </a:pPr>
            <a:r>
              <a:rPr dirty="0"/>
              <a:t>Training and validation boundaries stay intact.</a:t>
            </a:r>
          </a:p>
          <a:p>
            <a:pPr>
              <a:spcAft>
                <a:spcPts val="600"/>
              </a:spcAft>
              <a:defRPr sz="2000" b="1">
                <a:solidFill>
                  <a:srgbClr val="596781"/>
                </a:solidFill>
                <a:latin typeface="Calisto MT"/>
              </a:defRPr>
            </a:pPr>
            <a:r>
              <a:rPr dirty="0"/>
              <a:t>Result: trustworthy cross-validation.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Why use scikit-learn Pipelines?</a:t>
            </a:r>
          </a:p>
        </p:txBody>
      </p:sp>
      <p:sp>
        <p:nvSpPr>
          <p:cNvPr id="4" name="Text Placeholder 3"/>
          <p:cNvSpPr>
            <a:spLocks noGrp="1"/>
          </p:cNvSpPr>
          <p:nvPr>
            <p:ph type="body" idx="1"/>
          </p:nvPr>
        </p:nvSpPr>
        <p:spPr/>
        <p:txBody>
          <a:bodyPr wrap="square" lIns="73152" tIns="36576" rIns="54864" bIns="36576" anchor="t"/>
          <a:lstStyle/>
          <a:p>
            <a:pPr>
              <a:spcAft>
                <a:spcPts val="700"/>
              </a:spcAft>
              <a:defRPr sz="2300" b="1">
                <a:solidFill>
                  <a:srgbClr val="734B67"/>
                </a:solidFill>
                <a:latin typeface="Calisto MT"/>
              </a:defRPr>
            </a:pPr>
            <a:r>
              <a:rPr dirty="0"/>
              <a:t>A pipeline treats the full workflow as one estimator:</a:t>
            </a:r>
          </a:p>
          <a:p>
            <a:pPr lvl="1">
              <a:spcAft>
                <a:spcPts val="400"/>
              </a:spcAft>
              <a:defRPr sz="2200" b="0">
                <a:latin typeface="Calisto MT"/>
              </a:defRPr>
            </a:pPr>
            <a:r>
              <a:rPr dirty="0"/>
              <a:t>Prevents leakage during train/test splits and cross-validation</a:t>
            </a:r>
          </a:p>
          <a:p>
            <a:pPr lvl="1">
              <a:spcAft>
                <a:spcPts val="400"/>
              </a:spcAft>
              <a:defRPr sz="2200" b="0">
                <a:latin typeface="Calisto MT"/>
              </a:defRPr>
            </a:pPr>
            <a:r>
              <a:rPr dirty="0"/>
              <a:t>Applies the same preprocessing to training, validation, and new data</a:t>
            </a:r>
          </a:p>
          <a:p>
            <a:pPr lvl="1">
              <a:spcAft>
                <a:spcPts val="400"/>
              </a:spcAft>
              <a:defRPr sz="2200" b="0">
                <a:latin typeface="Calisto MT"/>
              </a:defRPr>
            </a:pPr>
            <a:r>
              <a:rPr dirty="0"/>
              <a:t>Keeps code concise and reproducible: one object for .fit(), .predict(), and .score()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How to build a pipeline: scale + KNN</a:t>
            </a:r>
          </a:p>
        </p:txBody>
      </p:sp>
      <p:sp>
        <p:nvSpPr>
          <p:cNvPr id="4" name="Rounded Rectangle 3"/>
          <p:cNvSpPr/>
          <p:nvPr/>
        </p:nvSpPr>
        <p:spPr>
          <a:xfrm>
            <a:off x="658368" y="1783080"/>
            <a:ext cx="10881360" cy="3886200"/>
          </a:xfrm>
          <a:prstGeom prst="roundRect">
            <a:avLst/>
          </a:prstGeom>
          <a:solidFill>
            <a:srgbClr val="1C1C32"/>
          </a:solidFill>
          <a:ln w="10160">
            <a:solidFill>
              <a:srgbClr val="734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947672"/>
            <a:ext cx="10533888" cy="3557016"/>
          </a:xfrm>
          <a:prstGeom prst="rect">
            <a:avLst/>
          </a:prstGeom>
          <a:noFill/>
        </p:spPr>
        <p:txBody>
          <a:bodyPr wrap="square" lIns="73152" tIns="73152" rIns="73152" bIns="73152" anchor="t">
            <a:spAutoFit/>
          </a:bodyPr>
          <a:lstStyle/>
          <a:p>
            <a:pPr algn="l">
              <a:spcAft>
                <a:spcPts val="0"/>
              </a:spcAft>
              <a:defRPr sz="1650" b="0">
                <a:solidFill>
                  <a:srgbClr val="F8F4F1"/>
                </a:solidFill>
                <a:latin typeface="Consolas"/>
              </a:defRPr>
            </a:pPr>
            <a:r>
              <a:t>from sklearn.pipeline import Pipeline</a:t>
            </a:r>
          </a:p>
          <a:p>
            <a:pPr algn="l">
              <a:spcAft>
                <a:spcPts val="0"/>
              </a:spcAft>
              <a:defRPr sz="1650" b="0">
                <a:solidFill>
                  <a:srgbClr val="F8F4F1"/>
                </a:solidFill>
                <a:latin typeface="Consolas"/>
              </a:defRPr>
            </a:pPr>
            <a:r>
              <a:t>from sklearn.preprocessing import StandardScaler</a:t>
            </a:r>
          </a:p>
          <a:p>
            <a:pPr algn="l">
              <a:spcAft>
                <a:spcPts val="0"/>
              </a:spcAft>
              <a:defRPr sz="1650" b="0">
                <a:solidFill>
                  <a:srgbClr val="F8F4F1"/>
                </a:solidFill>
                <a:latin typeface="Consolas"/>
              </a:defRPr>
            </a:pPr>
            <a:r>
              <a:t>from sklearn.neighbors import KNeighborsRegressor</a:t>
            </a:r>
          </a:p>
          <a:p>
            <a:pPr algn="l">
              <a:spcAft>
                <a:spcPts val="0"/>
              </a:spcAft>
              <a:defRPr sz="1650" b="0">
                <a:solidFill>
                  <a:srgbClr val="F8F4F1"/>
                </a:solidFill>
                <a:latin typeface="Consolas"/>
              </a:defRPr>
            </a:pPr>
            <a:endParaRPr/>
          </a:p>
          <a:p>
            <a:pPr algn="l">
              <a:spcAft>
                <a:spcPts val="0"/>
              </a:spcAft>
              <a:defRPr sz="1650" b="0">
                <a:solidFill>
                  <a:srgbClr val="F8F4F1"/>
                </a:solidFill>
                <a:latin typeface="Consolas"/>
              </a:defRPr>
            </a:pPr>
            <a:r>
              <a:t>knn_pipe = Pipeline([</a:t>
            </a:r>
          </a:p>
          <a:p>
            <a:pPr algn="l">
              <a:spcAft>
                <a:spcPts val="0"/>
              </a:spcAft>
              <a:defRPr sz="1650" b="0">
                <a:solidFill>
                  <a:srgbClr val="F8F4F1"/>
                </a:solidFill>
                <a:latin typeface="Consolas"/>
              </a:defRPr>
            </a:pPr>
            <a:r>
              <a:t>    ("scale", StandardScaler()),</a:t>
            </a:r>
          </a:p>
          <a:p>
            <a:pPr algn="l">
              <a:spcAft>
                <a:spcPts val="0"/>
              </a:spcAft>
              <a:defRPr sz="1650" b="0">
                <a:solidFill>
                  <a:srgbClr val="F8F4F1"/>
                </a:solidFill>
                <a:latin typeface="Consolas"/>
              </a:defRPr>
            </a:pPr>
            <a:r>
              <a:t>    ("model", KNeighborsRegressor(n_neighbors=5)),</a:t>
            </a:r>
          </a:p>
          <a:p>
            <a:pPr algn="l">
              <a:spcAft>
                <a:spcPts val="0"/>
              </a:spcAft>
              <a:defRPr sz="1650" b="0">
                <a:solidFill>
                  <a:srgbClr val="F8F4F1"/>
                </a:solidFill>
                <a:latin typeface="Consolas"/>
              </a:defRPr>
            </a:pPr>
            <a:r>
              <a:t>])</a:t>
            </a:r>
          </a:p>
          <a:p>
            <a:pPr algn="l">
              <a:spcAft>
                <a:spcPts val="0"/>
              </a:spcAft>
              <a:defRPr sz="1650" b="0">
                <a:solidFill>
                  <a:srgbClr val="F8F4F1"/>
                </a:solidFill>
                <a:latin typeface="Consolas"/>
              </a:defRPr>
            </a:pPr>
            <a:endParaRPr/>
          </a:p>
          <a:p>
            <a:pPr algn="l">
              <a:spcAft>
                <a:spcPts val="0"/>
              </a:spcAft>
              <a:defRPr sz="1650" b="0">
                <a:solidFill>
                  <a:srgbClr val="F8F4F1"/>
                </a:solidFill>
                <a:latin typeface="Consolas"/>
              </a:defRPr>
            </a:pPr>
            <a:r>
              <a:t>knn_pipe.fit(X_train, y_train)</a:t>
            </a:r>
          </a:p>
          <a:p>
            <a:pPr algn="l">
              <a:spcAft>
                <a:spcPts val="0"/>
              </a:spcAft>
              <a:defRPr sz="1650" b="0">
                <a:solidFill>
                  <a:srgbClr val="F8F4F1"/>
                </a:solidFill>
                <a:latin typeface="Consolas"/>
              </a:defRPr>
            </a:pPr>
            <a:r>
              <a:t>y_pred = knn_pipe.predict(X_test)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a:t>Different steps for different columns</a:t>
            </a:r>
            <a:endParaRPr dirty="0"/>
          </a:p>
        </p:txBody>
      </p:sp>
      <p:sp>
        <p:nvSpPr>
          <p:cNvPr id="4" name="Rounded Rectangle 3"/>
          <p:cNvSpPr/>
          <p:nvPr/>
        </p:nvSpPr>
        <p:spPr>
          <a:xfrm>
            <a:off x="603504" y="1700784"/>
            <a:ext cx="7095744" cy="4389120"/>
          </a:xfrm>
          <a:prstGeom prst="roundRect">
            <a:avLst/>
          </a:prstGeom>
          <a:solidFill>
            <a:srgbClr val="1C1C32"/>
          </a:solidFill>
          <a:ln w="10160">
            <a:solidFill>
              <a:srgbClr val="734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9284" y="2329736"/>
            <a:ext cx="6784848" cy="4096512"/>
          </a:xfrm>
          <a:prstGeom prst="rect">
            <a:avLst/>
          </a:prstGeom>
          <a:noFill/>
        </p:spPr>
        <p:txBody>
          <a:bodyPr wrap="square" lIns="54864" tIns="54864" rIns="54864" bIns="54864" anchor="t">
            <a:spAutoFit/>
          </a:bodyPr>
          <a:lstStyle/>
          <a:p>
            <a:pPr algn="l">
              <a:spcAft>
                <a:spcPts val="0"/>
              </a:spcAft>
              <a:defRPr sz="1410" b="0">
                <a:solidFill>
                  <a:srgbClr val="F8F4F1"/>
                </a:solidFill>
                <a:latin typeface="Consolas"/>
              </a:defRPr>
            </a:pPr>
            <a:r>
              <a:rPr dirty="0"/>
              <a:t>numeric = Pipeline([</a:t>
            </a:r>
          </a:p>
          <a:p>
            <a:pPr algn="l">
              <a:spcAft>
                <a:spcPts val="0"/>
              </a:spcAft>
              <a:defRPr sz="1410" b="0">
                <a:solidFill>
                  <a:srgbClr val="F8F4F1"/>
                </a:solidFill>
                <a:latin typeface="Consolas"/>
              </a:defRPr>
            </a:pPr>
            <a:r>
              <a:rPr dirty="0"/>
              <a:t>    ("impute", </a:t>
            </a:r>
            <a:r>
              <a:rPr dirty="0" err="1"/>
              <a:t>SimpleImputer</a:t>
            </a:r>
            <a:r>
              <a:rPr dirty="0"/>
              <a:t>(strategy="median")),</a:t>
            </a:r>
          </a:p>
          <a:p>
            <a:pPr algn="l">
              <a:spcAft>
                <a:spcPts val="0"/>
              </a:spcAft>
              <a:defRPr sz="1410" b="0">
                <a:solidFill>
                  <a:srgbClr val="F8F4F1"/>
                </a:solidFill>
                <a:latin typeface="Consolas"/>
              </a:defRPr>
            </a:pPr>
            <a:r>
              <a:rPr dirty="0"/>
              <a:t>    ("scale", </a:t>
            </a:r>
            <a:r>
              <a:rPr dirty="0" err="1"/>
              <a:t>StandardScaler</a:t>
            </a:r>
            <a:r>
              <a:rPr dirty="0"/>
              <a:t>()),</a:t>
            </a:r>
          </a:p>
          <a:p>
            <a:pPr algn="l">
              <a:spcAft>
                <a:spcPts val="0"/>
              </a:spcAft>
              <a:defRPr sz="1410" b="0">
                <a:solidFill>
                  <a:srgbClr val="F8F4F1"/>
                </a:solidFill>
                <a:latin typeface="Consolas"/>
              </a:defRPr>
            </a:pPr>
            <a:r>
              <a:rPr dirty="0"/>
              <a:t>])</a:t>
            </a:r>
          </a:p>
          <a:p>
            <a:pPr algn="l">
              <a:spcAft>
                <a:spcPts val="0"/>
              </a:spcAft>
              <a:defRPr sz="1410" b="0">
                <a:solidFill>
                  <a:srgbClr val="F8F4F1"/>
                </a:solidFill>
                <a:latin typeface="Consolas"/>
              </a:defRPr>
            </a:pPr>
            <a:r>
              <a:rPr dirty="0"/>
              <a:t>preprocess = </a:t>
            </a:r>
            <a:r>
              <a:rPr dirty="0" err="1"/>
              <a:t>ColumnTransformer</a:t>
            </a:r>
            <a:r>
              <a:rPr dirty="0"/>
              <a:t>([</a:t>
            </a:r>
          </a:p>
          <a:p>
            <a:pPr algn="l">
              <a:spcAft>
                <a:spcPts val="0"/>
              </a:spcAft>
              <a:defRPr sz="1410" b="0">
                <a:solidFill>
                  <a:srgbClr val="F8F4F1"/>
                </a:solidFill>
                <a:latin typeface="Consolas"/>
              </a:defRPr>
            </a:pPr>
            <a:r>
              <a:rPr dirty="0"/>
              <a:t>    ("num", numeric, ["age", "income"]),</a:t>
            </a:r>
          </a:p>
          <a:p>
            <a:pPr algn="l">
              <a:spcAft>
                <a:spcPts val="0"/>
              </a:spcAft>
              <a:defRPr sz="1410" b="0">
                <a:solidFill>
                  <a:srgbClr val="F8F4F1"/>
                </a:solidFill>
                <a:latin typeface="Consolas"/>
              </a:defRPr>
            </a:pPr>
            <a:r>
              <a:rPr dirty="0"/>
              <a:t>    ("cat", </a:t>
            </a:r>
            <a:r>
              <a:rPr dirty="0" err="1"/>
              <a:t>OneHotEncoder</a:t>
            </a:r>
            <a:r>
              <a:rPr dirty="0"/>
              <a:t>(</a:t>
            </a:r>
            <a:r>
              <a:rPr dirty="0" err="1"/>
              <a:t>handle_unknown</a:t>
            </a:r>
            <a:r>
              <a:rPr dirty="0"/>
              <a:t>="ignore"), ["city"]),</a:t>
            </a:r>
          </a:p>
          <a:p>
            <a:pPr algn="l">
              <a:spcAft>
                <a:spcPts val="0"/>
              </a:spcAft>
              <a:defRPr sz="1410" b="0">
                <a:solidFill>
                  <a:srgbClr val="F8F4F1"/>
                </a:solidFill>
                <a:latin typeface="Consolas"/>
              </a:defRPr>
            </a:pPr>
            <a:r>
              <a:rPr dirty="0"/>
              <a:t>])</a:t>
            </a:r>
          </a:p>
          <a:p>
            <a:pPr algn="l">
              <a:spcAft>
                <a:spcPts val="0"/>
              </a:spcAft>
              <a:defRPr sz="1410" b="0">
                <a:solidFill>
                  <a:srgbClr val="F8F4F1"/>
                </a:solidFill>
                <a:latin typeface="Consolas"/>
              </a:defRPr>
            </a:pPr>
            <a:r>
              <a:rPr dirty="0"/>
              <a:t>model = Pipeline([</a:t>
            </a:r>
          </a:p>
          <a:p>
            <a:pPr algn="l">
              <a:spcAft>
                <a:spcPts val="0"/>
              </a:spcAft>
              <a:defRPr sz="1410" b="0">
                <a:solidFill>
                  <a:srgbClr val="F8F4F1"/>
                </a:solidFill>
                <a:latin typeface="Consolas"/>
              </a:defRPr>
            </a:pPr>
            <a:r>
              <a:rPr dirty="0"/>
              <a:t>    ("prep", preprocess),</a:t>
            </a:r>
          </a:p>
          <a:p>
            <a:pPr algn="l">
              <a:spcAft>
                <a:spcPts val="0"/>
              </a:spcAft>
              <a:defRPr sz="1410" b="0">
                <a:solidFill>
                  <a:srgbClr val="F8F4F1"/>
                </a:solidFill>
                <a:latin typeface="Consolas"/>
              </a:defRPr>
            </a:pPr>
            <a:r>
              <a:rPr dirty="0"/>
              <a:t>    ("reg", </a:t>
            </a:r>
            <a:r>
              <a:rPr dirty="0" err="1"/>
              <a:t>LinearRegression</a:t>
            </a:r>
            <a:r>
              <a:rPr dirty="0"/>
              <a:t>()),</a:t>
            </a:r>
          </a:p>
          <a:p>
            <a:pPr algn="l">
              <a:spcAft>
                <a:spcPts val="0"/>
              </a:spcAft>
              <a:defRPr sz="1410" b="0">
                <a:solidFill>
                  <a:srgbClr val="F8F4F1"/>
                </a:solidFill>
                <a:latin typeface="Consolas"/>
              </a:defRPr>
            </a:pPr>
            <a:r>
              <a:rPr dirty="0"/>
              <a:t>])</a:t>
            </a:r>
          </a:p>
          <a:p>
            <a:pPr algn="l">
              <a:spcAft>
                <a:spcPts val="0"/>
              </a:spcAft>
              <a:defRPr sz="1410" b="0">
                <a:solidFill>
                  <a:srgbClr val="F8F4F1"/>
                </a:solidFill>
                <a:latin typeface="Consolas"/>
              </a:defRPr>
            </a:pPr>
            <a:r>
              <a:rPr dirty="0" err="1"/>
              <a:t>model.fit</a:t>
            </a:r>
            <a:r>
              <a:rPr dirty="0"/>
              <a:t>(</a:t>
            </a:r>
            <a:r>
              <a:rPr dirty="0" err="1"/>
              <a:t>X_train</a:t>
            </a:r>
            <a:r>
              <a:rPr dirty="0"/>
              <a:t>, </a:t>
            </a:r>
            <a:r>
              <a:rPr dirty="0" err="1"/>
              <a:t>y_train</a:t>
            </a:r>
            <a:r>
              <a:rPr dirty="0"/>
              <a:t>)</a:t>
            </a:r>
          </a:p>
        </p:txBody>
      </p:sp>
      <p:sp>
        <p:nvSpPr>
          <p:cNvPr id="6" name="Rounded Rectangle 5"/>
          <p:cNvSpPr/>
          <p:nvPr/>
        </p:nvSpPr>
        <p:spPr>
          <a:xfrm>
            <a:off x="8001000" y="1901952"/>
            <a:ext cx="3520440" cy="960120"/>
          </a:xfrm>
          <a:prstGeom prst="roundRect">
            <a:avLst/>
          </a:prstGeom>
          <a:solidFill>
            <a:srgbClr val="F8F4F1"/>
          </a:solidFill>
          <a:ln w="10160">
            <a:solidFill>
              <a:srgbClr val="734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74736" y="2048256"/>
            <a:ext cx="3172968" cy="630936"/>
          </a:xfrm>
          <a:prstGeom prst="rect">
            <a:avLst/>
          </a:prstGeom>
          <a:noFill/>
        </p:spPr>
        <p:txBody>
          <a:bodyPr wrap="square" lIns="18288" tIns="18288" rIns="18288" bIns="18288" anchor="t">
            <a:spAutoFit/>
          </a:bodyPr>
          <a:lstStyle/>
          <a:p>
            <a:pPr algn="ctr">
              <a:spcAft>
                <a:spcPts val="100"/>
              </a:spcAft>
              <a:defRPr sz="1650" b="1">
                <a:solidFill>
                  <a:srgbClr val="734B67"/>
                </a:solidFill>
                <a:latin typeface="Calisto MT"/>
              </a:defRPr>
            </a:pPr>
            <a:r>
              <a:t>Numerical columns</a:t>
            </a:r>
          </a:p>
          <a:p>
            <a:pPr algn="ctr">
              <a:spcAft>
                <a:spcPts val="100"/>
              </a:spcAft>
              <a:defRPr sz="1650" b="0">
                <a:solidFill>
                  <a:srgbClr val="734B67"/>
                </a:solidFill>
                <a:latin typeface="Calisto MT"/>
              </a:defRPr>
            </a:pPr>
            <a:r>
              <a:t>impute -&gt; scale</a:t>
            </a:r>
          </a:p>
        </p:txBody>
      </p:sp>
      <p:sp>
        <p:nvSpPr>
          <p:cNvPr id="8" name="Rounded Rectangle 7"/>
          <p:cNvSpPr/>
          <p:nvPr/>
        </p:nvSpPr>
        <p:spPr>
          <a:xfrm>
            <a:off x="8001000" y="3191256"/>
            <a:ext cx="3520440" cy="960120"/>
          </a:xfrm>
          <a:prstGeom prst="roundRect">
            <a:avLst/>
          </a:prstGeom>
          <a:solidFill>
            <a:srgbClr val="F8F4F1"/>
          </a:solidFill>
          <a:ln w="10160">
            <a:solidFill>
              <a:srgbClr val="734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74736" y="3337560"/>
            <a:ext cx="3172968" cy="630936"/>
          </a:xfrm>
          <a:prstGeom prst="rect">
            <a:avLst/>
          </a:prstGeom>
          <a:noFill/>
        </p:spPr>
        <p:txBody>
          <a:bodyPr wrap="square" lIns="18288" tIns="18288" rIns="18288" bIns="18288" anchor="t">
            <a:spAutoFit/>
          </a:bodyPr>
          <a:lstStyle/>
          <a:p>
            <a:pPr algn="ctr">
              <a:spcAft>
                <a:spcPts val="100"/>
              </a:spcAft>
              <a:defRPr sz="1650" b="1">
                <a:solidFill>
                  <a:srgbClr val="596781"/>
                </a:solidFill>
                <a:latin typeface="Calisto MT"/>
              </a:defRPr>
            </a:pPr>
            <a:r>
              <a:t>Categorical columns</a:t>
            </a:r>
          </a:p>
          <a:p>
            <a:pPr algn="ctr">
              <a:spcAft>
                <a:spcPts val="100"/>
              </a:spcAft>
              <a:defRPr sz="1650" b="0">
                <a:solidFill>
                  <a:srgbClr val="596781"/>
                </a:solidFill>
                <a:latin typeface="Calisto MT"/>
              </a:defRPr>
            </a:pPr>
            <a:r>
              <a:t>one-hot encode</a:t>
            </a:r>
          </a:p>
        </p:txBody>
      </p:sp>
      <p:sp>
        <p:nvSpPr>
          <p:cNvPr id="10" name="Rounded Rectangle 9"/>
          <p:cNvSpPr/>
          <p:nvPr/>
        </p:nvSpPr>
        <p:spPr>
          <a:xfrm>
            <a:off x="8001000" y="4480560"/>
            <a:ext cx="3520440" cy="960120"/>
          </a:xfrm>
          <a:prstGeom prst="roundRect">
            <a:avLst/>
          </a:prstGeom>
          <a:solidFill>
            <a:srgbClr val="734B67"/>
          </a:solidFill>
          <a:ln w="10160">
            <a:solidFill>
              <a:srgbClr val="734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4626864"/>
            <a:ext cx="3172968" cy="630936"/>
          </a:xfrm>
          <a:prstGeom prst="rect">
            <a:avLst/>
          </a:prstGeom>
          <a:noFill/>
        </p:spPr>
        <p:txBody>
          <a:bodyPr wrap="square" lIns="18288" tIns="18288" rIns="18288" bIns="18288" anchor="t">
            <a:spAutoFit/>
          </a:bodyPr>
          <a:lstStyle/>
          <a:p>
            <a:pPr algn="ctr">
              <a:spcAft>
                <a:spcPts val="100"/>
              </a:spcAft>
              <a:defRPr sz="1650" b="1">
                <a:solidFill>
                  <a:srgbClr val="FFFFFF"/>
                </a:solidFill>
                <a:latin typeface="Calisto MT"/>
              </a:defRPr>
            </a:pPr>
            <a:r>
              <a:t>Combined features</a:t>
            </a:r>
          </a:p>
          <a:p>
            <a:pPr algn="ctr">
              <a:spcAft>
                <a:spcPts val="100"/>
              </a:spcAft>
              <a:defRPr sz="1650" b="0">
                <a:solidFill>
                  <a:srgbClr val="FFFFFF"/>
                </a:solidFill>
                <a:latin typeface="Calisto MT"/>
              </a:defRPr>
            </a:pPr>
            <a:r>
              <a:t>Linear Regression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Putting it together</a:t>
            </a:r>
            <a:endParaRPr/>
          </a:p>
        </p:txBody>
      </p:sp>
      <p:sp>
        <p:nvSpPr>
          <p:cNvPr id="4" name="Text Placeholder 3"/>
          <p:cNvSpPr>
            <a:spLocks noGrp="1"/>
          </p:cNvSpPr>
          <p:nvPr>
            <p:ph type="body" idx="1"/>
          </p:nvPr>
        </p:nvSpPr>
        <p:spPr/>
        <p:txBody>
          <a:bodyPr wrap="square" lIns="73152" tIns="36576" rIns="54864" bIns="36576" anchor="t"/>
          <a:lstStyle/>
          <a:p>
            <a:pPr>
              <a:spcAft>
                <a:spcPts val="700"/>
              </a:spcAft>
              <a:defRPr sz="2300" b="1">
                <a:solidFill>
                  <a:srgbClr val="734B67"/>
                </a:solidFill>
                <a:latin typeface="Calisto MT"/>
              </a:defRPr>
            </a:pPr>
            <a:r>
              <a:rPr lang="en-US"/>
              <a:t>Every model is an object with state and a shared interface</a:t>
            </a:r>
          </a:p>
          <a:p>
            <a:pPr>
              <a:spcAft>
                <a:spcPts val="700"/>
              </a:spcAft>
              <a:defRPr sz="2300" b="1">
                <a:solidFill>
                  <a:srgbClr val="734B67"/>
                </a:solidFill>
                <a:latin typeface="Calisto MT"/>
              </a:defRPr>
            </a:pPr>
            <a:r>
              <a:rPr lang="en-US"/>
              <a:t>Learn one API and you can use nearly any model in the library</a:t>
            </a:r>
          </a:p>
          <a:p>
            <a:pPr>
              <a:spcAft>
                <a:spcPts val="700"/>
              </a:spcAft>
              <a:defRPr sz="2300" b="1">
                <a:solidFill>
                  <a:srgbClr val="734B67"/>
                </a:solidFill>
                <a:latin typeface="Calisto MT"/>
              </a:defRPr>
            </a:pPr>
            <a:r>
              <a:rPr lang="en-US"/>
              <a:t>Fit on training data, apply with .predict() or .transform()</a:t>
            </a:r>
          </a:p>
          <a:p>
            <a:pPr>
              <a:spcAft>
                <a:spcPts val="700"/>
              </a:spcAft>
              <a:defRPr sz="2300" b="1">
                <a:solidFill>
                  <a:srgbClr val="734B67"/>
                </a:solidFill>
                <a:latin typeface="Calisto MT"/>
              </a:defRPr>
            </a:pPr>
            <a:r>
              <a:rPr lang="en-US"/>
              <a:t>Wrap preprocessing and modeling in a pipeline to keep evaluation honest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 name="Become friends with the documentation"/>
          <p:cNvSpPr txBox="1">
            <a:spLocks noGrp="1"/>
          </p:cNvSpPr>
          <p:nvPr>
            <p:ph type="title"/>
          </p:nvPr>
        </p:nvSpPr>
        <p:spPr>
          <a:prstGeom prst="rect">
            <a:avLst/>
          </a:prstGeom>
        </p:spPr>
        <p:txBody>
          <a:bodyPr>
            <a:normAutofit/>
          </a:bodyPr>
          <a:lstStyle>
            <a:lvl1pPr defTabSz="208279">
              <a:defRPr sz="4920" spc="-49"/>
            </a:lvl1pPr>
          </a:lstStyle>
          <a:p>
            <a:r>
              <a:rPr lang="en-US" dirty="0"/>
              <a:t>Review </a:t>
            </a:r>
            <a:r>
              <a:rPr dirty="0"/>
              <a:t>the documentation</a:t>
            </a:r>
            <a:r>
              <a:rPr lang="en-US" dirty="0"/>
              <a:t>!</a:t>
            </a:r>
            <a:endParaRPr dirty="0"/>
          </a:p>
        </p:txBody>
      </p:sp>
      <p:sp>
        <p:nvSpPr>
          <p:cNvPr id="657" name="A large part of learning Scikit-Learn is getting comfortable with the documentation…"/>
          <p:cNvSpPr txBox="1">
            <a:spLocks noGrp="1"/>
          </p:cNvSpPr>
          <p:nvPr>
            <p:ph type="body" idx="1"/>
          </p:nvPr>
        </p:nvSpPr>
        <p:spPr>
          <a:prstGeom prst="rect">
            <a:avLst/>
          </a:prstGeom>
        </p:spPr>
        <p:txBody>
          <a:bodyPr/>
          <a:lstStyle/>
          <a:p>
            <a:r>
              <a:rPr dirty="0"/>
              <a:t>A large part of learning Scikit-Learn is getting comfortable with the documentation</a:t>
            </a:r>
          </a:p>
          <a:p>
            <a:r>
              <a:rPr dirty="0"/>
              <a:t>The documentation is vast and sometimes intimidating but learning how to read it will help you know how to implement the right model for your situation</a:t>
            </a:r>
          </a:p>
          <a:p>
            <a:r>
              <a:rPr dirty="0">
                <a:hlinkClick r:id="rId2"/>
              </a:rPr>
              <a:t>https://scikit-learn.org/stable/</a:t>
            </a:r>
            <a:endParaRPr dirty="0"/>
          </a:p>
        </p:txBody>
      </p:sp>
    </p:spTree>
  </p:cSld>
  <p:clrMapOvr>
    <a:masterClrMapping/>
  </p:clrMapOvr>
  <p:transition spd="med"/>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561</TotalTime>
  <Words>1055</Words>
  <Application>Microsoft Office PowerPoint</Application>
  <PresentationFormat>Widescreen</PresentationFormat>
  <Paragraphs>151</Paragraphs>
  <Slides>17</Slides>
  <Notes>0</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Calisto MT</vt:lpstr>
      <vt:lpstr>Courier</vt:lpstr>
      <vt:lpstr>Graphik</vt:lpstr>
      <vt:lpstr>Univers Condensed</vt:lpstr>
      <vt:lpstr>ChronicleVTI</vt:lpstr>
      <vt:lpstr>Introduction to  Scikit-Learn</vt:lpstr>
      <vt:lpstr>What we'll cover</vt:lpstr>
      <vt:lpstr>What is Scikit-Learn</vt:lpstr>
      <vt:lpstr>Object-oriented modeling</vt:lpstr>
      <vt:lpstr>Two conventions worth knowing</vt:lpstr>
      <vt:lpstr>Estimators</vt:lpstr>
      <vt:lpstr>Transformers</vt:lpstr>
      <vt:lpstr>Predictors</vt:lpstr>
      <vt:lpstr>Simple Scikit-Learn Usage</vt:lpstr>
      <vt:lpstr>Preparing your data</vt:lpstr>
      <vt:lpstr>Example</vt:lpstr>
      <vt:lpstr>Preprocessing can leak information</vt:lpstr>
      <vt:lpstr>Why use scikit-learn Pipelines?</vt:lpstr>
      <vt:lpstr>How to build a pipeline: scale + KNN</vt:lpstr>
      <vt:lpstr>Different steps for different columns</vt:lpstr>
      <vt:lpstr>Putting it together</vt:lpstr>
      <vt:lpstr>Review the documentation!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34</cp:revision>
  <dcterms:created xsi:type="dcterms:W3CDTF">2025-10-28T15:32:43Z</dcterms:created>
  <dcterms:modified xsi:type="dcterms:W3CDTF">2026-09-10T21:37:58Z</dcterms:modified>
</cp:coreProperties>
</file>