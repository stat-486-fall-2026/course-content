
<file path=[Content_Types].xml><?xml version="1.0" encoding="utf-8"?>
<Types xmlns="http://schemas.openxmlformats.org/package/2006/content-types">
  <Default Extension="png" ContentType="image/png"/>
  <Default Extension="rels" ContentType="application/vnd.openxmlformats-package.relationships+xml"/>
  <Default Extension="tif" ContentType="image/ti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314" r:id="rId15"/>
    <p:sldId id="270" r:id="rId16"/>
    <p:sldId id="308" r:id="rId17"/>
    <p:sldId id="310" r:id="rId18"/>
    <p:sldId id="271" r:id="rId19"/>
    <p:sldId id="272" r:id="rId20"/>
    <p:sldId id="273" r:id="rId21"/>
    <p:sldId id="274" r:id="rId22"/>
    <p:sldId id="275" r:id="rId23"/>
    <p:sldId id="315" r:id="rId24"/>
    <p:sldId id="277" r:id="rId25"/>
    <p:sldId id="278" r:id="rId26"/>
    <p:sldId id="279" r:id="rId27"/>
    <p:sldId id="280" r:id="rId28"/>
    <p:sldId id="281" r:id="rId29"/>
    <p:sldId id="282" r:id="rId30"/>
    <p:sldId id="283" r:id="rId31"/>
    <p:sldId id="284" r:id="rId32"/>
    <p:sldId id="285" r:id="rId33"/>
    <p:sldId id="286" r:id="rId34"/>
    <p:sldId id="287" r:id="rId35"/>
    <p:sldId id="289" r:id="rId36"/>
    <p:sldId id="313" r:id="rId37"/>
    <p:sldId id="290" r:id="rId38"/>
    <p:sldId id="291" r:id="rId39"/>
    <p:sldId id="294" r:id="rId40"/>
    <p:sldId id="317" r:id="rId41"/>
    <p:sldId id="295" r:id="rId42"/>
    <p:sldId id="296" r:id="rId43"/>
    <p:sldId id="297" r:id="rId44"/>
    <p:sldId id="298" r:id="rId45"/>
    <p:sldId id="299" r:id="rId46"/>
    <p:sldId id="300" r:id="rId47"/>
    <p:sldId id="301" r:id="rId48"/>
    <p:sldId id="302" r:id="rId49"/>
    <p:sldId id="303" r:id="rId50"/>
    <p:sldId id="311" r:id="rId51"/>
    <p:sldId id="316" r:id="rId52"/>
    <p:sldId id="304" r:id="rId53"/>
    <p:sldId id="305" r:id="rId54"/>
    <p:sldId id="312" r:id="rId55"/>
    <p:sldId id="306" r:id="rId56"/>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173393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5E5E5E"/>
        </a:solidFill>
        <a:effectLst/>
        <a:uFillTx/>
        <a:latin typeface="+mj-lt"/>
        <a:ea typeface="+mj-ea"/>
        <a:cs typeface="+mj-cs"/>
        <a:sym typeface="Avenir Next Regular"/>
      </a:defRPr>
    </a:lvl1pPr>
    <a:lvl2pPr marL="0" marR="0" indent="457200" algn="l" defTabSz="173393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5E5E5E"/>
        </a:solidFill>
        <a:effectLst/>
        <a:uFillTx/>
        <a:latin typeface="+mj-lt"/>
        <a:ea typeface="+mj-ea"/>
        <a:cs typeface="+mj-cs"/>
        <a:sym typeface="Avenir Next Regular"/>
      </a:defRPr>
    </a:lvl2pPr>
    <a:lvl3pPr marL="0" marR="0" indent="914400" algn="l" defTabSz="173393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5E5E5E"/>
        </a:solidFill>
        <a:effectLst/>
        <a:uFillTx/>
        <a:latin typeface="+mj-lt"/>
        <a:ea typeface="+mj-ea"/>
        <a:cs typeface="+mj-cs"/>
        <a:sym typeface="Avenir Next Regular"/>
      </a:defRPr>
    </a:lvl3pPr>
    <a:lvl4pPr marL="0" marR="0" indent="1371600" algn="l" defTabSz="173393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5E5E5E"/>
        </a:solidFill>
        <a:effectLst/>
        <a:uFillTx/>
        <a:latin typeface="+mj-lt"/>
        <a:ea typeface="+mj-ea"/>
        <a:cs typeface="+mj-cs"/>
        <a:sym typeface="Avenir Next Regular"/>
      </a:defRPr>
    </a:lvl4pPr>
    <a:lvl5pPr marL="0" marR="0" indent="1828800" algn="l" defTabSz="173393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5E5E5E"/>
        </a:solidFill>
        <a:effectLst/>
        <a:uFillTx/>
        <a:latin typeface="+mj-lt"/>
        <a:ea typeface="+mj-ea"/>
        <a:cs typeface="+mj-cs"/>
        <a:sym typeface="Avenir Next Regular"/>
      </a:defRPr>
    </a:lvl5pPr>
    <a:lvl6pPr marL="0" marR="0" indent="2286000" algn="l" defTabSz="173393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5E5E5E"/>
        </a:solidFill>
        <a:effectLst/>
        <a:uFillTx/>
        <a:latin typeface="+mj-lt"/>
        <a:ea typeface="+mj-ea"/>
        <a:cs typeface="+mj-cs"/>
        <a:sym typeface="Avenir Next Regular"/>
      </a:defRPr>
    </a:lvl6pPr>
    <a:lvl7pPr marL="0" marR="0" indent="2743200" algn="l" defTabSz="173393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5E5E5E"/>
        </a:solidFill>
        <a:effectLst/>
        <a:uFillTx/>
        <a:latin typeface="+mj-lt"/>
        <a:ea typeface="+mj-ea"/>
        <a:cs typeface="+mj-cs"/>
        <a:sym typeface="Avenir Next Regular"/>
      </a:defRPr>
    </a:lvl7pPr>
    <a:lvl8pPr marL="0" marR="0" indent="3200400" algn="l" defTabSz="173393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5E5E5E"/>
        </a:solidFill>
        <a:effectLst/>
        <a:uFillTx/>
        <a:latin typeface="+mj-lt"/>
        <a:ea typeface="+mj-ea"/>
        <a:cs typeface="+mj-cs"/>
        <a:sym typeface="Avenir Next Regular"/>
      </a:defRPr>
    </a:lvl8pPr>
    <a:lvl9pPr marL="0" marR="0" indent="3657600" algn="l" defTabSz="173393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5E5E5E"/>
        </a:solidFill>
        <a:effectLst/>
        <a:uFillTx/>
        <a:latin typeface="+mj-lt"/>
        <a:ea typeface="+mj-ea"/>
        <a:cs typeface="+mj-cs"/>
        <a:sym typeface="Avenir Next Regular"/>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254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Helvetica Neue"/>
          <a:ea typeface="Helvetica Neue"/>
          <a:cs typeface="Helvetica Neue"/>
        </a:font>
        <a:srgbClr val="000000"/>
      </a:tcTxStyle>
      <a:tcStyle>
        <a:tcBdr>
          <a:left>
            <a:ln w="12700" cap="flat">
              <a:solidFill>
                <a:srgbClr val="536773"/>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536773"/>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
          <a:latin typeface="Helvetica Neue"/>
          <a:ea typeface="Helvetica Neue"/>
          <a:cs typeface="Helvetica Neue"/>
        </a:font>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254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25400" cap="flat">
              <a:solidFill>
                <a:srgbClr val="CB297B"/>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404" autoAdjust="0"/>
  </p:normalViewPr>
  <p:slideViewPr>
    <p:cSldViewPr snapToGrid="0">
      <p:cViewPr varScale="1">
        <p:scale>
          <a:sx n="49" d="100"/>
          <a:sy n="49" d="100"/>
        </p:scale>
        <p:origin x="24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ink/ink1.xml><?xml version="1.0" encoding="utf-8"?>
<inkml:ink xmlns:inkml="http://www.w3.org/2003/InkML">
  <inkml:definitions>
    <inkml:context xml:id="ctx0">
      <inkml:inkSource xml:id="inkSrc0">
        <inkml:traceFormat>
          <inkml:channel name="X" type="integer" max="1920" units="cm"/>
          <inkml:channel name="Y" type="integer" max="1200" units="cm"/>
          <inkml:channel name="T" type="integer" max="2.14748E9" units="dev"/>
        </inkml:traceFormat>
        <inkml:channelProperties>
          <inkml:channelProperty channel="X" name="resolution" value="63.78738" units="1/cm"/>
          <inkml:channelProperty channel="Y" name="resolution" value="63.82979" units="1/cm"/>
          <inkml:channelProperty channel="T" name="resolution" value="1" units="1/dev"/>
        </inkml:channelProperties>
      </inkml:inkSource>
      <inkml:timestamp xml:id="ts0" timeString="2026-02-19T16:52:14.603"/>
    </inkml:context>
    <inkml:brush xml:id="br0">
      <inkml:brushProperty name="width" value="0.05292" units="cm"/>
      <inkml:brushProperty name="height" value="0.05292" units="cm"/>
      <inkml:brushProperty name="color" value="#FF0000"/>
    </inkml:brush>
  </inkml:definitions>
  <inkml:trace contextRef="#ctx0" brushRef="#br0">19630 19518 0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0273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dirty="0">
                    <a:solidFill>
                      <a:srgbClr val="FF0000"/>
                    </a:solidFill>
                  </a:rPr>
                  <a:t>Add a slide before reviewing the distance between a point and a line.</a:t>
                </a:r>
              </a:p>
              <a:p>
                <a:r>
                  <a:rPr lang="en-US" dirty="0">
                    <a:solidFill>
                      <a:srgbClr val="FF0000"/>
                    </a:solidFill>
                  </a:rPr>
                  <a:t>ADD SOME SCAFFOLDING, REVISIT MATH ROOTS! REVISIT PROJECTION, DOT PRODUCT, DISTANCE TO PLANE</a:t>
                </a:r>
                <a:endParaRPr lang="en-US" dirty="0"/>
              </a:p>
              <a:p>
                <a:endParaRPr lang="en-US" dirty="0"/>
              </a:p>
              <a:p>
                <a:r>
                  <a:rPr lang="en-US" dirty="0"/>
                  <a:t>Here’s the crucial fact:</a:t>
                </a:r>
              </a:p>
              <a:p>
                <a:r>
                  <a:rPr lang="en-US" dirty="0"/>
                  <a:t>If </a:t>
                </a:r>
                <a14:m>
                  <m:oMath xmlns:m="http://schemas.openxmlformats.org/officeDocument/2006/math">
                    <m:d>
                      <m:dPr>
                        <m:sepChr m:val=","/>
                        <m:ctrlPr>
                          <a:rPr lang="ar-AE" sz="2200" b="1">
                            <a:latin typeface="Cambria Math" panose="02040503050406030204" pitchFamily="18" charset="0"/>
                            <a:ea typeface="Helvetica Neue"/>
                            <a:cs typeface="Helvetica Neue"/>
                            <a:sym typeface="Helvetica Neue"/>
                          </a:rPr>
                        </m:ctrlPr>
                      </m:dPr>
                      <m:e>
                        <m:r>
                          <a:rPr lang="ar-AE" sz="2200" b="1">
                            <a:latin typeface="Cambria Math" panose="02040503050406030204" pitchFamily="18" charset="0"/>
                            <a:ea typeface="Helvetica Neue"/>
                            <a:cs typeface="Helvetica Neue"/>
                            <a:sym typeface="Helvetica Neue"/>
                          </a:rPr>
                          <m:t>𝐰</m:t>
                        </m:r>
                      </m:e>
                      <m:e>
                        <m:r>
                          <a:rPr lang="ar-AE" sz="2200" b="0" i="1">
                            <a:latin typeface="Cambria Math" panose="02040503050406030204" pitchFamily="18" charset="0"/>
                            <a:ea typeface="Helvetica Neue"/>
                            <a:cs typeface="Helvetica Neue"/>
                            <a:sym typeface="Helvetica Neue"/>
                          </a:rPr>
                          <m:t>𝑏</m:t>
                        </m:r>
                      </m:e>
                    </m:d>
                  </m:oMath>
                </a14:m>
                <a:r>
                  <a:rPr lang="en-US" dirty="0"/>
                  <a:t>defines a separating hyperplane, then so does</a:t>
                </a:r>
              </a:p>
              <a:p>
                <a:pPr/>
                <a14:m>
                  <m:oMathPara xmlns:m="http://schemas.openxmlformats.org/officeDocument/2006/math">
                    <m:oMath>
                      <m:d>
                        <m:dPr>
                          <m:sepChr m:val=","/>
                          <m:ctrlPr>
                            <a:rPr lang="ar-AE" sz="2200" i="1">
                              <a:latin typeface="Cambria Math" panose="02040503050406030204" pitchFamily="18" charset="0"/>
                              <a:ea typeface="Helvetica Neue"/>
                              <a:cs typeface="Helvetica Neue"/>
                              <a:sym typeface="Helvetica Neue"/>
                            </a:rPr>
                          </m:ctrlPr>
                        </m:dPr>
                        <m:e>
                          <m:r>
                            <a:rPr lang="ar-AE" sz="2200" i="1">
                              <a:latin typeface="Cambria Math" panose="02040503050406030204" pitchFamily="18" charset="0"/>
                              <a:ea typeface="Helvetica Neue"/>
                              <a:cs typeface="Helvetica Neue"/>
                              <a:sym typeface="Helvetica Neue"/>
                            </a:rPr>
                            <m:t>𝛼</m:t>
                          </m:r>
                        </m:e>
                        <m:e>
                          <m:r>
                            <a:rPr lang="ar-AE" sz="2200" b="1" i="0">
                              <a:latin typeface="Cambria Math" panose="02040503050406030204" pitchFamily="18" charset="0"/>
                              <a:ea typeface="Helvetica Neue"/>
                              <a:cs typeface="Helvetica Neue"/>
                              <a:sym typeface="Helvetica Neue"/>
                            </a:rPr>
                            <m:t>𝐰</m:t>
                          </m:r>
                          <m:r>
                            <a:rPr lang="ar-AE" sz="2200" b="0" i="1">
                              <a:latin typeface="Cambria Math" panose="02040503050406030204" pitchFamily="18" charset="0"/>
                              <a:ea typeface="Helvetica Neue"/>
                              <a:cs typeface="Helvetica Neue"/>
                              <a:sym typeface="Helvetica Neue"/>
                            </a:rPr>
                            <m:t>𝛼</m:t>
                          </m:r>
                          <m:r>
                            <a:rPr lang="ar-AE" sz="2200" b="0" i="1">
                              <a:latin typeface="Cambria Math" panose="02040503050406030204" pitchFamily="18" charset="0"/>
                              <a:ea typeface="Helvetica Neue"/>
                              <a:cs typeface="Helvetica Neue"/>
                              <a:sym typeface="Helvetica Neue"/>
                            </a:rPr>
                            <m:t>𝑏</m:t>
                          </m:r>
                        </m:e>
                      </m:d>
                    </m:oMath>
                  </m:oMathPara>
                </a14:m>
                <a:endParaRPr lang="ar-AE" b="0" dirty="0"/>
              </a:p>
              <a:p>
                <a:r>
                  <a:rPr lang="en-US" dirty="0"/>
                  <a:t>for any positive </a:t>
                </a:r>
                <a14:m>
                  <m:oMath xmlns:m="http://schemas.openxmlformats.org/officeDocument/2006/math">
                    <m:r>
                      <a:rPr lang="en-US" sz="2200" i="1">
                        <a:latin typeface="Cambria Math" panose="02040503050406030204" pitchFamily="18" charset="0"/>
                        <a:ea typeface="Helvetica Neue"/>
                        <a:cs typeface="Helvetica Neue"/>
                        <a:sym typeface="Helvetica Neue"/>
                      </a:rPr>
                      <m:t>𝛼</m:t>
                    </m:r>
                  </m:oMath>
                </a14:m>
                <a:r>
                  <a:rPr lang="en-US" dirty="0"/>
                  <a:t>.</a:t>
                </a:r>
              </a:p>
              <a:p>
                <a:r>
                  <a:rPr lang="en-US" dirty="0"/>
                  <a:t>Why?</a:t>
                </a:r>
              </a:p>
              <a:p>
                <a:r>
                  <a:rPr lang="en-US" dirty="0"/>
                  <a:t>Because:</a:t>
                </a:r>
              </a:p>
              <a:p>
                <a:pPr/>
                <a14:m>
                  <m:oMathPara xmlns:m="http://schemas.openxmlformats.org/officeDocument/2006/math">
                    <m:oMath>
                      <m:r>
                        <a:rPr lang="en-US" sz="2200" i="1">
                          <a:latin typeface="Cambria Math" panose="02040503050406030204" pitchFamily="18" charset="0"/>
                          <a:ea typeface="Helvetica Neue"/>
                          <a:cs typeface="Helvetica Neue"/>
                          <a:sym typeface="Helvetica Neue"/>
                        </a:rPr>
                        <m:t>𝛼</m:t>
                      </m:r>
                      <m:d>
                        <m:dPr>
                          <m:ctrlPr>
                            <a:rPr lang="ar-AE" sz="2200" b="1" i="0">
                              <a:latin typeface="Cambria Math" panose="02040503050406030204" pitchFamily="18" charset="0"/>
                              <a:ea typeface="Helvetica Neue"/>
                              <a:cs typeface="Helvetica Neue"/>
                              <a:sym typeface="Helvetica Neue"/>
                            </a:rPr>
                          </m:ctrlPr>
                        </m:dPr>
                        <m:e>
                          <m:r>
                            <a:rPr lang="ar-AE" sz="2200" b="1" i="0">
                              <a:latin typeface="Cambria Math" panose="02040503050406030204" pitchFamily="18" charset="0"/>
                              <a:ea typeface="Helvetica Neue"/>
                              <a:cs typeface="Helvetica Neue"/>
                              <a:sym typeface="Helvetica Neue"/>
                            </a:rPr>
                            <m:t>𝐰</m:t>
                          </m:r>
                          <m:r>
                            <a:rPr lang="ar-AE" sz="2200" b="0" i="0">
                              <a:latin typeface="Cambria Math" panose="02040503050406030204" pitchFamily="18" charset="0"/>
                              <a:ea typeface="Helvetica Neue"/>
                              <a:cs typeface="Helvetica Neue"/>
                              <a:sym typeface="Helvetica Neue"/>
                            </a:rPr>
                            <m:t>⋅</m:t>
                          </m:r>
                          <m:r>
                            <a:rPr lang="ar-AE" sz="2200" b="1" i="0">
                              <a:latin typeface="Cambria Math" panose="02040503050406030204" pitchFamily="18" charset="0"/>
                              <a:ea typeface="Helvetica Neue"/>
                              <a:cs typeface="Helvetica Neue"/>
                              <a:sym typeface="Helvetica Neue"/>
                            </a:rPr>
                            <m:t>𝐱</m:t>
                          </m:r>
                          <m:r>
                            <a:rPr lang="ar-AE" sz="2200" b="0" i="0">
                              <a:latin typeface="Cambria Math" panose="02040503050406030204" pitchFamily="18" charset="0"/>
                              <a:ea typeface="Helvetica Neue"/>
                              <a:cs typeface="Helvetica Neue"/>
                              <a:sym typeface="Helvetica Neue"/>
                            </a:rPr>
                            <m:t>+</m:t>
                          </m:r>
                          <m:r>
                            <a:rPr lang="ar-AE" sz="2200" b="0" i="1">
                              <a:latin typeface="Cambria Math" panose="02040503050406030204" pitchFamily="18" charset="0"/>
                              <a:ea typeface="Helvetica Neue"/>
                              <a:cs typeface="Helvetica Neue"/>
                              <a:sym typeface="Helvetica Neue"/>
                            </a:rPr>
                            <m:t>𝑏</m:t>
                          </m:r>
                        </m:e>
                      </m:d>
                      <m:r>
                        <a:rPr lang="ar-AE" sz="2200" b="0" i="0">
                          <a:latin typeface="Cambria Math" panose="02040503050406030204" pitchFamily="18" charset="0"/>
                          <a:ea typeface="Helvetica Neue"/>
                          <a:cs typeface="Helvetica Neue"/>
                          <a:sym typeface="Helvetica Neue"/>
                        </a:rPr>
                        <m:t>=0</m:t>
                      </m:r>
                    </m:oMath>
                  </m:oMathPara>
                </a14:m>
                <a:endParaRPr lang="ar-AE" b="0" dirty="0"/>
              </a:p>
              <a:p>
                <a:r>
                  <a:rPr lang="en-US" dirty="0"/>
                  <a:t>defines the exact same decision boundary.</a:t>
                </a:r>
              </a:p>
              <a:p>
                <a:r>
                  <a:rPr lang="en-US" dirty="0"/>
                  <a:t>So we are free to scale </a:t>
                </a:r>
                <a14:m>
                  <m:oMath xmlns:m="http://schemas.openxmlformats.org/officeDocument/2006/math">
                    <m:r>
                      <a:rPr lang="en-US" sz="2200" b="1">
                        <a:latin typeface="Cambria Math" panose="02040503050406030204" pitchFamily="18" charset="0"/>
                        <a:ea typeface="Helvetica Neue"/>
                        <a:cs typeface="Helvetica Neue"/>
                        <a:sym typeface="Helvetica Neue"/>
                      </a:rPr>
                      <m:t>𝐰</m:t>
                    </m:r>
                  </m:oMath>
                </a14:m>
                <a:r>
                  <a:rPr lang="en-US" dirty="0"/>
                  <a:t>and </a:t>
                </a:r>
                <a14:m>
                  <m:oMath xmlns:m="http://schemas.openxmlformats.org/officeDocument/2006/math">
                    <m:r>
                      <a:rPr lang="en-US" sz="2200" i="1">
                        <a:latin typeface="Cambria Math" panose="02040503050406030204" pitchFamily="18" charset="0"/>
                        <a:ea typeface="Helvetica Neue"/>
                        <a:cs typeface="Helvetica Neue"/>
                        <a:sym typeface="Helvetica Neue"/>
                      </a:rPr>
                      <m:t>𝑏</m:t>
                    </m:r>
                  </m:oMath>
                </a14:m>
                <a:r>
                  <a:rPr lang="en-US" dirty="0"/>
                  <a:t>however we like.</a:t>
                </a:r>
              </a:p>
              <a:p>
                <a:br>
                  <a:rPr lang="en-US" dirty="0"/>
                </a:br>
                <a:endParaRPr lang="en-US" dirty="0"/>
              </a:p>
              <a:p>
                <a:r>
                  <a:rPr lang="en-US" b="1" dirty="0"/>
                  <a:t>Step 3: Use That Freedom to Fix the Numerator</a:t>
                </a:r>
              </a:p>
              <a:p>
                <a:r>
                  <a:rPr lang="en-US" dirty="0"/>
                  <a:t>Since we can scale arbitrarily, we choose a convenient normalization:</a:t>
                </a:r>
              </a:p>
              <a:p>
                <a:pPr/>
                <a14:m>
                  <m:oMathPara xmlns:m="http://schemas.openxmlformats.org/officeDocument/2006/math">
                    <m:oMath>
                      <m:limLow>
                        <m:limLowPr>
                          <m:ctrlPr>
                            <a:rPr lang="ar-AE" sz="2200" i="1">
                              <a:latin typeface="Cambria Math" panose="02040503050406030204" pitchFamily="18" charset="0"/>
                              <a:ea typeface="Helvetica Neue"/>
                              <a:cs typeface="Helvetica Neue"/>
                              <a:sym typeface="Helvetica Neue"/>
                            </a:rPr>
                          </m:ctrlPr>
                        </m:limLowPr>
                        <m:e>
                          <m:func>
                            <m:funcPr>
                              <m:ctrlPr>
                                <a:rPr lang="en-US" sz="2200">
                                  <a:latin typeface="Cambria Math" panose="02040503050406030204" pitchFamily="18" charset="0"/>
                                  <a:ea typeface="Helvetica Neue"/>
                                  <a:cs typeface="Helvetica Neue"/>
                                  <a:sym typeface="Helvetica Neue"/>
                                </a:rPr>
                              </m:ctrlPr>
                            </m:funcPr>
                            <m:fName>
                              <m:r>
                                <m:rPr>
                                  <m:sty m:val="p"/>
                                </m:rPr>
                                <a:rPr lang="en-US" sz="2200">
                                  <a:latin typeface="Cambria Math" panose="02040503050406030204" pitchFamily="18" charset="0"/>
                                  <a:ea typeface="Helvetica Neue"/>
                                  <a:cs typeface="Helvetica Neue"/>
                                  <a:sym typeface="Helvetica Neue"/>
                                </a:rPr>
                                <m:t>min</m:t>
                              </m:r>
                            </m:fName>
                            <m:e/>
                          </m:func>
                        </m:e>
                        <m:lim>
                          <m:r>
                            <a:rPr lang="ar-AE" sz="2200" i="1">
                              <a:latin typeface="Cambria Math" panose="02040503050406030204" pitchFamily="18" charset="0"/>
                              <a:ea typeface="Helvetica Neue"/>
                              <a:cs typeface="Helvetica Neue"/>
                              <a:sym typeface="Helvetica Neue"/>
                            </a:rPr>
                            <m:t>𝑖</m:t>
                          </m:r>
                        </m:lim>
                      </m:limLow>
                      <m:sSub>
                        <m:sSubPr>
                          <m:ctrlPr>
                            <a:rPr lang="ar-AE" sz="2200" i="1">
                              <a:latin typeface="Cambria Math" panose="02040503050406030204" pitchFamily="18" charset="0"/>
                              <a:ea typeface="Helvetica Neue"/>
                              <a:cs typeface="Helvetica Neue"/>
                              <a:sym typeface="Helvetica Neue"/>
                            </a:rPr>
                          </m:ctrlPr>
                        </m:sSubPr>
                        <m:e>
                          <m:r>
                            <a:rPr lang="ar-AE" sz="2200" i="1">
                              <a:latin typeface="Cambria Math" panose="02040503050406030204" pitchFamily="18" charset="0"/>
                              <a:ea typeface="Helvetica Neue"/>
                              <a:cs typeface="Helvetica Neue"/>
                              <a:sym typeface="Helvetica Neue"/>
                            </a:rPr>
                            <m:t>𝑦</m:t>
                          </m:r>
                        </m:e>
                        <m:sub>
                          <m:r>
                            <a:rPr lang="ar-AE" sz="2200" i="1">
                              <a:latin typeface="Cambria Math" panose="02040503050406030204" pitchFamily="18" charset="0"/>
                              <a:ea typeface="Helvetica Neue"/>
                              <a:cs typeface="Helvetica Neue"/>
                              <a:sym typeface="Helvetica Neue"/>
                            </a:rPr>
                            <m:t>𝑖</m:t>
                          </m:r>
                        </m:sub>
                      </m:sSub>
                      <m:d>
                        <m:dPr>
                          <m:ctrlPr>
                            <a:rPr lang="ar-AE" sz="2200" b="1" i="0">
                              <a:latin typeface="Cambria Math" panose="02040503050406030204" pitchFamily="18" charset="0"/>
                              <a:ea typeface="Helvetica Neue"/>
                              <a:cs typeface="Helvetica Neue"/>
                              <a:sym typeface="Helvetica Neue"/>
                            </a:rPr>
                          </m:ctrlPr>
                        </m:dPr>
                        <m:e>
                          <m:r>
                            <a:rPr lang="ar-AE" sz="2200" b="1" i="0">
                              <a:latin typeface="Cambria Math" panose="02040503050406030204" pitchFamily="18" charset="0"/>
                              <a:ea typeface="Helvetica Neue"/>
                              <a:cs typeface="Helvetica Neue"/>
                              <a:sym typeface="Helvetica Neue"/>
                            </a:rPr>
                            <m:t>𝐰</m:t>
                          </m:r>
                          <m:r>
                            <a:rPr lang="ar-AE" sz="2200" b="0" i="0">
                              <a:latin typeface="Cambria Math" panose="02040503050406030204" pitchFamily="18" charset="0"/>
                              <a:ea typeface="Helvetica Neue"/>
                              <a:cs typeface="Helvetica Neue"/>
                              <a:sym typeface="Helvetica Neue"/>
                            </a:rPr>
                            <m:t>⋅</m:t>
                          </m:r>
                          <m:sSub>
                            <m:sSubPr>
                              <m:ctrlPr>
                                <a:rPr lang="ar-AE" sz="2200" b="1" i="0">
                                  <a:latin typeface="Cambria Math" panose="02040503050406030204" pitchFamily="18" charset="0"/>
                                  <a:ea typeface="Helvetica Neue"/>
                                  <a:cs typeface="Helvetica Neue"/>
                                  <a:sym typeface="Helvetica Neue"/>
                                </a:rPr>
                              </m:ctrlPr>
                            </m:sSubPr>
                            <m:e>
                              <m:r>
                                <a:rPr lang="ar-AE" sz="2200" b="1" i="0">
                                  <a:latin typeface="Cambria Math" panose="02040503050406030204" pitchFamily="18" charset="0"/>
                                  <a:ea typeface="Helvetica Neue"/>
                                  <a:cs typeface="Helvetica Neue"/>
                                  <a:sym typeface="Helvetica Neue"/>
                                </a:rPr>
                                <m:t>𝐱</m:t>
                              </m:r>
                            </m:e>
                            <m:sub>
                              <m:r>
                                <a:rPr lang="ar-AE" sz="2200" b="0" i="1">
                                  <a:latin typeface="Cambria Math" panose="02040503050406030204" pitchFamily="18" charset="0"/>
                                  <a:ea typeface="Helvetica Neue"/>
                                  <a:cs typeface="Helvetica Neue"/>
                                  <a:sym typeface="Helvetica Neue"/>
                                </a:rPr>
                                <m:t>𝑖</m:t>
                              </m:r>
                            </m:sub>
                          </m:sSub>
                          <m:r>
                            <a:rPr lang="ar-AE" sz="2200" b="0" i="0">
                              <a:latin typeface="Cambria Math" panose="02040503050406030204" pitchFamily="18" charset="0"/>
                              <a:ea typeface="Helvetica Neue"/>
                              <a:cs typeface="Helvetica Neue"/>
                              <a:sym typeface="Helvetica Neue"/>
                            </a:rPr>
                            <m:t>+</m:t>
                          </m:r>
                          <m:r>
                            <a:rPr lang="ar-AE" sz="2200" b="0" i="1">
                              <a:latin typeface="Cambria Math" panose="02040503050406030204" pitchFamily="18" charset="0"/>
                              <a:ea typeface="Helvetica Neue"/>
                              <a:cs typeface="Helvetica Neue"/>
                              <a:sym typeface="Helvetica Neue"/>
                            </a:rPr>
                            <m:t>𝑏</m:t>
                          </m:r>
                        </m:e>
                      </m:d>
                      <m:r>
                        <a:rPr lang="ar-AE" sz="2200" b="0" i="0">
                          <a:latin typeface="Cambria Math" panose="02040503050406030204" pitchFamily="18" charset="0"/>
                          <a:ea typeface="Helvetica Neue"/>
                          <a:cs typeface="Helvetica Neue"/>
                          <a:sym typeface="Helvetica Neue"/>
                        </a:rPr>
                        <m:t>=1</m:t>
                      </m:r>
                    </m:oMath>
                  </m:oMathPara>
                </a14:m>
                <a:endParaRPr lang="ar-AE" b="0" dirty="0"/>
              </a:p>
              <a:p>
                <a:r>
                  <a:rPr lang="en-US" dirty="0"/>
                  <a:t>This means:</a:t>
                </a:r>
              </a:p>
              <a:p>
                <a:r>
                  <a:rPr lang="en-US" dirty="0"/>
                  <a:t>The closest correctly classified point satisfies</a:t>
                </a:r>
              </a:p>
              <a:p>
                <a:pPr/>
                <a14:m>
                  <m:oMathPara xmlns:m="http://schemas.openxmlformats.org/officeDocument/2006/math">
                    <m:oMath>
                      <m:sSub>
                        <m:sSubPr>
                          <m:ctrlPr>
                            <a:rPr lang="ar-AE" sz="2200" i="1">
                              <a:latin typeface="Cambria Math" panose="02040503050406030204" pitchFamily="18" charset="0"/>
                              <a:ea typeface="Helvetica Neue"/>
                              <a:cs typeface="Helvetica Neue"/>
                              <a:sym typeface="Helvetica Neue"/>
                            </a:rPr>
                          </m:ctrlPr>
                        </m:sSubPr>
                        <m:e>
                          <m:r>
                            <a:rPr lang="ar-AE" sz="2200" i="1">
                              <a:latin typeface="Cambria Math" panose="02040503050406030204" pitchFamily="18" charset="0"/>
                              <a:ea typeface="Helvetica Neue"/>
                              <a:cs typeface="Helvetica Neue"/>
                              <a:sym typeface="Helvetica Neue"/>
                            </a:rPr>
                            <m:t>𝑦</m:t>
                          </m:r>
                        </m:e>
                        <m:sub>
                          <m:r>
                            <a:rPr lang="ar-AE" sz="2200" i="1">
                              <a:latin typeface="Cambria Math" panose="02040503050406030204" pitchFamily="18" charset="0"/>
                              <a:ea typeface="Helvetica Neue"/>
                              <a:cs typeface="Helvetica Neue"/>
                              <a:sym typeface="Helvetica Neue"/>
                            </a:rPr>
                            <m:t>𝑖</m:t>
                          </m:r>
                        </m:sub>
                      </m:sSub>
                      <m:d>
                        <m:dPr>
                          <m:ctrlPr>
                            <a:rPr lang="ar-AE" sz="2200" b="1" i="0">
                              <a:latin typeface="Cambria Math" panose="02040503050406030204" pitchFamily="18" charset="0"/>
                              <a:ea typeface="Helvetica Neue"/>
                              <a:cs typeface="Helvetica Neue"/>
                              <a:sym typeface="Helvetica Neue"/>
                            </a:rPr>
                          </m:ctrlPr>
                        </m:dPr>
                        <m:e>
                          <m:r>
                            <a:rPr lang="ar-AE" sz="2200" b="1" i="0">
                              <a:latin typeface="Cambria Math" panose="02040503050406030204" pitchFamily="18" charset="0"/>
                              <a:ea typeface="Helvetica Neue"/>
                              <a:cs typeface="Helvetica Neue"/>
                              <a:sym typeface="Helvetica Neue"/>
                            </a:rPr>
                            <m:t>𝐰</m:t>
                          </m:r>
                          <m:r>
                            <a:rPr lang="ar-AE" sz="2200" b="0" i="0">
                              <a:latin typeface="Cambria Math" panose="02040503050406030204" pitchFamily="18" charset="0"/>
                              <a:ea typeface="Helvetica Neue"/>
                              <a:cs typeface="Helvetica Neue"/>
                              <a:sym typeface="Helvetica Neue"/>
                            </a:rPr>
                            <m:t>⋅</m:t>
                          </m:r>
                          <m:sSub>
                            <m:sSubPr>
                              <m:ctrlPr>
                                <a:rPr lang="ar-AE" sz="2200" b="1" i="0">
                                  <a:latin typeface="Cambria Math" panose="02040503050406030204" pitchFamily="18" charset="0"/>
                                  <a:ea typeface="Helvetica Neue"/>
                                  <a:cs typeface="Helvetica Neue"/>
                                  <a:sym typeface="Helvetica Neue"/>
                                </a:rPr>
                              </m:ctrlPr>
                            </m:sSubPr>
                            <m:e>
                              <m:r>
                                <a:rPr lang="ar-AE" sz="2200" b="1" i="0">
                                  <a:latin typeface="Cambria Math" panose="02040503050406030204" pitchFamily="18" charset="0"/>
                                  <a:ea typeface="Helvetica Neue"/>
                                  <a:cs typeface="Helvetica Neue"/>
                                  <a:sym typeface="Helvetica Neue"/>
                                </a:rPr>
                                <m:t>𝐱</m:t>
                              </m:r>
                            </m:e>
                            <m:sub>
                              <m:r>
                                <a:rPr lang="ar-AE" sz="2200" b="0" i="1">
                                  <a:latin typeface="Cambria Math" panose="02040503050406030204" pitchFamily="18" charset="0"/>
                                  <a:ea typeface="Helvetica Neue"/>
                                  <a:cs typeface="Helvetica Neue"/>
                                  <a:sym typeface="Helvetica Neue"/>
                                </a:rPr>
                                <m:t>𝑖</m:t>
                              </m:r>
                            </m:sub>
                          </m:sSub>
                          <m:r>
                            <a:rPr lang="ar-AE" sz="2200" b="0" i="0">
                              <a:latin typeface="Cambria Math" panose="02040503050406030204" pitchFamily="18" charset="0"/>
                              <a:ea typeface="Helvetica Neue"/>
                              <a:cs typeface="Helvetica Neue"/>
                              <a:sym typeface="Helvetica Neue"/>
                            </a:rPr>
                            <m:t>+</m:t>
                          </m:r>
                          <m:r>
                            <a:rPr lang="ar-AE" sz="2200" b="0" i="1">
                              <a:latin typeface="Cambria Math" panose="02040503050406030204" pitchFamily="18" charset="0"/>
                              <a:ea typeface="Helvetica Neue"/>
                              <a:cs typeface="Helvetica Neue"/>
                              <a:sym typeface="Helvetica Neue"/>
                            </a:rPr>
                            <m:t>𝑏</m:t>
                          </m:r>
                        </m:e>
                      </m:d>
                      <m:r>
                        <a:rPr lang="ar-AE" sz="2200" b="0" i="0">
                          <a:latin typeface="Cambria Math" panose="02040503050406030204" pitchFamily="18" charset="0"/>
                          <a:ea typeface="Helvetica Neue"/>
                          <a:cs typeface="Helvetica Neue"/>
                          <a:sym typeface="Helvetica Neue"/>
                        </a:rPr>
                        <m:t>=1</m:t>
                      </m:r>
                    </m:oMath>
                  </m:oMathPara>
                </a14:m>
                <a:endParaRPr lang="ar-AE" b="0" dirty="0"/>
              </a:p>
              <a:p>
                <a:r>
                  <a:rPr lang="en-US" dirty="0"/>
                  <a:t>This is not a restriction.</a:t>
                </a:r>
                <a:br>
                  <a:rPr lang="en-US" dirty="0"/>
                </a:br>
                <a:r>
                  <a:rPr lang="en-US" dirty="0"/>
                  <a:t>It’s just choosing a scale.</a:t>
                </a:r>
              </a:p>
              <a:p>
                <a:endParaRPr lang="en-US" dirty="0"/>
              </a:p>
              <a:p>
                <a:r>
                  <a:rPr lang="en-US" b="1" dirty="0"/>
                  <a:t>Step 5: Why This Works</a:t>
                </a:r>
              </a:p>
              <a:p>
                <a:r>
                  <a:rPr lang="en-US" dirty="0"/>
                  <a:t>Originally:</a:t>
                </a:r>
              </a:p>
              <a:p>
                <a:pPr/>
                <a14:m>
                  <m:oMathPara xmlns:m="http://schemas.openxmlformats.org/officeDocument/2006/math">
                    <m:oMath>
                      <m:r>
                        <m:rPr>
                          <m:nor/>
                        </m:rPr>
                        <a:rPr lang="en-US" b="0" i="0"/>
                        <m:t>margin</m:t>
                      </m:r>
                      <m:r>
                        <a:rPr lang="en-US" sz="2200" b="0" i="0">
                          <a:latin typeface="Cambria Math" panose="02040503050406030204" pitchFamily="18" charset="0"/>
                          <a:ea typeface="Helvetica Neue"/>
                          <a:cs typeface="Helvetica Neue"/>
                          <a:sym typeface="Helvetica Neue"/>
                        </a:rPr>
                        <m:t>=</m:t>
                      </m:r>
                      <m:limLow>
                        <m:limLowPr>
                          <m:ctrlPr>
                            <a:rPr lang="ar-AE" sz="2200" b="0" i="1">
                              <a:latin typeface="Cambria Math" panose="02040503050406030204" pitchFamily="18" charset="0"/>
                              <a:ea typeface="Helvetica Neue"/>
                              <a:cs typeface="Helvetica Neue"/>
                              <a:sym typeface="Helvetica Neue"/>
                            </a:rPr>
                          </m:ctrlPr>
                        </m:limLowPr>
                        <m:e>
                          <m:func>
                            <m:funcPr>
                              <m:ctrlPr>
                                <a:rPr lang="en-US" sz="2200" b="0" i="0">
                                  <a:latin typeface="Cambria Math" panose="02040503050406030204" pitchFamily="18" charset="0"/>
                                  <a:ea typeface="Helvetica Neue"/>
                                  <a:cs typeface="Helvetica Neue"/>
                                  <a:sym typeface="Helvetica Neue"/>
                                </a:rPr>
                              </m:ctrlPr>
                            </m:funcPr>
                            <m:fName>
                              <m:r>
                                <m:rPr>
                                  <m:sty m:val="p"/>
                                </m:rPr>
                                <a:rPr lang="en-US" sz="2200" b="0" i="0">
                                  <a:latin typeface="Cambria Math" panose="02040503050406030204" pitchFamily="18" charset="0"/>
                                  <a:ea typeface="Helvetica Neue"/>
                                  <a:cs typeface="Helvetica Neue"/>
                                  <a:sym typeface="Helvetica Neue"/>
                                </a:rPr>
                                <m:t>min</m:t>
                              </m:r>
                            </m:fName>
                            <m:e/>
                          </m:func>
                        </m:e>
                        <m:lim>
                          <m:r>
                            <a:rPr lang="ar-AE" sz="2200" b="0" i="1">
                              <a:latin typeface="Cambria Math" panose="02040503050406030204" pitchFamily="18" charset="0"/>
                              <a:ea typeface="Helvetica Neue"/>
                              <a:cs typeface="Helvetica Neue"/>
                              <a:sym typeface="Helvetica Neue"/>
                            </a:rPr>
                            <m:t>𝑖</m:t>
                          </m:r>
                        </m:lim>
                      </m:limLow>
                      <m:f>
                        <m:fPr>
                          <m:ctrlPr>
                            <a:rPr lang="ar-AE" sz="2200" b="0" i="1">
                              <a:latin typeface="Cambria Math" panose="02040503050406030204" pitchFamily="18" charset="0"/>
                              <a:ea typeface="Helvetica Neue"/>
                              <a:cs typeface="Helvetica Neue"/>
                              <a:sym typeface="Helvetica Neue"/>
                            </a:rPr>
                          </m:ctrlPr>
                        </m:fPr>
                        <m:num>
                          <m:sSub>
                            <m:sSubPr>
                              <m:ctrlPr>
                                <a:rPr lang="ar-AE" sz="2200" b="0" i="1">
                                  <a:latin typeface="Cambria Math" panose="02040503050406030204" pitchFamily="18" charset="0"/>
                                  <a:ea typeface="Helvetica Neue"/>
                                  <a:cs typeface="Helvetica Neue"/>
                                  <a:sym typeface="Helvetica Neue"/>
                                </a:rPr>
                              </m:ctrlPr>
                            </m:sSubPr>
                            <m:e>
                              <m:r>
                                <a:rPr lang="ar-AE" sz="2200" b="0" i="1">
                                  <a:latin typeface="Cambria Math" panose="02040503050406030204" pitchFamily="18" charset="0"/>
                                  <a:ea typeface="Helvetica Neue"/>
                                  <a:cs typeface="Helvetica Neue"/>
                                  <a:sym typeface="Helvetica Neue"/>
                                </a:rPr>
                                <m:t>𝑦</m:t>
                              </m:r>
                            </m:e>
                            <m:sub>
                              <m:r>
                                <a:rPr lang="ar-AE" sz="2200" b="0" i="1">
                                  <a:latin typeface="Cambria Math" panose="02040503050406030204" pitchFamily="18" charset="0"/>
                                  <a:ea typeface="Helvetica Neue"/>
                                  <a:cs typeface="Helvetica Neue"/>
                                  <a:sym typeface="Helvetica Neue"/>
                                </a:rPr>
                                <m:t>𝑖</m:t>
                              </m:r>
                            </m:sub>
                          </m:sSub>
                          <m:d>
                            <m:dPr>
                              <m:ctrlPr>
                                <a:rPr lang="ar-AE" sz="2200" b="1" i="0">
                                  <a:latin typeface="Cambria Math" panose="02040503050406030204" pitchFamily="18" charset="0"/>
                                  <a:ea typeface="Helvetica Neue"/>
                                  <a:cs typeface="Helvetica Neue"/>
                                  <a:sym typeface="Helvetica Neue"/>
                                </a:rPr>
                              </m:ctrlPr>
                            </m:dPr>
                            <m:e>
                              <m:r>
                                <a:rPr lang="ar-AE" sz="2200" b="1" i="0">
                                  <a:latin typeface="Cambria Math" panose="02040503050406030204" pitchFamily="18" charset="0"/>
                                  <a:ea typeface="Helvetica Neue"/>
                                  <a:cs typeface="Helvetica Neue"/>
                                  <a:sym typeface="Helvetica Neue"/>
                                </a:rPr>
                                <m:t>𝐰</m:t>
                              </m:r>
                              <m:r>
                                <a:rPr lang="ar-AE" sz="2200" b="0" i="0">
                                  <a:latin typeface="Cambria Math" panose="02040503050406030204" pitchFamily="18" charset="0"/>
                                  <a:ea typeface="Helvetica Neue"/>
                                  <a:cs typeface="Helvetica Neue"/>
                                  <a:sym typeface="Helvetica Neue"/>
                                </a:rPr>
                                <m:t>⋅</m:t>
                              </m:r>
                              <m:sSub>
                                <m:sSubPr>
                                  <m:ctrlPr>
                                    <a:rPr lang="ar-AE" sz="2200" b="1" i="0">
                                      <a:latin typeface="Cambria Math" panose="02040503050406030204" pitchFamily="18" charset="0"/>
                                      <a:ea typeface="Helvetica Neue"/>
                                      <a:cs typeface="Helvetica Neue"/>
                                      <a:sym typeface="Helvetica Neue"/>
                                    </a:rPr>
                                  </m:ctrlPr>
                                </m:sSubPr>
                                <m:e>
                                  <m:r>
                                    <a:rPr lang="ar-AE" sz="2200" b="1" i="0">
                                      <a:latin typeface="Cambria Math" panose="02040503050406030204" pitchFamily="18" charset="0"/>
                                      <a:ea typeface="Helvetica Neue"/>
                                      <a:cs typeface="Helvetica Neue"/>
                                      <a:sym typeface="Helvetica Neue"/>
                                    </a:rPr>
                                    <m:t>𝐱</m:t>
                                  </m:r>
                                </m:e>
                                <m:sub>
                                  <m:r>
                                    <a:rPr lang="ar-AE" sz="2200" b="0" i="1">
                                      <a:latin typeface="Cambria Math" panose="02040503050406030204" pitchFamily="18" charset="0"/>
                                      <a:ea typeface="Helvetica Neue"/>
                                      <a:cs typeface="Helvetica Neue"/>
                                      <a:sym typeface="Helvetica Neue"/>
                                    </a:rPr>
                                    <m:t>𝑖</m:t>
                                  </m:r>
                                </m:sub>
                              </m:sSub>
                              <m:r>
                                <a:rPr lang="ar-AE" sz="2200" b="0" i="0">
                                  <a:latin typeface="Cambria Math" panose="02040503050406030204" pitchFamily="18" charset="0"/>
                                  <a:ea typeface="Helvetica Neue"/>
                                  <a:cs typeface="Helvetica Neue"/>
                                  <a:sym typeface="Helvetica Neue"/>
                                </a:rPr>
                                <m:t>+</m:t>
                              </m:r>
                              <m:r>
                                <a:rPr lang="ar-AE" sz="2200" b="0" i="1">
                                  <a:latin typeface="Cambria Math" panose="02040503050406030204" pitchFamily="18" charset="0"/>
                                  <a:ea typeface="Helvetica Neue"/>
                                  <a:cs typeface="Helvetica Neue"/>
                                  <a:sym typeface="Helvetica Neue"/>
                                </a:rPr>
                                <m:t>𝑏</m:t>
                              </m:r>
                            </m:e>
                          </m:d>
                        </m:num>
                        <m:den>
                          <m:r>
                            <a:rPr lang="ar-AE" sz="2200" b="0" i="0">
                              <a:latin typeface="Cambria Math" panose="02040503050406030204" pitchFamily="18" charset="0"/>
                              <a:ea typeface="Helvetica Neue"/>
                              <a:cs typeface="Helvetica Neue"/>
                              <a:sym typeface="Helvetica Neue"/>
                            </a:rPr>
                            <m:t>∥</m:t>
                          </m:r>
                          <m:r>
                            <a:rPr lang="ar-AE" sz="2200" b="1" i="0">
                              <a:latin typeface="Cambria Math" panose="02040503050406030204" pitchFamily="18" charset="0"/>
                              <a:ea typeface="Helvetica Neue"/>
                              <a:cs typeface="Helvetica Neue"/>
                              <a:sym typeface="Helvetica Neue"/>
                            </a:rPr>
                            <m:t>𝐰</m:t>
                          </m:r>
                          <m:r>
                            <a:rPr lang="ar-AE" sz="2200" b="0" i="0">
                              <a:latin typeface="Cambria Math" panose="02040503050406030204" pitchFamily="18" charset="0"/>
                              <a:ea typeface="Helvetica Neue"/>
                              <a:cs typeface="Helvetica Neue"/>
                              <a:sym typeface="Helvetica Neue"/>
                            </a:rPr>
                            <m:t>∥</m:t>
                          </m:r>
                        </m:den>
                      </m:f>
                    </m:oMath>
                  </m:oMathPara>
                </a14:m>
                <a:endParaRPr lang="ar-AE" b="0" dirty="0"/>
              </a:p>
              <a:p>
                <a:r>
                  <a:rPr lang="en-US" dirty="0"/>
                  <a:t>After normalization:</a:t>
                </a:r>
              </a:p>
              <a:p>
                <a:pPr/>
                <a14:m>
                  <m:oMathPara xmlns:m="http://schemas.openxmlformats.org/officeDocument/2006/math">
                    <m:oMath>
                      <m:r>
                        <m:rPr>
                          <m:nor/>
                        </m:rPr>
                        <a:rPr lang="en-US" b="0" i="0"/>
                        <m:t>margin</m:t>
                      </m:r>
                      <m:r>
                        <a:rPr lang="en-US" sz="2200" b="0" i="0">
                          <a:latin typeface="Cambria Math" panose="02040503050406030204" pitchFamily="18" charset="0"/>
                          <a:ea typeface="Helvetica Neue"/>
                          <a:cs typeface="Helvetica Neue"/>
                          <a:sym typeface="Helvetica Neue"/>
                        </a:rPr>
                        <m:t>=</m:t>
                      </m:r>
                      <m:f>
                        <m:fPr>
                          <m:ctrlPr>
                            <a:rPr lang="ar-AE" sz="2200" b="0" i="0">
                              <a:latin typeface="Cambria Math" panose="02040503050406030204" pitchFamily="18" charset="0"/>
                              <a:ea typeface="Helvetica Neue"/>
                              <a:cs typeface="Helvetica Neue"/>
                              <a:sym typeface="Helvetica Neue"/>
                            </a:rPr>
                          </m:ctrlPr>
                        </m:fPr>
                        <m:num>
                          <m:r>
                            <a:rPr lang="ar-AE" sz="2200" b="0" i="0">
                              <a:latin typeface="Cambria Math" panose="02040503050406030204" pitchFamily="18" charset="0"/>
                              <a:ea typeface="Helvetica Neue"/>
                              <a:cs typeface="Helvetica Neue"/>
                              <a:sym typeface="Helvetica Neue"/>
                            </a:rPr>
                            <m:t>1</m:t>
                          </m:r>
                        </m:num>
                        <m:den>
                          <m:r>
                            <a:rPr lang="ar-AE" sz="2200" b="0" i="0">
                              <a:latin typeface="Cambria Math" panose="02040503050406030204" pitchFamily="18" charset="0"/>
                              <a:ea typeface="Helvetica Neue"/>
                              <a:cs typeface="Helvetica Neue"/>
                              <a:sym typeface="Helvetica Neue"/>
                            </a:rPr>
                            <m:t>∥</m:t>
                          </m:r>
                          <m:r>
                            <a:rPr lang="ar-AE" sz="2200" b="1" i="0">
                              <a:latin typeface="Cambria Math" panose="02040503050406030204" pitchFamily="18" charset="0"/>
                              <a:ea typeface="Helvetica Neue"/>
                              <a:cs typeface="Helvetica Neue"/>
                              <a:sym typeface="Helvetica Neue"/>
                            </a:rPr>
                            <m:t>𝐰</m:t>
                          </m:r>
                          <m:r>
                            <a:rPr lang="ar-AE" sz="2200" b="0" i="0">
                              <a:latin typeface="Cambria Math" panose="02040503050406030204" pitchFamily="18" charset="0"/>
                              <a:ea typeface="Helvetica Neue"/>
                              <a:cs typeface="Helvetica Neue"/>
                              <a:sym typeface="Helvetica Neue"/>
                            </a:rPr>
                            <m:t>∥</m:t>
                          </m:r>
                        </m:den>
                      </m:f>
                    </m:oMath>
                  </m:oMathPara>
                </a14:m>
                <a:endParaRPr lang="ar-AE" b="0" dirty="0"/>
              </a:p>
              <a:p>
                <a:r>
                  <a:rPr lang="en-US" dirty="0"/>
                  <a:t>The numerator disappears because we fixed it.</a:t>
                </a:r>
              </a:p>
              <a:p>
                <a:endParaRPr lang="en-US" dirty="0"/>
              </a:p>
              <a:p>
                <a:endParaRPr lang="en-US" dirty="0"/>
              </a:p>
            </p:txBody>
          </p:sp>
        </mc:Choice>
        <mc:Fallback>
          <p:sp>
            <p:nvSpPr>
              <p:cNvPr id="3" name="Notes Placeholder 2"/>
              <p:cNvSpPr>
                <a:spLocks noGrp="1"/>
              </p:cNvSpPr>
              <p:nvPr>
                <p:ph type="body" idx="1"/>
              </p:nvPr>
            </p:nvSpPr>
            <p:spPr/>
            <p:txBody>
              <a:bodyPr/>
              <a:lstStyle/>
              <a:p>
                <a:r>
                  <a:rPr lang="en-US" dirty="0">
                    <a:solidFill>
                      <a:srgbClr val="FF0000"/>
                    </a:solidFill>
                  </a:rPr>
                  <a:t>Add a slide before reviewing the distance between a point and a line.</a:t>
                </a:r>
              </a:p>
              <a:p>
                <a:r>
                  <a:rPr lang="en-US" dirty="0">
                    <a:solidFill>
                      <a:srgbClr val="FF0000"/>
                    </a:solidFill>
                  </a:rPr>
                  <a:t>ADD SOME SCAFFOLDING, REVISIT MATH ROOTS! REVISIT PROJECTION, DOT PRODUCT, DISTANCE TO PLANE</a:t>
                </a:r>
                <a:endParaRPr lang="en-US" dirty="0"/>
              </a:p>
              <a:p>
                <a:endParaRPr lang="en-US" dirty="0"/>
              </a:p>
              <a:p>
                <a:r>
                  <a:rPr lang="en-US" dirty="0"/>
                  <a:t>Here’s the crucial fact:</a:t>
                </a:r>
              </a:p>
              <a:p>
                <a:r>
                  <a:rPr lang="en-US" dirty="0"/>
                  <a:t>If </a:t>
                </a:r>
                <a:r>
                  <a:rPr lang="ar-AE" sz="2200" b="1" i="0">
                    <a:latin typeface="Cambria Math" panose="02040503050406030204" pitchFamily="18" charset="0"/>
                    <a:sym typeface="Helvetica Neue"/>
                  </a:rPr>
                  <a:t>(</a:t>
                </a:r>
                <a:r>
                  <a:rPr lang="ar-AE" sz="2200" b="1" i="0">
                    <a:latin typeface="Cambria Math" panose="02040503050406030204" pitchFamily="18" charset="0"/>
                    <a:ea typeface="Helvetica Neue"/>
                    <a:cs typeface="Helvetica Neue"/>
                    <a:sym typeface="Helvetica Neue"/>
                  </a:rPr>
                  <a:t>𝐰ⓜ,</a:t>
                </a:r>
                <a:r>
                  <a:rPr lang="ar-AE" sz="2200" b="0" i="0">
                    <a:latin typeface="Cambria Math" panose="02040503050406030204" pitchFamily="18" charset="0"/>
                    <a:ea typeface="Helvetica Neue"/>
                    <a:cs typeface="Helvetica Neue"/>
                    <a:sym typeface="Helvetica Neue"/>
                  </a:rPr>
                  <a:t>𝑏</a:t>
                </a:r>
                <a:r>
                  <a:rPr lang="ar-AE" sz="2200" b="1" i="0">
                    <a:latin typeface="Cambria Math" panose="02040503050406030204" pitchFamily="18" charset="0"/>
                    <a:ea typeface="Helvetica Neue"/>
                    <a:cs typeface="Helvetica Neue"/>
                    <a:sym typeface="Helvetica Neue"/>
                  </a:rPr>
                  <a:t>)</a:t>
                </a:r>
                <a:r>
                  <a:rPr lang="en-US" dirty="0"/>
                  <a:t>defines a separating hyperplane, then so does</a:t>
                </a:r>
              </a:p>
              <a:p>
                <a:pPr/>
                <a:r>
                  <a:rPr lang="ar-AE" sz="2200" i="0">
                    <a:latin typeface="Cambria Math" panose="02040503050406030204" pitchFamily="18" charset="0"/>
                    <a:sym typeface="Helvetica Neue"/>
                  </a:rPr>
                  <a:t>(</a:t>
                </a:r>
                <a:r>
                  <a:rPr lang="ar-AE" sz="2200" i="0">
                    <a:latin typeface="Cambria Math" panose="02040503050406030204" pitchFamily="18" charset="0"/>
                    <a:ea typeface="Helvetica Neue"/>
                    <a:cs typeface="Helvetica Neue"/>
                    <a:sym typeface="Helvetica Neue"/>
                  </a:rPr>
                  <a:t>𝛼ⓜ,</a:t>
                </a:r>
                <a:r>
                  <a:rPr lang="ar-AE" sz="2200" b="1" i="0">
                    <a:latin typeface="Cambria Math" panose="02040503050406030204" pitchFamily="18" charset="0"/>
                    <a:ea typeface="Helvetica Neue"/>
                    <a:cs typeface="Helvetica Neue"/>
                    <a:sym typeface="Helvetica Neue"/>
                  </a:rPr>
                  <a:t>𝐰</a:t>
                </a:r>
                <a:r>
                  <a:rPr lang="ar-AE" sz="2200" b="0" i="0">
                    <a:latin typeface="Cambria Math" panose="02040503050406030204" pitchFamily="18" charset="0"/>
                    <a:ea typeface="Helvetica Neue"/>
                    <a:cs typeface="Helvetica Neue"/>
                    <a:sym typeface="Helvetica Neue"/>
                  </a:rPr>
                  <a:t>𝛼𝑏)</a:t>
                </a:r>
                <a:endParaRPr lang="ar-AE" b="0" dirty="0"/>
              </a:p>
              <a:p>
                <a:r>
                  <a:rPr lang="en-US" dirty="0"/>
                  <a:t>for any positive </a:t>
                </a:r>
                <a:r>
                  <a:rPr lang="en-US" sz="2200" i="0">
                    <a:latin typeface="Cambria Math" panose="02040503050406030204" pitchFamily="18" charset="0"/>
                    <a:ea typeface="Helvetica Neue"/>
                    <a:cs typeface="Helvetica Neue"/>
                    <a:sym typeface="Helvetica Neue"/>
                  </a:rPr>
                  <a:t>𝛼</a:t>
                </a:r>
                <a:r>
                  <a:rPr lang="en-US" dirty="0"/>
                  <a:t>.</a:t>
                </a:r>
              </a:p>
              <a:p>
                <a:r>
                  <a:rPr lang="en-US" dirty="0"/>
                  <a:t>Why?</a:t>
                </a:r>
              </a:p>
              <a:p>
                <a:r>
                  <a:rPr lang="en-US" dirty="0"/>
                  <a:t>Because:</a:t>
                </a:r>
              </a:p>
              <a:p>
                <a:pPr/>
                <a:r>
                  <a:rPr lang="en-US" sz="2200" i="0">
                    <a:latin typeface="Cambria Math" panose="02040503050406030204" pitchFamily="18" charset="0"/>
                    <a:ea typeface="Helvetica Neue"/>
                    <a:cs typeface="Helvetica Neue"/>
                    <a:sym typeface="Helvetica Neue"/>
                  </a:rPr>
                  <a:t>𝛼</a:t>
                </a:r>
                <a:r>
                  <a:rPr lang="ar-AE" sz="2200" i="0">
                    <a:latin typeface="Cambria Math" panose="02040503050406030204" pitchFamily="18" charset="0"/>
                    <a:sym typeface="Helvetica Neue"/>
                  </a:rPr>
                  <a:t>(</a:t>
                </a:r>
                <a:r>
                  <a:rPr lang="ar-AE" sz="2200" b="1" i="0">
                    <a:latin typeface="Cambria Math" panose="02040503050406030204" pitchFamily="18" charset="0"/>
                    <a:ea typeface="Helvetica Neue"/>
                    <a:cs typeface="Helvetica Neue"/>
                    <a:sym typeface="Helvetica Neue"/>
                  </a:rPr>
                  <a:t>𝐰</a:t>
                </a:r>
                <a:r>
                  <a:rPr lang="ar-AE" sz="2200" b="0" i="0">
                    <a:latin typeface="Cambria Math" panose="02040503050406030204" pitchFamily="18" charset="0"/>
                    <a:ea typeface="Helvetica Neue"/>
                    <a:cs typeface="Helvetica Neue"/>
                    <a:sym typeface="Helvetica Neue"/>
                  </a:rPr>
                  <a:t>⋅</a:t>
                </a:r>
                <a:r>
                  <a:rPr lang="ar-AE" sz="2200" b="1" i="0">
                    <a:latin typeface="Cambria Math" panose="02040503050406030204" pitchFamily="18" charset="0"/>
                    <a:ea typeface="Helvetica Neue"/>
                    <a:cs typeface="Helvetica Neue"/>
                    <a:sym typeface="Helvetica Neue"/>
                  </a:rPr>
                  <a:t>𝐱</a:t>
                </a:r>
                <a:r>
                  <a:rPr lang="ar-AE" sz="2200" b="0" i="0">
                    <a:latin typeface="Cambria Math" panose="02040503050406030204" pitchFamily="18" charset="0"/>
                    <a:ea typeface="Helvetica Neue"/>
                    <a:cs typeface="Helvetica Neue"/>
                    <a:sym typeface="Helvetica Neue"/>
                  </a:rPr>
                  <a:t>+𝑏)=0</a:t>
                </a:r>
                <a:endParaRPr lang="ar-AE" b="0" dirty="0"/>
              </a:p>
              <a:p>
                <a:r>
                  <a:rPr lang="en-US" dirty="0"/>
                  <a:t>defines the exact same decision boundary.</a:t>
                </a:r>
              </a:p>
              <a:p>
                <a:r>
                  <a:rPr lang="en-US" dirty="0"/>
                  <a:t>So we are free to scale </a:t>
                </a:r>
                <a:r>
                  <a:rPr lang="en-US" sz="2200" b="1" i="0">
                    <a:latin typeface="Cambria Math" panose="02040503050406030204" pitchFamily="18" charset="0"/>
                    <a:ea typeface="Helvetica Neue"/>
                    <a:cs typeface="Helvetica Neue"/>
                    <a:sym typeface="Helvetica Neue"/>
                  </a:rPr>
                  <a:t>𝐰</a:t>
                </a:r>
                <a:r>
                  <a:rPr lang="en-US" dirty="0"/>
                  <a:t>and </a:t>
                </a:r>
                <a:r>
                  <a:rPr lang="en-US" sz="2200" i="0">
                    <a:latin typeface="Cambria Math" panose="02040503050406030204" pitchFamily="18" charset="0"/>
                    <a:ea typeface="Helvetica Neue"/>
                    <a:cs typeface="Helvetica Neue"/>
                    <a:sym typeface="Helvetica Neue"/>
                  </a:rPr>
                  <a:t>𝑏</a:t>
                </a:r>
                <a:r>
                  <a:rPr lang="en-US" dirty="0"/>
                  <a:t>however we like.</a:t>
                </a:r>
              </a:p>
              <a:p>
                <a:br>
                  <a:rPr lang="en-US" dirty="0"/>
                </a:br>
                <a:endParaRPr lang="en-US" dirty="0"/>
              </a:p>
              <a:p>
                <a:r>
                  <a:rPr lang="en-US" b="1" dirty="0"/>
                  <a:t>Step 3: Use That Freedom to Fix the Numerator</a:t>
                </a:r>
              </a:p>
              <a:p>
                <a:r>
                  <a:rPr lang="en-US" dirty="0"/>
                  <a:t>Since we can scale arbitrarily, we choose a convenient normalization:</a:t>
                </a:r>
              </a:p>
              <a:p>
                <a:pPr/>
                <a:r>
                  <a:rPr lang="ar-AE" sz="2200" i="0">
                    <a:latin typeface="Cambria Math" panose="02040503050406030204" pitchFamily="18" charset="0"/>
                    <a:sym typeface="Helvetica Neue"/>
                  </a:rPr>
                  <a:t>(</a:t>
                </a:r>
                <a:r>
                  <a:rPr lang="en-US" sz="2200" i="0">
                    <a:latin typeface="Cambria Math" panose="02040503050406030204" pitchFamily="18" charset="0"/>
                    <a:ea typeface="Helvetica Neue"/>
                    <a:cs typeface="Helvetica Neue"/>
                    <a:sym typeface="Helvetica Neue"/>
                  </a:rPr>
                  <a:t>min</a:t>
                </a:r>
                <a:r>
                  <a:rPr lang="ar-AE" sz="2200" i="0">
                    <a:latin typeface="Cambria Math" panose="02040503050406030204" pitchFamily="18" charset="0"/>
                    <a:ea typeface="Helvetica Neue"/>
                    <a:cs typeface="Helvetica Neue"/>
                    <a:sym typeface="Helvetica Neue"/>
                  </a:rPr>
                  <a:t>⁡</a:t>
                </a:r>
                <a:r>
                  <a:rPr lang="en-US" sz="2200" i="0">
                    <a:latin typeface="Cambria Math" panose="02040503050406030204" pitchFamily="18" charset="0"/>
                    <a:ea typeface="Helvetica Neue"/>
                    <a:cs typeface="Helvetica Neue"/>
                    <a:sym typeface="Helvetica Neue"/>
                  </a:rPr>
                  <a:t> </a:t>
                </a:r>
                <a:r>
                  <a:rPr lang="ar-AE" sz="2200" i="0">
                    <a:latin typeface="Cambria Math" panose="02040503050406030204" pitchFamily="18" charset="0"/>
                    <a:ea typeface="Helvetica Neue"/>
                    <a:cs typeface="Helvetica Neue"/>
                    <a:sym typeface="Helvetica Neue"/>
                  </a:rPr>
                  <a:t>)┬𝑖 𝑦_𝑖 </a:t>
                </a:r>
                <a:r>
                  <a:rPr lang="ar-AE" sz="2200" i="0">
                    <a:latin typeface="Cambria Math" panose="02040503050406030204" pitchFamily="18" charset="0"/>
                    <a:sym typeface="Helvetica Neue"/>
                  </a:rPr>
                  <a:t>(</a:t>
                </a:r>
                <a:r>
                  <a:rPr lang="ar-AE" sz="2200" b="1" i="0">
                    <a:latin typeface="Cambria Math" panose="02040503050406030204" pitchFamily="18" charset="0"/>
                    <a:ea typeface="Helvetica Neue"/>
                    <a:cs typeface="Helvetica Neue"/>
                    <a:sym typeface="Helvetica Neue"/>
                  </a:rPr>
                  <a:t>𝐰</a:t>
                </a:r>
                <a:r>
                  <a:rPr lang="ar-AE" sz="2200" b="0" i="0">
                    <a:latin typeface="Cambria Math" panose="02040503050406030204" pitchFamily="18" charset="0"/>
                    <a:ea typeface="Helvetica Neue"/>
                    <a:cs typeface="Helvetica Neue"/>
                    <a:sym typeface="Helvetica Neue"/>
                  </a:rPr>
                  <a:t>⋅</a:t>
                </a:r>
                <a:r>
                  <a:rPr lang="ar-AE" sz="2200" b="1" i="0">
                    <a:latin typeface="Cambria Math" panose="02040503050406030204" pitchFamily="18" charset="0"/>
                    <a:ea typeface="Helvetica Neue"/>
                    <a:cs typeface="Helvetica Neue"/>
                    <a:sym typeface="Helvetica Neue"/>
                  </a:rPr>
                  <a:t>𝐱</a:t>
                </a:r>
                <a:r>
                  <a:rPr lang="ar-AE" sz="2200" b="0" i="0">
                    <a:latin typeface="Cambria Math" panose="02040503050406030204" pitchFamily="18" charset="0"/>
                    <a:ea typeface="Helvetica Neue"/>
                    <a:cs typeface="Helvetica Neue"/>
                    <a:sym typeface="Helvetica Neue"/>
                  </a:rPr>
                  <a:t>_𝑖+𝑏)=1</a:t>
                </a:r>
                <a:endParaRPr lang="ar-AE" b="0" dirty="0"/>
              </a:p>
              <a:p>
                <a:r>
                  <a:rPr lang="en-US" dirty="0"/>
                  <a:t>This means:</a:t>
                </a:r>
              </a:p>
              <a:p>
                <a:r>
                  <a:rPr lang="en-US" dirty="0"/>
                  <a:t>The closest correctly classified point satisfies</a:t>
                </a:r>
              </a:p>
              <a:p>
                <a:pPr/>
                <a:r>
                  <a:rPr lang="ar-AE" sz="2200" i="0">
                    <a:latin typeface="Cambria Math" panose="02040503050406030204" pitchFamily="18" charset="0"/>
                    <a:ea typeface="Helvetica Neue"/>
                    <a:cs typeface="Helvetica Neue"/>
                    <a:sym typeface="Helvetica Neue"/>
                  </a:rPr>
                  <a:t>𝑦_𝑖 </a:t>
                </a:r>
                <a:r>
                  <a:rPr lang="ar-AE" sz="2200" i="0">
                    <a:latin typeface="Cambria Math" panose="02040503050406030204" pitchFamily="18" charset="0"/>
                    <a:sym typeface="Helvetica Neue"/>
                  </a:rPr>
                  <a:t>(</a:t>
                </a:r>
                <a:r>
                  <a:rPr lang="ar-AE" sz="2200" b="1" i="0">
                    <a:latin typeface="Cambria Math" panose="02040503050406030204" pitchFamily="18" charset="0"/>
                    <a:ea typeface="Helvetica Neue"/>
                    <a:cs typeface="Helvetica Neue"/>
                    <a:sym typeface="Helvetica Neue"/>
                  </a:rPr>
                  <a:t>𝐰</a:t>
                </a:r>
                <a:r>
                  <a:rPr lang="ar-AE" sz="2200" b="0" i="0">
                    <a:latin typeface="Cambria Math" panose="02040503050406030204" pitchFamily="18" charset="0"/>
                    <a:ea typeface="Helvetica Neue"/>
                    <a:cs typeface="Helvetica Neue"/>
                    <a:sym typeface="Helvetica Neue"/>
                  </a:rPr>
                  <a:t>⋅</a:t>
                </a:r>
                <a:r>
                  <a:rPr lang="ar-AE" sz="2200" b="1" i="0">
                    <a:latin typeface="Cambria Math" panose="02040503050406030204" pitchFamily="18" charset="0"/>
                    <a:ea typeface="Helvetica Neue"/>
                    <a:cs typeface="Helvetica Neue"/>
                    <a:sym typeface="Helvetica Neue"/>
                  </a:rPr>
                  <a:t>𝐱</a:t>
                </a:r>
                <a:r>
                  <a:rPr lang="ar-AE" sz="2200" b="0" i="0">
                    <a:latin typeface="Cambria Math" panose="02040503050406030204" pitchFamily="18" charset="0"/>
                    <a:ea typeface="Helvetica Neue"/>
                    <a:cs typeface="Helvetica Neue"/>
                    <a:sym typeface="Helvetica Neue"/>
                  </a:rPr>
                  <a:t>_𝑖+𝑏)=1</a:t>
                </a:r>
                <a:endParaRPr lang="ar-AE" b="0" dirty="0"/>
              </a:p>
              <a:p>
                <a:r>
                  <a:rPr lang="en-US" dirty="0"/>
                  <a:t>This is not a restriction.</a:t>
                </a:r>
                <a:br>
                  <a:rPr lang="en-US" dirty="0"/>
                </a:br>
                <a:r>
                  <a:rPr lang="en-US" dirty="0"/>
                  <a:t>It’s just choosing a scale.</a:t>
                </a:r>
              </a:p>
              <a:p>
                <a:endParaRPr lang="en-US" dirty="0"/>
              </a:p>
              <a:p>
                <a:r>
                  <a:rPr lang="en-US" b="1" dirty="0"/>
                  <a:t>Step 5: Why This Works</a:t>
                </a:r>
              </a:p>
              <a:p>
                <a:r>
                  <a:rPr lang="en-US" dirty="0"/>
                  <a:t>Originally:</a:t>
                </a:r>
              </a:p>
              <a:p>
                <a:pPr/>
                <a:r>
                  <a:rPr lang="en-US" b="0" i="0">
                    <a:latin typeface="Cambria Math" panose="02040503050406030204" pitchFamily="18" charset="0"/>
                  </a:rPr>
                  <a:t>"margin</a:t>
                </a:r>
                <a:r>
                  <a:rPr lang="en-US" sz="2200" b="0" i="0">
                    <a:latin typeface="Cambria Math" panose="02040503050406030204" pitchFamily="18" charset="0"/>
                    <a:sym typeface="Helvetica Neue"/>
                  </a:rPr>
                  <a:t>"</a:t>
                </a:r>
                <a:r>
                  <a:rPr lang="en-US" sz="2200" b="0" i="0">
                    <a:latin typeface="Cambria Math" panose="02040503050406030204" pitchFamily="18" charset="0"/>
                    <a:ea typeface="Helvetica Neue"/>
                    <a:cs typeface="Helvetica Neue"/>
                    <a:sym typeface="Helvetica Neue"/>
                  </a:rPr>
                  <a:t>=</a:t>
                </a:r>
                <a:r>
                  <a:rPr lang="ar-AE" sz="2200" b="0" i="0">
                    <a:latin typeface="Cambria Math" panose="02040503050406030204" pitchFamily="18" charset="0"/>
                    <a:sym typeface="Helvetica Neue"/>
                  </a:rPr>
                  <a:t>(</a:t>
                </a:r>
                <a:r>
                  <a:rPr lang="en-US" sz="2200" b="0" i="0">
                    <a:latin typeface="Cambria Math" panose="02040503050406030204" pitchFamily="18" charset="0"/>
                    <a:ea typeface="Helvetica Neue"/>
                    <a:cs typeface="Helvetica Neue"/>
                    <a:sym typeface="Helvetica Neue"/>
                  </a:rPr>
                  <a:t>min</a:t>
                </a:r>
                <a:r>
                  <a:rPr lang="ar-AE" sz="2200" b="0" i="0">
                    <a:latin typeface="Cambria Math" panose="02040503050406030204" pitchFamily="18" charset="0"/>
                    <a:ea typeface="Helvetica Neue"/>
                    <a:cs typeface="Helvetica Neue"/>
                    <a:sym typeface="Helvetica Neue"/>
                  </a:rPr>
                  <a:t>⁡</a:t>
                </a:r>
                <a:r>
                  <a:rPr lang="en-US" sz="2200" b="0" i="0">
                    <a:latin typeface="Cambria Math" panose="02040503050406030204" pitchFamily="18" charset="0"/>
                    <a:ea typeface="Helvetica Neue"/>
                    <a:cs typeface="Helvetica Neue"/>
                    <a:sym typeface="Helvetica Neue"/>
                  </a:rPr>
                  <a:t> </a:t>
                </a:r>
                <a:r>
                  <a:rPr lang="ar-AE" sz="2200" b="0" i="0">
                    <a:latin typeface="Cambria Math" panose="02040503050406030204" pitchFamily="18" charset="0"/>
                    <a:ea typeface="Helvetica Neue"/>
                    <a:cs typeface="Helvetica Neue"/>
                    <a:sym typeface="Helvetica Neue"/>
                  </a:rPr>
                  <a:t>)┬𝑖 </a:t>
                </a:r>
                <a:r>
                  <a:rPr lang="ar-AE" sz="2200" b="0" i="0">
                    <a:latin typeface="Cambria Math" panose="02040503050406030204" pitchFamily="18" charset="0"/>
                    <a:sym typeface="Helvetica Neue"/>
                  </a:rPr>
                  <a:t> (</a:t>
                </a:r>
                <a:r>
                  <a:rPr lang="ar-AE" sz="2200" b="0" i="0">
                    <a:latin typeface="Cambria Math" panose="02040503050406030204" pitchFamily="18" charset="0"/>
                    <a:ea typeface="Helvetica Neue"/>
                    <a:cs typeface="Helvetica Neue"/>
                    <a:sym typeface="Helvetica Neue"/>
                  </a:rPr>
                  <a:t>𝑦_𝑖 (</a:t>
                </a:r>
                <a:r>
                  <a:rPr lang="ar-AE" sz="2200" b="1" i="0">
                    <a:latin typeface="Cambria Math" panose="02040503050406030204" pitchFamily="18" charset="0"/>
                    <a:ea typeface="Helvetica Neue"/>
                    <a:cs typeface="Helvetica Neue"/>
                    <a:sym typeface="Helvetica Neue"/>
                  </a:rPr>
                  <a:t>𝐰</a:t>
                </a:r>
                <a:r>
                  <a:rPr lang="ar-AE" sz="2200" b="0" i="0">
                    <a:latin typeface="Cambria Math" panose="02040503050406030204" pitchFamily="18" charset="0"/>
                    <a:ea typeface="Helvetica Neue"/>
                    <a:cs typeface="Helvetica Neue"/>
                    <a:sym typeface="Helvetica Neue"/>
                  </a:rPr>
                  <a:t>⋅</a:t>
                </a:r>
                <a:r>
                  <a:rPr lang="ar-AE" sz="2200" b="1" i="0">
                    <a:latin typeface="Cambria Math" panose="02040503050406030204" pitchFamily="18" charset="0"/>
                    <a:ea typeface="Helvetica Neue"/>
                    <a:cs typeface="Helvetica Neue"/>
                    <a:sym typeface="Helvetica Neue"/>
                  </a:rPr>
                  <a:t>𝐱</a:t>
                </a:r>
                <a:r>
                  <a:rPr lang="ar-AE" sz="2200" b="0" i="0">
                    <a:latin typeface="Cambria Math" panose="02040503050406030204" pitchFamily="18" charset="0"/>
                    <a:ea typeface="Helvetica Neue"/>
                    <a:cs typeface="Helvetica Neue"/>
                    <a:sym typeface="Helvetica Neue"/>
                  </a:rPr>
                  <a:t>_𝑖+𝑏))/(∥</a:t>
                </a:r>
                <a:r>
                  <a:rPr lang="ar-AE" sz="2200" b="1" i="0">
                    <a:latin typeface="Cambria Math" panose="02040503050406030204" pitchFamily="18" charset="0"/>
                    <a:ea typeface="Helvetica Neue"/>
                    <a:cs typeface="Helvetica Neue"/>
                    <a:sym typeface="Helvetica Neue"/>
                  </a:rPr>
                  <a:t>𝐰</a:t>
                </a:r>
                <a:r>
                  <a:rPr lang="ar-AE" sz="2200" b="0" i="0">
                    <a:latin typeface="Cambria Math" panose="02040503050406030204" pitchFamily="18" charset="0"/>
                    <a:ea typeface="Helvetica Neue"/>
                    <a:cs typeface="Helvetica Neue"/>
                    <a:sym typeface="Helvetica Neue"/>
                  </a:rPr>
                  <a:t>∥)</a:t>
                </a:r>
                <a:endParaRPr lang="ar-AE" b="0" dirty="0"/>
              </a:p>
              <a:p>
                <a:r>
                  <a:rPr lang="en-US" dirty="0"/>
                  <a:t>After normalization:</a:t>
                </a:r>
              </a:p>
              <a:p>
                <a:pPr/>
                <a:r>
                  <a:rPr lang="en-US" b="0" i="0">
                    <a:latin typeface="Cambria Math" panose="02040503050406030204" pitchFamily="18" charset="0"/>
                  </a:rPr>
                  <a:t>"margin</a:t>
                </a:r>
                <a:r>
                  <a:rPr lang="en-US" sz="2200" b="0" i="0">
                    <a:latin typeface="Cambria Math" panose="02040503050406030204" pitchFamily="18" charset="0"/>
                    <a:sym typeface="Helvetica Neue"/>
                  </a:rPr>
                  <a:t>"</a:t>
                </a:r>
                <a:r>
                  <a:rPr lang="en-US" sz="2200" b="0" i="0">
                    <a:latin typeface="Cambria Math" panose="02040503050406030204" pitchFamily="18" charset="0"/>
                    <a:ea typeface="Helvetica Neue"/>
                    <a:cs typeface="Helvetica Neue"/>
                    <a:sym typeface="Helvetica Neue"/>
                  </a:rPr>
                  <a:t>=</a:t>
                </a:r>
                <a:r>
                  <a:rPr lang="ar-AE" sz="2200" b="0" i="0">
                    <a:latin typeface="Cambria Math" panose="02040503050406030204" pitchFamily="18" charset="0"/>
                    <a:ea typeface="Helvetica Neue"/>
                    <a:cs typeface="Helvetica Neue"/>
                    <a:sym typeface="Helvetica Neue"/>
                  </a:rPr>
                  <a:t>1/(∥</a:t>
                </a:r>
                <a:r>
                  <a:rPr lang="ar-AE" sz="2200" b="1" i="0">
                    <a:latin typeface="Cambria Math" panose="02040503050406030204" pitchFamily="18" charset="0"/>
                    <a:ea typeface="Helvetica Neue"/>
                    <a:cs typeface="Helvetica Neue"/>
                    <a:sym typeface="Helvetica Neue"/>
                  </a:rPr>
                  <a:t>𝐰</a:t>
                </a:r>
                <a:r>
                  <a:rPr lang="ar-AE" sz="2200" b="0" i="0">
                    <a:latin typeface="Cambria Math" panose="02040503050406030204" pitchFamily="18" charset="0"/>
                    <a:ea typeface="Helvetica Neue"/>
                    <a:cs typeface="Helvetica Neue"/>
                    <a:sym typeface="Helvetica Neue"/>
                  </a:rPr>
                  <a:t>∥)</a:t>
                </a:r>
                <a:endParaRPr lang="ar-AE" b="0" dirty="0"/>
              </a:p>
              <a:p>
                <a:r>
                  <a:rPr lang="en-US" dirty="0"/>
                  <a:t>The numerator disappears because we fixed it.</a:t>
                </a:r>
              </a:p>
              <a:p>
                <a:endParaRPr lang="en-US" dirty="0"/>
              </a:p>
              <a:p>
                <a:endParaRPr lang="en-US" dirty="0"/>
              </a:p>
            </p:txBody>
          </p:sp>
        </mc:Fallback>
      </mc:AlternateContent>
    </p:spTree>
    <p:extLst>
      <p:ext uri="{BB962C8B-B14F-4D97-AF65-F5344CB8AC3E}">
        <p14:creationId xmlns:p14="http://schemas.microsoft.com/office/powerpoint/2010/main" val="26745129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Hinge loss is the margin-violation penalty in soft-margin SVM. Hard-margin SVM instead enforces every margin constraint with no slack.</a:t>
            </a:r>
          </a:p>
          <a:p>
            <a:endParaRPr lang="en-US"/>
          </a:p>
          <a:p>
            <a:r>
              <a:rPr lang="en-US"/>
              <a:t>[Sources]</a:t>
            </a:r>
          </a:p>
          <a:p>
            <a:r>
              <a:rPr lang="en-US"/>
              <a:t>https://scikit-learn.org/stable/modules/svm.html#mathematical-formulation</a:t>
            </a:r>
          </a:p>
          <a:p>
            <a:r>
              <a:rPr lang="en-US"/>
              <a:t>https://surnamnarendra.github.io/Fundamentals-of-Machine-Learning/lecture_25.html</a:t>
            </a:r>
          </a:p>
          <a:p>
            <a:r>
              <a:rPr lang="en-US"/>
              <a:t>[/Sources]</a:t>
            </a:r>
          </a:p>
        </p:txBody>
      </p:sp>
    </p:spTree>
    <p:extLst>
      <p:ext uri="{BB962C8B-B14F-4D97-AF65-F5344CB8AC3E}">
        <p14:creationId xmlns:p14="http://schemas.microsoft.com/office/powerpoint/2010/main" val="39527396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Assume w is nonzero. Signed distance to the boundary is f(x)/||w||. For example, y=+1 and f(x)=0.4 gives slack 0.6, so the point is correctly classified but inside its margin. This makes the geometry concrete without treating slack as raw Euclidean distance.</a:t>
            </a:r>
          </a:p>
          <a:p>
            <a:endParaRPr/>
          </a:p>
          <a:p>
            <a:r>
              <a:t>[Sources]</a:t>
            </a:r>
          </a:p>
          <a:p>
            <a:r>
              <a:t>https://scikit-learn.org/stable/modules/svm.html#mathematical-formulation</a:t>
            </a:r>
          </a:p>
          <a:p>
            <a:r>
              <a:t>https://surnamnarendra.github.io/Fundamentals-of-Machine-Learning/lecture_25.html</a:t>
            </a:r>
          </a:p>
          <a:p>
            <a:r>
              <a:t>[/Sources]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This is the soft-margin primal for binary classification. Variables are w, b and all nonnegative slack values. With C &gt; 0, each optimal slack equals max(0, 1 − y_i f(x_i)). C changes the tradeoff, not a fixed geometric width.</a:t>
            </a:r>
          </a:p>
          <a:p>
            <a:endParaRPr/>
          </a:p>
          <a:p>
            <a:r>
              <a:t>[Sources]</a:t>
            </a:r>
          </a:p>
          <a:p>
            <a:r>
              <a:t>https://scikit-learn.org/stable/modules/svm.html#mathematical-formulation</a:t>
            </a:r>
          </a:p>
          <a:p>
            <a:r>
              <a:t>https://surnamnarendra.github.io/Fundamentals-of-Machine-Learning/lecture_25.html</a:t>
            </a:r>
          </a:p>
          <a:p>
            <a:r>
              <a:t>[/Sources]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This claim refers specifically to the dual objective. The primal contains a weight vector in feature space. A valid positive-semidefinite kernel lets us work with inner products without constructing that vector explicitly.</a:t>
            </a:r>
          </a:p>
          <a:p>
            <a:endParaRPr/>
          </a:p>
          <a:p>
            <a:r>
              <a:t>[Sources]</a:t>
            </a:r>
          </a:p>
          <a:p>
            <a:r>
              <a:t>https://scikit-learn.org/stable/modules/svm.html#mathematical-formulation</a:t>
            </a:r>
          </a:p>
          <a:p>
            <a:r>
              <a:t>https://surnamnarendra.github.io/Fundamentals-of-Machine-Learning/lecture_25.html</a:t>
            </a:r>
          </a:p>
          <a:p>
            <a:r>
              <a:t>[/Sources]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For the standard polynomial kernel, use nonnegative gamma and offset with a nonnegative integer degree. RBF gamma is positive. Small gamma gives broad influence and can underfit, while large gamma can overfit. These are tendencies, not guarantees. Feature scaling must be learned on training data only.</a:t>
            </a:r>
          </a:p>
          <a:p>
            <a:endParaRPr/>
          </a:p>
          <a:p>
            <a:r>
              <a:t>[Sources]</a:t>
            </a:r>
          </a:p>
          <a:p>
            <a:r>
              <a:t>https://scikit-learn.org/stable/modules/svm.html#mathematical-formulation</a:t>
            </a:r>
          </a:p>
          <a:p>
            <a:r>
              <a:t>https://surnamnarendra.github.io/Fundamentals-of-Machine-Learning/lecture_25.html</a:t>
            </a:r>
          </a:p>
          <a:p>
            <a:r>
              <a:t>[/Sources]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concepts in 586</a:t>
            </a:r>
          </a:p>
          <a:p>
            <a:endParaRPr lang="en-US"/>
          </a:p>
          <a:p>
            <a:r>
              <a:rPr lang="en-US"/>
              <a:t>High-level derivation: attach multipliers alpha_i &gt;= 0 to 1 − xi_i − y_i(w·phi(x_i)+b) &lt;= 0 and mu_i &gt;= 0 to −xi_i &lt;= 0. Minimizing the Lagrangian over w yields w = sum alpha_i y_i phi(x_i). Minimizing over b gives sum alpha_i y_i = 0. Minimizing over xi gives alpha_i + mu_i = C, hence 0 &lt;= alpha_i &lt;= C. Convexity and strict feasibility of the soft-margin primal imply strong duality. Primal and dual optimizers are different variables, even though their optimal objective values agree.</a:t>
            </a:r>
          </a:p>
          <a:p>
            <a:endParaRPr lang="en-US"/>
          </a:p>
          <a:p>
            <a:r>
              <a:rPr lang="en-US"/>
              <a:t>[Sources]</a:t>
            </a:r>
          </a:p>
          <a:p>
            <a:r>
              <a:rPr lang="en-US"/>
              <a:t>https://scikit-learn.org/stable/modules/svm.html#mathematical-formulation</a:t>
            </a:r>
          </a:p>
          <a:p>
            <a:r>
              <a:rPr lang="en-US"/>
              <a:t>https://surnamnarendra.github.io/Fundamentals-of-Machine-Learning/lecture_25.html</a:t>
            </a:r>
          </a:p>
          <a:p>
            <a:r>
              <a:rPr lang="en-US"/>
              <a:t>[/Sources]</a:t>
            </a:r>
          </a:p>
        </p:txBody>
      </p:sp>
    </p:spTree>
    <p:extLst>
      <p:ext uri="{BB962C8B-B14F-4D97-AF65-F5344CB8AC3E}">
        <p14:creationId xmlns:p14="http://schemas.microsoft.com/office/powerpoint/2010/main" val="31585922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All sums run over the n training observations with labels in {−1,+1}. This is the complete soft-margin classification dual. The box bound comes from the slack penalty C, while the equality constraint comes from the unpenalized intercept b. A valid positive-semidefinite kernel makes the quadratic term positive semidefinite and the maximization concave. Training uses the n by n Gram matrix K. Kernelization does not guarantee separability or low computational cost for large n.</a:t>
            </a:r>
          </a:p>
          <a:p>
            <a:endParaRPr/>
          </a:p>
          <a:p>
            <a:r>
              <a:t>[Sources]</a:t>
            </a:r>
          </a:p>
          <a:p>
            <a:r>
              <a:t>https://scikit-learn.org/stable/modules/svm.html#mathematical-formulation</a:t>
            </a:r>
          </a:p>
          <a:p>
            <a:r>
              <a:t>https://surnamnarendra.github.io/Fundamentals-of-Machine-Learning/lecture_25.html</a:t>
            </a:r>
          </a:p>
          <a:p>
            <a:r>
              <a:t>[/Sources]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These are the KKT relationships at an exact optimum for C &gt; 0. Alpha_i = C does not imply misclassification. Points exactly on a margin may have zero alpha in degenerate solutions. Positive alpha defines a support vector in the fitted dual solution. For 0 &lt; alpha_i &lt; C, y_i f(x_i)=1, giving b = y_i − sum_j alpha_j y_j K(x_j,x_i). Average this expression across such support vectors. If none exist, a solver uses KKT bounds for b.</a:t>
            </a:r>
          </a:p>
          <a:p>
            <a:endParaRPr/>
          </a:p>
          <a:p>
            <a:r>
              <a:t>[Sources]</a:t>
            </a:r>
          </a:p>
          <a:p>
            <a:r>
              <a:t>https://scikit-learn.org/stable/modules/svm.html#mathematical-formulation</a:t>
            </a:r>
          </a:p>
          <a:p>
            <a:r>
              <a:t>https://surnamnarendra.github.io/Fundamentals-of-Machine-Learning/lecture_25.html</a:t>
            </a:r>
          </a:p>
          <a:p>
            <a:r>
              <a:t>[/Sources]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Only nonzero alpha terms need to be evaluated. The sign gives the class, not a calibrated probability. A score of exactly zero lies on the decision boundary and requires a tie convention. To recover b, use a support vector with 0 &lt; alpha_i &lt; C and the equality y_i f(x_i)=1, or solver bounds if there are no such points.</a:t>
            </a:r>
          </a:p>
          <a:p>
            <a:endParaRPr/>
          </a:p>
          <a:p>
            <a:r>
              <a:t>[Sources]</a:t>
            </a:r>
          </a:p>
          <a:p>
            <a:r>
              <a:t>https://scikit-learn.org/stable/modules/svm.html#mathematical-formulation</a:t>
            </a:r>
          </a:p>
          <a:p>
            <a:r>
              <a:t>https://surnamnarendra.github.io/Fundamentals-of-Machine-Learning/lecture_25.html</a:t>
            </a:r>
          </a:p>
          <a:p>
            <a:r>
              <a:t>[/Sources]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Examples are illustrative calculations. This is epsilon-insensitive absolute loss, not squared error. The standard epsilon-SVR objective is 1/2 ||w||^2 + C sum_i max(0, |y_i−f(x_i)|−epsilon). The tube width is fixed by epsilon; training trades function flatness against residual excess.</a:t>
            </a:r>
          </a:p>
          <a:p>
            <a:endParaRPr/>
          </a:p>
          <a:p>
            <a:r>
              <a:t>[Sources]</a:t>
            </a:r>
          </a:p>
          <a:p>
            <a:r>
              <a:t>https://scikit-learn.org/stable/modules/svm.html#mathematical-formulation</a:t>
            </a:r>
          </a:p>
          <a:p>
            <a:r>
              <a:t>https://surnamnarendra.github.io/Fundamentals-of-Machine-Learning/lecture_25.html</a:t>
            </a:r>
          </a:p>
          <a:p>
            <a:r>
              <a:t>[/Sources]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Preserve the full epsilon-SVR optimization already present. With f_i = w·x_i+b, xi_i &gt;= y_i−f_i−epsilon and xi_i* &gt;= f_i−y_i−epsilon, with nonnegative slacks. At the optimum their sum equals the epsilon-insensitive loss.</a:t>
            </a:r>
          </a:p>
          <a:p>
            <a:endParaRPr/>
          </a:p>
          <a:p>
            <a:r>
              <a:t>[Sources]</a:t>
            </a:r>
          </a:p>
          <a:p>
            <a:r>
              <a:t>https://scikit-learn.org/stable/modules/svm.html#mathematical-formulation</a:t>
            </a:r>
          </a:p>
          <a:p>
            <a:r>
              <a:t>https://surnamnarendra.github.io/Fundamentals-of-Machine-Learning/lecture_25.html</a:t>
            </a:r>
          </a:p>
          <a:p>
            <a:r>
              <a:t>[/Sources]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Strictly interior points have zero dual coefficients. Points on the tube boundary can also be support vectors, so support vectors are not limited to observations outside the tube.</a:t>
            </a:r>
          </a:p>
          <a:p>
            <a:endParaRPr/>
          </a:p>
          <a:p>
            <a:r>
              <a:t>[Sources]</a:t>
            </a:r>
          </a:p>
          <a:p>
            <a:r>
              <a:t>https://scikit-learn.org/stable/modules/svm.html#mathematical-formulation</a:t>
            </a:r>
          </a:p>
          <a:p>
            <a:r>
              <a:t>https://surnamnarendra.github.io/Fundamentals-of-Machine-Learning/lecture_25.html</a:t>
            </a:r>
          </a:p>
          <a:p>
            <a:r>
              <a:t>[/Sources]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The existing equation uses f(x)=sum_i (alpha_i−alpha_i*) K(x_i,x)+b, consistent with the residual constraints on the SVR optimization slide. The multipliers each lie in [0,C] and sum_i(alpha_i−alpha_i*)=0. Points strictly inside the epsilon-tube have both multipliers zero. Points on or outside its boundary may be support vectors.</a:t>
            </a:r>
          </a:p>
          <a:p>
            <a:endParaRPr/>
          </a:p>
          <a:p>
            <a:r>
              <a:t>[Sources]</a:t>
            </a:r>
          </a:p>
          <a:p>
            <a:r>
              <a:t>https://scikit-learn.org/stable/modules/svm.html#mathematical-formulation</a:t>
            </a:r>
          </a:p>
          <a:p>
            <a:r>
              <a:t>https://surnamnarendra.github.io/Fundamentals-of-Machine-Learning/lecture_25.html</a:t>
            </a:r>
          </a:p>
          <a:p>
            <a:r>
              <a:t>[/Sources]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p:spTree>
      <p:nvGrpSpPr>
        <p:cNvPr id="1" name=""/>
        <p:cNvGrpSpPr/>
        <p:nvPr/>
      </p:nvGrpSpPr>
      <p:grpSpPr>
        <a:xfrm>
          <a:off x="0" y="0"/>
          <a:ext cx="0" cy="0"/>
          <a:chOff x="0" y="0"/>
          <a:chExt cx="0" cy="0"/>
        </a:xfrm>
      </p:grpSpPr>
      <p:sp>
        <p:nvSpPr>
          <p:cNvPr id="12" name="Presentation Title"/>
          <p:cNvSpPr txBox="1">
            <a:spLocks noGrp="1"/>
          </p:cNvSpPr>
          <p:nvPr>
            <p:ph type="title" hasCustomPrompt="1"/>
          </p:nvPr>
        </p:nvSpPr>
        <p:spPr>
          <a:xfrm>
            <a:off x="698500" y="1854200"/>
            <a:ext cx="11609057" cy="3302000"/>
          </a:xfrm>
          <a:prstGeom prst="rect">
            <a:avLst/>
          </a:prstGeom>
        </p:spPr>
        <p:txBody>
          <a:bodyPr anchor="b"/>
          <a:lstStyle>
            <a:lvl1pPr>
              <a:defRPr sz="8200" b="1" spc="-164">
                <a:latin typeface="+mj-lt"/>
                <a:ea typeface="+mj-ea"/>
                <a:cs typeface="+mj-cs"/>
                <a:sym typeface="Avenir Next Regular"/>
              </a:defRPr>
            </a:lvl1pPr>
          </a:lstStyle>
          <a:p>
            <a:r>
              <a:t>Presentation Title</a:t>
            </a:r>
          </a:p>
        </p:txBody>
      </p:sp>
      <p:sp>
        <p:nvSpPr>
          <p:cNvPr id="13" name="Line"/>
          <p:cNvSpPr/>
          <p:nvPr/>
        </p:nvSpPr>
        <p:spPr>
          <a:xfrm>
            <a:off x="92416" y="5839383"/>
            <a:ext cx="12819967" cy="1"/>
          </a:xfrm>
          <a:prstGeom prst="line">
            <a:avLst/>
          </a:prstGeom>
          <a:ln w="342900">
            <a:solidFill>
              <a:srgbClr val="FF7E79"/>
            </a:solidFill>
            <a:miter lim="400000"/>
          </a:ln>
        </p:spPr>
        <p:txBody>
          <a:bodyPr lIns="50800" tIns="50800" rIns="50800" bIns="50800" anchor="ctr"/>
          <a:lstStyle/>
          <a:p>
            <a:endParaRPr/>
          </a:p>
        </p:txBody>
      </p:sp>
      <p:sp>
        <p:nvSpPr>
          <p:cNvPr id="14" name="Line"/>
          <p:cNvSpPr/>
          <p:nvPr/>
        </p:nvSpPr>
        <p:spPr>
          <a:xfrm>
            <a:off x="92417" y="2011560"/>
            <a:ext cx="12819966" cy="1"/>
          </a:xfrm>
          <a:prstGeom prst="line">
            <a:avLst/>
          </a:prstGeom>
          <a:ln w="63500">
            <a:solidFill>
              <a:srgbClr val="FF7E79"/>
            </a:solidFill>
            <a:miter lim="400000"/>
          </a:ln>
        </p:spPr>
        <p:txBody>
          <a:bodyPr lIns="50800" tIns="50800" rIns="50800" bIns="50800" anchor="ctr"/>
          <a:lstStyle/>
          <a:p>
            <a:endParaRPr/>
          </a:p>
        </p:txBody>
      </p:sp>
      <p:sp>
        <p:nvSpPr>
          <p:cNvPr id="15" name="01"/>
          <p:cNvSpPr txBox="1">
            <a:spLocks noGrp="1"/>
          </p:cNvSpPr>
          <p:nvPr>
            <p:ph type="sldNum" sz="quarter" idx="2"/>
          </p:nvPr>
        </p:nvSpPr>
        <p:spPr>
          <a:xfrm>
            <a:off x="6353454" y="9220199"/>
            <a:ext cx="297892" cy="287479"/>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Title &amp; Photo">
    <p:spTree>
      <p:nvGrpSpPr>
        <p:cNvPr id="1" name=""/>
        <p:cNvGrpSpPr/>
        <p:nvPr/>
      </p:nvGrpSpPr>
      <p:grpSpPr>
        <a:xfrm>
          <a:off x="0" y="0"/>
          <a:ext cx="0" cy="0"/>
          <a:chOff x="0" y="0"/>
          <a:chExt cx="0" cy="0"/>
        </a:xfrm>
      </p:grpSpPr>
      <p:sp>
        <p:nvSpPr>
          <p:cNvPr id="22" name="Avocados and limes"/>
          <p:cNvSpPr>
            <a:spLocks noGrp="1"/>
          </p:cNvSpPr>
          <p:nvPr>
            <p:ph type="pic" idx="21"/>
          </p:nvPr>
        </p:nvSpPr>
        <p:spPr>
          <a:xfrm>
            <a:off x="-376767" y="-915894"/>
            <a:ext cx="17835652" cy="10682195"/>
          </a:xfrm>
          <a:prstGeom prst="rect">
            <a:avLst/>
          </a:prstGeom>
        </p:spPr>
        <p:txBody>
          <a:bodyPr lIns="91439" tIns="45719" rIns="91439" bIns="45719">
            <a:noAutofit/>
          </a:bodyPr>
          <a:lstStyle/>
          <a:p>
            <a:endParaRPr/>
          </a:p>
        </p:txBody>
      </p:sp>
      <p:sp>
        <p:nvSpPr>
          <p:cNvPr id="23" name="Presentation Title"/>
          <p:cNvSpPr txBox="1">
            <a:spLocks noGrp="1"/>
          </p:cNvSpPr>
          <p:nvPr>
            <p:ph type="title" hasCustomPrompt="1"/>
          </p:nvPr>
        </p:nvSpPr>
        <p:spPr>
          <a:xfrm>
            <a:off x="698500" y="5181600"/>
            <a:ext cx="11607800" cy="3302000"/>
          </a:xfrm>
          <a:prstGeom prst="rect">
            <a:avLst/>
          </a:prstGeom>
        </p:spPr>
        <p:txBody>
          <a:bodyPr anchor="b"/>
          <a:lstStyle>
            <a:lvl1pPr>
              <a:defRPr sz="8200" b="1" spc="-164">
                <a:latin typeface="+mj-lt"/>
                <a:ea typeface="+mj-ea"/>
                <a:cs typeface="+mj-cs"/>
                <a:sym typeface="Avenir Next Regular"/>
              </a:defRPr>
            </a:lvl1pPr>
          </a:lstStyle>
          <a:p>
            <a:r>
              <a:t>Presentation Title</a:t>
            </a:r>
          </a:p>
        </p:txBody>
      </p:sp>
      <p:sp>
        <p:nvSpPr>
          <p:cNvPr id="24" name="Body Level One…"/>
          <p:cNvSpPr txBox="1">
            <a:spLocks noGrp="1"/>
          </p:cNvSpPr>
          <p:nvPr>
            <p:ph type="body" sz="quarter" idx="1" hasCustomPrompt="1"/>
          </p:nvPr>
        </p:nvSpPr>
        <p:spPr>
          <a:xfrm>
            <a:off x="698500" y="8432800"/>
            <a:ext cx="11607800" cy="689769"/>
          </a:xfrm>
          <a:prstGeom prst="rect">
            <a:avLst/>
          </a:prstGeom>
        </p:spPr>
        <p:txBody>
          <a:bodyPr/>
          <a:lstStyle>
            <a:lvl1pPr marL="0" indent="0" defTabSz="587022">
              <a:lnSpc>
                <a:spcPct val="100000"/>
              </a:lnSpc>
              <a:spcBef>
                <a:spcPts val="0"/>
              </a:spcBef>
              <a:buClrTx/>
              <a:buSzTx/>
              <a:buNone/>
              <a:defRPr sz="3800">
                <a:latin typeface="Avenir Next Medium"/>
                <a:ea typeface="Avenir Next Medium"/>
                <a:cs typeface="Avenir Next Medium"/>
                <a:sym typeface="Avenir Next Medium"/>
              </a:defRPr>
            </a:lvl1pPr>
            <a:lvl2pPr marL="0" indent="457200" defTabSz="587022">
              <a:lnSpc>
                <a:spcPct val="100000"/>
              </a:lnSpc>
              <a:spcBef>
                <a:spcPts val="0"/>
              </a:spcBef>
              <a:buClrTx/>
              <a:buSzTx/>
              <a:buNone/>
              <a:defRPr sz="3800">
                <a:latin typeface="Avenir Next Medium"/>
                <a:ea typeface="Avenir Next Medium"/>
                <a:cs typeface="Avenir Next Medium"/>
                <a:sym typeface="Avenir Next Medium"/>
              </a:defRPr>
            </a:lvl2pPr>
            <a:lvl3pPr marL="0" indent="914400" defTabSz="587022">
              <a:lnSpc>
                <a:spcPct val="100000"/>
              </a:lnSpc>
              <a:spcBef>
                <a:spcPts val="0"/>
              </a:spcBef>
              <a:buClrTx/>
              <a:buSzTx/>
              <a:buNone/>
              <a:defRPr sz="3800">
                <a:latin typeface="Avenir Next Medium"/>
                <a:ea typeface="Avenir Next Medium"/>
                <a:cs typeface="Avenir Next Medium"/>
                <a:sym typeface="Avenir Next Medium"/>
              </a:defRPr>
            </a:lvl3pPr>
            <a:lvl4pPr marL="0" indent="1371600" defTabSz="587022">
              <a:lnSpc>
                <a:spcPct val="100000"/>
              </a:lnSpc>
              <a:spcBef>
                <a:spcPts val="0"/>
              </a:spcBef>
              <a:buClrTx/>
              <a:buSzTx/>
              <a:buNone/>
              <a:defRPr sz="3800">
                <a:latin typeface="Avenir Next Medium"/>
                <a:ea typeface="Avenir Next Medium"/>
                <a:cs typeface="Avenir Next Medium"/>
                <a:sym typeface="Avenir Next Medium"/>
              </a:defRPr>
            </a:lvl4pPr>
            <a:lvl5pPr marL="0" indent="1828800" defTabSz="587022">
              <a:lnSpc>
                <a:spcPct val="100000"/>
              </a:lnSpc>
              <a:spcBef>
                <a:spcPts val="0"/>
              </a:spcBef>
              <a:buSzTx/>
              <a:buNone/>
              <a:defRPr sz="3800">
                <a:latin typeface="Avenir Next Medium"/>
                <a:ea typeface="Avenir Next Medium"/>
                <a:cs typeface="Avenir Next Medium"/>
                <a:sym typeface="Avenir Next Medium"/>
              </a:defRPr>
            </a:lvl5pPr>
          </a:lstStyle>
          <a:p>
            <a:r>
              <a:t>Presentation Subtitle</a:t>
            </a:r>
          </a:p>
          <a:p>
            <a:pPr lvl="1"/>
            <a:endParaRPr/>
          </a:p>
          <a:p>
            <a:pPr lvl="2"/>
            <a:endParaRPr/>
          </a:p>
          <a:p>
            <a:pPr lvl="3"/>
            <a:endParaRPr/>
          </a:p>
          <a:p>
            <a:pPr lvl="4"/>
            <a:endParaRPr/>
          </a:p>
        </p:txBody>
      </p:sp>
      <p:sp>
        <p:nvSpPr>
          <p:cNvPr id="25" name="Author and Date"/>
          <p:cNvSpPr txBox="1">
            <a:spLocks noGrp="1"/>
          </p:cNvSpPr>
          <p:nvPr>
            <p:ph type="body" sz="quarter" idx="22" hasCustomPrompt="1"/>
          </p:nvPr>
        </p:nvSpPr>
        <p:spPr>
          <a:xfrm>
            <a:off x="698500" y="571500"/>
            <a:ext cx="11607801" cy="461059"/>
          </a:xfrm>
          <a:prstGeom prst="rect">
            <a:avLst/>
          </a:prstGeom>
        </p:spPr>
        <p:txBody>
          <a:bodyPr/>
          <a:lstStyle>
            <a:lvl1pPr marL="0" indent="0" defTabSz="563541">
              <a:lnSpc>
                <a:spcPct val="100000"/>
              </a:lnSpc>
              <a:spcBef>
                <a:spcPts val="0"/>
              </a:spcBef>
              <a:buClrTx/>
              <a:buSzTx/>
              <a:buNone/>
              <a:defRPr sz="2304" b="1">
                <a:latin typeface="Helvetica Neue"/>
                <a:ea typeface="Helvetica Neue"/>
                <a:cs typeface="Helvetica Neue"/>
                <a:sym typeface="Helvetica Neue"/>
              </a:defRPr>
            </a:lvl1pPr>
          </a:lstStyle>
          <a:p>
            <a:r>
              <a:t>Author and Date</a:t>
            </a:r>
          </a:p>
        </p:txBody>
      </p:sp>
      <p:sp>
        <p:nvSpPr>
          <p:cNvPr id="26" name="01"/>
          <p:cNvSpPr txBox="1">
            <a:spLocks noGrp="1"/>
          </p:cNvSpPr>
          <p:nvPr>
            <p:ph type="sldNum" sz="quarter" idx="2"/>
          </p:nvPr>
        </p:nvSpPr>
        <p:spPr>
          <a:xfrm>
            <a:off x="6349999" y="9220199"/>
            <a:ext cx="297893" cy="287479"/>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itle &amp; Photo Alt">
    <p:spTree>
      <p:nvGrpSpPr>
        <p:cNvPr id="1" name=""/>
        <p:cNvGrpSpPr/>
        <p:nvPr/>
      </p:nvGrpSpPr>
      <p:grpSpPr>
        <a:xfrm>
          <a:off x="0" y="0"/>
          <a:ext cx="0" cy="0"/>
          <a:chOff x="0" y="0"/>
          <a:chExt cx="0" cy="0"/>
        </a:xfrm>
      </p:grpSpPr>
      <p:sp>
        <p:nvSpPr>
          <p:cNvPr id="33" name="Bowl with salmon cakes, salad, and hummus "/>
          <p:cNvSpPr>
            <a:spLocks noGrp="1"/>
          </p:cNvSpPr>
          <p:nvPr>
            <p:ph type="pic" idx="21"/>
          </p:nvPr>
        </p:nvSpPr>
        <p:spPr>
          <a:xfrm>
            <a:off x="5319129" y="495299"/>
            <a:ext cx="7543801" cy="8780059"/>
          </a:xfrm>
          <a:prstGeom prst="rect">
            <a:avLst/>
          </a:prstGeom>
        </p:spPr>
        <p:txBody>
          <a:bodyPr lIns="91439" tIns="45719" rIns="91439" bIns="45719">
            <a:noAutofit/>
          </a:bodyPr>
          <a:lstStyle/>
          <a:p>
            <a:endParaRPr/>
          </a:p>
        </p:txBody>
      </p:sp>
      <p:sp>
        <p:nvSpPr>
          <p:cNvPr id="34" name="Body Level One…"/>
          <p:cNvSpPr txBox="1">
            <a:spLocks noGrp="1"/>
          </p:cNvSpPr>
          <p:nvPr>
            <p:ph type="body" sz="quarter" idx="1" hasCustomPrompt="1"/>
          </p:nvPr>
        </p:nvSpPr>
        <p:spPr>
          <a:xfrm>
            <a:off x="698500" y="5003800"/>
            <a:ext cx="5105400" cy="4044566"/>
          </a:xfrm>
          <a:prstGeom prst="rect">
            <a:avLst/>
          </a:prstGeom>
        </p:spPr>
        <p:txBody>
          <a:bodyPr/>
          <a:lstStyle>
            <a:lvl1pPr marL="0" indent="0" defTabSz="587022">
              <a:lnSpc>
                <a:spcPct val="100000"/>
              </a:lnSpc>
              <a:spcBef>
                <a:spcPts val="0"/>
              </a:spcBef>
              <a:buClrTx/>
              <a:buSzTx/>
              <a:buNone/>
              <a:defRPr sz="3800">
                <a:latin typeface="Avenir Next Medium"/>
                <a:ea typeface="Avenir Next Medium"/>
                <a:cs typeface="Avenir Next Medium"/>
                <a:sym typeface="Avenir Next Medium"/>
              </a:defRPr>
            </a:lvl1pPr>
            <a:lvl2pPr marL="0" indent="457200" defTabSz="587022">
              <a:lnSpc>
                <a:spcPct val="100000"/>
              </a:lnSpc>
              <a:spcBef>
                <a:spcPts val="0"/>
              </a:spcBef>
              <a:buClrTx/>
              <a:buSzTx/>
              <a:buNone/>
              <a:defRPr sz="3800">
                <a:latin typeface="Avenir Next Medium"/>
                <a:ea typeface="Avenir Next Medium"/>
                <a:cs typeface="Avenir Next Medium"/>
                <a:sym typeface="Avenir Next Medium"/>
              </a:defRPr>
            </a:lvl2pPr>
            <a:lvl3pPr marL="0" indent="914400" defTabSz="587022">
              <a:lnSpc>
                <a:spcPct val="100000"/>
              </a:lnSpc>
              <a:spcBef>
                <a:spcPts val="0"/>
              </a:spcBef>
              <a:buClrTx/>
              <a:buSzTx/>
              <a:buNone/>
              <a:defRPr sz="3800">
                <a:latin typeface="Avenir Next Medium"/>
                <a:ea typeface="Avenir Next Medium"/>
                <a:cs typeface="Avenir Next Medium"/>
                <a:sym typeface="Avenir Next Medium"/>
              </a:defRPr>
            </a:lvl3pPr>
            <a:lvl4pPr marL="0" indent="1371600" defTabSz="587022">
              <a:lnSpc>
                <a:spcPct val="100000"/>
              </a:lnSpc>
              <a:spcBef>
                <a:spcPts val="0"/>
              </a:spcBef>
              <a:buClrTx/>
              <a:buSzTx/>
              <a:buNone/>
              <a:defRPr sz="3800">
                <a:latin typeface="Avenir Next Medium"/>
                <a:ea typeface="Avenir Next Medium"/>
                <a:cs typeface="Avenir Next Medium"/>
                <a:sym typeface="Avenir Next Medium"/>
              </a:defRPr>
            </a:lvl4pPr>
            <a:lvl5pPr marL="0" indent="1828800" defTabSz="587022">
              <a:lnSpc>
                <a:spcPct val="100000"/>
              </a:lnSpc>
              <a:spcBef>
                <a:spcPts val="0"/>
              </a:spcBef>
              <a:buSzTx/>
              <a:buNone/>
              <a:defRPr sz="3800">
                <a:latin typeface="Avenir Next Medium"/>
                <a:ea typeface="Avenir Next Medium"/>
                <a:cs typeface="Avenir Next Medium"/>
                <a:sym typeface="Avenir Next Medium"/>
              </a:defRPr>
            </a:lvl5pPr>
          </a:lstStyle>
          <a:p>
            <a:r>
              <a:t>Slide Subtitle</a:t>
            </a:r>
          </a:p>
          <a:p>
            <a:pPr lvl="1"/>
            <a:endParaRPr/>
          </a:p>
          <a:p>
            <a:pPr lvl="2"/>
            <a:endParaRPr/>
          </a:p>
          <a:p>
            <a:pPr lvl="3"/>
            <a:endParaRPr/>
          </a:p>
          <a:p>
            <a:pPr lvl="4"/>
            <a:endParaRPr/>
          </a:p>
        </p:txBody>
      </p:sp>
      <p:sp>
        <p:nvSpPr>
          <p:cNvPr id="35" name="Slide Title"/>
          <p:cNvSpPr txBox="1">
            <a:spLocks noGrp="1"/>
          </p:cNvSpPr>
          <p:nvPr>
            <p:ph type="title" hasCustomPrompt="1"/>
          </p:nvPr>
        </p:nvSpPr>
        <p:spPr>
          <a:xfrm>
            <a:off x="698500" y="692534"/>
            <a:ext cx="5105400" cy="4387466"/>
          </a:xfrm>
          <a:prstGeom prst="rect">
            <a:avLst/>
          </a:prstGeom>
        </p:spPr>
        <p:txBody>
          <a:bodyPr anchor="b"/>
          <a:lstStyle/>
          <a:p>
            <a:r>
              <a:t>Slide Title</a:t>
            </a:r>
          </a:p>
        </p:txBody>
      </p:sp>
      <p:sp>
        <p:nvSpPr>
          <p:cNvPr id="36" name="01"/>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3"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4" name="Slide Title"/>
          <p:cNvSpPr txBox="1">
            <a:spLocks noGrp="1"/>
          </p:cNvSpPr>
          <p:nvPr>
            <p:ph type="title" hasCustomPrompt="1"/>
          </p:nvPr>
        </p:nvSpPr>
        <p:spPr>
          <a:prstGeom prst="rect">
            <a:avLst/>
          </a:prstGeom>
        </p:spPr>
        <p:txBody>
          <a:bodyPr/>
          <a:lstStyle/>
          <a:p>
            <a:r>
              <a:t>Slide Title</a:t>
            </a:r>
          </a:p>
        </p:txBody>
      </p:sp>
      <p:sp>
        <p:nvSpPr>
          <p:cNvPr id="45" name="01"/>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52" name="Body Level One…"/>
          <p:cNvSpPr txBox="1">
            <a:spLocks noGrp="1"/>
          </p:cNvSpPr>
          <p:nvPr>
            <p:ph type="body" idx="1" hasCustomPrompt="1"/>
          </p:nvPr>
        </p:nvSpPr>
        <p:spPr>
          <a:xfrm>
            <a:off x="698500" y="2959100"/>
            <a:ext cx="11607800" cy="6096000"/>
          </a:xfrm>
          <a:prstGeom prst="rect">
            <a:avLst/>
          </a:prstGeom>
        </p:spPr>
        <p:txBody>
          <a:bodyPr numCol="2" spcCol="589358"/>
          <a:lstStyle>
            <a:lvl1pPr>
              <a:buClrTx/>
              <a:buSzPct val="123000"/>
              <a:buChar char="•"/>
            </a:lvl1pPr>
            <a:lvl2pPr marL="762000">
              <a:buClrTx/>
            </a:lvl2pPr>
            <a:lvl3pPr marL="1143000">
              <a:buClrTx/>
              <a:buChar char="•"/>
            </a:lvl3pPr>
            <a:lvl4pPr marL="1524000">
              <a:buClrTx/>
              <a:buChar char="•"/>
            </a:lvl4pPr>
            <a:lvl5pPr marL="1905000">
              <a:buSzPct val="123000"/>
            </a:lvl5pPr>
          </a:lstStyle>
          <a:p>
            <a:r>
              <a:t>Slide bullet text</a:t>
            </a:r>
          </a:p>
          <a:p>
            <a:pPr lvl="1"/>
            <a:endParaRPr/>
          </a:p>
          <a:p>
            <a:pPr lvl="2"/>
            <a:endParaRPr/>
          </a:p>
          <a:p>
            <a:pPr lvl="3"/>
            <a:endParaRPr/>
          </a:p>
          <a:p>
            <a:pPr lvl="4"/>
            <a:endParaRPr/>
          </a:p>
        </p:txBody>
      </p:sp>
      <p:sp>
        <p:nvSpPr>
          <p:cNvPr id="53" name="01"/>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Title, Bullets &amp; Photo">
    <p:spTree>
      <p:nvGrpSpPr>
        <p:cNvPr id="1" name=""/>
        <p:cNvGrpSpPr/>
        <p:nvPr/>
      </p:nvGrpSpPr>
      <p:grpSpPr>
        <a:xfrm>
          <a:off x="0" y="0"/>
          <a:ext cx="0" cy="0"/>
          <a:chOff x="0" y="0"/>
          <a:chExt cx="0" cy="0"/>
        </a:xfrm>
      </p:grpSpPr>
      <p:sp>
        <p:nvSpPr>
          <p:cNvPr id="60" name="Bowl of pappardelle pasta with parsley butter, roasted hazelnuts, and shaved parmesan cheese"/>
          <p:cNvSpPr>
            <a:spLocks noGrp="1"/>
          </p:cNvSpPr>
          <p:nvPr>
            <p:ph type="pic" idx="21"/>
          </p:nvPr>
        </p:nvSpPr>
        <p:spPr>
          <a:xfrm>
            <a:off x="6172200" y="596900"/>
            <a:ext cx="6448425" cy="8597900"/>
          </a:xfrm>
          <a:prstGeom prst="rect">
            <a:avLst/>
          </a:prstGeom>
        </p:spPr>
        <p:txBody>
          <a:bodyPr lIns="91439" tIns="45719" rIns="91439" bIns="45719">
            <a:noAutofit/>
          </a:bodyPr>
          <a:lstStyle/>
          <a:p>
            <a:endParaRPr/>
          </a:p>
        </p:txBody>
      </p:sp>
      <p:sp>
        <p:nvSpPr>
          <p:cNvPr id="61" name="Slide Title"/>
          <p:cNvSpPr txBox="1">
            <a:spLocks noGrp="1"/>
          </p:cNvSpPr>
          <p:nvPr>
            <p:ph type="title" hasCustomPrompt="1"/>
          </p:nvPr>
        </p:nvSpPr>
        <p:spPr>
          <a:xfrm>
            <a:off x="698500" y="444500"/>
            <a:ext cx="5105400" cy="1016000"/>
          </a:xfrm>
          <a:prstGeom prst="rect">
            <a:avLst/>
          </a:prstGeom>
        </p:spPr>
        <p:txBody>
          <a:bodyPr/>
          <a:lstStyle/>
          <a:p>
            <a:r>
              <a:t>Slide Title</a:t>
            </a:r>
          </a:p>
        </p:txBody>
      </p:sp>
      <p:sp>
        <p:nvSpPr>
          <p:cNvPr id="62" name="Slide Subtitle"/>
          <p:cNvSpPr txBox="1">
            <a:spLocks noGrp="1"/>
          </p:cNvSpPr>
          <p:nvPr>
            <p:ph type="body" sz="quarter" idx="22" hasCustomPrompt="1"/>
          </p:nvPr>
        </p:nvSpPr>
        <p:spPr>
          <a:xfrm>
            <a:off x="698500" y="1412977"/>
            <a:ext cx="5105400" cy="671803"/>
          </a:xfrm>
          <a:prstGeom prst="rect">
            <a:avLst/>
          </a:prstGeom>
        </p:spPr>
        <p:txBody>
          <a:bodyPr/>
          <a:lstStyle>
            <a:lvl1pPr marL="0" indent="0" defTabSz="516579">
              <a:lnSpc>
                <a:spcPct val="100000"/>
              </a:lnSpc>
              <a:spcBef>
                <a:spcPts val="0"/>
              </a:spcBef>
              <a:buClrTx/>
              <a:buSzTx/>
              <a:buNone/>
              <a:defRPr sz="3343">
                <a:latin typeface="Avenir Next Medium"/>
                <a:ea typeface="Avenir Next Medium"/>
                <a:cs typeface="Avenir Next Medium"/>
                <a:sym typeface="Avenir Next Medium"/>
              </a:defRPr>
            </a:lvl1pPr>
          </a:lstStyle>
          <a:p>
            <a:r>
              <a:t>Slide Subtitle</a:t>
            </a:r>
          </a:p>
        </p:txBody>
      </p:sp>
      <p:sp>
        <p:nvSpPr>
          <p:cNvPr id="63" name="Body Level One…"/>
          <p:cNvSpPr txBox="1">
            <a:spLocks noGrp="1"/>
          </p:cNvSpPr>
          <p:nvPr>
            <p:ph type="body" sz="half" idx="1" hasCustomPrompt="1"/>
          </p:nvPr>
        </p:nvSpPr>
        <p:spPr>
          <a:xfrm>
            <a:off x="698500" y="3480196"/>
            <a:ext cx="5105400" cy="5593161"/>
          </a:xfrm>
          <a:prstGeom prst="rect">
            <a:avLst/>
          </a:prstGeom>
        </p:spPr>
        <p:txBody>
          <a:bodyPr/>
          <a:lstStyle>
            <a:lvl1pPr>
              <a:buClrTx/>
              <a:buSzPct val="123000"/>
              <a:buChar char="•"/>
            </a:lvl1pPr>
            <a:lvl2pPr marL="762000">
              <a:buClrTx/>
            </a:lvl2pPr>
            <a:lvl3pPr marL="1143000">
              <a:buClrTx/>
              <a:buChar char="•"/>
            </a:lvl3pPr>
            <a:lvl4pPr marL="1524000">
              <a:buClrTx/>
              <a:buChar char="•"/>
            </a:lvl4pPr>
            <a:lvl5pPr marL="1905000">
              <a:buSzPct val="123000"/>
            </a:lvl5pPr>
          </a:lstStyle>
          <a:p>
            <a:r>
              <a:t>Slide bullet text</a:t>
            </a:r>
          </a:p>
          <a:p>
            <a:pPr lvl="1"/>
            <a:endParaRPr/>
          </a:p>
          <a:p>
            <a:pPr lvl="2"/>
            <a:endParaRPr/>
          </a:p>
          <a:p>
            <a:pPr lvl="3"/>
            <a:endParaRPr/>
          </a:p>
          <a:p>
            <a:pPr lvl="4"/>
            <a:endParaRPr/>
          </a:p>
        </p:txBody>
      </p:sp>
      <p:sp>
        <p:nvSpPr>
          <p:cNvPr id="64" name="01"/>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Section">
    <p:spTree>
      <p:nvGrpSpPr>
        <p:cNvPr id="1" name=""/>
        <p:cNvGrpSpPr/>
        <p:nvPr/>
      </p:nvGrpSpPr>
      <p:grpSpPr>
        <a:xfrm>
          <a:off x="0" y="0"/>
          <a:ext cx="0" cy="0"/>
          <a:chOff x="0" y="0"/>
          <a:chExt cx="0" cy="0"/>
        </a:xfrm>
      </p:grpSpPr>
      <p:sp>
        <p:nvSpPr>
          <p:cNvPr id="71" name="Section Title"/>
          <p:cNvSpPr txBox="1">
            <a:spLocks noGrp="1"/>
          </p:cNvSpPr>
          <p:nvPr>
            <p:ph type="title" hasCustomPrompt="1"/>
          </p:nvPr>
        </p:nvSpPr>
        <p:spPr>
          <a:xfrm>
            <a:off x="698500" y="3225800"/>
            <a:ext cx="11607800" cy="3302000"/>
          </a:xfrm>
          <a:prstGeom prst="rect">
            <a:avLst/>
          </a:prstGeom>
        </p:spPr>
        <p:txBody>
          <a:bodyPr anchor="ctr"/>
          <a:lstStyle>
            <a:lvl1pPr>
              <a:defRPr sz="8200" spc="-164">
                <a:latin typeface="Helvetica Neue Medium"/>
                <a:ea typeface="Helvetica Neue Medium"/>
                <a:cs typeface="Helvetica Neue Medium"/>
                <a:sym typeface="Helvetica Neue Medium"/>
              </a:defRPr>
            </a:lvl1pPr>
          </a:lstStyle>
          <a:p>
            <a:r>
              <a:t>Section Title</a:t>
            </a:r>
          </a:p>
        </p:txBody>
      </p:sp>
      <p:sp>
        <p:nvSpPr>
          <p:cNvPr id="72" name="Line"/>
          <p:cNvSpPr/>
          <p:nvPr/>
        </p:nvSpPr>
        <p:spPr>
          <a:xfrm>
            <a:off x="12578" y="3010194"/>
            <a:ext cx="12979643" cy="1"/>
          </a:xfrm>
          <a:prstGeom prst="line">
            <a:avLst/>
          </a:prstGeom>
          <a:ln w="25400">
            <a:solidFill>
              <a:srgbClr val="FF7E79"/>
            </a:solidFill>
            <a:miter lim="400000"/>
          </a:ln>
        </p:spPr>
        <p:txBody>
          <a:bodyPr lIns="50800" tIns="50800" rIns="50800" bIns="50800" anchor="ctr"/>
          <a:lstStyle/>
          <a:p>
            <a:endParaRPr/>
          </a:p>
        </p:txBody>
      </p:sp>
      <p:sp>
        <p:nvSpPr>
          <p:cNvPr id="73" name="Line"/>
          <p:cNvSpPr/>
          <p:nvPr/>
        </p:nvSpPr>
        <p:spPr>
          <a:xfrm>
            <a:off x="12578" y="6423878"/>
            <a:ext cx="12979644" cy="1"/>
          </a:xfrm>
          <a:prstGeom prst="line">
            <a:avLst/>
          </a:prstGeom>
          <a:ln w="25400">
            <a:solidFill>
              <a:srgbClr val="FF7E79"/>
            </a:solidFill>
            <a:miter lim="400000"/>
          </a:ln>
        </p:spPr>
        <p:txBody>
          <a:bodyPr lIns="50800" tIns="50800" rIns="50800" bIns="50800" anchor="ctr"/>
          <a:lstStyle/>
          <a:p>
            <a:endParaRPr/>
          </a:p>
        </p:txBody>
      </p:sp>
      <p:sp>
        <p:nvSpPr>
          <p:cNvPr id="74" name="01"/>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81" name="Slide Title"/>
          <p:cNvSpPr txBox="1">
            <a:spLocks noGrp="1"/>
          </p:cNvSpPr>
          <p:nvPr>
            <p:ph type="title" hasCustomPrompt="1"/>
          </p:nvPr>
        </p:nvSpPr>
        <p:spPr>
          <a:prstGeom prst="rect">
            <a:avLst/>
          </a:prstGeom>
        </p:spPr>
        <p:txBody>
          <a:bodyPr/>
          <a:lstStyle/>
          <a:p>
            <a:r>
              <a:t>Slide Title</a:t>
            </a:r>
          </a:p>
        </p:txBody>
      </p:sp>
      <p:sp>
        <p:nvSpPr>
          <p:cNvPr id="82" name="01"/>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Agenda">
    <p:spTree>
      <p:nvGrpSpPr>
        <p:cNvPr id="1" name=""/>
        <p:cNvGrpSpPr/>
        <p:nvPr/>
      </p:nvGrpSpPr>
      <p:grpSpPr>
        <a:xfrm>
          <a:off x="0" y="0"/>
          <a:ext cx="0" cy="0"/>
          <a:chOff x="0" y="0"/>
          <a:chExt cx="0" cy="0"/>
        </a:xfrm>
      </p:grpSpPr>
      <p:sp>
        <p:nvSpPr>
          <p:cNvPr id="89" name="Agenda Title"/>
          <p:cNvSpPr txBox="1">
            <a:spLocks noGrp="1"/>
          </p:cNvSpPr>
          <p:nvPr>
            <p:ph type="title" hasCustomPrompt="1"/>
          </p:nvPr>
        </p:nvSpPr>
        <p:spPr>
          <a:xfrm>
            <a:off x="698500" y="444500"/>
            <a:ext cx="11607800" cy="1016000"/>
          </a:xfrm>
          <a:prstGeom prst="rect">
            <a:avLst/>
          </a:prstGeom>
        </p:spPr>
        <p:txBody>
          <a:bodyPr/>
          <a:lstStyle/>
          <a:p>
            <a:r>
              <a:t>Agenda Title</a:t>
            </a:r>
          </a:p>
        </p:txBody>
      </p:sp>
      <p:sp>
        <p:nvSpPr>
          <p:cNvPr id="90" name="Agenda Subtitle"/>
          <p:cNvSpPr txBox="1">
            <a:spLocks noGrp="1"/>
          </p:cNvSpPr>
          <p:nvPr>
            <p:ph type="body" sz="quarter" idx="21" hasCustomPrompt="1"/>
          </p:nvPr>
        </p:nvSpPr>
        <p:spPr>
          <a:xfrm>
            <a:off x="698500" y="1409700"/>
            <a:ext cx="11607801" cy="671802"/>
          </a:xfrm>
          <a:prstGeom prst="rect">
            <a:avLst/>
          </a:prstGeom>
        </p:spPr>
        <p:txBody>
          <a:bodyPr/>
          <a:lstStyle>
            <a:lvl1pPr marL="0" indent="0" defTabSz="516579">
              <a:lnSpc>
                <a:spcPct val="100000"/>
              </a:lnSpc>
              <a:spcBef>
                <a:spcPts val="0"/>
              </a:spcBef>
              <a:buClrTx/>
              <a:buSzTx/>
              <a:buNone/>
              <a:defRPr sz="3343">
                <a:latin typeface="Avenir Next Medium"/>
                <a:ea typeface="Avenir Next Medium"/>
                <a:cs typeface="Avenir Next Medium"/>
                <a:sym typeface="Avenir Next Medium"/>
              </a:defRPr>
            </a:lvl1pPr>
          </a:lstStyle>
          <a:p>
            <a:r>
              <a:t>Agenda Subtitle</a:t>
            </a:r>
          </a:p>
        </p:txBody>
      </p:sp>
      <p:sp>
        <p:nvSpPr>
          <p:cNvPr id="91" name="Body Level One…"/>
          <p:cNvSpPr txBox="1">
            <a:spLocks noGrp="1"/>
          </p:cNvSpPr>
          <p:nvPr>
            <p:ph type="body" idx="1" hasCustomPrompt="1"/>
          </p:nvPr>
        </p:nvSpPr>
        <p:spPr>
          <a:xfrm>
            <a:off x="698500" y="2959100"/>
            <a:ext cx="11607800" cy="6096000"/>
          </a:xfrm>
          <a:prstGeom prst="rect">
            <a:avLst/>
          </a:prstGeom>
        </p:spPr>
        <p:txBody>
          <a:bodyPr/>
          <a:lstStyle>
            <a:lvl1pPr marL="0" indent="0">
              <a:spcBef>
                <a:spcPts val="1300"/>
              </a:spcBef>
              <a:buClrTx/>
              <a:buSzTx/>
              <a:buNone/>
              <a:defRPr sz="3800" spc="-38">
                <a:latin typeface="Helvetica Neue"/>
                <a:ea typeface="Helvetica Neue"/>
                <a:cs typeface="Helvetica Neue"/>
                <a:sym typeface="Helvetica Neue"/>
              </a:defRPr>
            </a:lvl1pPr>
            <a:lvl2pPr marL="0" indent="457200">
              <a:spcBef>
                <a:spcPts val="1300"/>
              </a:spcBef>
              <a:buClrTx/>
              <a:buSzTx/>
              <a:buNone/>
              <a:defRPr sz="3800" spc="-38">
                <a:latin typeface="Helvetica Neue"/>
                <a:ea typeface="Helvetica Neue"/>
                <a:cs typeface="Helvetica Neue"/>
                <a:sym typeface="Helvetica Neue"/>
              </a:defRPr>
            </a:lvl2pPr>
            <a:lvl3pPr marL="0" indent="914400">
              <a:spcBef>
                <a:spcPts val="1300"/>
              </a:spcBef>
              <a:buClrTx/>
              <a:buSzTx/>
              <a:buNone/>
              <a:defRPr sz="3800" spc="-38">
                <a:latin typeface="Helvetica Neue"/>
                <a:ea typeface="Helvetica Neue"/>
                <a:cs typeface="Helvetica Neue"/>
                <a:sym typeface="Helvetica Neue"/>
              </a:defRPr>
            </a:lvl3pPr>
            <a:lvl4pPr marL="0" indent="1371600">
              <a:spcBef>
                <a:spcPts val="1300"/>
              </a:spcBef>
              <a:buClrTx/>
              <a:buSzTx/>
              <a:buNone/>
              <a:defRPr sz="3800" spc="-38">
                <a:latin typeface="Helvetica Neue"/>
                <a:ea typeface="Helvetica Neue"/>
                <a:cs typeface="Helvetica Neue"/>
                <a:sym typeface="Helvetica Neue"/>
              </a:defRPr>
            </a:lvl4pPr>
            <a:lvl5pPr marL="0" indent="1828800">
              <a:spcBef>
                <a:spcPts val="1300"/>
              </a:spcBef>
              <a:buSzTx/>
              <a:buNone/>
              <a:defRPr sz="3800" spc="-38">
                <a:latin typeface="Helvetica Neue"/>
                <a:ea typeface="Helvetica Neue"/>
                <a:cs typeface="Helvetica Neue"/>
                <a:sym typeface="Helvetica Neue"/>
              </a:defRPr>
            </a:lvl5pPr>
          </a:lstStyle>
          <a:p>
            <a:r>
              <a:t>Agenda Topics</a:t>
            </a:r>
          </a:p>
          <a:p>
            <a:pPr lvl="1"/>
            <a:endParaRPr/>
          </a:p>
          <a:p>
            <a:pPr lvl="2"/>
            <a:endParaRPr/>
          </a:p>
          <a:p>
            <a:pPr lvl="3"/>
            <a:endParaRPr/>
          </a:p>
          <a:p>
            <a:pPr lvl="4"/>
            <a:endParaRPr/>
          </a:p>
        </p:txBody>
      </p:sp>
      <p:sp>
        <p:nvSpPr>
          <p:cNvPr id="92" name="01"/>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Statement">
    <p:spTree>
      <p:nvGrpSpPr>
        <p:cNvPr id="1" name=""/>
        <p:cNvGrpSpPr/>
        <p:nvPr/>
      </p:nvGrpSpPr>
      <p:grpSpPr>
        <a:xfrm>
          <a:off x="0" y="0"/>
          <a:ext cx="0" cy="0"/>
          <a:chOff x="0" y="0"/>
          <a:chExt cx="0" cy="0"/>
        </a:xfrm>
      </p:grpSpPr>
      <p:sp>
        <p:nvSpPr>
          <p:cNvPr id="99" name="Body Level One…"/>
          <p:cNvSpPr txBox="1">
            <a:spLocks noGrp="1"/>
          </p:cNvSpPr>
          <p:nvPr>
            <p:ph type="body" sz="half" idx="1" hasCustomPrompt="1"/>
          </p:nvPr>
        </p:nvSpPr>
        <p:spPr>
          <a:xfrm>
            <a:off x="698500" y="3568700"/>
            <a:ext cx="11607800" cy="2617788"/>
          </a:xfrm>
          <a:prstGeom prst="rect">
            <a:avLst/>
          </a:prstGeom>
        </p:spPr>
        <p:txBody>
          <a:bodyPr anchor="ctr"/>
          <a:lstStyle>
            <a:lvl1pPr marL="0" indent="0" algn="ctr">
              <a:lnSpc>
                <a:spcPct val="80000"/>
              </a:lnSpc>
              <a:spcBef>
                <a:spcPts val="0"/>
              </a:spcBef>
              <a:buClrTx/>
              <a:buSzTx/>
              <a:buNone/>
              <a:defRPr sz="8200" spc="-164">
                <a:latin typeface="Helvetica Neue Medium"/>
                <a:ea typeface="Helvetica Neue Medium"/>
                <a:cs typeface="Helvetica Neue Medium"/>
                <a:sym typeface="Helvetica Neue Medium"/>
              </a:defRPr>
            </a:lvl1pPr>
            <a:lvl2pPr marL="0" indent="457200" algn="ctr">
              <a:lnSpc>
                <a:spcPct val="80000"/>
              </a:lnSpc>
              <a:spcBef>
                <a:spcPts val="0"/>
              </a:spcBef>
              <a:buClrTx/>
              <a:buSzTx/>
              <a:buNone/>
              <a:defRPr sz="8200" spc="-164">
                <a:latin typeface="Helvetica Neue Medium"/>
                <a:ea typeface="Helvetica Neue Medium"/>
                <a:cs typeface="Helvetica Neue Medium"/>
                <a:sym typeface="Helvetica Neue Medium"/>
              </a:defRPr>
            </a:lvl2pPr>
            <a:lvl3pPr marL="0" indent="914400" algn="ctr">
              <a:lnSpc>
                <a:spcPct val="80000"/>
              </a:lnSpc>
              <a:spcBef>
                <a:spcPts val="0"/>
              </a:spcBef>
              <a:buClrTx/>
              <a:buSzTx/>
              <a:buNone/>
              <a:defRPr sz="8200" spc="-164">
                <a:latin typeface="Helvetica Neue Medium"/>
                <a:ea typeface="Helvetica Neue Medium"/>
                <a:cs typeface="Helvetica Neue Medium"/>
                <a:sym typeface="Helvetica Neue Medium"/>
              </a:defRPr>
            </a:lvl3pPr>
            <a:lvl4pPr marL="0" indent="1371600" algn="ctr">
              <a:lnSpc>
                <a:spcPct val="80000"/>
              </a:lnSpc>
              <a:spcBef>
                <a:spcPts val="0"/>
              </a:spcBef>
              <a:buClrTx/>
              <a:buSzTx/>
              <a:buNone/>
              <a:defRPr sz="8200" spc="-164">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z="8200" spc="-164">
                <a:latin typeface="Helvetica Neue Medium"/>
                <a:ea typeface="Helvetica Neue Medium"/>
                <a:cs typeface="Helvetica Neue Medium"/>
                <a:sym typeface="Helvetica Neue Medium"/>
              </a:defRPr>
            </a:lvl5pPr>
          </a:lstStyle>
          <a:p>
            <a:r>
              <a:t>Statement</a:t>
            </a:r>
          </a:p>
          <a:p>
            <a:pPr lvl="1"/>
            <a:endParaRPr/>
          </a:p>
          <a:p>
            <a:pPr lvl="2"/>
            <a:endParaRPr/>
          </a:p>
          <a:p>
            <a:pPr lvl="3"/>
            <a:endParaRPr/>
          </a:p>
          <a:p>
            <a:pPr lvl="4"/>
            <a:endParaRPr/>
          </a:p>
        </p:txBody>
      </p:sp>
      <p:sp>
        <p:nvSpPr>
          <p:cNvPr id="100" name="Line"/>
          <p:cNvSpPr/>
          <p:nvPr/>
        </p:nvSpPr>
        <p:spPr>
          <a:xfrm>
            <a:off x="12578" y="3010194"/>
            <a:ext cx="12979643" cy="1"/>
          </a:xfrm>
          <a:prstGeom prst="line">
            <a:avLst/>
          </a:prstGeom>
          <a:ln w="25400">
            <a:solidFill>
              <a:srgbClr val="FF7E79"/>
            </a:solidFill>
            <a:miter lim="400000"/>
          </a:ln>
        </p:spPr>
        <p:txBody>
          <a:bodyPr lIns="50800" tIns="50800" rIns="50800" bIns="50800" anchor="ctr"/>
          <a:lstStyle/>
          <a:p>
            <a:endParaRPr/>
          </a:p>
        </p:txBody>
      </p:sp>
      <p:sp>
        <p:nvSpPr>
          <p:cNvPr id="101" name="Line"/>
          <p:cNvSpPr/>
          <p:nvPr/>
        </p:nvSpPr>
        <p:spPr>
          <a:xfrm>
            <a:off x="12578" y="6423878"/>
            <a:ext cx="12979644" cy="1"/>
          </a:xfrm>
          <a:prstGeom prst="line">
            <a:avLst/>
          </a:prstGeom>
          <a:ln w="25400">
            <a:solidFill>
              <a:srgbClr val="FF7E79"/>
            </a:solidFill>
            <a:miter lim="400000"/>
          </a:ln>
        </p:spPr>
        <p:txBody>
          <a:bodyPr lIns="50800" tIns="50800" rIns="50800" bIns="50800" anchor="ctr"/>
          <a:lstStyle/>
          <a:p>
            <a:endParaRPr/>
          </a:p>
        </p:txBody>
      </p:sp>
      <p:sp>
        <p:nvSpPr>
          <p:cNvPr id="102" name="01"/>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Big Fact">
    <p:spTree>
      <p:nvGrpSpPr>
        <p:cNvPr id="1" name=""/>
        <p:cNvGrpSpPr/>
        <p:nvPr/>
      </p:nvGrpSpPr>
      <p:grpSpPr>
        <a:xfrm>
          <a:off x="0" y="0"/>
          <a:ext cx="0" cy="0"/>
          <a:chOff x="0" y="0"/>
          <a:chExt cx="0" cy="0"/>
        </a:xfrm>
      </p:grpSpPr>
      <p:sp>
        <p:nvSpPr>
          <p:cNvPr id="109" name="Fact information"/>
          <p:cNvSpPr txBox="1">
            <a:spLocks noGrp="1"/>
          </p:cNvSpPr>
          <p:nvPr>
            <p:ph type="body" sz="quarter" idx="21" hasCustomPrompt="1"/>
          </p:nvPr>
        </p:nvSpPr>
        <p:spPr>
          <a:xfrm>
            <a:off x="698500" y="6209979"/>
            <a:ext cx="11607800" cy="671803"/>
          </a:xfrm>
          <a:prstGeom prst="rect">
            <a:avLst/>
          </a:prstGeom>
        </p:spPr>
        <p:txBody>
          <a:bodyPr/>
          <a:lstStyle>
            <a:lvl1pPr marL="0" indent="0" algn="ctr">
              <a:lnSpc>
                <a:spcPct val="100000"/>
              </a:lnSpc>
              <a:spcBef>
                <a:spcPts val="0"/>
              </a:spcBef>
              <a:buClrTx/>
              <a:buSzTx/>
              <a:buNone/>
              <a:defRPr sz="3800" b="1">
                <a:latin typeface="Helvetica Neue"/>
                <a:ea typeface="Helvetica Neue"/>
                <a:cs typeface="Helvetica Neue"/>
                <a:sym typeface="Helvetica Neue"/>
              </a:defRPr>
            </a:lvl1pPr>
          </a:lstStyle>
          <a:p>
            <a:r>
              <a:t>Fact information</a:t>
            </a:r>
          </a:p>
        </p:txBody>
      </p:sp>
      <p:sp>
        <p:nvSpPr>
          <p:cNvPr id="110" name="Body Level One…"/>
          <p:cNvSpPr txBox="1">
            <a:spLocks noGrp="1"/>
          </p:cNvSpPr>
          <p:nvPr>
            <p:ph type="body" idx="1" hasCustomPrompt="1"/>
          </p:nvPr>
        </p:nvSpPr>
        <p:spPr>
          <a:xfrm>
            <a:off x="698500" y="999066"/>
            <a:ext cx="11607800" cy="5210914"/>
          </a:xfrm>
          <a:prstGeom prst="rect">
            <a:avLst/>
          </a:prstGeom>
        </p:spPr>
        <p:txBody>
          <a:bodyPr anchor="b"/>
          <a:lstStyle>
            <a:lvl1pPr marL="0" indent="0" algn="ctr">
              <a:lnSpc>
                <a:spcPct val="80000"/>
              </a:lnSpc>
              <a:spcBef>
                <a:spcPts val="0"/>
              </a:spcBef>
              <a:buClrTx/>
              <a:buSzTx/>
              <a:buNone/>
              <a:defRPr sz="17600" b="1" spc="-176">
                <a:latin typeface="Helvetica Neue"/>
                <a:ea typeface="Helvetica Neue"/>
                <a:cs typeface="Helvetica Neue"/>
                <a:sym typeface="Helvetica Neue"/>
              </a:defRPr>
            </a:lvl1pPr>
            <a:lvl2pPr marL="0" indent="457200" algn="ctr">
              <a:lnSpc>
                <a:spcPct val="80000"/>
              </a:lnSpc>
              <a:spcBef>
                <a:spcPts val="0"/>
              </a:spcBef>
              <a:buClrTx/>
              <a:buSzTx/>
              <a:buNone/>
              <a:defRPr sz="17600" b="1" spc="-176">
                <a:latin typeface="Helvetica Neue"/>
                <a:ea typeface="Helvetica Neue"/>
                <a:cs typeface="Helvetica Neue"/>
                <a:sym typeface="Helvetica Neue"/>
              </a:defRPr>
            </a:lvl2pPr>
            <a:lvl3pPr marL="0" indent="914400" algn="ctr">
              <a:lnSpc>
                <a:spcPct val="80000"/>
              </a:lnSpc>
              <a:spcBef>
                <a:spcPts val="0"/>
              </a:spcBef>
              <a:buClrTx/>
              <a:buSzTx/>
              <a:buNone/>
              <a:defRPr sz="17600" b="1" spc="-176">
                <a:latin typeface="Helvetica Neue"/>
                <a:ea typeface="Helvetica Neue"/>
                <a:cs typeface="Helvetica Neue"/>
                <a:sym typeface="Helvetica Neue"/>
              </a:defRPr>
            </a:lvl3pPr>
            <a:lvl4pPr marL="0" indent="1371600" algn="ctr">
              <a:lnSpc>
                <a:spcPct val="80000"/>
              </a:lnSpc>
              <a:spcBef>
                <a:spcPts val="0"/>
              </a:spcBef>
              <a:buClrTx/>
              <a:buSzTx/>
              <a:buNone/>
              <a:defRPr sz="17600" b="1" spc="-176">
                <a:latin typeface="Helvetica Neue"/>
                <a:ea typeface="Helvetica Neue"/>
                <a:cs typeface="Helvetica Neue"/>
                <a:sym typeface="Helvetica Neue"/>
              </a:defRPr>
            </a:lvl4pPr>
            <a:lvl5pPr marL="0" indent="1828800" algn="ctr">
              <a:lnSpc>
                <a:spcPct val="80000"/>
              </a:lnSpc>
              <a:spcBef>
                <a:spcPts val="0"/>
              </a:spcBef>
              <a:buSzTx/>
              <a:buNone/>
              <a:defRPr sz="17600" b="1" spc="-176">
                <a:latin typeface="Helvetica Neue"/>
                <a:ea typeface="Helvetica Neue"/>
                <a:cs typeface="Helvetica Neue"/>
                <a:sym typeface="Helvetica Neue"/>
              </a:defRPr>
            </a:lvl5pPr>
          </a:lstStyle>
          <a:p>
            <a:r>
              <a:t>100%</a:t>
            </a:r>
          </a:p>
          <a:p>
            <a:pPr lvl="1"/>
            <a:endParaRPr/>
          </a:p>
          <a:p>
            <a:pPr lvl="2"/>
            <a:endParaRPr/>
          </a:p>
          <a:p>
            <a:pPr lvl="3"/>
            <a:endParaRPr/>
          </a:p>
          <a:p>
            <a:pPr lvl="4"/>
            <a:endParaRPr/>
          </a:p>
        </p:txBody>
      </p:sp>
      <p:sp>
        <p:nvSpPr>
          <p:cNvPr id="111" name="01"/>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Quote">
    <p:spTree>
      <p:nvGrpSpPr>
        <p:cNvPr id="1" name=""/>
        <p:cNvGrpSpPr/>
        <p:nvPr/>
      </p:nvGrpSpPr>
      <p:grpSpPr>
        <a:xfrm>
          <a:off x="0" y="0"/>
          <a:ext cx="0" cy="0"/>
          <a:chOff x="0" y="0"/>
          <a:chExt cx="0" cy="0"/>
        </a:xfrm>
      </p:grpSpPr>
      <p:sp>
        <p:nvSpPr>
          <p:cNvPr id="118" name="Body Level One…"/>
          <p:cNvSpPr txBox="1">
            <a:spLocks noGrp="1"/>
          </p:cNvSpPr>
          <p:nvPr>
            <p:ph type="body" sz="half" idx="1" hasCustomPrompt="1"/>
          </p:nvPr>
        </p:nvSpPr>
        <p:spPr>
          <a:xfrm>
            <a:off x="736600" y="3721100"/>
            <a:ext cx="11531600" cy="2324100"/>
          </a:xfrm>
          <a:prstGeom prst="rect">
            <a:avLst/>
          </a:prstGeom>
        </p:spPr>
        <p:txBody>
          <a:bodyPr anchor="ctr"/>
          <a:lstStyle>
            <a:lvl1pPr marL="457200" indent="-342900">
              <a:spcBef>
                <a:spcPts val="0"/>
              </a:spcBef>
              <a:buClrTx/>
              <a:buSzTx/>
              <a:buNone/>
              <a:defRPr sz="6000" spc="-119">
                <a:latin typeface="Helvetica Neue Medium"/>
                <a:ea typeface="Helvetica Neue Medium"/>
                <a:cs typeface="Helvetica Neue Medium"/>
                <a:sym typeface="Helvetica Neue Medium"/>
              </a:defRPr>
            </a:lvl1pPr>
            <a:lvl2pPr marL="457200" indent="114300">
              <a:spcBef>
                <a:spcPts val="0"/>
              </a:spcBef>
              <a:buClrTx/>
              <a:buSzTx/>
              <a:buNone/>
              <a:defRPr sz="6000" spc="-119">
                <a:latin typeface="Helvetica Neue Medium"/>
                <a:ea typeface="Helvetica Neue Medium"/>
                <a:cs typeface="Helvetica Neue Medium"/>
                <a:sym typeface="Helvetica Neue Medium"/>
              </a:defRPr>
            </a:lvl2pPr>
            <a:lvl3pPr marL="457200" indent="571500">
              <a:spcBef>
                <a:spcPts val="0"/>
              </a:spcBef>
              <a:buClrTx/>
              <a:buSzTx/>
              <a:buNone/>
              <a:defRPr sz="6000" spc="-119">
                <a:latin typeface="Helvetica Neue Medium"/>
                <a:ea typeface="Helvetica Neue Medium"/>
                <a:cs typeface="Helvetica Neue Medium"/>
                <a:sym typeface="Helvetica Neue Medium"/>
              </a:defRPr>
            </a:lvl3pPr>
            <a:lvl4pPr marL="457200" indent="1028700">
              <a:spcBef>
                <a:spcPts val="0"/>
              </a:spcBef>
              <a:buClrTx/>
              <a:buSzTx/>
              <a:buNone/>
              <a:defRPr sz="6000" spc="-119">
                <a:latin typeface="Helvetica Neue Medium"/>
                <a:ea typeface="Helvetica Neue Medium"/>
                <a:cs typeface="Helvetica Neue Medium"/>
                <a:sym typeface="Helvetica Neue Medium"/>
              </a:defRPr>
            </a:lvl4pPr>
            <a:lvl5pPr marL="457200" indent="1485900">
              <a:spcBef>
                <a:spcPts val="0"/>
              </a:spcBef>
              <a:buSzTx/>
              <a:buNone/>
              <a:defRPr sz="6000" spc="-119">
                <a:latin typeface="Helvetica Neue Medium"/>
                <a:ea typeface="Helvetica Neue Medium"/>
                <a:cs typeface="Helvetica Neue Medium"/>
                <a:sym typeface="Helvetica Neue Medium"/>
              </a:defRPr>
            </a:lvl5pPr>
          </a:lstStyle>
          <a:p>
            <a:r>
              <a:t>“Notable Quote”</a:t>
            </a:r>
          </a:p>
          <a:p>
            <a:pPr lvl="1"/>
            <a:endParaRPr/>
          </a:p>
          <a:p>
            <a:pPr lvl="2"/>
            <a:endParaRPr/>
          </a:p>
          <a:p>
            <a:pPr lvl="3"/>
            <a:endParaRPr/>
          </a:p>
          <a:p>
            <a:pPr lvl="4"/>
            <a:endParaRPr/>
          </a:p>
        </p:txBody>
      </p:sp>
      <p:sp>
        <p:nvSpPr>
          <p:cNvPr id="119" name="Attribution"/>
          <p:cNvSpPr txBox="1">
            <a:spLocks noGrp="1"/>
          </p:cNvSpPr>
          <p:nvPr>
            <p:ph type="body" sz="quarter" idx="21" hasCustomPrompt="1"/>
          </p:nvPr>
        </p:nvSpPr>
        <p:spPr>
          <a:xfrm>
            <a:off x="1219200" y="6426200"/>
            <a:ext cx="11049000" cy="461059"/>
          </a:xfrm>
          <a:prstGeom prst="rect">
            <a:avLst/>
          </a:prstGeom>
        </p:spPr>
        <p:txBody>
          <a:bodyPr/>
          <a:lstStyle>
            <a:lvl1pPr marL="0" indent="0" defTabSz="563541">
              <a:lnSpc>
                <a:spcPct val="100000"/>
              </a:lnSpc>
              <a:spcBef>
                <a:spcPts val="0"/>
              </a:spcBef>
              <a:buClrTx/>
              <a:buSzTx/>
              <a:buNone/>
              <a:defRPr sz="2304" b="1">
                <a:latin typeface="Helvetica Neue"/>
                <a:ea typeface="Helvetica Neue"/>
                <a:cs typeface="Helvetica Neue"/>
                <a:sym typeface="Helvetica Neue"/>
              </a:defRPr>
            </a:lvl1pPr>
          </a:lstStyle>
          <a:p>
            <a:r>
              <a:t>Attribution</a:t>
            </a:r>
          </a:p>
        </p:txBody>
      </p:sp>
      <p:sp>
        <p:nvSpPr>
          <p:cNvPr id="120" name="01"/>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Photo - 3 Up">
    <p:spTree>
      <p:nvGrpSpPr>
        <p:cNvPr id="1" name=""/>
        <p:cNvGrpSpPr/>
        <p:nvPr/>
      </p:nvGrpSpPr>
      <p:grpSpPr>
        <a:xfrm>
          <a:off x="0" y="0"/>
          <a:ext cx="0" cy="0"/>
          <a:chOff x="0" y="0"/>
          <a:chExt cx="0" cy="0"/>
        </a:xfrm>
      </p:grpSpPr>
      <p:sp>
        <p:nvSpPr>
          <p:cNvPr id="127" name="Bowl of pappardelle pasta with parsley butter, roasted hazelnuts, and shaved parmesan cheese"/>
          <p:cNvSpPr>
            <a:spLocks noGrp="1"/>
          </p:cNvSpPr>
          <p:nvPr>
            <p:ph type="pic" idx="21"/>
          </p:nvPr>
        </p:nvSpPr>
        <p:spPr>
          <a:xfrm>
            <a:off x="-2082800" y="687558"/>
            <a:ext cx="11165190" cy="8373892"/>
          </a:xfrm>
          <a:prstGeom prst="rect">
            <a:avLst/>
          </a:prstGeom>
        </p:spPr>
        <p:txBody>
          <a:bodyPr lIns="91439" tIns="45719" rIns="91439" bIns="45719">
            <a:noAutofit/>
          </a:bodyPr>
          <a:lstStyle/>
          <a:p>
            <a:endParaRPr/>
          </a:p>
        </p:txBody>
      </p:sp>
      <p:sp>
        <p:nvSpPr>
          <p:cNvPr id="128" name="Bowl of salad with fried rice, boiled eggs, and chopsticks"/>
          <p:cNvSpPr>
            <a:spLocks noGrp="1"/>
          </p:cNvSpPr>
          <p:nvPr>
            <p:ph type="pic" sz="half" idx="22"/>
          </p:nvPr>
        </p:nvSpPr>
        <p:spPr>
          <a:xfrm>
            <a:off x="6597650" y="292100"/>
            <a:ext cx="5740400" cy="4592321"/>
          </a:xfrm>
          <a:prstGeom prst="rect">
            <a:avLst/>
          </a:prstGeom>
        </p:spPr>
        <p:txBody>
          <a:bodyPr lIns="91439" tIns="45719" rIns="91439" bIns="45719">
            <a:noAutofit/>
          </a:bodyPr>
          <a:lstStyle/>
          <a:p>
            <a:endParaRPr/>
          </a:p>
        </p:txBody>
      </p:sp>
      <p:sp>
        <p:nvSpPr>
          <p:cNvPr id="129" name="Bowl with salmon cakes, salad, and hummus"/>
          <p:cNvSpPr>
            <a:spLocks noGrp="1"/>
          </p:cNvSpPr>
          <p:nvPr>
            <p:ph type="pic" idx="23"/>
          </p:nvPr>
        </p:nvSpPr>
        <p:spPr>
          <a:xfrm>
            <a:off x="4984750" y="2749413"/>
            <a:ext cx="7937500" cy="9238277"/>
          </a:xfrm>
          <a:prstGeom prst="rect">
            <a:avLst/>
          </a:prstGeom>
        </p:spPr>
        <p:txBody>
          <a:bodyPr lIns="91439" tIns="45719" rIns="91439" bIns="45719">
            <a:noAutofit/>
          </a:bodyPr>
          <a:lstStyle/>
          <a:p>
            <a:endParaRPr/>
          </a:p>
        </p:txBody>
      </p:sp>
      <p:sp>
        <p:nvSpPr>
          <p:cNvPr id="130" name="01"/>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Photo">
    <p:spTree>
      <p:nvGrpSpPr>
        <p:cNvPr id="1" name=""/>
        <p:cNvGrpSpPr/>
        <p:nvPr/>
      </p:nvGrpSpPr>
      <p:grpSpPr>
        <a:xfrm>
          <a:off x="0" y="0"/>
          <a:ext cx="0" cy="0"/>
          <a:chOff x="0" y="0"/>
          <a:chExt cx="0" cy="0"/>
        </a:xfrm>
      </p:grpSpPr>
      <p:sp>
        <p:nvSpPr>
          <p:cNvPr id="137" name="Bowl of salad with fried rice, boiled eggs, and chopsticks"/>
          <p:cNvSpPr>
            <a:spLocks noGrp="1"/>
          </p:cNvSpPr>
          <p:nvPr>
            <p:ph type="pic" idx="21"/>
          </p:nvPr>
        </p:nvSpPr>
        <p:spPr>
          <a:xfrm>
            <a:off x="-1016000" y="-1054100"/>
            <a:ext cx="14427200" cy="11541760"/>
          </a:xfrm>
          <a:prstGeom prst="rect">
            <a:avLst/>
          </a:prstGeom>
        </p:spPr>
        <p:txBody>
          <a:bodyPr lIns="91439" tIns="45719" rIns="91439" bIns="45719">
            <a:noAutofit/>
          </a:bodyPr>
          <a:lstStyle/>
          <a:p>
            <a:endParaRPr/>
          </a:p>
        </p:txBody>
      </p:sp>
      <p:sp>
        <p:nvSpPr>
          <p:cNvPr id="138" name="01"/>
          <p:cNvSpPr txBox="1">
            <a:spLocks noGrp="1"/>
          </p:cNvSpPr>
          <p:nvPr>
            <p:ph type="sldNum" sz="quarter" idx="2"/>
          </p:nvPr>
        </p:nvSpPr>
        <p:spPr>
          <a:xfrm>
            <a:off x="6353454" y="9220199"/>
            <a:ext cx="297892" cy="287479"/>
          </a:xfrm>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145" name="01"/>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ody Level One…"/>
          <p:cNvSpPr txBox="1">
            <a:spLocks noGrp="1"/>
          </p:cNvSpPr>
          <p:nvPr>
            <p:ph type="body" idx="1" hasCustomPrompt="1"/>
          </p:nvPr>
        </p:nvSpPr>
        <p:spPr>
          <a:xfrm>
            <a:off x="698500" y="1924756"/>
            <a:ext cx="11607800" cy="76405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2pPr marL="1016000"/>
            <a:lvl3pPr marL="1651000">
              <a:buChar char="‣"/>
            </a:lvl3pPr>
            <a:lvl4pPr marL="2286000">
              <a:buChar char="-"/>
            </a:lvl4pPr>
            <a:lvl5pPr marL="2921000">
              <a:buClrTx/>
              <a:buSzPct val="58999"/>
            </a:lvl5pPr>
          </a:lstStyle>
          <a:p>
            <a:r>
              <a:t>Slide bullet text</a:t>
            </a:r>
          </a:p>
          <a:p>
            <a:pPr lvl="1"/>
            <a:endParaRPr/>
          </a:p>
          <a:p>
            <a:pPr lvl="2"/>
            <a:endParaRPr/>
          </a:p>
          <a:p>
            <a:pPr lvl="3"/>
            <a:endParaRPr/>
          </a:p>
          <a:p>
            <a:pPr lvl="4"/>
            <a:endParaRPr/>
          </a:p>
        </p:txBody>
      </p:sp>
      <p:sp>
        <p:nvSpPr>
          <p:cNvPr id="3" name="Slide Title"/>
          <p:cNvSpPr txBox="1">
            <a:spLocks noGrp="1"/>
          </p:cNvSpPr>
          <p:nvPr>
            <p:ph type="title" hasCustomPrompt="1"/>
          </p:nvPr>
        </p:nvSpPr>
        <p:spPr>
          <a:xfrm>
            <a:off x="698500" y="440266"/>
            <a:ext cx="11607800" cy="1016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Slide Title</a:t>
            </a:r>
          </a:p>
        </p:txBody>
      </p:sp>
      <p:sp>
        <p:nvSpPr>
          <p:cNvPr id="4" name="Line"/>
          <p:cNvSpPr/>
          <p:nvPr/>
        </p:nvSpPr>
        <p:spPr>
          <a:xfrm>
            <a:off x="65804" y="1583266"/>
            <a:ext cx="12873192" cy="1"/>
          </a:xfrm>
          <a:prstGeom prst="line">
            <a:avLst/>
          </a:prstGeom>
          <a:ln w="50800">
            <a:solidFill>
              <a:srgbClr val="FF7E79"/>
            </a:solidFill>
            <a:miter lim="400000"/>
          </a:ln>
        </p:spPr>
        <p:txBody>
          <a:bodyPr lIns="50800" tIns="50800" rIns="50800" bIns="50800" anchor="ctr"/>
          <a:lstStyle/>
          <a:p>
            <a:endParaRPr/>
          </a:p>
        </p:txBody>
      </p:sp>
      <p:sp>
        <p:nvSpPr>
          <p:cNvPr id="5" name="01"/>
          <p:cNvSpPr txBox="1">
            <a:spLocks noGrp="1"/>
          </p:cNvSpPr>
          <p:nvPr>
            <p:ph type="sldNum" sz="quarter" idx="2"/>
          </p:nvPr>
        </p:nvSpPr>
        <p:spPr>
          <a:xfrm>
            <a:off x="6350067" y="9220199"/>
            <a:ext cx="297892" cy="287479"/>
          </a:xfrm>
          <a:prstGeom prst="rect">
            <a:avLst/>
          </a:prstGeom>
          <a:ln w="12700">
            <a:miter lim="400000"/>
          </a:ln>
        </p:spPr>
        <p:txBody>
          <a:bodyPr wrap="none" lIns="50800" tIns="50800" rIns="50800" bIns="50800" anchor="b">
            <a:spAutoFit/>
          </a:bodyPr>
          <a:lstStyle>
            <a:lvl1pPr algn="ctr" defTabSz="584200">
              <a:defRPr sz="1300">
                <a:solidFill>
                  <a:srgbClr val="000000"/>
                </a:solidFill>
                <a:latin typeface="Helvetica Neue"/>
                <a:ea typeface="Helvetica Neue"/>
                <a:cs typeface="Helvetica Neue"/>
                <a:sym typeface="Helvetica Neue"/>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spd="med"/>
  <p:txStyles>
    <p:titleStyle>
      <a:lvl1pPr marL="0" marR="0" indent="0" algn="l" defTabSz="1733930" rtl="0" latinLnBrk="0">
        <a:lnSpc>
          <a:spcPct val="80000"/>
        </a:lnSpc>
        <a:spcBef>
          <a:spcPts val="0"/>
        </a:spcBef>
        <a:spcAft>
          <a:spcPts val="0"/>
        </a:spcAft>
        <a:buClrTx/>
        <a:buSzTx/>
        <a:buFontTx/>
        <a:buNone/>
        <a:tabLst/>
        <a:defRPr sz="6000" b="0" i="0" u="none" strike="noStrike" cap="none" spc="-119" baseline="0">
          <a:solidFill>
            <a:srgbClr val="000000"/>
          </a:solidFill>
          <a:uFillTx/>
          <a:latin typeface="+mn-lt"/>
          <a:ea typeface="+mn-ea"/>
          <a:cs typeface="+mn-cs"/>
          <a:sym typeface="Avenir Next Demi Bold"/>
        </a:defRPr>
      </a:lvl1pPr>
      <a:lvl2pPr marL="0" marR="0" indent="457200" algn="l" defTabSz="1733930" rtl="0" latinLnBrk="0">
        <a:lnSpc>
          <a:spcPct val="80000"/>
        </a:lnSpc>
        <a:spcBef>
          <a:spcPts val="0"/>
        </a:spcBef>
        <a:spcAft>
          <a:spcPts val="0"/>
        </a:spcAft>
        <a:buClrTx/>
        <a:buSzTx/>
        <a:buFontTx/>
        <a:buNone/>
        <a:tabLst/>
        <a:defRPr sz="6000" b="0" i="0" u="none" strike="noStrike" cap="none" spc="-119" baseline="0">
          <a:solidFill>
            <a:srgbClr val="000000"/>
          </a:solidFill>
          <a:uFillTx/>
          <a:latin typeface="+mn-lt"/>
          <a:ea typeface="+mn-ea"/>
          <a:cs typeface="+mn-cs"/>
          <a:sym typeface="Avenir Next Demi Bold"/>
        </a:defRPr>
      </a:lvl2pPr>
      <a:lvl3pPr marL="0" marR="0" indent="914400" algn="l" defTabSz="1733930" rtl="0" latinLnBrk="0">
        <a:lnSpc>
          <a:spcPct val="80000"/>
        </a:lnSpc>
        <a:spcBef>
          <a:spcPts val="0"/>
        </a:spcBef>
        <a:spcAft>
          <a:spcPts val="0"/>
        </a:spcAft>
        <a:buClrTx/>
        <a:buSzTx/>
        <a:buFontTx/>
        <a:buNone/>
        <a:tabLst/>
        <a:defRPr sz="6000" b="0" i="0" u="none" strike="noStrike" cap="none" spc="-119" baseline="0">
          <a:solidFill>
            <a:srgbClr val="000000"/>
          </a:solidFill>
          <a:uFillTx/>
          <a:latin typeface="+mn-lt"/>
          <a:ea typeface="+mn-ea"/>
          <a:cs typeface="+mn-cs"/>
          <a:sym typeface="Avenir Next Demi Bold"/>
        </a:defRPr>
      </a:lvl3pPr>
      <a:lvl4pPr marL="0" marR="0" indent="1371600" algn="l" defTabSz="1733930" rtl="0" latinLnBrk="0">
        <a:lnSpc>
          <a:spcPct val="80000"/>
        </a:lnSpc>
        <a:spcBef>
          <a:spcPts val="0"/>
        </a:spcBef>
        <a:spcAft>
          <a:spcPts val="0"/>
        </a:spcAft>
        <a:buClrTx/>
        <a:buSzTx/>
        <a:buFontTx/>
        <a:buNone/>
        <a:tabLst/>
        <a:defRPr sz="6000" b="0" i="0" u="none" strike="noStrike" cap="none" spc="-119" baseline="0">
          <a:solidFill>
            <a:srgbClr val="000000"/>
          </a:solidFill>
          <a:uFillTx/>
          <a:latin typeface="+mn-lt"/>
          <a:ea typeface="+mn-ea"/>
          <a:cs typeface="+mn-cs"/>
          <a:sym typeface="Avenir Next Demi Bold"/>
        </a:defRPr>
      </a:lvl4pPr>
      <a:lvl5pPr marL="0" marR="0" indent="1828800" algn="l" defTabSz="1733930" rtl="0" latinLnBrk="0">
        <a:lnSpc>
          <a:spcPct val="80000"/>
        </a:lnSpc>
        <a:spcBef>
          <a:spcPts val="0"/>
        </a:spcBef>
        <a:spcAft>
          <a:spcPts val="0"/>
        </a:spcAft>
        <a:buClrTx/>
        <a:buSzTx/>
        <a:buFontTx/>
        <a:buNone/>
        <a:tabLst/>
        <a:defRPr sz="6000" b="0" i="0" u="none" strike="noStrike" cap="none" spc="-119" baseline="0">
          <a:solidFill>
            <a:srgbClr val="000000"/>
          </a:solidFill>
          <a:uFillTx/>
          <a:latin typeface="+mn-lt"/>
          <a:ea typeface="+mn-ea"/>
          <a:cs typeface="+mn-cs"/>
          <a:sym typeface="Avenir Next Demi Bold"/>
        </a:defRPr>
      </a:lvl5pPr>
      <a:lvl6pPr marL="0" marR="0" indent="2286000" algn="l" defTabSz="1733930" rtl="0" latinLnBrk="0">
        <a:lnSpc>
          <a:spcPct val="80000"/>
        </a:lnSpc>
        <a:spcBef>
          <a:spcPts val="0"/>
        </a:spcBef>
        <a:spcAft>
          <a:spcPts val="0"/>
        </a:spcAft>
        <a:buClrTx/>
        <a:buSzTx/>
        <a:buFontTx/>
        <a:buNone/>
        <a:tabLst/>
        <a:defRPr sz="6000" b="0" i="0" u="none" strike="noStrike" cap="none" spc="-119" baseline="0">
          <a:solidFill>
            <a:srgbClr val="000000"/>
          </a:solidFill>
          <a:uFillTx/>
          <a:latin typeface="+mn-lt"/>
          <a:ea typeface="+mn-ea"/>
          <a:cs typeface="+mn-cs"/>
          <a:sym typeface="Avenir Next Demi Bold"/>
        </a:defRPr>
      </a:lvl6pPr>
      <a:lvl7pPr marL="0" marR="0" indent="2743200" algn="l" defTabSz="1733930" rtl="0" latinLnBrk="0">
        <a:lnSpc>
          <a:spcPct val="80000"/>
        </a:lnSpc>
        <a:spcBef>
          <a:spcPts val="0"/>
        </a:spcBef>
        <a:spcAft>
          <a:spcPts val="0"/>
        </a:spcAft>
        <a:buClrTx/>
        <a:buSzTx/>
        <a:buFontTx/>
        <a:buNone/>
        <a:tabLst/>
        <a:defRPr sz="6000" b="0" i="0" u="none" strike="noStrike" cap="none" spc="-119" baseline="0">
          <a:solidFill>
            <a:srgbClr val="000000"/>
          </a:solidFill>
          <a:uFillTx/>
          <a:latin typeface="+mn-lt"/>
          <a:ea typeface="+mn-ea"/>
          <a:cs typeface="+mn-cs"/>
          <a:sym typeface="Avenir Next Demi Bold"/>
        </a:defRPr>
      </a:lvl7pPr>
      <a:lvl8pPr marL="0" marR="0" indent="3200400" algn="l" defTabSz="1733930" rtl="0" latinLnBrk="0">
        <a:lnSpc>
          <a:spcPct val="80000"/>
        </a:lnSpc>
        <a:spcBef>
          <a:spcPts val="0"/>
        </a:spcBef>
        <a:spcAft>
          <a:spcPts val="0"/>
        </a:spcAft>
        <a:buClrTx/>
        <a:buSzTx/>
        <a:buFontTx/>
        <a:buNone/>
        <a:tabLst/>
        <a:defRPr sz="6000" b="0" i="0" u="none" strike="noStrike" cap="none" spc="-119" baseline="0">
          <a:solidFill>
            <a:srgbClr val="000000"/>
          </a:solidFill>
          <a:uFillTx/>
          <a:latin typeface="+mn-lt"/>
          <a:ea typeface="+mn-ea"/>
          <a:cs typeface="+mn-cs"/>
          <a:sym typeface="Avenir Next Demi Bold"/>
        </a:defRPr>
      </a:lvl8pPr>
      <a:lvl9pPr marL="0" marR="0" indent="3657600" algn="l" defTabSz="1733930" rtl="0" latinLnBrk="0">
        <a:lnSpc>
          <a:spcPct val="80000"/>
        </a:lnSpc>
        <a:spcBef>
          <a:spcPts val="0"/>
        </a:spcBef>
        <a:spcAft>
          <a:spcPts val="0"/>
        </a:spcAft>
        <a:buClrTx/>
        <a:buSzTx/>
        <a:buFontTx/>
        <a:buNone/>
        <a:tabLst/>
        <a:defRPr sz="6000" b="0" i="0" u="none" strike="noStrike" cap="none" spc="-119" baseline="0">
          <a:solidFill>
            <a:srgbClr val="000000"/>
          </a:solidFill>
          <a:uFillTx/>
          <a:latin typeface="+mn-lt"/>
          <a:ea typeface="+mn-ea"/>
          <a:cs typeface="+mn-cs"/>
          <a:sym typeface="Avenir Next Demi Bold"/>
        </a:defRPr>
      </a:lvl9pPr>
    </p:titleStyle>
    <p:bodyStyle>
      <a:lvl1pPr marL="381000" marR="0" indent="-381000" algn="l" defTabSz="1733930" rtl="0" latinLnBrk="0">
        <a:lnSpc>
          <a:spcPct val="90000"/>
        </a:lnSpc>
        <a:spcBef>
          <a:spcPts val="3200"/>
        </a:spcBef>
        <a:spcAft>
          <a:spcPts val="0"/>
        </a:spcAft>
        <a:buClr>
          <a:srgbClr val="8DA0CB"/>
        </a:buClr>
        <a:buSzPct val="78000"/>
        <a:buFontTx/>
        <a:buChar char="❖"/>
        <a:tabLst/>
        <a:defRPr sz="3000" b="0" i="0" u="none" strike="noStrike" cap="none" spc="0" baseline="0">
          <a:solidFill>
            <a:srgbClr val="000000"/>
          </a:solidFill>
          <a:uFillTx/>
          <a:latin typeface="+mj-lt"/>
          <a:ea typeface="+mj-ea"/>
          <a:cs typeface="+mj-cs"/>
          <a:sym typeface="Avenir Next Regular"/>
        </a:defRPr>
      </a:lvl1pPr>
      <a:lvl2pPr marL="762000" marR="0" indent="-381000" algn="l" defTabSz="1733930" rtl="0" latinLnBrk="0">
        <a:lnSpc>
          <a:spcPct val="90000"/>
        </a:lnSpc>
        <a:spcBef>
          <a:spcPts val="3200"/>
        </a:spcBef>
        <a:spcAft>
          <a:spcPts val="0"/>
        </a:spcAft>
        <a:buClr>
          <a:srgbClr val="8DA0CB"/>
        </a:buClr>
        <a:buSzPct val="123000"/>
        <a:buFontTx/>
        <a:buChar char="•"/>
        <a:tabLst/>
        <a:defRPr sz="3000" b="0" i="0" u="none" strike="noStrike" cap="none" spc="0" baseline="0">
          <a:solidFill>
            <a:srgbClr val="000000"/>
          </a:solidFill>
          <a:uFillTx/>
          <a:latin typeface="+mj-lt"/>
          <a:ea typeface="+mj-ea"/>
          <a:cs typeface="+mj-cs"/>
          <a:sym typeface="Avenir Next Regular"/>
        </a:defRPr>
      </a:lvl2pPr>
      <a:lvl3pPr marL="1143000" marR="0" indent="-381000" algn="l" defTabSz="1733930" rtl="0" latinLnBrk="0">
        <a:lnSpc>
          <a:spcPct val="90000"/>
        </a:lnSpc>
        <a:spcBef>
          <a:spcPts val="3200"/>
        </a:spcBef>
        <a:spcAft>
          <a:spcPts val="0"/>
        </a:spcAft>
        <a:buClr>
          <a:srgbClr val="8DA0CB"/>
        </a:buClr>
        <a:buSzPct val="123000"/>
        <a:buFontTx/>
        <a:buChar char="•"/>
        <a:tabLst/>
        <a:defRPr sz="3000" b="0" i="0" u="none" strike="noStrike" cap="none" spc="0" baseline="0">
          <a:solidFill>
            <a:srgbClr val="000000"/>
          </a:solidFill>
          <a:uFillTx/>
          <a:latin typeface="+mj-lt"/>
          <a:ea typeface="+mj-ea"/>
          <a:cs typeface="+mj-cs"/>
          <a:sym typeface="Avenir Next Regular"/>
        </a:defRPr>
      </a:lvl3pPr>
      <a:lvl4pPr marL="1524000" marR="0" indent="-381000" algn="l" defTabSz="1733930" rtl="0" latinLnBrk="0">
        <a:lnSpc>
          <a:spcPct val="90000"/>
        </a:lnSpc>
        <a:spcBef>
          <a:spcPts val="3200"/>
        </a:spcBef>
        <a:spcAft>
          <a:spcPts val="0"/>
        </a:spcAft>
        <a:buClr>
          <a:srgbClr val="8DA0CB"/>
        </a:buClr>
        <a:buSzPct val="123000"/>
        <a:buFontTx/>
        <a:buChar char="•"/>
        <a:tabLst/>
        <a:defRPr sz="3000" b="0" i="0" u="none" strike="noStrike" cap="none" spc="0" baseline="0">
          <a:solidFill>
            <a:srgbClr val="000000"/>
          </a:solidFill>
          <a:uFillTx/>
          <a:latin typeface="+mj-lt"/>
          <a:ea typeface="+mj-ea"/>
          <a:cs typeface="+mj-cs"/>
          <a:sym typeface="Avenir Next Regular"/>
        </a:defRPr>
      </a:lvl4pPr>
      <a:lvl5pPr marL="1905000" marR="0" indent="-381000" algn="l" defTabSz="1733930" rtl="0" latinLnBrk="0">
        <a:lnSpc>
          <a:spcPct val="90000"/>
        </a:lnSpc>
        <a:spcBef>
          <a:spcPts val="3200"/>
        </a:spcBef>
        <a:spcAft>
          <a:spcPts val="0"/>
        </a:spcAft>
        <a:buClr>
          <a:srgbClr val="8DA0CB"/>
        </a:buClr>
        <a:buSzPct val="123000"/>
        <a:buFontTx/>
        <a:buChar char="•"/>
        <a:tabLst/>
        <a:defRPr sz="3000" b="0" i="0" u="none" strike="noStrike" cap="none" spc="0" baseline="0">
          <a:solidFill>
            <a:srgbClr val="000000"/>
          </a:solidFill>
          <a:uFillTx/>
          <a:latin typeface="+mj-lt"/>
          <a:ea typeface="+mj-ea"/>
          <a:cs typeface="+mj-cs"/>
          <a:sym typeface="Avenir Next Regular"/>
        </a:defRPr>
      </a:lvl5pPr>
      <a:lvl6pPr marL="2286000" marR="0" indent="-381000" algn="l" defTabSz="1733930" rtl="0" latinLnBrk="0">
        <a:lnSpc>
          <a:spcPct val="90000"/>
        </a:lnSpc>
        <a:spcBef>
          <a:spcPts val="3200"/>
        </a:spcBef>
        <a:spcAft>
          <a:spcPts val="0"/>
        </a:spcAft>
        <a:buClr>
          <a:srgbClr val="8DA0CB"/>
        </a:buClr>
        <a:buSzPct val="123000"/>
        <a:buFontTx/>
        <a:buChar char="•"/>
        <a:tabLst/>
        <a:defRPr sz="3000" b="0" i="0" u="none" strike="noStrike" cap="none" spc="0" baseline="0">
          <a:solidFill>
            <a:srgbClr val="000000"/>
          </a:solidFill>
          <a:uFillTx/>
          <a:latin typeface="+mj-lt"/>
          <a:ea typeface="+mj-ea"/>
          <a:cs typeface="+mj-cs"/>
          <a:sym typeface="Avenir Next Regular"/>
        </a:defRPr>
      </a:lvl6pPr>
      <a:lvl7pPr marL="2667000" marR="0" indent="-381000" algn="l" defTabSz="1733930" rtl="0" latinLnBrk="0">
        <a:lnSpc>
          <a:spcPct val="90000"/>
        </a:lnSpc>
        <a:spcBef>
          <a:spcPts val="3200"/>
        </a:spcBef>
        <a:spcAft>
          <a:spcPts val="0"/>
        </a:spcAft>
        <a:buClr>
          <a:srgbClr val="8DA0CB"/>
        </a:buClr>
        <a:buSzPct val="123000"/>
        <a:buFontTx/>
        <a:buChar char="•"/>
        <a:tabLst/>
        <a:defRPr sz="3000" b="0" i="0" u="none" strike="noStrike" cap="none" spc="0" baseline="0">
          <a:solidFill>
            <a:srgbClr val="000000"/>
          </a:solidFill>
          <a:uFillTx/>
          <a:latin typeface="+mj-lt"/>
          <a:ea typeface="+mj-ea"/>
          <a:cs typeface="+mj-cs"/>
          <a:sym typeface="Avenir Next Regular"/>
        </a:defRPr>
      </a:lvl7pPr>
      <a:lvl8pPr marL="3048000" marR="0" indent="-381000" algn="l" defTabSz="1733930" rtl="0" latinLnBrk="0">
        <a:lnSpc>
          <a:spcPct val="90000"/>
        </a:lnSpc>
        <a:spcBef>
          <a:spcPts val="3200"/>
        </a:spcBef>
        <a:spcAft>
          <a:spcPts val="0"/>
        </a:spcAft>
        <a:buClr>
          <a:srgbClr val="8DA0CB"/>
        </a:buClr>
        <a:buSzPct val="123000"/>
        <a:buFontTx/>
        <a:buChar char="•"/>
        <a:tabLst/>
        <a:defRPr sz="3000" b="0" i="0" u="none" strike="noStrike" cap="none" spc="0" baseline="0">
          <a:solidFill>
            <a:srgbClr val="000000"/>
          </a:solidFill>
          <a:uFillTx/>
          <a:latin typeface="+mj-lt"/>
          <a:ea typeface="+mj-ea"/>
          <a:cs typeface="+mj-cs"/>
          <a:sym typeface="Avenir Next Regular"/>
        </a:defRPr>
      </a:lvl8pPr>
      <a:lvl9pPr marL="3429000" marR="0" indent="-381000" algn="l" defTabSz="1733930" rtl="0" latinLnBrk="0">
        <a:lnSpc>
          <a:spcPct val="90000"/>
        </a:lnSpc>
        <a:spcBef>
          <a:spcPts val="3200"/>
        </a:spcBef>
        <a:spcAft>
          <a:spcPts val="0"/>
        </a:spcAft>
        <a:buClr>
          <a:srgbClr val="8DA0CB"/>
        </a:buClr>
        <a:buSzPct val="123000"/>
        <a:buFontTx/>
        <a:buChar char="•"/>
        <a:tabLst/>
        <a:defRPr sz="3000" b="0" i="0" u="none" strike="noStrike" cap="none" spc="0" baseline="0">
          <a:solidFill>
            <a:srgbClr val="000000"/>
          </a:solidFill>
          <a:uFillTx/>
          <a:latin typeface="+mj-lt"/>
          <a:ea typeface="+mj-ea"/>
          <a:cs typeface="+mj-cs"/>
          <a:sym typeface="Avenir Next Regular"/>
        </a:defRPr>
      </a:lvl9pPr>
    </p:bodyStyle>
    <p:otherStyle>
      <a:lvl1pPr marL="0" marR="0" indent="0" algn="ctr" defTabSz="584200" rtl="0" latinLnBrk="0">
        <a:lnSpc>
          <a:spcPct val="100000"/>
        </a:lnSpc>
        <a:spcBef>
          <a:spcPts val="0"/>
        </a:spcBef>
        <a:spcAft>
          <a:spcPts val="0"/>
        </a:spcAft>
        <a:buClrTx/>
        <a:buSzTx/>
        <a:buFontTx/>
        <a:buNone/>
        <a:tabLst/>
        <a:defRPr sz="13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sz="13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sz="13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sz="13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sz="13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sz="13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sz="13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sz="13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sz="13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5.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8.tif"/><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tif"/><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0.tif"/><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4.tif"/><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5.tif"/><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5.tif"/><Relationship Id="rId2" Type="http://schemas.openxmlformats.org/officeDocument/2006/relationships/image" Target="../media/image16.tif"/><Relationship Id="rId1" Type="http://schemas.openxmlformats.org/officeDocument/2006/relationships/slideLayout" Target="../slideLayouts/slideLayout4.xml"/><Relationship Id="rId6" Type="http://schemas.openxmlformats.org/officeDocument/2006/relationships/image" Target="../media/image130.png"/><Relationship Id="rId5" Type="http://schemas.openxmlformats.org/officeDocument/2006/relationships/customXml" Target="../ink/ink1.xml"/><Relationship Id="rId4" Type="http://schemas.openxmlformats.org/officeDocument/2006/relationships/image" Target="../media/image17.tif"/></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0.tif"/><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20.tif"/><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21.tif"/><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22.tif"/><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3.tif"/><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6.tif"/><Relationship Id="rId7" Type="http://schemas.openxmlformats.org/officeDocument/2006/relationships/image" Target="../media/image32.png"/><Relationship Id="rId2" Type="http://schemas.openxmlformats.org/officeDocument/2006/relationships/image" Target="../media/image30.png"/><Relationship Id="rId1" Type="http://schemas.openxmlformats.org/officeDocument/2006/relationships/slideLayout" Target="../slideLayouts/slideLayout8.xml"/><Relationship Id="rId6" Type="http://schemas.openxmlformats.org/officeDocument/2006/relationships/image" Target="../media/image31.png"/><Relationship Id="rId5" Type="http://schemas.openxmlformats.org/officeDocument/2006/relationships/image" Target="../media/image28.tif"/><Relationship Id="rId4" Type="http://schemas.openxmlformats.org/officeDocument/2006/relationships/image" Target="../media/image27.tif"/></Relationships>
</file>

<file path=ppt/slides/_rels/slide4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Support Vector Machines"/>
          <p:cNvSpPr txBox="1">
            <a:spLocks noGrp="1"/>
          </p:cNvSpPr>
          <p:nvPr>
            <p:ph type="title"/>
          </p:nvPr>
        </p:nvSpPr>
        <p:spPr>
          <a:xfrm>
            <a:off x="698500" y="440266"/>
            <a:ext cx="11607800" cy="1016001"/>
          </a:xfrm>
        </p:spPr>
        <p:txBody>
          <a:bodyPr anchor="ctr">
            <a:normAutofit/>
          </a:bodyPr>
          <a:lstStyle/>
          <a:p>
            <a:r>
              <a:rPr lang="en-US" sz="7000"/>
              <a:t>Support Vector Machines</a:t>
            </a:r>
          </a:p>
        </p:txBody>
      </p:sp>
      <p:pic>
        <p:nvPicPr>
          <p:cNvPr id="2" name="Picture 1">
            <a:extLst>
              <a:ext uri="{FF2B5EF4-FFF2-40B4-BE49-F238E27FC236}">
                <a16:creationId xmlns:a16="http://schemas.microsoft.com/office/drawing/2014/main" id="{87B5218C-B546-9504-79DF-6415BC0A89E7}"/>
              </a:ext>
            </a:extLst>
          </p:cNvPr>
          <p:cNvPicPr>
            <a:picLocks noChangeAspect="1"/>
          </p:cNvPicPr>
          <p:nvPr/>
        </p:nvPicPr>
        <p:blipFill>
          <a:blip r:embed="rId2"/>
          <a:srcRect t="7837" r="2" b="12271"/>
          <a:stretch>
            <a:fillRect/>
          </a:stretch>
        </p:blipFill>
        <p:spPr>
          <a:xfrm>
            <a:off x="-37593" y="1646767"/>
            <a:ext cx="13127731" cy="7000844"/>
          </a:xfrm>
          <a:prstGeom prst="rect">
            <a:avLst/>
          </a:prstGeom>
          <a:noFill/>
          <a:ln w="12700">
            <a:miter lim="400000"/>
          </a:ln>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6" name="The support vector machines (SVM) is an approach developed in the 1990s by computer scientists…"/>
              <p:cNvSpPr txBox="1">
                <a:spLocks noGrp="1"/>
              </p:cNvSpPr>
              <p:nvPr>
                <p:ph type="body" idx="1"/>
              </p:nvPr>
            </p:nvSpPr>
            <p:spPr>
              <a:prstGeom prst="rect">
                <a:avLst/>
              </a:prstGeom>
            </p:spPr>
            <p:txBody>
              <a:bodyPr/>
              <a:lstStyle/>
              <a:p>
                <a:r>
                  <a:t>The support vector machines (SVM) is an approach developed in the 1990s by computer scientists</a:t>
                </a:r>
              </a:p>
              <a:p>
                <a:pPr lvl="1"/>
                <a:r>
                  <a:t>(No probability estimate) </a:t>
                </a:r>
                <a14:m>
                  <m:oMath xmlns:m="http://schemas.openxmlformats.org/officeDocument/2006/math">
                    <m:r>
                      <a:rPr sz="3250" i="1">
                        <a:solidFill>
                          <a:srgbClr val="000000"/>
                        </a:solidFill>
                        <a:latin typeface="Cambria Math" panose="02040503050406030204" pitchFamily="18" charset="0"/>
                      </a:rPr>
                      <m:t>𝑋</m:t>
                    </m:r>
                  </m:oMath>
                </a14:m>
                <a:endParaRPr/>
              </a:p>
              <a:p>
                <a:r>
                  <a:t>Often work well for many problems types of problems</a:t>
                </a:r>
              </a:p>
              <a:p>
                <a:pPr lvl="1"/>
                <a:r>
                  <a:t>probably less used now with advances in ANN</a:t>
                </a:r>
              </a:p>
              <a:p>
                <a:pPr lvl="1"/>
                <a:r>
                  <a:t>but still kind of cool mathematically </a:t>
                </a:r>
              </a:p>
              <a:p>
                <a:r>
                  <a:t>First we need to review the definition of a hyperplane</a:t>
                </a:r>
              </a:p>
            </p:txBody>
          </p:sp>
        </mc:Choice>
        <mc:Fallback xmlns="">
          <p:sp>
            <p:nvSpPr>
              <p:cNvPr id="156" name="The support vector machines (SVM) is an approach developed in the 1990s by computer scientists…"/>
              <p:cNvSpPr txBox="1">
                <a:spLocks noGrp="1" noRot="1" noChangeAspect="1" noMove="1" noResize="1" noEditPoints="1" noAdjustHandles="1" noChangeArrowheads="1" noChangeShapeType="1" noTextEdit="1"/>
              </p:cNvSpPr>
              <p:nvPr>
                <p:ph type="body" idx="1"/>
              </p:nvPr>
            </p:nvSpPr>
            <p:spPr>
              <a:prstGeom prst="rect">
                <a:avLst/>
              </a:prstGeom>
              <a:blipFill>
                <a:blip r:embed="rId2"/>
                <a:stretch>
                  <a:fillRect l="-1313" t="-1516"/>
                </a:stretch>
              </a:blipFill>
            </p:spPr>
            <p:txBody>
              <a:bodyPr/>
              <a:lstStyle/>
              <a:p>
                <a:r>
                  <a:rPr lang="en-US">
                    <a:noFill/>
                  </a:rPr>
                  <a:t> </a:t>
                </a:r>
              </a:p>
            </p:txBody>
          </p:sp>
        </mc:Fallback>
      </mc:AlternateContent>
      <p:sp>
        <p:nvSpPr>
          <p:cNvPr id="157" name="Introduction to SVM"/>
          <p:cNvSpPr txBox="1">
            <a:spLocks noGrp="1"/>
          </p:cNvSpPr>
          <p:nvPr>
            <p:ph type="title"/>
          </p:nvPr>
        </p:nvSpPr>
        <p:spPr>
          <a:prstGeom prst="rect">
            <a:avLst/>
          </a:prstGeom>
        </p:spPr>
        <p:txBody>
          <a:bodyPr/>
          <a:lstStyle>
            <a:lvl1pPr defTabSz="1525858">
              <a:defRPr sz="5280" spc="-105"/>
            </a:lvl1pPr>
          </a:lstStyle>
          <a:p>
            <a:r>
              <a:t>Introduction to SVM</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9" name="A hyperplane is a generalization of a line in   dimensions…"/>
              <p:cNvSpPr txBox="1">
                <a:spLocks noGrp="1"/>
              </p:cNvSpPr>
              <p:nvPr>
                <p:ph type="body" idx="1"/>
              </p:nvPr>
            </p:nvSpPr>
            <p:spPr>
              <a:prstGeom prst="rect">
                <a:avLst/>
              </a:prstGeom>
            </p:spPr>
            <p:txBody>
              <a:bodyPr/>
              <a:lstStyle/>
              <a:p>
                <a:pPr marL="377190" indent="-377190" defTabSz="1716590">
                  <a:spcBef>
                    <a:spcPts val="3100"/>
                  </a:spcBef>
                  <a:defRPr sz="2970"/>
                </a:pPr>
                <a:r>
                  <a:t>A hyperplane is a generalization of a line in </a:t>
                </a:r>
                <a14:m>
                  <m:oMath xmlns:m="http://schemas.openxmlformats.org/officeDocument/2006/math">
                    <m:r>
                      <a:rPr sz="3200" i="1">
                        <a:solidFill>
                          <a:srgbClr val="000000"/>
                        </a:solidFill>
                        <a:latin typeface="Cambria Math" panose="02040503050406030204" pitchFamily="18" charset="0"/>
                      </a:rPr>
                      <m:t>𝑝</m:t>
                    </m:r>
                  </m:oMath>
                </a14:m>
                <a:r>
                  <a:t> dimensions</a:t>
                </a:r>
              </a:p>
              <a:p>
                <a:pPr marL="377190" indent="-377190" defTabSz="1716590">
                  <a:spcBef>
                    <a:spcPts val="3100"/>
                  </a:spcBef>
                  <a:defRPr sz="2970"/>
                </a:pPr>
                <a:r>
                  <a:t>Formally, a hyperplane in </a:t>
                </a:r>
                <a14:m>
                  <m:oMath xmlns:m="http://schemas.openxmlformats.org/officeDocument/2006/math">
                    <m:r>
                      <a:rPr sz="3200" i="1">
                        <a:solidFill>
                          <a:srgbClr val="000000"/>
                        </a:solidFill>
                        <a:latin typeface="Cambria Math" panose="02040503050406030204" pitchFamily="18" charset="0"/>
                      </a:rPr>
                      <m:t>𝑝</m:t>
                    </m:r>
                  </m:oMath>
                </a14:m>
                <a:r>
                  <a:t> dimensions is a flat affine subspace of dimension </a:t>
                </a:r>
                <a14:m>
                  <m:oMath xmlns:m="http://schemas.openxmlformats.org/officeDocument/2006/math">
                    <m:r>
                      <a:rPr sz="3200" i="1">
                        <a:solidFill>
                          <a:srgbClr val="000000"/>
                        </a:solidFill>
                        <a:latin typeface="Cambria Math" panose="02040503050406030204" pitchFamily="18" charset="0"/>
                      </a:rPr>
                      <m:t>𝑝</m:t>
                    </m:r>
                    <m:r>
                      <a:rPr sz="3200" i="1">
                        <a:solidFill>
                          <a:srgbClr val="000000"/>
                        </a:solidFill>
                        <a:latin typeface="Cambria Math" panose="02040503050406030204" pitchFamily="18" charset="0"/>
                      </a:rPr>
                      <m:t>−1</m:t>
                    </m:r>
                  </m:oMath>
                </a14:m>
                <a:r>
                  <a:t> with general form </a:t>
                </a:r>
              </a:p>
              <a:p>
                <a:pPr marL="1005839" lvl="1" indent="-377190" defTabSz="1716590">
                  <a:spcBef>
                    <a:spcPts val="3100"/>
                  </a:spcBef>
                  <a:defRPr sz="2970"/>
                </a:pPr>
                <a:r>
                  <a:t>A hyperplane in </a:t>
                </a:r>
                <a14:m>
                  <m:oMath xmlns:m="http://schemas.openxmlformats.org/officeDocument/2006/math">
                    <m:r>
                      <a:rPr sz="3200" i="1">
                        <a:solidFill>
                          <a:srgbClr val="000000"/>
                        </a:solidFill>
                        <a:latin typeface="Cambria Math" panose="02040503050406030204" pitchFamily="18" charset="0"/>
                      </a:rPr>
                      <m:t>𝑁</m:t>
                    </m:r>
                  </m:oMath>
                </a14:m>
                <a:r>
                  <a:t>-dimensional space is defined as</a:t>
                </a:r>
                <a:br/>
                <a14:m>
                  <m:oMath xmlns:m="http://schemas.openxmlformats.org/officeDocument/2006/math">
                    <m:r>
                      <a:rPr sz="3200" i="1">
                        <a:solidFill>
                          <a:srgbClr val="000000"/>
                        </a:solidFill>
                        <a:latin typeface="Cambria Math" panose="02040503050406030204" pitchFamily="18" charset="0"/>
                      </a:rPr>
                      <m:t>𝐰</m:t>
                    </m:r>
                    <m:r>
                      <a:rPr sz="3200" i="1">
                        <a:solidFill>
                          <a:srgbClr val="000000"/>
                        </a:solidFill>
                        <a:latin typeface="Cambria Math" panose="02040503050406030204" pitchFamily="18" charset="0"/>
                      </a:rPr>
                      <m:t>⋅</m:t>
                    </m:r>
                    <m:r>
                      <a:rPr sz="3200" i="1">
                        <a:solidFill>
                          <a:srgbClr val="000000"/>
                        </a:solidFill>
                        <a:latin typeface="Cambria Math" panose="02040503050406030204" pitchFamily="18" charset="0"/>
                      </a:rPr>
                      <m:t>𝐱</m:t>
                    </m:r>
                    <m:r>
                      <a:rPr sz="3200" i="1">
                        <a:solidFill>
                          <a:srgbClr val="000000"/>
                        </a:solidFill>
                        <a:latin typeface="Cambria Math" panose="02040503050406030204" pitchFamily="18" charset="0"/>
                      </a:rPr>
                      <m:t>+</m:t>
                    </m:r>
                    <m:r>
                      <a:rPr sz="3200" i="1">
                        <a:solidFill>
                          <a:srgbClr val="000000"/>
                        </a:solidFill>
                        <a:latin typeface="Cambria Math" panose="02040503050406030204" pitchFamily="18" charset="0"/>
                      </a:rPr>
                      <m:t>𝑏</m:t>
                    </m:r>
                    <m:r>
                      <a:rPr sz="3200" i="1">
                        <a:solidFill>
                          <a:srgbClr val="000000"/>
                        </a:solidFill>
                        <a:latin typeface="Cambria Math" panose="02040503050406030204" pitchFamily="18" charset="0"/>
                      </a:rPr>
                      <m:t>=0</m:t>
                    </m:r>
                  </m:oMath>
                </a14:m>
                <a:endParaRPr/>
              </a:p>
              <a:p>
                <a:pPr marL="1634489" lvl="2" indent="-377190" defTabSz="1716590">
                  <a:spcBef>
                    <a:spcPts val="3100"/>
                  </a:spcBef>
                  <a:defRPr sz="2970"/>
                </a:pPr>
                <a:r>
                  <a:t>Where </a:t>
                </a:r>
                <a14:m>
                  <m:oMath xmlns:m="http://schemas.openxmlformats.org/officeDocument/2006/math">
                    <m:r>
                      <a:rPr sz="3200" i="1">
                        <a:solidFill>
                          <a:srgbClr val="000000"/>
                        </a:solidFill>
                        <a:latin typeface="Cambria Math" panose="02040503050406030204" pitchFamily="18" charset="0"/>
                      </a:rPr>
                      <m:t>𝐰</m:t>
                    </m:r>
                  </m:oMath>
                </a14:m>
                <a:r>
                  <a:t> is the weight vector (perpendicular to the hyperplane) that determines the orientation</a:t>
                </a:r>
              </a:p>
              <a:p>
                <a:pPr marL="1634489" lvl="2" indent="-377190" defTabSz="1716590">
                  <a:spcBef>
                    <a:spcPts val="3100"/>
                  </a:spcBef>
                  <a:defRPr sz="2970"/>
                </a:pPr>
                <a14:m>
                  <m:oMath xmlns:m="http://schemas.openxmlformats.org/officeDocument/2006/math">
                    <m:r>
                      <a:rPr sz="3200" i="1">
                        <a:solidFill>
                          <a:srgbClr val="000000"/>
                        </a:solidFill>
                        <a:latin typeface="Cambria Math" panose="02040503050406030204" pitchFamily="18" charset="0"/>
                      </a:rPr>
                      <m:t>𝑏</m:t>
                    </m:r>
                  </m:oMath>
                </a14:m>
                <a:r>
                  <a:t> is the bias term</a:t>
                </a:r>
              </a:p>
              <a:p>
                <a:pPr marL="1634489" lvl="2" indent="-377190" defTabSz="1716590">
                  <a:spcBef>
                    <a:spcPts val="3100"/>
                  </a:spcBef>
                  <a:defRPr sz="2970"/>
                </a:pPr>
                <a14:m>
                  <m:oMath xmlns:m="http://schemas.openxmlformats.org/officeDocument/2006/math">
                    <m:r>
                      <a:rPr sz="3200" i="1">
                        <a:solidFill>
                          <a:srgbClr val="000000"/>
                        </a:solidFill>
                        <a:latin typeface="Cambria Math" panose="02040503050406030204" pitchFamily="18" charset="0"/>
                      </a:rPr>
                      <m:t>𝐱</m:t>
                    </m:r>
                  </m:oMath>
                </a14:m>
                <a:r>
                  <a:t> is any point in the space</a:t>
                </a:r>
              </a:p>
              <a:p>
                <a:pPr marL="377190" indent="-377190" defTabSz="1716590">
                  <a:spcBef>
                    <a:spcPts val="3100"/>
                  </a:spcBef>
                  <a:defRPr sz="2970"/>
                </a:pPr>
                <a:r>
                  <a:t>When </a:t>
                </a:r>
                <a14:m>
                  <m:oMath xmlns:m="http://schemas.openxmlformats.org/officeDocument/2006/math">
                    <m:r>
                      <a:rPr sz="3200" i="1">
                        <a:solidFill>
                          <a:srgbClr val="000000"/>
                        </a:solidFill>
                        <a:latin typeface="Cambria Math" panose="02040503050406030204" pitchFamily="18" charset="0"/>
                      </a:rPr>
                      <m:t>𝑝</m:t>
                    </m:r>
                    <m:r>
                      <a:rPr sz="3200" i="1">
                        <a:solidFill>
                          <a:srgbClr val="000000"/>
                        </a:solidFill>
                        <a:latin typeface="Cambria Math" panose="02040503050406030204" pitchFamily="18" charset="0"/>
                      </a:rPr>
                      <m:t>=2</m:t>
                    </m:r>
                  </m:oMath>
                </a14:m>
                <a:r>
                  <a:t> (there are two features) a hyperplane is a line</a:t>
                </a:r>
                <a:endParaRPr sz="3000"/>
              </a:p>
            </p:txBody>
          </p:sp>
        </mc:Choice>
        <mc:Fallback xmlns="">
          <p:sp>
            <p:nvSpPr>
              <p:cNvPr id="159" name="A hyperplane is a generalization of a line in   dimensions…"/>
              <p:cNvSpPr txBox="1">
                <a:spLocks noGrp="1" noRot="1" noChangeAspect="1" noMove="1" noResize="1" noEditPoints="1" noAdjustHandles="1" noChangeArrowheads="1" noChangeShapeType="1" noTextEdit="1"/>
              </p:cNvSpPr>
              <p:nvPr>
                <p:ph type="body" idx="1"/>
              </p:nvPr>
            </p:nvSpPr>
            <p:spPr>
              <a:prstGeom prst="rect">
                <a:avLst/>
              </a:prstGeom>
              <a:blipFill>
                <a:blip r:embed="rId2"/>
                <a:stretch>
                  <a:fillRect l="-1313" t="-1117" r="-2153"/>
                </a:stretch>
              </a:blipFill>
            </p:spPr>
            <p:txBody>
              <a:bodyPr/>
              <a:lstStyle/>
              <a:p>
                <a:r>
                  <a:rPr lang="en-US">
                    <a:noFill/>
                  </a:rPr>
                  <a:t> </a:t>
                </a:r>
              </a:p>
            </p:txBody>
          </p:sp>
        </mc:Fallback>
      </mc:AlternateContent>
      <p:sp>
        <p:nvSpPr>
          <p:cNvPr id="160" name="Hyperplanes"/>
          <p:cNvSpPr txBox="1">
            <a:spLocks noGrp="1"/>
          </p:cNvSpPr>
          <p:nvPr>
            <p:ph type="title"/>
          </p:nvPr>
        </p:nvSpPr>
        <p:spPr>
          <a:prstGeom prst="rect">
            <a:avLst/>
          </a:prstGeom>
        </p:spPr>
        <p:txBody>
          <a:bodyPr/>
          <a:lstStyle>
            <a:lvl1pPr defTabSz="1525858">
              <a:defRPr sz="5280" spc="-105"/>
            </a:lvl1pPr>
          </a:lstStyle>
          <a:p>
            <a:r>
              <a:t>Hyperplanes</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2" name="hp_b.png" descr="hp_b.png"/>
          <p:cNvPicPr>
            <a:picLocks noChangeAspect="1"/>
          </p:cNvPicPr>
          <p:nvPr/>
        </p:nvPicPr>
        <p:blipFill>
          <a:blip r:embed="rId2"/>
          <a:stretch>
            <a:fillRect/>
          </a:stretch>
        </p:blipFill>
        <p:spPr>
          <a:xfrm>
            <a:off x="-1" y="1112063"/>
            <a:ext cx="13004801" cy="3612445"/>
          </a:xfrm>
          <a:prstGeom prst="rect">
            <a:avLst/>
          </a:prstGeom>
          <a:ln w="12700">
            <a:miter lim="400000"/>
          </a:ln>
        </p:spPr>
      </p:pic>
      <p:pic>
        <p:nvPicPr>
          <p:cNvPr id="163" name="hp_w.png" descr="hp_w.png"/>
          <p:cNvPicPr>
            <a:picLocks noChangeAspect="1"/>
          </p:cNvPicPr>
          <p:nvPr/>
        </p:nvPicPr>
        <p:blipFill>
          <a:blip r:embed="rId3"/>
          <a:stretch>
            <a:fillRect/>
          </a:stretch>
        </p:blipFill>
        <p:spPr>
          <a:xfrm>
            <a:off x="0" y="5795236"/>
            <a:ext cx="13004801" cy="3612446"/>
          </a:xfrm>
          <a:prstGeom prst="rect">
            <a:avLst/>
          </a:prstGeom>
          <a:ln w="12700">
            <a:miter lim="400000"/>
          </a:ln>
        </p:spPr>
      </p:pic>
      <mc:AlternateContent xmlns:mc="http://schemas.openxmlformats.org/markup-compatibility/2006">
        <mc:Choice xmlns:a14="http://schemas.microsoft.com/office/drawing/2010/main" Requires="a14">
          <p:sp>
            <p:nvSpPr>
              <p:cNvPr id="164" name="Changing"/>
              <p:cNvSpPr txBox="1"/>
              <p:nvPr/>
            </p:nvSpPr>
            <p:spPr>
              <a:xfrm>
                <a:off x="589639" y="335108"/>
                <a:ext cx="2002440" cy="632746"/>
              </a:xfrm>
              <a:prstGeom prst="rect">
                <a:avLst/>
              </a:prstGeom>
              <a:ln w="12700">
                <a:miter lim="400000"/>
              </a:ln>
              <a:extLst>
                <a:ext uri="{C572A759-6A51-4108-AA02-DFA0A04FC94B}">
                  <ma14:wrappingTextBoxFlag xmlns:ma14="http://schemas.microsoft.com/office/mac/drawingml/2011/main" xmlns:m="http://schemas.openxmlformats.org/officeDocument/2006/math" xmlns="" val="1"/>
                </a:ext>
              </a:extLst>
            </p:spPr>
            <p:txBody>
              <a:bodyPr wrap="none" lIns="50800" tIns="50800" rIns="50800" bIns="50800" anchor="ctr">
                <a:spAutoFit/>
              </a:bodyPr>
              <a:lstStyle/>
              <a:p>
                <a:r>
                  <a:t>Changing </a:t>
                </a:r>
                <a14:m>
                  <m:oMath xmlns:m="http://schemas.openxmlformats.org/officeDocument/2006/math">
                    <m:r>
                      <a:rPr sz="3050" i="1">
                        <a:solidFill>
                          <a:srgbClr val="5E5E5E"/>
                        </a:solidFill>
                        <a:latin typeface="Cambria Math" panose="02040503050406030204" pitchFamily="18" charset="0"/>
                      </a:rPr>
                      <m:t>𝑏</m:t>
                    </m:r>
                  </m:oMath>
                </a14:m>
                <a:endParaRPr/>
              </a:p>
            </p:txBody>
          </p:sp>
        </mc:Choice>
        <mc:Fallback>
          <p:sp>
            <p:nvSpPr>
              <p:cNvPr id="164" name="Changing"/>
              <p:cNvSpPr txBox="1">
                <a:spLocks noRot="1" noChangeAspect="1" noMove="1" noResize="1" noEditPoints="1" noAdjustHandles="1" noChangeArrowheads="1" noChangeShapeType="1" noTextEdit="1"/>
              </p:cNvSpPr>
              <p:nvPr/>
            </p:nvSpPr>
            <p:spPr>
              <a:xfrm>
                <a:off x="589639" y="335108"/>
                <a:ext cx="2002440" cy="632746"/>
              </a:xfrm>
              <a:prstGeom prst="rect">
                <a:avLst/>
              </a:prstGeom>
              <a:blipFill>
                <a:blip r:embed="rId4"/>
                <a:stretch>
                  <a:fillRect l="-8232" b="-20192"/>
                </a:stretch>
              </a:blipFill>
              <a:ln w="12700">
                <a:miter lim="400000"/>
              </a:ln>
              <a:extLst>
                <a:ext uri="{C572A759-6A51-4108-AA02-DFA0A04FC94B}">
                  <ma14:wrappingTextBoxFlag xmlns:ma14="http://schemas.microsoft.com/office/mac/drawingml/2011/main" xmlns:m="http://schemas.openxmlformats.org/officeDocument/2006/math" xmlns="" xmlns:a14="http://schemas.microsoft.com/office/drawing/2010/main" val="1"/>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5" name="Changing"/>
              <p:cNvSpPr txBox="1"/>
              <p:nvPr/>
            </p:nvSpPr>
            <p:spPr>
              <a:xfrm>
                <a:off x="589639" y="5041088"/>
                <a:ext cx="2088761" cy="632746"/>
              </a:xfrm>
              <a:prstGeom prst="rect">
                <a:avLst/>
              </a:prstGeom>
              <a:ln w="12700">
                <a:miter lim="400000"/>
              </a:ln>
              <a:extLst>
                <a:ext uri="{C572A759-6A51-4108-AA02-DFA0A04FC94B}">
                  <ma14:wrappingTextBoxFlag xmlns:ma14="http://schemas.microsoft.com/office/mac/drawingml/2011/main" xmlns:m="http://schemas.openxmlformats.org/officeDocument/2006/math" xmlns="" val="1"/>
                </a:ext>
              </a:extLst>
            </p:spPr>
            <p:txBody>
              <a:bodyPr wrap="none" lIns="50800" tIns="50800" rIns="50800" bIns="50800" anchor="ctr">
                <a:spAutoFit/>
              </a:bodyPr>
              <a:lstStyle/>
              <a:p>
                <a:r>
                  <a:t>Changing </a:t>
                </a:r>
                <a14:m>
                  <m:oMath xmlns:m="http://schemas.openxmlformats.org/officeDocument/2006/math">
                    <m:r>
                      <a:rPr sz="3050" i="1">
                        <a:solidFill>
                          <a:srgbClr val="5E5E5E"/>
                        </a:solidFill>
                        <a:latin typeface="Cambria Math" panose="02040503050406030204" pitchFamily="18" charset="0"/>
                      </a:rPr>
                      <m:t>𝐰</m:t>
                    </m:r>
                  </m:oMath>
                </a14:m>
                <a:endParaRPr/>
              </a:p>
            </p:txBody>
          </p:sp>
        </mc:Choice>
        <mc:Fallback>
          <p:sp>
            <p:nvSpPr>
              <p:cNvPr id="165" name="Changing"/>
              <p:cNvSpPr txBox="1">
                <a:spLocks noRot="1" noChangeAspect="1" noMove="1" noResize="1" noEditPoints="1" noAdjustHandles="1" noChangeArrowheads="1" noChangeShapeType="1" noTextEdit="1"/>
              </p:cNvSpPr>
              <p:nvPr/>
            </p:nvSpPr>
            <p:spPr>
              <a:xfrm>
                <a:off x="589639" y="5041088"/>
                <a:ext cx="2088761" cy="632746"/>
              </a:xfrm>
              <a:prstGeom prst="rect">
                <a:avLst/>
              </a:prstGeom>
              <a:blipFill>
                <a:blip r:embed="rId5"/>
                <a:stretch>
                  <a:fillRect l="-7895" b="-20192"/>
                </a:stretch>
              </a:blipFill>
              <a:ln w="12700">
                <a:miter lim="400000"/>
              </a:ln>
              <a:extLst>
                <a:ext uri="{C572A759-6A51-4108-AA02-DFA0A04FC94B}">
                  <ma14:wrappingTextBoxFlag xmlns:ma14="http://schemas.microsoft.com/office/mac/drawingml/2011/main" xmlns:m="http://schemas.openxmlformats.org/officeDocument/2006/math" xmlns="" xmlns:a14="http://schemas.microsoft.com/office/drawing/2010/main" val="1"/>
                </a:ext>
              </a:extLst>
            </p:spPr>
            <p:txBody>
              <a:bodyPr/>
              <a:lstStyle/>
              <a:p>
                <a:r>
                  <a:rPr lang="en-US">
                    <a:noFill/>
                  </a:rPr>
                  <a:t> </a:t>
                </a:r>
              </a:p>
            </p:txBody>
          </p:sp>
        </mc:Fallback>
      </mc:AlternateContent>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High-level view of SVM"/>
          <p:cNvSpPr txBox="1">
            <a:spLocks noGrp="1"/>
          </p:cNvSpPr>
          <p:nvPr>
            <p:ph type="title"/>
          </p:nvPr>
        </p:nvSpPr>
        <p:spPr>
          <a:prstGeom prst="rect">
            <a:avLst/>
          </a:prstGeom>
        </p:spPr>
        <p:txBody>
          <a:bodyPr/>
          <a:lstStyle/>
          <a:p>
            <a:r>
              <a:t>High-level view of SVM</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The main idea:…"/>
          <p:cNvSpPr txBox="1">
            <a:spLocks noGrp="1"/>
          </p:cNvSpPr>
          <p:nvPr>
            <p:ph type="body" idx="1"/>
          </p:nvPr>
        </p:nvSpPr>
        <p:spPr>
          <a:prstGeom prst="rect">
            <a:avLst/>
          </a:prstGeom>
        </p:spPr>
        <p:txBody>
          <a:bodyPr/>
          <a:lstStyle/>
          <a:p>
            <a:r>
              <a:t>The main idea:</a:t>
            </a:r>
          </a:p>
          <a:p>
            <a:pPr lvl="1"/>
            <a:r>
              <a:t>Find the hyperplane that </a:t>
            </a:r>
            <a:r>
              <a:rPr b="1"/>
              <a:t>completely</a:t>
            </a:r>
            <a:r>
              <a:t> and </a:t>
            </a:r>
            <a:r>
              <a:rPr b="1"/>
              <a:t>optimally</a:t>
            </a:r>
            <a:r>
              <a:t> separates two classes in a feature space</a:t>
            </a:r>
          </a:p>
        </p:txBody>
      </p:sp>
      <p:sp>
        <p:nvSpPr>
          <p:cNvPr id="170" name="Introduction to SVM"/>
          <p:cNvSpPr txBox="1">
            <a:spLocks noGrp="1"/>
          </p:cNvSpPr>
          <p:nvPr>
            <p:ph type="title"/>
          </p:nvPr>
        </p:nvSpPr>
        <p:spPr>
          <a:prstGeom prst="rect">
            <a:avLst/>
          </a:prstGeom>
        </p:spPr>
        <p:txBody>
          <a:bodyPr/>
          <a:lstStyle>
            <a:lvl1pPr defTabSz="1525858">
              <a:defRPr sz="5280" spc="-105"/>
            </a:lvl1pPr>
          </a:lstStyle>
          <a:p>
            <a:r>
              <a:t>Introduction to SVM</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Consider two linearly separable groups…"/>
          <p:cNvSpPr txBox="1">
            <a:spLocks noGrp="1"/>
          </p:cNvSpPr>
          <p:nvPr>
            <p:ph type="body" idx="1"/>
          </p:nvPr>
        </p:nvSpPr>
        <p:spPr>
          <a:xfrm>
            <a:off x="698500" y="1937620"/>
            <a:ext cx="11607800" cy="7640537"/>
          </a:xfrm>
          <a:prstGeom prst="rect">
            <a:avLst/>
          </a:prstGeom>
        </p:spPr>
        <p:txBody>
          <a:bodyPr/>
          <a:lstStyle/>
          <a:p>
            <a:r>
              <a:t>Consider two linearly separable groups </a:t>
            </a:r>
          </a:p>
          <a:p>
            <a:pPr lvl="1"/>
            <a:r>
              <a:t>groups can be separated with a </a:t>
            </a:r>
            <a:r>
              <a:rPr>
                <a:solidFill>
                  <a:srgbClr val="FF7E79"/>
                </a:solidFill>
              </a:rPr>
              <a:t>hyperplane</a:t>
            </a:r>
          </a:p>
          <a:p>
            <a:r>
              <a:t>Which line (hyperplane) is the “best” separator? </a:t>
            </a:r>
          </a:p>
        </p:txBody>
      </p:sp>
      <p:sp>
        <p:nvSpPr>
          <p:cNvPr id="173" name="Separate the group"/>
          <p:cNvSpPr txBox="1">
            <a:spLocks noGrp="1"/>
          </p:cNvSpPr>
          <p:nvPr>
            <p:ph type="title"/>
          </p:nvPr>
        </p:nvSpPr>
        <p:spPr>
          <a:prstGeom prst="rect">
            <a:avLst/>
          </a:prstGeom>
        </p:spPr>
        <p:txBody>
          <a:bodyPr/>
          <a:lstStyle>
            <a:lvl1pPr defTabSz="1525858">
              <a:defRPr sz="5280" spc="-105"/>
            </a:lvl1pPr>
          </a:lstStyle>
          <a:p>
            <a:r>
              <a:t>Separate the group</a:t>
            </a:r>
          </a:p>
        </p:txBody>
      </p:sp>
      <p:pic>
        <p:nvPicPr>
          <p:cNvPr id="174" name="pasted-image.tiff" descr="pasted-image.tiff"/>
          <p:cNvPicPr>
            <a:picLocks noChangeAspect="1"/>
          </p:cNvPicPr>
          <p:nvPr/>
        </p:nvPicPr>
        <p:blipFill>
          <a:blip r:embed="rId2"/>
          <a:stretch>
            <a:fillRect/>
          </a:stretch>
        </p:blipFill>
        <p:spPr>
          <a:xfrm>
            <a:off x="279400" y="5104841"/>
            <a:ext cx="12446000" cy="4457701"/>
          </a:xfrm>
          <a:prstGeom prst="rect">
            <a:avLst/>
          </a:prstGeom>
          <a:ln w="12700">
            <a:miter lim="400000"/>
          </a:ln>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The main idea:…"/>
          <p:cNvSpPr txBox="1">
            <a:spLocks noGrp="1"/>
          </p:cNvSpPr>
          <p:nvPr>
            <p:ph type="body" idx="1"/>
          </p:nvPr>
        </p:nvSpPr>
        <p:spPr>
          <a:prstGeom prst="rect">
            <a:avLst/>
          </a:prstGeom>
        </p:spPr>
        <p:txBody>
          <a:bodyPr/>
          <a:lstStyle/>
          <a:p>
            <a:r>
              <a:t>The main idea:</a:t>
            </a:r>
          </a:p>
          <a:p>
            <a:pPr lvl="1"/>
            <a:r>
              <a:t>Find the hyperplane that </a:t>
            </a:r>
            <a:r>
              <a:rPr b="1"/>
              <a:t>completely</a:t>
            </a:r>
            <a:r>
              <a:t> and </a:t>
            </a:r>
            <a:r>
              <a:rPr b="1"/>
              <a:t>optimally</a:t>
            </a:r>
            <a:r>
              <a:t> separates two classes in a feature space</a:t>
            </a:r>
          </a:p>
        </p:txBody>
      </p:sp>
      <p:sp>
        <p:nvSpPr>
          <p:cNvPr id="177" name="Introduction to SVM"/>
          <p:cNvSpPr txBox="1">
            <a:spLocks noGrp="1"/>
          </p:cNvSpPr>
          <p:nvPr>
            <p:ph type="title"/>
          </p:nvPr>
        </p:nvSpPr>
        <p:spPr>
          <a:prstGeom prst="rect">
            <a:avLst/>
          </a:prstGeom>
        </p:spPr>
        <p:txBody>
          <a:bodyPr/>
          <a:lstStyle>
            <a:lvl1pPr defTabSz="1525858">
              <a:defRPr sz="5280" spc="-105"/>
            </a:lvl1pPr>
          </a:lstStyle>
          <a:p>
            <a:r>
              <a:t>Introduction to SVM</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The main idea:…"/>
          <p:cNvSpPr txBox="1">
            <a:spLocks noGrp="1"/>
          </p:cNvSpPr>
          <p:nvPr>
            <p:ph type="body" idx="1"/>
          </p:nvPr>
        </p:nvSpPr>
        <p:spPr>
          <a:prstGeom prst="rect">
            <a:avLst/>
          </a:prstGeom>
        </p:spPr>
        <p:txBody>
          <a:bodyPr/>
          <a:lstStyle/>
          <a:p>
            <a:r>
              <a:rPr dirty="0"/>
              <a:t>The main idea:</a:t>
            </a:r>
          </a:p>
          <a:p>
            <a:pPr lvl="1">
              <a:defRPr>
                <a:solidFill>
                  <a:srgbClr val="A9A9A9"/>
                </a:solidFill>
              </a:defRPr>
            </a:pPr>
            <a:r>
              <a:rPr dirty="0"/>
              <a:t>Find the hyperplane that completely and optimally separates two classes in a feature space</a:t>
            </a:r>
          </a:p>
          <a:p>
            <a:pPr lvl="1"/>
            <a:r>
              <a:rPr dirty="0"/>
              <a:t>If there is</a:t>
            </a:r>
            <a:r>
              <a:rPr b="1" dirty="0"/>
              <a:t> no such hyperplane</a:t>
            </a:r>
            <a:r>
              <a:rPr dirty="0"/>
              <a:t> (because classes aren’t linearly separably)  </a:t>
            </a:r>
          </a:p>
          <a:p>
            <a:pPr marL="1600200" lvl="2" indent="-533400">
              <a:buClrTx/>
              <a:buSzPct val="100000"/>
              <a:buAutoNum type="arabicPeriod"/>
            </a:pPr>
            <a:r>
              <a:rPr dirty="0"/>
              <a:t>Soften the definition of “completely separates” </a:t>
            </a:r>
          </a:p>
          <a:p>
            <a:pPr marL="1600200" lvl="2" indent="-533400">
              <a:buClrTx/>
              <a:buSzPct val="100000"/>
              <a:buAutoNum type="arabicPeriod"/>
            </a:pPr>
            <a:r>
              <a:rPr dirty="0"/>
              <a:t>Expand the feature space so that separation is possible </a:t>
            </a:r>
          </a:p>
        </p:txBody>
      </p:sp>
      <p:sp>
        <p:nvSpPr>
          <p:cNvPr id="180" name="Introduction to SVM"/>
          <p:cNvSpPr txBox="1">
            <a:spLocks noGrp="1"/>
          </p:cNvSpPr>
          <p:nvPr>
            <p:ph type="title"/>
          </p:nvPr>
        </p:nvSpPr>
        <p:spPr>
          <a:prstGeom prst="rect">
            <a:avLst/>
          </a:prstGeom>
        </p:spPr>
        <p:txBody>
          <a:bodyPr/>
          <a:lstStyle>
            <a:lvl1pPr defTabSz="1525858">
              <a:defRPr sz="5280" spc="-105"/>
            </a:lvl1pPr>
          </a:lstStyle>
          <a:p>
            <a:r>
              <a:t>Introduction to SVM</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Maximal margin (or hard margin) classifier"/>
          <p:cNvSpPr txBox="1">
            <a:spLocks noGrp="1"/>
          </p:cNvSpPr>
          <p:nvPr>
            <p:ph type="title"/>
          </p:nvPr>
        </p:nvSpPr>
        <p:spPr>
          <a:prstGeom prst="rect">
            <a:avLst/>
          </a:prstGeom>
        </p:spPr>
        <p:txBody>
          <a:bodyPr/>
          <a:lstStyle/>
          <a:p>
            <a:r>
              <a:t>Maximal margin (or hard margin) classifier</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Maximal Margin Classifier"/>
          <p:cNvSpPr txBox="1">
            <a:spLocks noGrp="1"/>
          </p:cNvSpPr>
          <p:nvPr>
            <p:ph type="title"/>
          </p:nvPr>
        </p:nvSpPr>
        <p:spPr>
          <a:prstGeom prst="rect">
            <a:avLst/>
          </a:prstGeom>
        </p:spPr>
        <p:txBody>
          <a:bodyPr/>
          <a:lstStyle>
            <a:lvl1pPr defTabSz="1525858">
              <a:defRPr sz="5280" spc="-105"/>
            </a:lvl1pPr>
          </a:lstStyle>
          <a:p>
            <a:r>
              <a:t>Maximal Margin Classifier </a:t>
            </a:r>
          </a:p>
        </p:txBody>
      </p:sp>
      <p:pic>
        <p:nvPicPr>
          <p:cNvPr id="185" name="pasted-image.tiff" descr="pasted-image.tiff"/>
          <p:cNvPicPr>
            <a:picLocks noChangeAspect="1"/>
          </p:cNvPicPr>
          <p:nvPr/>
        </p:nvPicPr>
        <p:blipFill>
          <a:blip r:embed="rId2"/>
          <a:stretch>
            <a:fillRect/>
          </a:stretch>
        </p:blipFill>
        <p:spPr>
          <a:xfrm>
            <a:off x="3093296" y="4307357"/>
            <a:ext cx="6818208" cy="5157363"/>
          </a:xfrm>
          <a:prstGeom prst="rect">
            <a:avLst/>
          </a:prstGeom>
          <a:ln w="12700">
            <a:miter lim="400000"/>
          </a:ln>
        </p:spPr>
      </p:pic>
      <p:sp>
        <p:nvSpPr>
          <p:cNvPr id="186" name="Decision boundary is the hyperplane that is farthest from the training observations…"/>
          <p:cNvSpPr txBox="1">
            <a:spLocks noGrp="1"/>
          </p:cNvSpPr>
          <p:nvPr>
            <p:ph type="body" sz="quarter" idx="1"/>
          </p:nvPr>
        </p:nvSpPr>
        <p:spPr>
          <a:xfrm>
            <a:off x="698500" y="1937620"/>
            <a:ext cx="11607800" cy="1888384"/>
          </a:xfrm>
          <a:prstGeom prst="rect">
            <a:avLst/>
          </a:prstGeom>
        </p:spPr>
        <p:txBody>
          <a:bodyPr/>
          <a:lstStyle/>
          <a:p>
            <a:pPr marL="361950" indent="-361950" defTabSz="1647233">
              <a:spcBef>
                <a:spcPts val="3000"/>
              </a:spcBef>
              <a:defRPr sz="2850"/>
            </a:pPr>
            <a:r>
              <a:rPr dirty="0"/>
              <a:t>Decision boundary is the hyperplane that is farthest from the training observations</a:t>
            </a:r>
          </a:p>
          <a:p>
            <a:pPr marL="361950" indent="-361950" defTabSz="1647233">
              <a:spcBef>
                <a:spcPts val="3000"/>
              </a:spcBef>
              <a:defRPr sz="2850"/>
            </a:pPr>
            <a:r>
              <a:rPr dirty="0"/>
              <a:t>Fits the “widest possible street” </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Maximal Margin Classifier"/>
          <p:cNvSpPr txBox="1">
            <a:spLocks noGrp="1"/>
          </p:cNvSpPr>
          <p:nvPr>
            <p:ph type="title"/>
          </p:nvPr>
        </p:nvSpPr>
        <p:spPr>
          <a:prstGeom prst="rect">
            <a:avLst/>
          </a:prstGeom>
        </p:spPr>
        <p:txBody>
          <a:bodyPr/>
          <a:lstStyle>
            <a:lvl1pPr defTabSz="1525858">
              <a:defRPr sz="5280" spc="-105"/>
            </a:lvl1pPr>
          </a:lstStyle>
          <a:p>
            <a:r>
              <a:t>Maximal Margin Classifier </a:t>
            </a:r>
          </a:p>
        </p:txBody>
      </p:sp>
      <p:sp>
        <p:nvSpPr>
          <p:cNvPr id="189" name="Notice that only the points on the edge of the street matter…"/>
          <p:cNvSpPr txBox="1">
            <a:spLocks noGrp="1"/>
          </p:cNvSpPr>
          <p:nvPr>
            <p:ph type="body" sz="quarter" idx="1"/>
          </p:nvPr>
        </p:nvSpPr>
        <p:spPr>
          <a:xfrm>
            <a:off x="698500" y="1937620"/>
            <a:ext cx="11607800" cy="1888384"/>
          </a:xfrm>
          <a:prstGeom prst="rect">
            <a:avLst/>
          </a:prstGeom>
        </p:spPr>
        <p:txBody>
          <a:bodyPr/>
          <a:lstStyle/>
          <a:p>
            <a:pPr marL="361950" indent="-361950" defTabSz="1647233">
              <a:spcBef>
                <a:spcPts val="3000"/>
              </a:spcBef>
              <a:defRPr sz="2850"/>
            </a:pPr>
            <a:r>
              <a:rPr dirty="0"/>
              <a:t>Notice that only the points on the edge of the street matter</a:t>
            </a:r>
          </a:p>
          <a:p>
            <a:pPr marL="361950" indent="-361950" defTabSz="1647233">
              <a:spcBef>
                <a:spcPts val="3000"/>
              </a:spcBef>
              <a:defRPr sz="2850"/>
            </a:pPr>
            <a:r>
              <a:rPr dirty="0"/>
              <a:t>These are called support vectors (decision boundary is supported by these instances)</a:t>
            </a:r>
          </a:p>
        </p:txBody>
      </p:sp>
      <p:pic>
        <p:nvPicPr>
          <p:cNvPr id="190" name="pasted-image.tiff" descr="pasted-image.tiff"/>
          <p:cNvPicPr>
            <a:picLocks noChangeAspect="1"/>
          </p:cNvPicPr>
          <p:nvPr/>
        </p:nvPicPr>
        <p:blipFill>
          <a:blip r:embed="rId2"/>
          <a:stretch>
            <a:fillRect/>
          </a:stretch>
        </p:blipFill>
        <p:spPr>
          <a:xfrm>
            <a:off x="3098800" y="4307357"/>
            <a:ext cx="6886151" cy="5208756"/>
          </a:xfrm>
          <a:prstGeom prst="rect">
            <a:avLst/>
          </a:prstGeom>
          <a:ln w="12700">
            <a:miter lim="400000"/>
          </a:ln>
        </p:spPr>
      </p:pic>
      <p:sp>
        <p:nvSpPr>
          <p:cNvPr id="191" name="The support vectors are just points in this two dimensional feature space, but in higher dimensions, they will be actual vectors."/>
          <p:cNvSpPr txBox="1"/>
          <p:nvPr/>
        </p:nvSpPr>
        <p:spPr>
          <a:xfrm>
            <a:off x="290843" y="5317735"/>
            <a:ext cx="2628148" cy="26797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defRPr sz="2100"/>
            </a:pPr>
            <a:r>
              <a:t>The support </a:t>
            </a:r>
            <a:r>
              <a:rPr>
                <a:solidFill>
                  <a:srgbClr val="FF7E79"/>
                </a:solidFill>
              </a:rPr>
              <a:t>vectors</a:t>
            </a:r>
            <a:r>
              <a:t> are just points in this two dimensional feature space, but in higher dimensions, they will be actual vectors. </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3" name="The decision boundary margin is the distance between the hyperplane and the nearest data point(s) from either class…"/>
              <p:cNvSpPr txBox="1">
                <a:spLocks noGrp="1"/>
              </p:cNvSpPr>
              <p:nvPr>
                <p:ph type="body" idx="1"/>
              </p:nvPr>
            </p:nvSpPr>
            <p:spPr>
              <a:prstGeom prst="rect">
                <a:avLst/>
              </a:prstGeom>
            </p:spPr>
            <p:txBody>
              <a:bodyPr>
                <a:normAutofit/>
              </a:bodyPr>
              <a:lstStyle/>
              <a:p>
                <a:r>
                  <a:rPr lang="en-US" dirty="0"/>
                  <a:t>The decision boundary margin is the distance between the hyperplane and the nearest data point(s) from either class</a:t>
                </a:r>
              </a:p>
              <a:p>
                <a:r>
                  <a:rPr lang="en-US" dirty="0"/>
                  <a:t>For a given point </a:t>
                </a:r>
                <a14:m>
                  <m:oMath xmlns:m="http://schemas.openxmlformats.org/officeDocument/2006/math">
                    <m:sSub>
                      <m:sSubPr>
                        <m:ctrlPr>
                          <a:rPr lang="ar-AE" i="1">
                            <a:solidFill>
                              <a:srgbClr val="000000"/>
                            </a:solidFill>
                            <a:latin typeface="Cambria Math" panose="02040503050406030204" pitchFamily="18" charset="0"/>
                          </a:rPr>
                        </m:ctrlPr>
                      </m:sSubPr>
                      <m:e>
                        <m:r>
                          <a:rPr lang="ar-AE" i="1">
                            <a:solidFill>
                              <a:srgbClr val="000000"/>
                            </a:solidFill>
                            <a:latin typeface="Cambria Math" panose="02040503050406030204" pitchFamily="18" charset="0"/>
                          </a:rPr>
                          <m:t>𝐱</m:t>
                        </m:r>
                      </m:e>
                      <m:sub>
                        <m:r>
                          <a:rPr lang="ar-AE" i="1">
                            <a:solidFill>
                              <a:srgbClr val="000000"/>
                            </a:solidFill>
                            <a:latin typeface="Cambria Math" panose="02040503050406030204" pitchFamily="18" charset="0"/>
                          </a:rPr>
                          <m:t>𝐢</m:t>
                        </m:r>
                      </m:sub>
                    </m:sSub>
                  </m:oMath>
                </a14:m>
                <a:r>
                  <a:rPr lang="ar-AE" dirty="0"/>
                  <a:t> </a:t>
                </a:r>
                <a:r>
                  <a:rPr lang="en-US" dirty="0"/>
                  <a:t>with label </a:t>
                </a:r>
                <a14:m>
                  <m:oMath xmlns:m="http://schemas.openxmlformats.org/officeDocument/2006/math">
                    <m:sSub>
                      <m:sSubPr>
                        <m:ctrlPr>
                          <a:rPr lang="ar-AE" i="1">
                            <a:solidFill>
                              <a:srgbClr val="000000"/>
                            </a:solidFill>
                            <a:latin typeface="Cambria Math" panose="02040503050406030204" pitchFamily="18" charset="0"/>
                          </a:rPr>
                        </m:ctrlPr>
                      </m:sSubPr>
                      <m:e>
                        <m:r>
                          <a:rPr lang="ar-AE" i="1">
                            <a:solidFill>
                              <a:srgbClr val="000000"/>
                            </a:solidFill>
                            <a:latin typeface="Cambria Math" panose="02040503050406030204" pitchFamily="18" charset="0"/>
                          </a:rPr>
                          <m:t>𝑦</m:t>
                        </m:r>
                      </m:e>
                      <m:sub>
                        <m:r>
                          <a:rPr lang="ar-AE" i="1">
                            <a:solidFill>
                              <a:srgbClr val="000000"/>
                            </a:solidFill>
                            <a:latin typeface="Cambria Math" panose="02040503050406030204" pitchFamily="18" charset="0"/>
                          </a:rPr>
                          <m:t>𝑖</m:t>
                        </m:r>
                      </m:sub>
                    </m:sSub>
                  </m:oMath>
                </a14:m>
                <a:r>
                  <a:rPr lang="ar-AE" dirty="0"/>
                  <a:t> (+1 </a:t>
                </a:r>
                <a:r>
                  <a:rPr lang="en-US" dirty="0"/>
                  <a:t>or -1) the distance to the margin can be computed by </a:t>
                </a:r>
                <a:br>
                  <a:rPr lang="en-US" dirty="0"/>
                </a:br>
                <a:br>
                  <a:rPr lang="en-US" dirty="0"/>
                </a:b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ar-AE" i="1">
                            <a:latin typeface="Cambria Math" panose="02040503050406030204" pitchFamily="18" charset="0"/>
                          </a:rPr>
                          <m:t>𝐰</m:t>
                        </m:r>
                        <m:r>
                          <a:rPr lang="ar-AE" i="1">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𝐱</m:t>
                            </m:r>
                          </m:e>
                          <m:sub>
                            <m:r>
                              <a:rPr lang="ar-AE" i="1">
                                <a:latin typeface="Cambria Math" panose="02040503050406030204" pitchFamily="18" charset="0"/>
                              </a:rPr>
                              <m:t>𝐢</m:t>
                            </m:r>
                          </m:sub>
                        </m:sSub>
                        <m:r>
                          <a:rPr lang="ar-AE" i="1">
                            <a:latin typeface="Cambria Math" panose="02040503050406030204" pitchFamily="18" charset="0"/>
                          </a:rPr>
                          <m:t>+</m:t>
                        </m:r>
                        <m:r>
                          <a:rPr lang="ar-AE" i="1">
                            <a:latin typeface="Cambria Math" panose="02040503050406030204" pitchFamily="18" charset="0"/>
                          </a:rPr>
                          <m:t>𝑏</m:t>
                        </m:r>
                        <m:r>
                          <a:rPr lang="en-US" b="0" i="1" smtClean="0">
                            <a:latin typeface="Cambria Math" panose="02040503050406030204" pitchFamily="18" charset="0"/>
                          </a:rPr>
                          <m:t>|</m:t>
                        </m:r>
                      </m:num>
                      <m:den>
                        <m:r>
                          <a:rPr lang="ar-AE" i="1">
                            <a:latin typeface="Cambria Math" panose="02040503050406030204" pitchFamily="18" charset="0"/>
                          </a:rPr>
                          <m:t>||</m:t>
                        </m:r>
                        <m:r>
                          <a:rPr lang="ar-AE" i="1">
                            <a:latin typeface="Cambria Math" panose="02040503050406030204" pitchFamily="18" charset="0"/>
                          </a:rPr>
                          <m:t>𝑤</m:t>
                        </m:r>
                        <m:r>
                          <a:rPr lang="ar-AE" i="1">
                            <a:latin typeface="Cambria Math" panose="02040503050406030204" pitchFamily="18" charset="0"/>
                          </a:rPr>
                          <m:t>||</m:t>
                        </m:r>
                      </m:den>
                    </m:f>
                    <m:r>
                      <a:rPr lang="en-US" b="0" i="0" smtClean="0">
                        <a:solidFill>
                          <a:srgbClr val="000000"/>
                        </a:solidFill>
                        <a:latin typeface="Cambria Math" panose="02040503050406030204" pitchFamily="18" charset="0"/>
                      </a:rPr>
                      <m:t>=</m:t>
                    </m:r>
                    <m:f>
                      <m:fPr>
                        <m:ctrlPr>
                          <a:rPr lang="ar-AE" i="1">
                            <a:solidFill>
                              <a:srgbClr val="000000"/>
                            </a:solidFill>
                            <a:latin typeface="Cambria Math" panose="02040503050406030204" pitchFamily="18" charset="0"/>
                          </a:rPr>
                        </m:ctrlPr>
                      </m:fPr>
                      <m:num>
                        <m:sSub>
                          <m:sSubPr>
                            <m:ctrlPr>
                              <a:rPr lang="ar-AE" i="1">
                                <a:solidFill>
                                  <a:srgbClr val="000000"/>
                                </a:solidFill>
                                <a:latin typeface="Cambria Math" panose="02040503050406030204" pitchFamily="18" charset="0"/>
                              </a:rPr>
                            </m:ctrlPr>
                          </m:sSubPr>
                          <m:e>
                            <m:r>
                              <a:rPr lang="ar-AE" i="1">
                                <a:solidFill>
                                  <a:srgbClr val="000000"/>
                                </a:solidFill>
                                <a:latin typeface="Cambria Math" panose="02040503050406030204" pitchFamily="18" charset="0"/>
                              </a:rPr>
                              <m:t>𝑦</m:t>
                            </m:r>
                          </m:e>
                          <m:sub>
                            <m:r>
                              <a:rPr lang="ar-AE" i="1">
                                <a:solidFill>
                                  <a:srgbClr val="000000"/>
                                </a:solidFill>
                                <a:latin typeface="Cambria Math" panose="02040503050406030204" pitchFamily="18" charset="0"/>
                              </a:rPr>
                              <m:t>𝑖</m:t>
                            </m:r>
                          </m:sub>
                        </m:sSub>
                        <m:r>
                          <a:rPr lang="ar-AE" i="1">
                            <a:solidFill>
                              <a:srgbClr val="000000"/>
                            </a:solidFill>
                            <a:latin typeface="Cambria Math" panose="02040503050406030204" pitchFamily="18" charset="0"/>
                          </a:rPr>
                          <m:t>(</m:t>
                        </m:r>
                        <m:r>
                          <a:rPr lang="ar-AE" i="1">
                            <a:solidFill>
                              <a:srgbClr val="000000"/>
                            </a:solidFill>
                            <a:latin typeface="Cambria Math" panose="02040503050406030204" pitchFamily="18" charset="0"/>
                          </a:rPr>
                          <m:t>𝐰</m:t>
                        </m:r>
                        <m:r>
                          <a:rPr lang="ar-AE" i="1">
                            <a:solidFill>
                              <a:srgbClr val="000000"/>
                            </a:solidFill>
                            <a:latin typeface="Cambria Math" panose="02040503050406030204" pitchFamily="18" charset="0"/>
                          </a:rPr>
                          <m:t>⋅</m:t>
                        </m:r>
                        <m:sSub>
                          <m:sSubPr>
                            <m:ctrlPr>
                              <a:rPr lang="ar-AE" i="1">
                                <a:solidFill>
                                  <a:srgbClr val="000000"/>
                                </a:solidFill>
                                <a:latin typeface="Cambria Math" panose="02040503050406030204" pitchFamily="18" charset="0"/>
                              </a:rPr>
                            </m:ctrlPr>
                          </m:sSubPr>
                          <m:e>
                            <m:r>
                              <a:rPr lang="ar-AE" i="1">
                                <a:solidFill>
                                  <a:srgbClr val="000000"/>
                                </a:solidFill>
                                <a:latin typeface="Cambria Math" panose="02040503050406030204" pitchFamily="18" charset="0"/>
                              </a:rPr>
                              <m:t>𝐱</m:t>
                            </m:r>
                          </m:e>
                          <m:sub>
                            <m:r>
                              <a:rPr lang="ar-AE" i="1">
                                <a:solidFill>
                                  <a:srgbClr val="000000"/>
                                </a:solidFill>
                                <a:latin typeface="Cambria Math" panose="02040503050406030204" pitchFamily="18" charset="0"/>
                              </a:rPr>
                              <m:t>𝐢</m:t>
                            </m:r>
                          </m:sub>
                        </m:sSub>
                        <m:r>
                          <a:rPr lang="ar-AE" i="1">
                            <a:solidFill>
                              <a:srgbClr val="000000"/>
                            </a:solidFill>
                            <a:latin typeface="Cambria Math" panose="02040503050406030204" pitchFamily="18" charset="0"/>
                          </a:rPr>
                          <m:t>+</m:t>
                        </m:r>
                        <m:r>
                          <a:rPr lang="ar-AE" i="1">
                            <a:solidFill>
                              <a:srgbClr val="000000"/>
                            </a:solidFill>
                            <a:latin typeface="Cambria Math" panose="02040503050406030204" pitchFamily="18" charset="0"/>
                          </a:rPr>
                          <m:t>𝑏</m:t>
                        </m:r>
                        <m:r>
                          <a:rPr lang="ar-AE" i="1">
                            <a:solidFill>
                              <a:srgbClr val="000000"/>
                            </a:solidFill>
                            <a:latin typeface="Cambria Math" panose="02040503050406030204" pitchFamily="18" charset="0"/>
                          </a:rPr>
                          <m:t>)</m:t>
                        </m:r>
                      </m:num>
                      <m:den>
                        <m:r>
                          <a:rPr lang="ar-AE" i="1">
                            <a:solidFill>
                              <a:srgbClr val="000000"/>
                            </a:solidFill>
                            <a:latin typeface="Cambria Math" panose="02040503050406030204" pitchFamily="18" charset="0"/>
                          </a:rPr>
                          <m:t>||</m:t>
                        </m:r>
                        <m:r>
                          <a:rPr lang="ar-AE" i="1">
                            <a:solidFill>
                              <a:srgbClr val="000000"/>
                            </a:solidFill>
                            <a:latin typeface="Cambria Math" panose="02040503050406030204" pitchFamily="18" charset="0"/>
                          </a:rPr>
                          <m:t>𝑤</m:t>
                        </m:r>
                        <m:r>
                          <a:rPr lang="ar-AE" i="1">
                            <a:solidFill>
                              <a:srgbClr val="000000"/>
                            </a:solidFill>
                            <a:latin typeface="Cambria Math" panose="02040503050406030204" pitchFamily="18" charset="0"/>
                          </a:rPr>
                          <m:t>||</m:t>
                        </m:r>
                      </m:den>
                    </m:f>
                  </m:oMath>
                </a14:m>
                <a:br>
                  <a:rPr lang="ar-AE" dirty="0"/>
                </a:br>
                <a:endParaRPr lang="ar-AE" dirty="0"/>
              </a:p>
              <a:p>
                <a:r>
                  <a:rPr lang="en-US" dirty="0"/>
                  <a:t>Notice: for any </a:t>
                </a:r>
                <a14:m>
                  <m:oMath xmlns:m="http://schemas.openxmlformats.org/officeDocument/2006/math">
                    <m:r>
                      <a:rPr lang="en-US" i="1" dirty="0" smtClean="0">
                        <a:latin typeface="Cambria Math" panose="02040503050406030204" pitchFamily="18" charset="0"/>
                      </a:rPr>
                      <m:t>𝛼</m:t>
                    </m:r>
                  </m:oMath>
                </a14:m>
                <a:r>
                  <a:rPr lang="en-US" dirty="0"/>
                  <a:t>, </a:t>
                </a:r>
                <a14:m>
                  <m:oMath xmlns:m="http://schemas.openxmlformats.org/officeDocument/2006/math">
                    <m:r>
                      <a:rPr lang="en-US" i="1">
                        <a:latin typeface="Cambria Math" panose="02040503050406030204" pitchFamily="18" charset="0"/>
                        <a:ea typeface="Helvetica Neue"/>
                        <a:cs typeface="Helvetica Neue"/>
                        <a:sym typeface="Helvetica Neue"/>
                      </a:rPr>
                      <m:t>𝛼</m:t>
                    </m:r>
                    <m:d>
                      <m:dPr>
                        <m:ctrlPr>
                          <a:rPr lang="ar-AE" b="1">
                            <a:latin typeface="Cambria Math" panose="02040503050406030204" pitchFamily="18" charset="0"/>
                            <a:ea typeface="Helvetica Neue"/>
                            <a:cs typeface="Helvetica Neue"/>
                            <a:sym typeface="Helvetica Neue"/>
                          </a:rPr>
                        </m:ctrlPr>
                      </m:dPr>
                      <m:e>
                        <m:r>
                          <a:rPr lang="ar-AE" b="1">
                            <a:latin typeface="Cambria Math" panose="02040503050406030204" pitchFamily="18" charset="0"/>
                            <a:ea typeface="Helvetica Neue"/>
                            <a:cs typeface="Helvetica Neue"/>
                            <a:sym typeface="Helvetica Neue"/>
                          </a:rPr>
                          <m:t>𝐰</m:t>
                        </m:r>
                        <m:r>
                          <a:rPr lang="ar-AE">
                            <a:latin typeface="Cambria Math" panose="02040503050406030204" pitchFamily="18" charset="0"/>
                            <a:ea typeface="Helvetica Neue"/>
                            <a:cs typeface="Helvetica Neue"/>
                            <a:sym typeface="Helvetica Neue"/>
                          </a:rPr>
                          <m:t>⋅</m:t>
                        </m:r>
                        <m:r>
                          <a:rPr lang="ar-AE" b="1">
                            <a:latin typeface="Cambria Math" panose="02040503050406030204" pitchFamily="18" charset="0"/>
                            <a:ea typeface="Helvetica Neue"/>
                            <a:cs typeface="Helvetica Neue"/>
                            <a:sym typeface="Helvetica Neue"/>
                          </a:rPr>
                          <m:t>𝐱</m:t>
                        </m:r>
                        <m:r>
                          <a:rPr lang="ar-AE">
                            <a:latin typeface="Cambria Math" panose="02040503050406030204" pitchFamily="18" charset="0"/>
                            <a:ea typeface="Helvetica Neue"/>
                            <a:cs typeface="Helvetica Neue"/>
                            <a:sym typeface="Helvetica Neue"/>
                          </a:rPr>
                          <m:t>+</m:t>
                        </m:r>
                        <m:r>
                          <a:rPr lang="ar-AE" i="1">
                            <a:latin typeface="Cambria Math" panose="02040503050406030204" pitchFamily="18" charset="0"/>
                            <a:ea typeface="Helvetica Neue"/>
                            <a:cs typeface="Helvetica Neue"/>
                            <a:sym typeface="Helvetica Neue"/>
                          </a:rPr>
                          <m:t>𝑏</m:t>
                        </m:r>
                      </m:e>
                    </m:d>
                    <m:r>
                      <a:rPr lang="ar-AE">
                        <a:latin typeface="Cambria Math" panose="02040503050406030204" pitchFamily="18" charset="0"/>
                        <a:ea typeface="Helvetica Neue"/>
                        <a:cs typeface="Helvetica Neue"/>
                        <a:sym typeface="Helvetica Neue"/>
                      </a:rPr>
                      <m:t>=0</m:t>
                    </m:r>
                  </m:oMath>
                </a14:m>
                <a:endParaRPr lang="en-US" dirty="0"/>
              </a:p>
              <a:p>
                <a:r>
                  <a:rPr lang="en-US" dirty="0"/>
                  <a:t>So, we want to find the largest margin by maximizing</a:t>
                </a:r>
                <a:br>
                  <a:rPr lang="en-US" dirty="0"/>
                </a:br>
                <a:br>
                  <a:rPr lang="en-US" dirty="0"/>
                </a:br>
                <a:r>
                  <a:rPr lang="en-US" dirty="0"/>
                  <a:t> </a:t>
                </a:r>
                <a14:m>
                  <m:oMath xmlns:m="http://schemas.openxmlformats.org/officeDocument/2006/math">
                    <m:f>
                      <m:fPr>
                        <m:ctrlPr>
                          <a:rPr lang="ar-AE" i="1">
                            <a:solidFill>
                              <a:srgbClr val="000000"/>
                            </a:solidFill>
                            <a:latin typeface="Cambria Math" panose="02040503050406030204" pitchFamily="18" charset="0"/>
                          </a:rPr>
                        </m:ctrlPr>
                      </m:fPr>
                      <m:num>
                        <m:r>
                          <a:rPr lang="ar-AE" i="1">
                            <a:solidFill>
                              <a:srgbClr val="000000"/>
                            </a:solidFill>
                            <a:latin typeface="Cambria Math" panose="02040503050406030204" pitchFamily="18" charset="0"/>
                          </a:rPr>
                          <m:t>1</m:t>
                        </m:r>
                      </m:num>
                      <m:den>
                        <m:r>
                          <a:rPr lang="ar-AE" i="1">
                            <a:solidFill>
                              <a:srgbClr val="000000"/>
                            </a:solidFill>
                            <a:latin typeface="Cambria Math" panose="02040503050406030204" pitchFamily="18" charset="0"/>
                          </a:rPr>
                          <m:t>||</m:t>
                        </m:r>
                        <m:r>
                          <a:rPr lang="ar-AE" i="1">
                            <a:solidFill>
                              <a:srgbClr val="000000"/>
                            </a:solidFill>
                            <a:latin typeface="Cambria Math" panose="02040503050406030204" pitchFamily="18" charset="0"/>
                          </a:rPr>
                          <m:t>𝐰</m:t>
                        </m:r>
                        <m:r>
                          <a:rPr lang="ar-AE" i="1">
                            <a:solidFill>
                              <a:srgbClr val="000000"/>
                            </a:solidFill>
                            <a:latin typeface="Cambria Math" panose="02040503050406030204" pitchFamily="18" charset="0"/>
                          </a:rPr>
                          <m:t>||</m:t>
                        </m:r>
                      </m:den>
                    </m:f>
                  </m:oMath>
                </a14:m>
                <a:r>
                  <a:rPr lang="ar-AE" dirty="0"/>
                  <a:t> </a:t>
                </a:r>
                <a:r>
                  <a:rPr lang="en-US" dirty="0"/>
                  <a:t>which is equivalent to minimizing </a:t>
                </a:r>
                <a14:m>
                  <m:oMath xmlns:m="http://schemas.openxmlformats.org/officeDocument/2006/math">
                    <m:d>
                      <m:dPr>
                        <m:begChr m:val="|"/>
                        <m:endChr m:val="|"/>
                        <m:ctrlPr>
                          <a:rPr lang="ar-AE" i="1">
                            <a:latin typeface="Cambria Math" panose="02040503050406030204" pitchFamily="18" charset="0"/>
                          </a:rPr>
                        </m:ctrlPr>
                      </m:dPr>
                      <m:e>
                        <m:d>
                          <m:dPr>
                            <m:begChr m:val="|"/>
                            <m:endChr m:val="|"/>
                            <m:ctrlPr>
                              <a:rPr lang="ar-AE" i="1">
                                <a:latin typeface="Cambria Math" panose="02040503050406030204" pitchFamily="18" charset="0"/>
                              </a:rPr>
                            </m:ctrlPr>
                          </m:dPr>
                          <m:e>
                            <m:r>
                              <a:rPr lang="ar-AE" i="1">
                                <a:latin typeface="Cambria Math" panose="02040503050406030204" pitchFamily="18" charset="0"/>
                              </a:rPr>
                              <m:t>𝐰</m:t>
                            </m:r>
                          </m:e>
                        </m:d>
                      </m:e>
                    </m:d>
                  </m:oMath>
                </a14:m>
                <a:r>
                  <a:rPr lang="en-US" dirty="0"/>
                  <a:t>,  or</a:t>
                </a:r>
              </a:p>
              <a:p>
                <a:pPr marL="0" indent="0">
                  <a:buNone/>
                </a:pPr>
                <a:r>
                  <a:rPr lang="en-US" dirty="0"/>
                  <a:t>                                                  </a:t>
                </a:r>
                <a14:m>
                  <m:oMath xmlns:m="http://schemas.openxmlformats.org/officeDocument/2006/math">
                    <m:f>
                      <m:fPr>
                        <m:ctrlPr>
                          <a:rPr lang="ar-AE" i="1">
                            <a:solidFill>
                              <a:srgbClr val="000000"/>
                            </a:solidFill>
                            <a:latin typeface="Cambria Math" panose="02040503050406030204" pitchFamily="18" charset="0"/>
                          </a:rPr>
                        </m:ctrlPr>
                      </m:fPr>
                      <m:num>
                        <m:r>
                          <a:rPr lang="ar-AE" i="1">
                            <a:solidFill>
                              <a:srgbClr val="000000"/>
                            </a:solidFill>
                            <a:latin typeface="Cambria Math" panose="02040503050406030204" pitchFamily="18" charset="0"/>
                          </a:rPr>
                          <m:t>1</m:t>
                        </m:r>
                      </m:num>
                      <m:den>
                        <m:r>
                          <a:rPr lang="ar-AE" i="1">
                            <a:solidFill>
                              <a:srgbClr val="000000"/>
                            </a:solidFill>
                            <a:latin typeface="Cambria Math" panose="02040503050406030204" pitchFamily="18" charset="0"/>
                          </a:rPr>
                          <m:t>2</m:t>
                        </m:r>
                      </m:den>
                    </m:f>
                    <m:r>
                      <a:rPr lang="ar-AE" i="1">
                        <a:solidFill>
                          <a:srgbClr val="000000"/>
                        </a:solidFill>
                        <a:latin typeface="Cambria Math" panose="02040503050406030204" pitchFamily="18" charset="0"/>
                      </a:rPr>
                      <m:t>||</m:t>
                    </m:r>
                    <m:r>
                      <a:rPr lang="ar-AE" i="1">
                        <a:solidFill>
                          <a:srgbClr val="000000"/>
                        </a:solidFill>
                        <a:latin typeface="Cambria Math" panose="02040503050406030204" pitchFamily="18" charset="0"/>
                      </a:rPr>
                      <m:t>𝐰</m:t>
                    </m:r>
                    <m:r>
                      <a:rPr lang="ar-AE" i="1">
                        <a:solidFill>
                          <a:srgbClr val="000000"/>
                        </a:solidFill>
                        <a:latin typeface="Cambria Math" panose="02040503050406030204" pitchFamily="18" charset="0"/>
                      </a:rPr>
                      <m:t>|</m:t>
                    </m:r>
                    <m:sSup>
                      <m:sSupPr>
                        <m:ctrlPr>
                          <a:rPr lang="ar-AE" i="1">
                            <a:solidFill>
                              <a:srgbClr val="000000"/>
                            </a:solidFill>
                            <a:latin typeface="Cambria Math" panose="02040503050406030204" pitchFamily="18" charset="0"/>
                          </a:rPr>
                        </m:ctrlPr>
                      </m:sSupPr>
                      <m:e>
                        <m:r>
                          <a:rPr lang="ar-AE" i="1">
                            <a:solidFill>
                              <a:srgbClr val="000000"/>
                            </a:solidFill>
                            <a:latin typeface="Cambria Math" panose="02040503050406030204" pitchFamily="18" charset="0"/>
                          </a:rPr>
                          <m:t>|</m:t>
                        </m:r>
                      </m:e>
                      <m:sup>
                        <m:r>
                          <a:rPr lang="ar-AE" i="1">
                            <a:solidFill>
                              <a:srgbClr val="000000"/>
                            </a:solidFill>
                            <a:latin typeface="Cambria Math" panose="02040503050406030204" pitchFamily="18" charset="0"/>
                          </a:rPr>
                          <m:t>2</m:t>
                        </m:r>
                      </m:sup>
                    </m:sSup>
                  </m:oMath>
                </a14:m>
                <a:r>
                  <a:rPr lang="en-US" dirty="0"/>
                  <a:t>  or   </a:t>
                </a:r>
                <a14:m>
                  <m:oMath xmlns:m="http://schemas.openxmlformats.org/officeDocument/2006/math">
                    <m:f>
                      <m:fPr>
                        <m:ctrlPr>
                          <a:rPr lang="ar-AE" i="1">
                            <a:solidFill>
                              <a:srgbClr val="000000"/>
                            </a:solidFill>
                            <a:latin typeface="Cambria Math" panose="02040503050406030204" pitchFamily="18" charset="0"/>
                          </a:rPr>
                        </m:ctrlPr>
                      </m:fPr>
                      <m:num>
                        <m:r>
                          <a:rPr lang="ar-AE" i="1">
                            <a:solidFill>
                              <a:srgbClr val="000000"/>
                            </a:solidFill>
                            <a:latin typeface="Cambria Math" panose="02040503050406030204" pitchFamily="18" charset="0"/>
                          </a:rPr>
                          <m:t>1</m:t>
                        </m:r>
                      </m:num>
                      <m:den>
                        <m:r>
                          <a:rPr lang="ar-AE" i="1">
                            <a:solidFill>
                              <a:srgbClr val="000000"/>
                            </a:solidFill>
                            <a:latin typeface="Cambria Math" panose="02040503050406030204" pitchFamily="18" charset="0"/>
                          </a:rPr>
                          <m:t>2</m:t>
                        </m:r>
                      </m:den>
                    </m:f>
                    <m:r>
                      <a:rPr lang="ar-AE" i="1">
                        <a:solidFill>
                          <a:srgbClr val="000000"/>
                        </a:solidFill>
                        <a:latin typeface="Cambria Math" panose="02040503050406030204" pitchFamily="18" charset="0"/>
                      </a:rPr>
                      <m:t>𝐰</m:t>
                    </m:r>
                    <m:r>
                      <a:rPr lang="ar-AE" i="1">
                        <a:solidFill>
                          <a:srgbClr val="000000"/>
                        </a:solidFill>
                        <a:latin typeface="Cambria Math" panose="02040503050406030204" pitchFamily="18" charset="0"/>
                      </a:rPr>
                      <m:t>′</m:t>
                    </m:r>
                    <m:r>
                      <a:rPr lang="ar-AE" i="1">
                        <a:solidFill>
                          <a:srgbClr val="000000"/>
                        </a:solidFill>
                        <a:latin typeface="Cambria Math" panose="02040503050406030204" pitchFamily="18" charset="0"/>
                      </a:rPr>
                      <m:t>𝐰</m:t>
                    </m:r>
                  </m:oMath>
                </a14:m>
                <a:endParaRPr dirty="0"/>
              </a:p>
            </p:txBody>
          </p:sp>
        </mc:Choice>
        <mc:Fallback xmlns="">
          <p:sp>
            <p:nvSpPr>
              <p:cNvPr id="193" name="The decision boundary margin is the distance between the hyperplane and the nearest data point(s) from either class…"/>
              <p:cNvSpPr txBox="1">
                <a:spLocks noGrp="1" noRot="1" noChangeAspect="1" noMove="1" noResize="1" noEditPoints="1" noAdjustHandles="1" noChangeArrowheads="1" noChangeShapeType="1" noTextEdit="1"/>
              </p:cNvSpPr>
              <p:nvPr>
                <p:ph type="body" idx="1"/>
              </p:nvPr>
            </p:nvSpPr>
            <p:spPr>
              <a:prstGeom prst="rect">
                <a:avLst/>
              </a:prstGeom>
              <a:blipFill>
                <a:blip r:embed="rId3"/>
                <a:stretch>
                  <a:fillRect l="-1313" t="-1516" r="-210"/>
                </a:stretch>
              </a:blipFill>
            </p:spPr>
            <p:txBody>
              <a:bodyPr/>
              <a:lstStyle/>
              <a:p>
                <a:r>
                  <a:rPr lang="en-US">
                    <a:noFill/>
                  </a:rPr>
                  <a:t> </a:t>
                </a:r>
              </a:p>
            </p:txBody>
          </p:sp>
        </mc:Fallback>
      </mc:AlternateContent>
      <p:sp>
        <p:nvSpPr>
          <p:cNvPr id="194" name="Margins"/>
          <p:cNvSpPr txBox="1">
            <a:spLocks noGrp="1"/>
          </p:cNvSpPr>
          <p:nvPr>
            <p:ph type="title"/>
          </p:nvPr>
        </p:nvSpPr>
        <p:spPr>
          <a:prstGeom prst="rect">
            <a:avLst/>
          </a:prstGeom>
        </p:spPr>
        <p:txBody>
          <a:bodyPr/>
          <a:lstStyle>
            <a:lvl1pPr defTabSz="1525858">
              <a:defRPr sz="5280" spc="-105"/>
            </a:lvl1pPr>
          </a:lstStyle>
          <a:p>
            <a:r>
              <a:t>Margins</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10FEF70-8FE1-5F3E-A12D-D284D072B0B1}"/>
              </a:ext>
            </a:extLst>
          </p:cNvPr>
          <p:cNvSpPr>
            <a:spLocks noGrp="1"/>
          </p:cNvSpPr>
          <p:nvPr>
            <p:ph type="body" idx="1"/>
          </p:nvPr>
        </p:nvSpPr>
        <p:spPr/>
        <p:txBody>
          <a:bodyPr/>
          <a:lstStyle/>
          <a:p>
            <a:endParaRPr lang="en-US" dirty="0"/>
          </a:p>
        </p:txBody>
      </p:sp>
      <p:sp>
        <p:nvSpPr>
          <p:cNvPr id="3" name="Title 2">
            <a:extLst>
              <a:ext uri="{FF2B5EF4-FFF2-40B4-BE49-F238E27FC236}">
                <a16:creationId xmlns:a16="http://schemas.microsoft.com/office/drawing/2014/main" id="{4F442DEB-362B-C228-A503-BF6E2AB22B43}"/>
              </a:ext>
            </a:extLst>
          </p:cNvPr>
          <p:cNvSpPr>
            <a:spLocks noGrp="1"/>
          </p:cNvSpPr>
          <p:nvPr>
            <p:ph type="title"/>
          </p:nvPr>
        </p:nvSpPr>
        <p:spPr/>
        <p:txBody>
          <a:bodyPr/>
          <a:lstStyle/>
          <a:p>
            <a:r>
              <a:rPr lang="en-US" dirty="0"/>
              <a:t>SVM Optimization Problem</a:t>
            </a:r>
          </a:p>
        </p:txBody>
      </p:sp>
      <p:pic>
        <p:nvPicPr>
          <p:cNvPr id="5" name="Picture 4">
            <a:extLst>
              <a:ext uri="{FF2B5EF4-FFF2-40B4-BE49-F238E27FC236}">
                <a16:creationId xmlns:a16="http://schemas.microsoft.com/office/drawing/2014/main" id="{B9A07BCA-6B92-9323-1AA4-C7E34B6B2D5C}"/>
              </a:ext>
            </a:extLst>
          </p:cNvPr>
          <p:cNvPicPr>
            <a:picLocks noChangeAspect="1"/>
          </p:cNvPicPr>
          <p:nvPr/>
        </p:nvPicPr>
        <p:blipFill>
          <a:blip r:embed="rId2"/>
          <a:stretch>
            <a:fillRect/>
          </a:stretch>
        </p:blipFill>
        <p:spPr>
          <a:xfrm>
            <a:off x="933279" y="2775146"/>
            <a:ext cx="11373021" cy="2969878"/>
          </a:xfrm>
          <a:prstGeom prst="rect">
            <a:avLst/>
          </a:prstGeom>
        </p:spPr>
      </p:pic>
    </p:spTree>
    <p:extLst>
      <p:ext uri="{BB962C8B-B14F-4D97-AF65-F5344CB8AC3E}">
        <p14:creationId xmlns:p14="http://schemas.microsoft.com/office/powerpoint/2010/main" val="1058035065"/>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02" name="Sometimes you’ll see the term “hinge loss” in connection with SVM…"/>
              <p:cNvSpPr txBox="1">
                <a:spLocks noGrp="1"/>
              </p:cNvSpPr>
              <p:nvPr>
                <p:ph type="body" idx="1"/>
              </p:nvPr>
            </p:nvSpPr>
            <p:spPr>
              <a:prstGeom prst="rect">
                <a:avLst/>
              </a:prstGeom>
            </p:spPr>
            <p:txBody>
              <a:bodyPr/>
              <a:lstStyle/>
              <a:p>
                <a:r>
                  <a:rPr dirty="0"/>
                  <a:t>Sometimes you’ll see the term “hinge loss” in connection with SVM</a:t>
                </a:r>
              </a:p>
              <a:p>
                <a:r>
                  <a:rPr dirty="0"/>
                  <a:t>For and individual data point </a:t>
                </a:r>
                <a14:m>
                  <m:oMath xmlns:m="http://schemas.openxmlformats.org/officeDocument/2006/math">
                    <m:sSub>
                      <m:sSubPr>
                        <m:ctrlPr>
                          <a:rPr sz="3250" i="1">
                            <a:solidFill>
                              <a:srgbClr val="000000"/>
                            </a:solidFill>
                            <a:latin typeface="Cambria Math" panose="02040503050406030204" pitchFamily="18" charset="0"/>
                          </a:rPr>
                        </m:ctrlPr>
                      </m:sSubPr>
                      <m:e>
                        <m:r>
                          <a:rPr sz="3250" i="1">
                            <a:solidFill>
                              <a:srgbClr val="000000"/>
                            </a:solidFill>
                            <a:latin typeface="Cambria Math" panose="02040503050406030204" pitchFamily="18" charset="0"/>
                          </a:rPr>
                          <m:t>𝑥</m:t>
                        </m:r>
                      </m:e>
                      <m:sub>
                        <m:r>
                          <a:rPr sz="3250" i="1">
                            <a:solidFill>
                              <a:srgbClr val="000000"/>
                            </a:solidFill>
                            <a:latin typeface="Cambria Math" panose="02040503050406030204" pitchFamily="18" charset="0"/>
                          </a:rPr>
                          <m:t>𝑖</m:t>
                        </m:r>
                      </m:sub>
                    </m:sSub>
                  </m:oMath>
                </a14:m>
                <a:r>
                  <a:rPr dirty="0"/>
                  <a:t> with label </a:t>
                </a:r>
                <a14:m>
                  <m:oMath xmlns:m="http://schemas.openxmlformats.org/officeDocument/2006/math">
                    <m:sSub>
                      <m:sSubPr>
                        <m:ctrlPr>
                          <a:rPr sz="3250" i="1">
                            <a:solidFill>
                              <a:srgbClr val="000000"/>
                            </a:solidFill>
                            <a:latin typeface="Cambria Math" panose="02040503050406030204" pitchFamily="18" charset="0"/>
                          </a:rPr>
                        </m:ctrlPr>
                      </m:sSubPr>
                      <m:e>
                        <m:r>
                          <a:rPr sz="3250" i="1">
                            <a:solidFill>
                              <a:srgbClr val="000000"/>
                            </a:solidFill>
                            <a:latin typeface="Cambria Math" panose="02040503050406030204" pitchFamily="18" charset="0"/>
                          </a:rPr>
                          <m:t>𝑦</m:t>
                        </m:r>
                      </m:e>
                      <m:sub>
                        <m:r>
                          <a:rPr sz="3250" i="1">
                            <a:solidFill>
                              <a:srgbClr val="000000"/>
                            </a:solidFill>
                            <a:latin typeface="Cambria Math" panose="02040503050406030204" pitchFamily="18" charset="0"/>
                          </a:rPr>
                          <m:t>𝑖</m:t>
                        </m:r>
                      </m:sub>
                    </m:sSub>
                  </m:oMath>
                </a14:m>
                <a:r>
                  <a:rPr dirty="0"/>
                  <a:t>, the hinge loss is</a:t>
                </a:r>
                <a:br>
                  <a:rPr dirty="0"/>
                </a:br>
                <a:br>
                  <a:rPr dirty="0"/>
                </a:br>
                <a14:m>
                  <m:oMath xmlns:m="http://schemas.openxmlformats.org/officeDocument/2006/math">
                    <m:r>
                      <m:rPr>
                        <m:nor/>
                      </m:rPr>
                      <a:rPr sz="3250" i="1">
                        <a:solidFill>
                          <a:srgbClr val="000000"/>
                        </a:solidFill>
                        <a:latin typeface="Cambria Math" panose="02040503050406030204" pitchFamily="18" charset="0"/>
                      </a:rPr>
                      <m:t>loss</m:t>
                    </m:r>
                    <m:r>
                      <a:rPr sz="3250" i="1">
                        <a:solidFill>
                          <a:srgbClr val="000000"/>
                        </a:solidFill>
                        <a:latin typeface="Cambria Math" panose="02040503050406030204" pitchFamily="18" charset="0"/>
                      </a:rPr>
                      <m:t>(</m:t>
                    </m:r>
                    <m:sSub>
                      <m:sSubPr>
                        <m:ctrlPr>
                          <a:rPr sz="3250" i="1">
                            <a:solidFill>
                              <a:srgbClr val="000000"/>
                            </a:solidFill>
                            <a:latin typeface="Cambria Math" panose="02040503050406030204" pitchFamily="18" charset="0"/>
                          </a:rPr>
                        </m:ctrlPr>
                      </m:sSubPr>
                      <m:e>
                        <m:r>
                          <a:rPr sz="3250" i="1">
                            <a:solidFill>
                              <a:srgbClr val="000000"/>
                            </a:solidFill>
                            <a:latin typeface="Cambria Math" panose="02040503050406030204" pitchFamily="18" charset="0"/>
                          </a:rPr>
                          <m:t>𝐱</m:t>
                        </m:r>
                      </m:e>
                      <m:sub>
                        <m:r>
                          <a:rPr sz="3250" i="1">
                            <a:solidFill>
                              <a:srgbClr val="000000"/>
                            </a:solidFill>
                            <a:latin typeface="Cambria Math" panose="02040503050406030204" pitchFamily="18" charset="0"/>
                          </a:rPr>
                          <m:t>𝐢</m:t>
                        </m:r>
                      </m:sub>
                    </m:sSub>
                    <m:r>
                      <a:rPr sz="3250" i="1">
                        <a:solidFill>
                          <a:srgbClr val="000000"/>
                        </a:solidFill>
                        <a:latin typeface="Cambria Math" panose="02040503050406030204" pitchFamily="18" charset="0"/>
                      </a:rPr>
                      <m:t>,</m:t>
                    </m:r>
                    <m:sSub>
                      <m:sSubPr>
                        <m:ctrlPr>
                          <a:rPr sz="3250" i="1">
                            <a:solidFill>
                              <a:srgbClr val="000000"/>
                            </a:solidFill>
                            <a:latin typeface="Cambria Math" panose="02040503050406030204" pitchFamily="18" charset="0"/>
                          </a:rPr>
                        </m:ctrlPr>
                      </m:sSubPr>
                      <m:e>
                        <m:r>
                          <a:rPr sz="3250" i="1">
                            <a:solidFill>
                              <a:srgbClr val="000000"/>
                            </a:solidFill>
                            <a:latin typeface="Cambria Math" panose="02040503050406030204" pitchFamily="18" charset="0"/>
                          </a:rPr>
                          <m:t>𝑦</m:t>
                        </m:r>
                      </m:e>
                      <m:sub>
                        <m:r>
                          <a:rPr sz="3250" i="1">
                            <a:solidFill>
                              <a:srgbClr val="000000"/>
                            </a:solidFill>
                            <a:latin typeface="Cambria Math" panose="02040503050406030204" pitchFamily="18" charset="0"/>
                          </a:rPr>
                          <m:t>𝑖</m:t>
                        </m:r>
                      </m:sub>
                    </m:sSub>
                    <m:r>
                      <a:rPr sz="3250" i="1">
                        <a:solidFill>
                          <a:srgbClr val="000000"/>
                        </a:solidFill>
                        <a:latin typeface="Cambria Math" panose="02040503050406030204" pitchFamily="18" charset="0"/>
                      </a:rPr>
                      <m:t>,</m:t>
                    </m:r>
                    <m:r>
                      <a:rPr sz="3250" i="1">
                        <a:solidFill>
                          <a:srgbClr val="000000"/>
                        </a:solidFill>
                        <a:latin typeface="Cambria Math" panose="02040503050406030204" pitchFamily="18" charset="0"/>
                      </a:rPr>
                      <m:t>𝐰</m:t>
                    </m:r>
                    <m:r>
                      <a:rPr sz="3250" i="1">
                        <a:solidFill>
                          <a:srgbClr val="000000"/>
                        </a:solidFill>
                        <a:latin typeface="Cambria Math" panose="02040503050406030204" pitchFamily="18" charset="0"/>
                      </a:rPr>
                      <m:t>,</m:t>
                    </m:r>
                    <m:r>
                      <a:rPr sz="3250" i="1">
                        <a:solidFill>
                          <a:srgbClr val="000000"/>
                        </a:solidFill>
                        <a:latin typeface="Cambria Math" panose="02040503050406030204" pitchFamily="18" charset="0"/>
                      </a:rPr>
                      <m:t>𝑏</m:t>
                    </m:r>
                    <m:r>
                      <a:rPr sz="3250" i="1">
                        <a:solidFill>
                          <a:srgbClr val="000000"/>
                        </a:solidFill>
                        <a:latin typeface="Cambria Math" panose="02040503050406030204" pitchFamily="18" charset="0"/>
                      </a:rPr>
                      <m:t>)=</m:t>
                    </m:r>
                    <m:r>
                      <a:rPr sz="3250" i="1">
                        <a:solidFill>
                          <a:srgbClr val="000000"/>
                        </a:solidFill>
                        <a:latin typeface="Cambria Math" panose="02040503050406030204" pitchFamily="18" charset="0"/>
                      </a:rPr>
                      <m:t>𝑚𝑎𝑥</m:t>
                    </m:r>
                    <m:r>
                      <a:rPr sz="3250" i="1">
                        <a:solidFill>
                          <a:srgbClr val="000000"/>
                        </a:solidFill>
                        <a:latin typeface="Cambria Math" panose="02040503050406030204" pitchFamily="18" charset="0"/>
                      </a:rPr>
                      <m:t>(0,1−</m:t>
                    </m:r>
                    <m:sSub>
                      <m:sSubPr>
                        <m:ctrlPr>
                          <a:rPr sz="3250" i="1">
                            <a:solidFill>
                              <a:srgbClr val="000000"/>
                            </a:solidFill>
                            <a:latin typeface="Cambria Math" panose="02040503050406030204" pitchFamily="18" charset="0"/>
                          </a:rPr>
                        </m:ctrlPr>
                      </m:sSubPr>
                      <m:e>
                        <m:r>
                          <a:rPr sz="3250" i="1">
                            <a:solidFill>
                              <a:srgbClr val="000000"/>
                            </a:solidFill>
                            <a:latin typeface="Cambria Math" panose="02040503050406030204" pitchFamily="18" charset="0"/>
                          </a:rPr>
                          <m:t>𝑦</m:t>
                        </m:r>
                      </m:e>
                      <m:sub>
                        <m:r>
                          <a:rPr sz="3250" i="1">
                            <a:solidFill>
                              <a:srgbClr val="000000"/>
                            </a:solidFill>
                            <a:latin typeface="Cambria Math" panose="02040503050406030204" pitchFamily="18" charset="0"/>
                          </a:rPr>
                          <m:t>𝑖</m:t>
                        </m:r>
                      </m:sub>
                    </m:sSub>
                    <m:r>
                      <a:rPr sz="3250" i="1">
                        <a:solidFill>
                          <a:srgbClr val="000000"/>
                        </a:solidFill>
                        <a:latin typeface="Cambria Math" panose="02040503050406030204" pitchFamily="18" charset="0"/>
                      </a:rPr>
                      <m:t>(</m:t>
                    </m:r>
                    <m:r>
                      <a:rPr sz="3250" i="1">
                        <a:solidFill>
                          <a:srgbClr val="000000"/>
                        </a:solidFill>
                        <a:latin typeface="Cambria Math" panose="02040503050406030204" pitchFamily="18" charset="0"/>
                      </a:rPr>
                      <m:t>𝐰</m:t>
                    </m:r>
                    <m:r>
                      <a:rPr sz="3250" i="1">
                        <a:solidFill>
                          <a:srgbClr val="000000"/>
                        </a:solidFill>
                        <a:latin typeface="Cambria Math" panose="02040503050406030204" pitchFamily="18" charset="0"/>
                      </a:rPr>
                      <m:t>⋅</m:t>
                    </m:r>
                    <m:sSub>
                      <m:sSubPr>
                        <m:ctrlPr>
                          <a:rPr sz="3250" i="1">
                            <a:solidFill>
                              <a:srgbClr val="000000"/>
                            </a:solidFill>
                            <a:latin typeface="Cambria Math" panose="02040503050406030204" pitchFamily="18" charset="0"/>
                          </a:rPr>
                        </m:ctrlPr>
                      </m:sSubPr>
                      <m:e>
                        <m:r>
                          <a:rPr sz="3250" i="1">
                            <a:solidFill>
                              <a:srgbClr val="000000"/>
                            </a:solidFill>
                            <a:latin typeface="Cambria Math" panose="02040503050406030204" pitchFamily="18" charset="0"/>
                          </a:rPr>
                          <m:t>𝐱</m:t>
                        </m:r>
                      </m:e>
                      <m:sub>
                        <m:r>
                          <a:rPr sz="3250" i="1">
                            <a:solidFill>
                              <a:srgbClr val="000000"/>
                            </a:solidFill>
                            <a:latin typeface="Cambria Math" panose="02040503050406030204" pitchFamily="18" charset="0"/>
                          </a:rPr>
                          <m:t>𝐢</m:t>
                        </m:r>
                      </m:sub>
                    </m:sSub>
                    <m:r>
                      <a:rPr sz="3250" i="1">
                        <a:solidFill>
                          <a:srgbClr val="000000"/>
                        </a:solidFill>
                        <a:latin typeface="Cambria Math" panose="02040503050406030204" pitchFamily="18" charset="0"/>
                      </a:rPr>
                      <m:t>+</m:t>
                    </m:r>
                    <m:r>
                      <a:rPr sz="3250" i="1">
                        <a:solidFill>
                          <a:srgbClr val="000000"/>
                        </a:solidFill>
                        <a:latin typeface="Cambria Math" panose="02040503050406030204" pitchFamily="18" charset="0"/>
                      </a:rPr>
                      <m:t>𝑏</m:t>
                    </m:r>
                    <m:r>
                      <a:rPr sz="3250" i="1">
                        <a:solidFill>
                          <a:srgbClr val="000000"/>
                        </a:solidFill>
                        <a:latin typeface="Cambria Math" panose="02040503050406030204" pitchFamily="18" charset="0"/>
                      </a:rPr>
                      <m:t>))</m:t>
                    </m:r>
                  </m:oMath>
                </a14:m>
                <a:endParaRPr dirty="0"/>
              </a:p>
              <a:p>
                <a:r>
                  <a:rPr lang="en-US"/>
                  <a:t>Adding C times the </a:t>
                </a:r>
                <a:r>
                  <a:rPr dirty="0"/>
                  <a:t>summed </a:t>
                </a:r>
                <a:r>
                  <a:rPr lang="en-US"/>
                  <a:t>hinge loss to ½‖w‖² gives </a:t>
                </a:r>
                <a:r>
                  <a:rPr dirty="0"/>
                  <a:t>the </a:t>
                </a:r>
                <a:r>
                  <a:rPr lang="en-US"/>
                  <a:t>soft-margin objective.</a:t>
                </a:r>
                <a:endParaRPr dirty="0"/>
              </a:p>
            </p:txBody>
          </p:sp>
        </mc:Choice>
        <mc:Fallback>
          <p:sp>
            <p:nvSpPr>
              <p:cNvPr id="202" name="Sometimes you’ll see the term “hinge loss” in connection with SVM…"/>
              <p:cNvSpPr txBox="1">
                <a:spLocks noGrp="1" noRot="1" noChangeAspect="1" noMove="1" noResize="1" noEditPoints="1" noAdjustHandles="1" noChangeArrowheads="1" noChangeShapeType="1" noTextEdit="1"/>
              </p:cNvSpPr>
              <p:nvPr>
                <p:ph type="body" idx="1"/>
              </p:nvPr>
            </p:nvSpPr>
            <p:spPr>
              <a:prstGeom prst="rect">
                <a:avLst/>
              </a:prstGeom>
              <a:blipFill>
                <a:blip r:embed="rId3"/>
                <a:stretch>
                  <a:fillRect l="-1313" t="-1516"/>
                </a:stretch>
              </a:blipFill>
            </p:spPr>
            <p:txBody>
              <a:bodyPr/>
              <a:lstStyle/>
              <a:p>
                <a:r>
                  <a:rPr lang="en-US">
                    <a:noFill/>
                  </a:rPr>
                  <a:t> </a:t>
                </a:r>
              </a:p>
            </p:txBody>
          </p:sp>
        </mc:Fallback>
      </mc:AlternateContent>
      <p:sp>
        <p:nvSpPr>
          <p:cNvPr id="203" name="Hinge Loss"/>
          <p:cNvSpPr txBox="1">
            <a:spLocks noGrp="1"/>
          </p:cNvSpPr>
          <p:nvPr>
            <p:ph type="title"/>
          </p:nvPr>
        </p:nvSpPr>
        <p:spPr>
          <a:prstGeom prst="rect">
            <a:avLst/>
          </a:prstGeom>
        </p:spPr>
        <p:txBody>
          <a:bodyPr/>
          <a:lstStyle>
            <a:lvl1pPr defTabSz="1525858">
              <a:defRPr sz="5280" spc="-105"/>
            </a:lvl1pPr>
          </a:lstStyle>
          <a:p>
            <a:r>
              <a:t>Hinge Loss</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246C73F-195E-1E46-A718-E8B96AD8AAD3}"/>
              </a:ext>
            </a:extLst>
          </p:cNvPr>
          <p:cNvPicPr>
            <a:picLocks noChangeAspect="1"/>
          </p:cNvPicPr>
          <p:nvPr/>
        </p:nvPicPr>
        <p:blipFill>
          <a:blip r:embed="rId2"/>
          <a:stretch>
            <a:fillRect/>
          </a:stretch>
        </p:blipFill>
        <p:spPr>
          <a:xfrm>
            <a:off x="406400" y="1553390"/>
            <a:ext cx="12192000" cy="6858000"/>
          </a:xfrm>
          <a:prstGeom prst="rect">
            <a:avLst/>
          </a:prstGeom>
        </p:spPr>
      </p:pic>
      <p:sp>
        <p:nvSpPr>
          <p:cNvPr id="2" name="Text Placeholder 1">
            <a:extLst>
              <a:ext uri="{FF2B5EF4-FFF2-40B4-BE49-F238E27FC236}">
                <a16:creationId xmlns:a16="http://schemas.microsoft.com/office/drawing/2014/main" id="{4565AA5A-03A9-3335-DC64-662DB2C72229}"/>
              </a:ext>
            </a:extLst>
          </p:cNvPr>
          <p:cNvSpPr>
            <a:spLocks noGrp="1"/>
          </p:cNvSpPr>
          <p:nvPr>
            <p:ph type="body" idx="1"/>
          </p:nvPr>
        </p:nvSpPr>
        <p:spPr/>
        <p:txBody>
          <a:bodyPr/>
          <a:lstStyle/>
          <a:p>
            <a:endParaRPr lang="en-US" dirty="0"/>
          </a:p>
        </p:txBody>
      </p:sp>
      <p:sp>
        <p:nvSpPr>
          <p:cNvPr id="3" name="Title 2">
            <a:extLst>
              <a:ext uri="{FF2B5EF4-FFF2-40B4-BE49-F238E27FC236}">
                <a16:creationId xmlns:a16="http://schemas.microsoft.com/office/drawing/2014/main" id="{940DA915-3410-2764-EBD6-B7BEEBCA65D8}"/>
              </a:ext>
            </a:extLst>
          </p:cNvPr>
          <p:cNvSpPr>
            <a:spLocks noGrp="1"/>
          </p:cNvSpPr>
          <p:nvPr>
            <p:ph type="title"/>
          </p:nvPr>
        </p:nvSpPr>
        <p:spPr/>
        <p:txBody>
          <a:bodyPr/>
          <a:lstStyle/>
          <a:p>
            <a:r>
              <a:rPr lang="en-US" dirty="0"/>
              <a:t>Hinge Loss</a:t>
            </a:r>
          </a:p>
        </p:txBody>
      </p:sp>
    </p:spTree>
    <p:extLst>
      <p:ext uri="{BB962C8B-B14F-4D97-AF65-F5344CB8AC3E}">
        <p14:creationId xmlns:p14="http://schemas.microsoft.com/office/powerpoint/2010/main" val="3882946397"/>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tential problems">
            <a:extLst>
              <a:ext uri="{FF2B5EF4-FFF2-40B4-BE49-F238E27FC236}">
                <a16:creationId xmlns:a16="http://schemas.microsoft.com/office/drawing/2014/main" id="{8696AC20-D196-A9EC-DF27-303564D25498}"/>
              </a:ext>
            </a:extLst>
          </p:cNvPr>
          <p:cNvSpPr txBox="1">
            <a:spLocks/>
          </p:cNvSpPr>
          <p:nvPr/>
        </p:nvSpPr>
        <p:spPr>
          <a:xfrm>
            <a:off x="698500" y="698500"/>
            <a:ext cx="11607800" cy="1016001"/>
          </a:xfrm>
          <a:prstGeom prst="rect">
            <a:avLst/>
          </a:prstGeom>
        </p:spPr>
        <p:txBody>
          <a:bodyPr/>
          <a:lstStyle>
            <a:lvl1pPr marL="0" marR="0" indent="0" algn="l" defTabSz="1525858" rtl="0" latinLnBrk="0">
              <a:lnSpc>
                <a:spcPct val="80000"/>
              </a:lnSpc>
              <a:spcBef>
                <a:spcPts val="0"/>
              </a:spcBef>
              <a:spcAft>
                <a:spcPts val="0"/>
              </a:spcAft>
              <a:buClrTx/>
              <a:buSzTx/>
              <a:buFontTx/>
              <a:buNone/>
              <a:tabLst/>
              <a:defRPr sz="5280" b="0" i="0" u="none" strike="noStrike" cap="none" spc="-105" baseline="0">
                <a:solidFill>
                  <a:srgbClr val="000000"/>
                </a:solidFill>
                <a:uFillTx/>
                <a:latin typeface="+mn-lt"/>
                <a:ea typeface="+mn-ea"/>
                <a:cs typeface="+mn-cs"/>
                <a:sym typeface="Avenir Next Demi Bold"/>
              </a:defRPr>
            </a:lvl1pPr>
            <a:lvl2pPr marL="0" marR="0" indent="457200" algn="l" defTabSz="1733930" rtl="0" latinLnBrk="0">
              <a:lnSpc>
                <a:spcPct val="80000"/>
              </a:lnSpc>
              <a:spcBef>
                <a:spcPts val="0"/>
              </a:spcBef>
              <a:spcAft>
                <a:spcPts val="0"/>
              </a:spcAft>
              <a:buClrTx/>
              <a:buSzTx/>
              <a:buFontTx/>
              <a:buNone/>
              <a:tabLst/>
              <a:defRPr sz="6000" b="0" i="0" u="none" strike="noStrike" cap="none" spc="-119" baseline="0">
                <a:solidFill>
                  <a:srgbClr val="000000"/>
                </a:solidFill>
                <a:uFillTx/>
                <a:latin typeface="+mn-lt"/>
                <a:ea typeface="+mn-ea"/>
                <a:cs typeface="+mn-cs"/>
                <a:sym typeface="Avenir Next Demi Bold"/>
              </a:defRPr>
            </a:lvl2pPr>
            <a:lvl3pPr marL="0" marR="0" indent="914400" algn="l" defTabSz="1733930" rtl="0" latinLnBrk="0">
              <a:lnSpc>
                <a:spcPct val="80000"/>
              </a:lnSpc>
              <a:spcBef>
                <a:spcPts val="0"/>
              </a:spcBef>
              <a:spcAft>
                <a:spcPts val="0"/>
              </a:spcAft>
              <a:buClrTx/>
              <a:buSzTx/>
              <a:buFontTx/>
              <a:buNone/>
              <a:tabLst/>
              <a:defRPr sz="6000" b="0" i="0" u="none" strike="noStrike" cap="none" spc="-119" baseline="0">
                <a:solidFill>
                  <a:srgbClr val="000000"/>
                </a:solidFill>
                <a:uFillTx/>
                <a:latin typeface="+mn-lt"/>
                <a:ea typeface="+mn-ea"/>
                <a:cs typeface="+mn-cs"/>
                <a:sym typeface="Avenir Next Demi Bold"/>
              </a:defRPr>
            </a:lvl3pPr>
            <a:lvl4pPr marL="0" marR="0" indent="1371600" algn="l" defTabSz="1733930" rtl="0" latinLnBrk="0">
              <a:lnSpc>
                <a:spcPct val="80000"/>
              </a:lnSpc>
              <a:spcBef>
                <a:spcPts val="0"/>
              </a:spcBef>
              <a:spcAft>
                <a:spcPts val="0"/>
              </a:spcAft>
              <a:buClrTx/>
              <a:buSzTx/>
              <a:buFontTx/>
              <a:buNone/>
              <a:tabLst/>
              <a:defRPr sz="6000" b="0" i="0" u="none" strike="noStrike" cap="none" spc="-119" baseline="0">
                <a:solidFill>
                  <a:srgbClr val="000000"/>
                </a:solidFill>
                <a:uFillTx/>
                <a:latin typeface="+mn-lt"/>
                <a:ea typeface="+mn-ea"/>
                <a:cs typeface="+mn-cs"/>
                <a:sym typeface="Avenir Next Demi Bold"/>
              </a:defRPr>
            </a:lvl4pPr>
            <a:lvl5pPr marL="0" marR="0" indent="1828800" algn="l" defTabSz="1733930" rtl="0" latinLnBrk="0">
              <a:lnSpc>
                <a:spcPct val="80000"/>
              </a:lnSpc>
              <a:spcBef>
                <a:spcPts val="0"/>
              </a:spcBef>
              <a:spcAft>
                <a:spcPts val="0"/>
              </a:spcAft>
              <a:buClrTx/>
              <a:buSzTx/>
              <a:buFontTx/>
              <a:buNone/>
              <a:tabLst/>
              <a:defRPr sz="6000" b="0" i="0" u="none" strike="noStrike" cap="none" spc="-119" baseline="0">
                <a:solidFill>
                  <a:srgbClr val="000000"/>
                </a:solidFill>
                <a:uFillTx/>
                <a:latin typeface="+mn-lt"/>
                <a:ea typeface="+mn-ea"/>
                <a:cs typeface="+mn-cs"/>
                <a:sym typeface="Avenir Next Demi Bold"/>
              </a:defRPr>
            </a:lvl5pPr>
            <a:lvl6pPr marL="0" marR="0" indent="2286000" algn="l" defTabSz="1733930" rtl="0" latinLnBrk="0">
              <a:lnSpc>
                <a:spcPct val="80000"/>
              </a:lnSpc>
              <a:spcBef>
                <a:spcPts val="0"/>
              </a:spcBef>
              <a:spcAft>
                <a:spcPts val="0"/>
              </a:spcAft>
              <a:buClrTx/>
              <a:buSzTx/>
              <a:buFontTx/>
              <a:buNone/>
              <a:tabLst/>
              <a:defRPr sz="6000" b="0" i="0" u="none" strike="noStrike" cap="none" spc="-119" baseline="0">
                <a:solidFill>
                  <a:srgbClr val="000000"/>
                </a:solidFill>
                <a:uFillTx/>
                <a:latin typeface="+mn-lt"/>
                <a:ea typeface="+mn-ea"/>
                <a:cs typeface="+mn-cs"/>
                <a:sym typeface="Avenir Next Demi Bold"/>
              </a:defRPr>
            </a:lvl6pPr>
            <a:lvl7pPr marL="0" marR="0" indent="2743200" algn="l" defTabSz="1733930" rtl="0" latinLnBrk="0">
              <a:lnSpc>
                <a:spcPct val="80000"/>
              </a:lnSpc>
              <a:spcBef>
                <a:spcPts val="0"/>
              </a:spcBef>
              <a:spcAft>
                <a:spcPts val="0"/>
              </a:spcAft>
              <a:buClrTx/>
              <a:buSzTx/>
              <a:buFontTx/>
              <a:buNone/>
              <a:tabLst/>
              <a:defRPr sz="6000" b="0" i="0" u="none" strike="noStrike" cap="none" spc="-119" baseline="0">
                <a:solidFill>
                  <a:srgbClr val="000000"/>
                </a:solidFill>
                <a:uFillTx/>
                <a:latin typeface="+mn-lt"/>
                <a:ea typeface="+mn-ea"/>
                <a:cs typeface="+mn-cs"/>
                <a:sym typeface="Avenir Next Demi Bold"/>
              </a:defRPr>
            </a:lvl7pPr>
            <a:lvl8pPr marL="0" marR="0" indent="3200400" algn="l" defTabSz="1733930" rtl="0" latinLnBrk="0">
              <a:lnSpc>
                <a:spcPct val="80000"/>
              </a:lnSpc>
              <a:spcBef>
                <a:spcPts val="0"/>
              </a:spcBef>
              <a:spcAft>
                <a:spcPts val="0"/>
              </a:spcAft>
              <a:buClrTx/>
              <a:buSzTx/>
              <a:buFontTx/>
              <a:buNone/>
              <a:tabLst/>
              <a:defRPr sz="6000" b="0" i="0" u="none" strike="noStrike" cap="none" spc="-119" baseline="0">
                <a:solidFill>
                  <a:srgbClr val="000000"/>
                </a:solidFill>
                <a:uFillTx/>
                <a:latin typeface="+mn-lt"/>
                <a:ea typeface="+mn-ea"/>
                <a:cs typeface="+mn-cs"/>
                <a:sym typeface="Avenir Next Demi Bold"/>
              </a:defRPr>
            </a:lvl8pPr>
            <a:lvl9pPr marL="0" marR="0" indent="3657600" algn="l" defTabSz="1733930" rtl="0" latinLnBrk="0">
              <a:lnSpc>
                <a:spcPct val="80000"/>
              </a:lnSpc>
              <a:spcBef>
                <a:spcPts val="0"/>
              </a:spcBef>
              <a:spcAft>
                <a:spcPts val="0"/>
              </a:spcAft>
              <a:buClrTx/>
              <a:buSzTx/>
              <a:buFontTx/>
              <a:buNone/>
              <a:tabLst/>
              <a:defRPr sz="6000" b="0" i="0" u="none" strike="noStrike" cap="none" spc="-119" baseline="0">
                <a:solidFill>
                  <a:srgbClr val="000000"/>
                </a:solidFill>
                <a:uFillTx/>
                <a:latin typeface="+mn-lt"/>
                <a:ea typeface="+mn-ea"/>
                <a:cs typeface="+mn-cs"/>
                <a:sym typeface="Avenir Next Demi Bold"/>
              </a:defRPr>
            </a:lvl9pPr>
          </a:lstStyle>
          <a:p>
            <a:pPr hangingPunct="1"/>
            <a:r>
              <a:rPr lang="en-US" dirty="0"/>
              <a:t>SVM Decision Process</a:t>
            </a:r>
          </a:p>
        </p:txBody>
      </p:sp>
      <mc:AlternateContent xmlns:mc="http://schemas.openxmlformats.org/markup-compatibility/2006" xmlns:a14="http://schemas.microsoft.com/office/drawing/2010/main">
        <mc:Choice Requires="a14">
          <p:sp>
            <p:nvSpPr>
              <p:cNvPr id="4" name="Rectangle 1">
                <a:extLst>
                  <a:ext uri="{FF2B5EF4-FFF2-40B4-BE49-F238E27FC236}">
                    <a16:creationId xmlns:a16="http://schemas.microsoft.com/office/drawing/2014/main" id="{1BDC3182-1715-B400-B5B5-B524E21C631B}"/>
                  </a:ext>
                </a:extLst>
              </p:cNvPr>
              <p:cNvSpPr>
                <a:spLocks noGrp="1" noChangeArrowheads="1"/>
              </p:cNvSpPr>
              <p:nvPr>
                <p:ph type="body" idx="1"/>
              </p:nvPr>
            </p:nvSpPr>
            <p:spPr bwMode="auto">
              <a:xfrm>
                <a:off x="698500" y="1884300"/>
                <a:ext cx="10014993" cy="701730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dirty="0">
                    <a:ln>
                      <a:noFill/>
                    </a:ln>
                    <a:solidFill>
                      <a:schemeClr val="tx1">
                        <a:lumMod val="50000"/>
                      </a:schemeClr>
                    </a:solidFill>
                    <a:effectLst/>
                    <a:latin typeface="Avenir Next Regular (Headings)"/>
                  </a:rPr>
                  <a:t>After training</a:t>
                </a:r>
                <a:r>
                  <a:rPr kumimoji="0" lang="en-US" altLang="en-US" sz="2500" b="0" i="0" u="none" strike="noStrike" cap="none" normalizeH="0" baseline="0" dirty="0">
                    <a:ln>
                      <a:noFill/>
                    </a:ln>
                    <a:solidFill>
                      <a:schemeClr val="tx1">
                        <a:lumMod val="50000"/>
                      </a:schemeClr>
                    </a:solidFill>
                    <a:effectLst/>
                    <a:latin typeface="Avenir Next Regular (Headings)"/>
                  </a:rPr>
                  <a:t>, we obtain: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lumMod val="50000"/>
                      </a:schemeClr>
                    </a:solidFill>
                    <a:effectLst/>
                    <a:latin typeface="Avenir Next Regular (Headings)"/>
                  </a:rPr>
                  <a:t>Weight vector </a:t>
                </a:r>
                <a:r>
                  <a:rPr kumimoji="0" lang="en-US" altLang="en-US" sz="2500" b="1" i="0" u="none" strike="noStrike" cap="none" normalizeH="0" baseline="0" dirty="0">
                    <a:ln>
                      <a:noFill/>
                    </a:ln>
                    <a:solidFill>
                      <a:schemeClr val="tx1">
                        <a:lumMod val="50000"/>
                      </a:schemeClr>
                    </a:solidFill>
                    <a:effectLst/>
                    <a:latin typeface="Avenir Next Regular (Headings)"/>
                  </a:rPr>
                  <a:t>w</a:t>
                </a:r>
                <a:endParaRPr kumimoji="0" lang="en-US" altLang="en-US" sz="2500" b="0" i="0" u="none" strike="noStrike" cap="none" normalizeH="0" baseline="0" dirty="0">
                  <a:ln>
                    <a:noFill/>
                  </a:ln>
                  <a:solidFill>
                    <a:schemeClr val="tx1">
                      <a:lumMod val="50000"/>
                    </a:schemeClr>
                  </a:solidFill>
                  <a:effectLst/>
                  <a:latin typeface="Avenir Next Regular (Heading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lumMod val="50000"/>
                      </a:schemeClr>
                    </a:solidFill>
                    <a:effectLst/>
                    <a:latin typeface="Avenir Next Regular (Headings)"/>
                  </a:rPr>
                  <a:t>Intercept </a:t>
                </a:r>
                <a:r>
                  <a:rPr kumimoji="0" lang="en-US" altLang="en-US" sz="2500" b="1" i="0" u="none" strike="noStrike" cap="none" normalizeH="0" baseline="0" dirty="0">
                    <a:ln>
                      <a:noFill/>
                    </a:ln>
                    <a:solidFill>
                      <a:schemeClr val="tx1">
                        <a:lumMod val="50000"/>
                      </a:schemeClr>
                    </a:solidFill>
                    <a:effectLst/>
                    <a:latin typeface="Avenir Next Regular (Headings)"/>
                  </a:rPr>
                  <a:t>b</a:t>
                </a:r>
                <a:endParaRPr kumimoji="0" lang="en-US" altLang="en-US" sz="2500" b="0" i="0" u="none" strike="noStrike" cap="none" normalizeH="0" baseline="0" dirty="0">
                  <a:ln>
                    <a:noFill/>
                  </a:ln>
                  <a:solidFill>
                    <a:schemeClr val="tx1">
                      <a:lumMod val="50000"/>
                    </a:schemeClr>
                  </a:solidFill>
                  <a:effectLst/>
                  <a:latin typeface="Avenir Next Regular (Heading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lumMod val="50000"/>
                      </a:schemeClr>
                    </a:solidFill>
                    <a:effectLst/>
                    <a:latin typeface="Avenir Next Regular (Headings)"/>
                  </a:rPr>
                  <a:t>For a new data point </a:t>
                </a:r>
                <a:r>
                  <a:rPr kumimoji="0" lang="en-US" altLang="en-US" sz="2500" b="1" i="0" u="none" strike="noStrike" cap="none" normalizeH="0" baseline="0" dirty="0">
                    <a:ln>
                      <a:noFill/>
                    </a:ln>
                    <a:solidFill>
                      <a:schemeClr val="tx1">
                        <a:lumMod val="50000"/>
                      </a:schemeClr>
                    </a:solidFill>
                    <a:effectLst/>
                    <a:latin typeface="Avenir Next Regular (Headings)"/>
                  </a:rPr>
                  <a:t>x</a:t>
                </a:r>
                <a:r>
                  <a:rPr kumimoji="0" lang="en-US" altLang="en-US" sz="2500" b="0" i="0" u="none" strike="noStrike" cap="none" normalizeH="0" baseline="0" dirty="0">
                    <a:ln>
                      <a:noFill/>
                    </a:ln>
                    <a:solidFill>
                      <a:schemeClr val="tx1">
                        <a:lumMod val="50000"/>
                      </a:schemeClr>
                    </a:solidFill>
                    <a:effectLst/>
                    <a:latin typeface="Avenir Next Regular (Headings)"/>
                  </a:rPr>
                  <a:t>, compute the </a:t>
                </a:r>
                <a:r>
                  <a:rPr kumimoji="0" lang="en-US" altLang="en-US" sz="2500" b="1" i="0" u="none" strike="noStrike" cap="none" normalizeH="0" baseline="0" dirty="0">
                    <a:ln>
                      <a:noFill/>
                    </a:ln>
                    <a:solidFill>
                      <a:schemeClr val="tx1">
                        <a:lumMod val="50000"/>
                      </a:schemeClr>
                    </a:solidFill>
                    <a:effectLst/>
                    <a:latin typeface="Avenir Next Regular (Headings)"/>
                  </a:rPr>
                  <a:t>decision score</a:t>
                </a:r>
                <a:r>
                  <a:rPr kumimoji="0" lang="en-US" altLang="en-US" sz="2500" b="0" i="0" u="none" strike="noStrike" cap="none" normalizeH="0" baseline="0" dirty="0">
                    <a:ln>
                      <a:noFill/>
                    </a:ln>
                    <a:solidFill>
                      <a:schemeClr val="tx1">
                        <a:lumMod val="50000"/>
                      </a:schemeClr>
                    </a:solidFill>
                    <a:effectLst/>
                    <a:latin typeface="Avenir Next Regular (Headings)"/>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500" b="0" i="0" u="none" strike="noStrike" cap="none" normalizeH="0" baseline="0" dirty="0">
                  <a:ln>
                    <a:noFill/>
                  </a:ln>
                  <a:solidFill>
                    <a:schemeClr val="tx1">
                      <a:lumMod val="50000"/>
                    </a:schemeClr>
                  </a:solidFill>
                  <a:effectLst/>
                  <a:latin typeface="Avenir Next Regular (Headings)"/>
                </a:endParaRPr>
              </a:p>
              <a:p>
                <a:pPr marL="0" marR="0" lvl="0" indent="0" algn="l" defTabSz="914400" rtl="0" eaLnBrk="0" fontAlgn="base" latinLnBrk="0" hangingPunct="0">
                  <a:lnSpc>
                    <a:spcPct val="100000"/>
                  </a:lnSpc>
                  <a:spcBef>
                    <a:spcPct val="0"/>
                  </a:spcBef>
                  <a:spcAft>
                    <a:spcPct val="0"/>
                  </a:spcAft>
                  <a:buClrTx/>
                  <a:buSzTx/>
                  <a:buFontTx/>
                  <a:buNone/>
                  <a:tabLst/>
                </a:pPr>
                <a14:m>
                  <m:oMathPara xmlns:m="http://schemas.openxmlformats.org/officeDocument/2006/math">
                    <m:oMath>
                      <m:r>
                        <a:rPr kumimoji="0" lang="en-US" altLang="en-US" sz="2500" b="0" i="1" u="none" strike="noStrike" cap="none" normalizeH="0" baseline="0" dirty="0" smtClean="0">
                          <a:ln>
                            <a:noFill/>
                          </a:ln>
                          <a:solidFill>
                            <a:schemeClr val="tx1">
                              <a:lumMod val="50000"/>
                            </a:schemeClr>
                          </a:solidFill>
                          <a:effectLst/>
                          <a:latin typeface="Cambria Math" panose="02040503050406030204" pitchFamily="18" charset="0"/>
                        </a:rPr>
                        <m:t>𝑓</m:t>
                      </m:r>
                      <m:d>
                        <m:dPr>
                          <m:ctrlPr>
                            <a:rPr kumimoji="0" lang="en-US" altLang="en-US" sz="2500" b="0" i="1" u="none" strike="noStrike" cap="none" normalizeH="0" baseline="0" dirty="0" smtClean="0">
                              <a:ln>
                                <a:noFill/>
                              </a:ln>
                              <a:solidFill>
                                <a:schemeClr val="tx1">
                                  <a:lumMod val="50000"/>
                                </a:schemeClr>
                              </a:solidFill>
                              <a:effectLst/>
                              <a:latin typeface="Cambria Math" panose="02040503050406030204" pitchFamily="18" charset="0"/>
                            </a:rPr>
                          </m:ctrlPr>
                        </m:dPr>
                        <m:e>
                          <m:r>
                            <a:rPr kumimoji="0" lang="en-US" altLang="en-US" sz="2500" b="0" i="1" u="none" strike="noStrike" cap="none" normalizeH="0" baseline="0" dirty="0" smtClean="0">
                              <a:ln>
                                <a:noFill/>
                              </a:ln>
                              <a:solidFill>
                                <a:schemeClr val="tx1">
                                  <a:lumMod val="50000"/>
                                </a:schemeClr>
                              </a:solidFill>
                              <a:effectLst/>
                              <a:latin typeface="Cambria Math" panose="02040503050406030204" pitchFamily="18" charset="0"/>
                            </a:rPr>
                            <m:t>𝑥</m:t>
                          </m:r>
                        </m:e>
                      </m:d>
                      <m:r>
                        <a:rPr kumimoji="0" lang="en-US" altLang="en-US" sz="2500" b="0" i="1" u="none" strike="noStrike" cap="none" normalizeH="0" baseline="0" dirty="0" smtClean="0">
                          <a:ln>
                            <a:noFill/>
                          </a:ln>
                          <a:solidFill>
                            <a:schemeClr val="tx1">
                              <a:lumMod val="50000"/>
                            </a:schemeClr>
                          </a:solidFill>
                          <a:effectLst/>
                          <a:latin typeface="Cambria Math" panose="02040503050406030204" pitchFamily="18" charset="0"/>
                        </a:rPr>
                        <m:t>=</m:t>
                      </m:r>
                      <m:r>
                        <a:rPr kumimoji="0" lang="en-US" altLang="en-US" sz="2500" b="0" i="1" u="none" strike="noStrike" cap="none" normalizeH="0" baseline="0" dirty="0" err="1" smtClean="0">
                          <a:ln>
                            <a:noFill/>
                          </a:ln>
                          <a:solidFill>
                            <a:schemeClr val="tx1">
                              <a:lumMod val="50000"/>
                            </a:schemeClr>
                          </a:solidFill>
                          <a:effectLst/>
                          <a:latin typeface="Cambria Math" panose="02040503050406030204" pitchFamily="18" charset="0"/>
                        </a:rPr>
                        <m:t>𝑤</m:t>
                      </m:r>
                      <m:r>
                        <a:rPr kumimoji="0" lang="en-US" altLang="en-US" sz="2500" b="0" i="1" u="none" strike="noStrike" cap="none" normalizeH="0" baseline="0" dirty="0" err="1" smtClean="0">
                          <a:ln>
                            <a:noFill/>
                          </a:ln>
                          <a:solidFill>
                            <a:schemeClr val="tx1">
                              <a:lumMod val="50000"/>
                            </a:schemeClr>
                          </a:solidFill>
                          <a:effectLst/>
                          <a:latin typeface="Cambria Math" panose="02040503050406030204" pitchFamily="18" charset="0"/>
                        </a:rPr>
                        <m:t>⋅</m:t>
                      </m:r>
                      <m:r>
                        <a:rPr kumimoji="0" lang="en-US" altLang="en-US" sz="2500" b="0" i="1" u="none" strike="noStrike" cap="none" normalizeH="0" baseline="0" dirty="0" err="1" smtClean="0">
                          <a:ln>
                            <a:noFill/>
                          </a:ln>
                          <a:solidFill>
                            <a:schemeClr val="tx1">
                              <a:lumMod val="50000"/>
                            </a:schemeClr>
                          </a:solidFill>
                          <a:effectLst/>
                          <a:latin typeface="Cambria Math" panose="02040503050406030204" pitchFamily="18" charset="0"/>
                        </a:rPr>
                        <m:t>𝑥</m:t>
                      </m:r>
                      <m:r>
                        <a:rPr kumimoji="0" lang="en-US" altLang="en-US" sz="2500" b="0" i="1" u="none" strike="noStrike" cap="none" normalizeH="0" baseline="0" dirty="0" err="1" smtClean="0">
                          <a:ln>
                            <a:noFill/>
                          </a:ln>
                          <a:solidFill>
                            <a:schemeClr val="tx1">
                              <a:lumMod val="50000"/>
                            </a:schemeClr>
                          </a:solidFill>
                          <a:effectLst/>
                          <a:latin typeface="Cambria Math" panose="02040503050406030204" pitchFamily="18" charset="0"/>
                        </a:rPr>
                        <m:t>+</m:t>
                      </m:r>
                      <m:r>
                        <a:rPr kumimoji="0" lang="en-US" altLang="en-US" sz="2500" b="0" i="1" u="none" strike="noStrike" cap="none" normalizeH="0" baseline="0" dirty="0" smtClean="0">
                          <a:ln>
                            <a:noFill/>
                          </a:ln>
                          <a:solidFill>
                            <a:schemeClr val="tx1">
                              <a:lumMod val="50000"/>
                            </a:schemeClr>
                          </a:solidFill>
                          <a:effectLst/>
                          <a:latin typeface="Cambria Math" panose="02040503050406030204" pitchFamily="18" charset="0"/>
                        </a:rPr>
                        <m:t>𝑏</m:t>
                      </m:r>
                    </m:oMath>
                  </m:oMathPara>
                </a14:m>
                <a:endParaRPr kumimoji="0" lang="en-US" altLang="en-US" sz="2500" b="0" i="1" u="none" strike="noStrike" cap="none" normalizeH="0" baseline="0" dirty="0">
                  <a:ln>
                    <a:noFill/>
                  </a:ln>
                  <a:solidFill>
                    <a:schemeClr val="tx1">
                      <a:lumMod val="50000"/>
                    </a:schemeClr>
                  </a:solidFill>
                  <a:effectLst/>
                  <a:latin typeface="Avenir Next Regular (Heading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500" b="0" i="1" u="none" strike="noStrike" cap="none" normalizeH="0" baseline="0" dirty="0">
                  <a:ln>
                    <a:noFill/>
                  </a:ln>
                  <a:solidFill>
                    <a:schemeClr val="tx1">
                      <a:lumMod val="50000"/>
                    </a:schemeClr>
                  </a:solidFill>
                  <a:effectLst/>
                  <a:latin typeface="Avenir Next Regular (Heading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lumMod val="50000"/>
                      </a:schemeClr>
                    </a:solidFill>
                    <a:effectLst/>
                    <a:latin typeface="Avenir Next Regular (Headings)"/>
                  </a:rPr>
                  <a:t>The prediction is based on the </a:t>
                </a:r>
                <a:r>
                  <a:rPr kumimoji="0" lang="en-US" altLang="en-US" sz="2500" b="1" i="0" u="none" strike="noStrike" cap="none" normalizeH="0" baseline="0" dirty="0">
                    <a:ln>
                      <a:noFill/>
                    </a:ln>
                    <a:solidFill>
                      <a:schemeClr val="tx1">
                        <a:lumMod val="50000"/>
                      </a:schemeClr>
                    </a:solidFill>
                    <a:effectLst/>
                    <a:latin typeface="Avenir Next Regular (Headings)"/>
                  </a:rPr>
                  <a:t>sign</a:t>
                </a:r>
                <a:r>
                  <a:rPr kumimoji="0" lang="en-US" altLang="en-US" sz="2500" b="0" i="0" u="none" strike="noStrike" cap="none" normalizeH="0" baseline="0" dirty="0">
                    <a:ln>
                      <a:noFill/>
                    </a:ln>
                    <a:solidFill>
                      <a:schemeClr val="tx1">
                        <a:lumMod val="50000"/>
                      </a:schemeClr>
                    </a:solidFill>
                    <a:effectLst/>
                    <a:latin typeface="Avenir Next Regular (Headings)"/>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500" b="0" i="0" u="none" strike="noStrike" cap="none" normalizeH="0" baseline="0" dirty="0">
                  <a:ln>
                    <a:noFill/>
                  </a:ln>
                  <a:solidFill>
                    <a:schemeClr val="tx1">
                      <a:lumMod val="50000"/>
                    </a:schemeClr>
                  </a:solidFill>
                  <a:effectLst/>
                  <a:latin typeface="Avenir Next Regular (Heading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lumMod val="50000"/>
                      </a:schemeClr>
                    </a:solidFill>
                    <a:effectLst/>
                    <a:latin typeface="Avenir Next Regular (Headings)"/>
                  </a:rPr>
                  <a:t>If </a:t>
                </a:r>
                <a14:m>
                  <m:oMath xmlns:m="http://schemas.openxmlformats.org/officeDocument/2006/math">
                    <m:r>
                      <a:rPr kumimoji="0" lang="en-US" altLang="en-US" sz="2500" b="0" i="1" u="none" strike="noStrike" cap="none" normalizeH="0" baseline="0" dirty="0" smtClean="0">
                        <a:ln>
                          <a:noFill/>
                        </a:ln>
                        <a:solidFill>
                          <a:schemeClr val="tx1">
                            <a:lumMod val="50000"/>
                          </a:schemeClr>
                        </a:solidFill>
                        <a:effectLst/>
                        <a:latin typeface="Cambria Math" panose="02040503050406030204" pitchFamily="18" charset="0"/>
                      </a:rPr>
                      <m:t>𝑓</m:t>
                    </m:r>
                    <m:d>
                      <m:dPr>
                        <m:ctrlPr>
                          <a:rPr kumimoji="0" lang="en-US" altLang="en-US" sz="2500" b="0" i="1" u="none" strike="noStrike" cap="none" normalizeH="0" baseline="0" dirty="0" smtClean="0">
                            <a:ln>
                              <a:noFill/>
                            </a:ln>
                            <a:solidFill>
                              <a:schemeClr val="tx1">
                                <a:lumMod val="50000"/>
                              </a:schemeClr>
                            </a:solidFill>
                            <a:effectLst/>
                            <a:latin typeface="Cambria Math" panose="02040503050406030204" pitchFamily="18" charset="0"/>
                          </a:rPr>
                        </m:ctrlPr>
                      </m:dPr>
                      <m:e>
                        <m:r>
                          <a:rPr kumimoji="0" lang="en-US" altLang="en-US" sz="2500" b="0" i="1" u="none" strike="noStrike" cap="none" normalizeH="0" baseline="0" dirty="0" smtClean="0">
                            <a:ln>
                              <a:noFill/>
                            </a:ln>
                            <a:solidFill>
                              <a:schemeClr val="tx1">
                                <a:lumMod val="50000"/>
                              </a:schemeClr>
                            </a:solidFill>
                            <a:effectLst/>
                            <a:latin typeface="Cambria Math" panose="02040503050406030204" pitchFamily="18" charset="0"/>
                          </a:rPr>
                          <m:t>𝑥</m:t>
                        </m:r>
                      </m:e>
                    </m:d>
                    <m:r>
                      <a:rPr kumimoji="0" lang="en-US" altLang="en-US" sz="2500" b="0" i="1" u="none" strike="noStrike" cap="none" normalizeH="0" baseline="0" dirty="0" smtClean="0">
                        <a:ln>
                          <a:noFill/>
                        </a:ln>
                        <a:solidFill>
                          <a:schemeClr val="tx1">
                            <a:lumMod val="50000"/>
                          </a:schemeClr>
                        </a:solidFill>
                        <a:effectLst/>
                        <a:latin typeface="Cambria Math" panose="02040503050406030204" pitchFamily="18" charset="0"/>
                      </a:rPr>
                      <m:t>&gt;0</m:t>
                    </m:r>
                  </m:oMath>
                </a14:m>
                <a:r>
                  <a:rPr kumimoji="0" lang="en-US" altLang="en-US" sz="2500" b="0" i="0" u="none" strike="noStrike" cap="none" normalizeH="0" baseline="0" dirty="0">
                    <a:ln>
                      <a:noFill/>
                    </a:ln>
                    <a:solidFill>
                      <a:schemeClr val="tx1">
                        <a:lumMod val="50000"/>
                      </a:schemeClr>
                    </a:solidFill>
                    <a:effectLst/>
                    <a:latin typeface="Avenir Next Regular (Headings)"/>
                  </a:rPr>
                  <a:t> → predict </a:t>
                </a:r>
                <a:r>
                  <a:rPr kumimoji="0" lang="en-US" altLang="en-US" sz="2500" b="1" i="0" u="none" strike="noStrike" cap="none" normalizeH="0" baseline="0" dirty="0">
                    <a:ln>
                      <a:noFill/>
                    </a:ln>
                    <a:solidFill>
                      <a:schemeClr val="tx1">
                        <a:lumMod val="50000"/>
                      </a:schemeClr>
                    </a:solidFill>
                    <a:effectLst/>
                    <a:latin typeface="Avenir Next Regular (Headings)"/>
                  </a:rPr>
                  <a:t>+1</a:t>
                </a:r>
                <a:endParaRPr kumimoji="0" lang="en-US" altLang="en-US" sz="2500" b="0" i="0" u="none" strike="noStrike" cap="none" normalizeH="0" baseline="0" dirty="0">
                  <a:ln>
                    <a:noFill/>
                  </a:ln>
                  <a:solidFill>
                    <a:schemeClr val="tx1">
                      <a:lumMod val="50000"/>
                    </a:schemeClr>
                  </a:solidFill>
                  <a:effectLst/>
                  <a:latin typeface="Avenir Next Regular (Heading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lumMod val="50000"/>
                      </a:schemeClr>
                    </a:solidFill>
                    <a:effectLst/>
                    <a:latin typeface="Avenir Next Regular (Headings)"/>
                  </a:rPr>
                  <a:t>If </a:t>
                </a:r>
                <a14:m>
                  <m:oMath xmlns:m="http://schemas.openxmlformats.org/officeDocument/2006/math">
                    <m:r>
                      <a:rPr kumimoji="0" lang="en-US" altLang="en-US" sz="2500" b="0" i="1" u="none" strike="noStrike" cap="none" normalizeH="0" baseline="0" dirty="0" smtClean="0">
                        <a:ln>
                          <a:noFill/>
                        </a:ln>
                        <a:solidFill>
                          <a:schemeClr val="tx1">
                            <a:lumMod val="50000"/>
                          </a:schemeClr>
                        </a:solidFill>
                        <a:effectLst/>
                        <a:latin typeface="Cambria Math" panose="02040503050406030204" pitchFamily="18" charset="0"/>
                      </a:rPr>
                      <m:t>𝑓</m:t>
                    </m:r>
                    <m:d>
                      <m:dPr>
                        <m:ctrlPr>
                          <a:rPr kumimoji="0" lang="en-US" altLang="en-US" sz="2500" b="0" i="1" u="none" strike="noStrike" cap="none" normalizeH="0" baseline="0" dirty="0" smtClean="0">
                            <a:ln>
                              <a:noFill/>
                            </a:ln>
                            <a:solidFill>
                              <a:schemeClr val="tx1">
                                <a:lumMod val="50000"/>
                              </a:schemeClr>
                            </a:solidFill>
                            <a:effectLst/>
                            <a:latin typeface="Cambria Math" panose="02040503050406030204" pitchFamily="18" charset="0"/>
                          </a:rPr>
                        </m:ctrlPr>
                      </m:dPr>
                      <m:e>
                        <m:r>
                          <a:rPr kumimoji="0" lang="en-US" altLang="en-US" sz="2500" b="0" i="1" u="none" strike="noStrike" cap="none" normalizeH="0" baseline="0" dirty="0" smtClean="0">
                            <a:ln>
                              <a:noFill/>
                            </a:ln>
                            <a:solidFill>
                              <a:schemeClr val="tx1">
                                <a:lumMod val="50000"/>
                              </a:schemeClr>
                            </a:solidFill>
                            <a:effectLst/>
                            <a:latin typeface="Cambria Math" panose="02040503050406030204" pitchFamily="18" charset="0"/>
                          </a:rPr>
                          <m:t>𝑥</m:t>
                        </m:r>
                      </m:e>
                    </m:d>
                    <m:r>
                      <a:rPr kumimoji="0" lang="en-US" altLang="en-US" sz="2500" b="0" i="1" u="none" strike="noStrike" cap="none" normalizeH="0" baseline="0" dirty="0" smtClean="0">
                        <a:ln>
                          <a:noFill/>
                        </a:ln>
                        <a:solidFill>
                          <a:schemeClr val="tx1">
                            <a:lumMod val="50000"/>
                          </a:schemeClr>
                        </a:solidFill>
                        <a:effectLst/>
                        <a:latin typeface="Cambria Math" panose="02040503050406030204" pitchFamily="18" charset="0"/>
                      </a:rPr>
                      <m:t>&lt;0</m:t>
                    </m:r>
                  </m:oMath>
                </a14:m>
                <a:r>
                  <a:rPr kumimoji="0" lang="en-US" altLang="en-US" sz="2500" b="0" i="0" u="none" strike="noStrike" cap="none" normalizeH="0" baseline="0" dirty="0">
                    <a:ln>
                      <a:noFill/>
                    </a:ln>
                    <a:solidFill>
                      <a:schemeClr val="tx1">
                        <a:lumMod val="50000"/>
                      </a:schemeClr>
                    </a:solidFill>
                    <a:effectLst/>
                    <a:latin typeface="Avenir Next Regular (Headings)"/>
                  </a:rPr>
                  <a:t> → predict </a:t>
                </a:r>
                <a:r>
                  <a:rPr kumimoji="0" lang="en-US" altLang="en-US" sz="2500" b="1" i="0" u="none" strike="noStrike" cap="none" normalizeH="0" baseline="0" dirty="0">
                    <a:ln>
                      <a:noFill/>
                    </a:ln>
                    <a:solidFill>
                      <a:schemeClr val="tx1">
                        <a:lumMod val="50000"/>
                      </a:schemeClr>
                    </a:solidFill>
                    <a:effectLst/>
                    <a:latin typeface="Avenir Next Regular (Headings)"/>
                  </a:rPr>
                  <a:t>−1</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500" b="0" i="0" u="none" strike="noStrike" cap="none" normalizeH="0" baseline="0" dirty="0">
                  <a:ln>
                    <a:noFill/>
                  </a:ln>
                  <a:solidFill>
                    <a:schemeClr val="tx1">
                      <a:lumMod val="50000"/>
                    </a:schemeClr>
                  </a:solidFill>
                  <a:effectLst/>
                  <a:latin typeface="Avenir Next Regular (Heading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lumMod val="50000"/>
                      </a:schemeClr>
                    </a:solidFill>
                    <a:effectLst/>
                    <a:latin typeface="Avenir Next Regular (Headings)"/>
                  </a:rPr>
                  <a:t>Geometric interpretation: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500" b="0" i="0" u="none" strike="noStrike" cap="none" normalizeH="0" baseline="0" dirty="0">
                  <a:ln>
                    <a:noFill/>
                  </a:ln>
                  <a:solidFill>
                    <a:schemeClr val="tx1">
                      <a:lumMod val="50000"/>
                    </a:schemeClr>
                  </a:solidFill>
                  <a:effectLst/>
                  <a:latin typeface="Avenir Next Regular (Heading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lumMod val="50000"/>
                      </a:schemeClr>
                    </a:solidFill>
                    <a:effectLst/>
                    <a:latin typeface="Avenir Next Regular (Headings)"/>
                  </a:rPr>
                  <a:t>The hyperplane </a:t>
                </a:r>
                <a14:m>
                  <m:oMath xmlns:m="http://schemas.openxmlformats.org/officeDocument/2006/math">
                    <m:r>
                      <a:rPr kumimoji="0" lang="en-US" altLang="en-US" sz="2500" b="0" i="1" u="none" strike="noStrike" cap="none" normalizeH="0" baseline="0" dirty="0" smtClean="0">
                        <a:ln>
                          <a:noFill/>
                        </a:ln>
                        <a:solidFill>
                          <a:schemeClr val="tx1">
                            <a:lumMod val="50000"/>
                          </a:schemeClr>
                        </a:solidFill>
                        <a:effectLst/>
                        <a:latin typeface="Cambria Math" panose="02040503050406030204" pitchFamily="18" charset="0"/>
                      </a:rPr>
                      <m:t>𝑤</m:t>
                    </m:r>
                    <m:r>
                      <a:rPr kumimoji="0" lang="en-US" altLang="en-US" sz="2500" b="0" i="1" u="none" strike="noStrike" cap="none" normalizeH="0" baseline="0" dirty="0" smtClean="0">
                        <a:ln>
                          <a:noFill/>
                        </a:ln>
                        <a:solidFill>
                          <a:schemeClr val="tx1">
                            <a:lumMod val="50000"/>
                          </a:schemeClr>
                        </a:solidFill>
                        <a:effectLst/>
                        <a:latin typeface="Cambria Math" panose="02040503050406030204" pitchFamily="18" charset="0"/>
                      </a:rPr>
                      <m:t>⋅</m:t>
                    </m:r>
                    <m:r>
                      <a:rPr kumimoji="0" lang="en-US" altLang="en-US" sz="2500" b="0" i="1" u="none" strike="noStrike" cap="none" normalizeH="0" baseline="0" dirty="0" smtClean="0">
                        <a:ln>
                          <a:noFill/>
                        </a:ln>
                        <a:solidFill>
                          <a:schemeClr val="tx1">
                            <a:lumMod val="50000"/>
                          </a:schemeClr>
                        </a:solidFill>
                        <a:effectLst/>
                        <a:latin typeface="Cambria Math" panose="02040503050406030204" pitchFamily="18" charset="0"/>
                      </a:rPr>
                      <m:t>𝑥</m:t>
                    </m:r>
                    <m:r>
                      <a:rPr kumimoji="0" lang="en-US" altLang="en-US" sz="2500" b="0" i="1" u="none" strike="noStrike" cap="none" normalizeH="0" baseline="0" dirty="0" smtClean="0">
                        <a:ln>
                          <a:noFill/>
                        </a:ln>
                        <a:solidFill>
                          <a:schemeClr val="tx1">
                            <a:lumMod val="50000"/>
                          </a:schemeClr>
                        </a:solidFill>
                        <a:effectLst/>
                        <a:latin typeface="Cambria Math" panose="02040503050406030204" pitchFamily="18" charset="0"/>
                      </a:rPr>
                      <m:t>+</m:t>
                    </m:r>
                    <m:r>
                      <a:rPr kumimoji="0" lang="en-US" altLang="en-US" sz="2500" b="0" i="1" u="none" strike="noStrike" cap="none" normalizeH="0" baseline="0" dirty="0" smtClean="0">
                        <a:ln>
                          <a:noFill/>
                        </a:ln>
                        <a:solidFill>
                          <a:schemeClr val="tx1">
                            <a:lumMod val="50000"/>
                          </a:schemeClr>
                        </a:solidFill>
                        <a:effectLst/>
                        <a:latin typeface="Cambria Math" panose="02040503050406030204" pitchFamily="18" charset="0"/>
                      </a:rPr>
                      <m:t>𝑏</m:t>
                    </m:r>
                    <m:r>
                      <a:rPr kumimoji="0" lang="en-US" altLang="en-US" sz="2500" b="0" i="1" u="none" strike="noStrike" cap="none" normalizeH="0" baseline="0" dirty="0" smtClean="0">
                        <a:ln>
                          <a:noFill/>
                        </a:ln>
                        <a:solidFill>
                          <a:schemeClr val="tx1">
                            <a:lumMod val="50000"/>
                          </a:schemeClr>
                        </a:solidFill>
                        <a:effectLst/>
                        <a:latin typeface="Cambria Math" panose="02040503050406030204" pitchFamily="18" charset="0"/>
                      </a:rPr>
                      <m:t>=0</m:t>
                    </m:r>
                  </m:oMath>
                </a14:m>
                <a:r>
                  <a:rPr kumimoji="0" lang="en-US" altLang="en-US" sz="2500" b="0" i="0" u="none" strike="noStrike" cap="none" normalizeH="0" baseline="0" dirty="0">
                    <a:ln>
                      <a:noFill/>
                    </a:ln>
                    <a:solidFill>
                      <a:schemeClr val="tx1">
                        <a:lumMod val="50000"/>
                      </a:schemeClr>
                    </a:solidFill>
                    <a:effectLst/>
                    <a:latin typeface="Avenir Next Regular (Headings)"/>
                  </a:rPr>
                  <a:t> is the decision boundary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lumMod val="50000"/>
                      </a:schemeClr>
                    </a:solidFill>
                    <a:effectLst/>
                    <a:latin typeface="Avenir Next Regular (Headings)"/>
                  </a:rPr>
                  <a:t>The sign tells which </a:t>
                </a:r>
                <a:r>
                  <a:rPr kumimoji="0" lang="en-US" altLang="en-US" sz="2500" b="1" i="0" u="none" strike="noStrike" cap="none" normalizeH="0" baseline="0" dirty="0">
                    <a:ln>
                      <a:noFill/>
                    </a:ln>
                    <a:solidFill>
                      <a:schemeClr val="tx1">
                        <a:lumMod val="50000"/>
                      </a:schemeClr>
                    </a:solidFill>
                    <a:effectLst/>
                    <a:latin typeface="Avenir Next Regular (Headings)"/>
                  </a:rPr>
                  <a:t>side of the boundary</a:t>
                </a:r>
                <a:r>
                  <a:rPr kumimoji="0" lang="en-US" altLang="en-US" sz="2500" b="0" i="0" u="none" strike="noStrike" cap="none" normalizeH="0" baseline="0" dirty="0">
                    <a:ln>
                      <a:noFill/>
                    </a:ln>
                    <a:solidFill>
                      <a:schemeClr val="tx1">
                        <a:lumMod val="50000"/>
                      </a:schemeClr>
                    </a:solidFill>
                    <a:effectLst/>
                    <a:latin typeface="Avenir Next Regular (Headings)"/>
                  </a:rPr>
                  <a:t> the point lies on</a:t>
                </a:r>
              </a:p>
              <a:p>
                <a:pPr marL="0" marR="0" lvl="0" indent="0" algn="l" defTabSz="914400" rtl="0" eaLnBrk="0" fontAlgn="base" latinLnBrk="0" hangingPunct="0">
                  <a:lnSpc>
                    <a:spcPct val="100000"/>
                  </a:lnSpc>
                  <a:spcBef>
                    <a:spcPct val="0"/>
                  </a:spcBef>
                  <a:spcAft>
                    <a:spcPct val="0"/>
                  </a:spcAft>
                  <a:buClrTx/>
                  <a:buSzTx/>
                  <a:buFontTx/>
                  <a:buChar char="•"/>
                  <a:tabLst/>
                </a:pPr>
                <a14:m>
                  <m:oMath xmlns:m="http://schemas.openxmlformats.org/officeDocument/2006/math">
                    <m:r>
                      <a:rPr lang="en-US" altLang="en-US" sz="2500" i="1" dirty="0">
                        <a:solidFill>
                          <a:schemeClr val="tx1">
                            <a:lumMod val="50000"/>
                          </a:schemeClr>
                        </a:solidFill>
                        <a:latin typeface="Cambria Math" panose="02040503050406030204" pitchFamily="18" charset="0"/>
                      </a:rPr>
                      <m:t>|</m:t>
                    </m:r>
                    <m:r>
                      <a:rPr kumimoji="0" lang="en-US" altLang="en-US" sz="2500" b="0" i="1" u="none" strike="noStrike" cap="none" normalizeH="0" baseline="0" dirty="0" smtClean="0">
                        <a:ln>
                          <a:noFill/>
                        </a:ln>
                        <a:solidFill>
                          <a:schemeClr val="tx1">
                            <a:lumMod val="50000"/>
                          </a:schemeClr>
                        </a:solidFill>
                        <a:effectLst/>
                        <a:latin typeface="Cambria Math" panose="02040503050406030204" pitchFamily="18" charset="0"/>
                      </a:rPr>
                      <m:t>𝑓</m:t>
                    </m:r>
                    <m:r>
                      <a:rPr kumimoji="0" lang="en-US" altLang="en-US" sz="2500" b="0" i="1" u="none" strike="noStrike" cap="none" normalizeH="0" baseline="0" dirty="0" smtClean="0">
                        <a:ln>
                          <a:noFill/>
                        </a:ln>
                        <a:solidFill>
                          <a:schemeClr val="tx1">
                            <a:lumMod val="50000"/>
                          </a:schemeClr>
                        </a:solidFill>
                        <a:effectLst/>
                        <a:latin typeface="Cambria Math" panose="02040503050406030204" pitchFamily="18" charset="0"/>
                      </a:rPr>
                      <m:t>(</m:t>
                    </m:r>
                    <m:r>
                      <a:rPr kumimoji="0" lang="en-US" altLang="en-US" sz="2500" b="0" i="1" u="none" strike="noStrike" cap="none" normalizeH="0" baseline="0" dirty="0" smtClean="0">
                        <a:ln>
                          <a:noFill/>
                        </a:ln>
                        <a:solidFill>
                          <a:schemeClr val="tx1">
                            <a:lumMod val="50000"/>
                          </a:schemeClr>
                        </a:solidFill>
                        <a:effectLst/>
                        <a:latin typeface="Cambria Math" panose="02040503050406030204" pitchFamily="18" charset="0"/>
                      </a:rPr>
                      <m:t>𝑥</m:t>
                    </m:r>
                    <m:r>
                      <a:rPr kumimoji="0" lang="en-US" altLang="en-US" sz="2500" b="0" i="1" u="none" strike="noStrike" cap="none" normalizeH="0" baseline="0" dirty="0" smtClean="0">
                        <a:ln>
                          <a:noFill/>
                        </a:ln>
                        <a:solidFill>
                          <a:schemeClr val="tx1">
                            <a:lumMod val="50000"/>
                          </a:schemeClr>
                        </a:solidFill>
                        <a:effectLst/>
                        <a:latin typeface="Cambria Math" panose="02040503050406030204" pitchFamily="18" charset="0"/>
                      </a:rPr>
                      <m:t>)|</m:t>
                    </m:r>
                  </m:oMath>
                </a14:m>
                <a:r>
                  <a:rPr kumimoji="0" lang="en-US" altLang="en-US" sz="2500" b="0" i="0" u="none" strike="noStrike" cap="none" normalizeH="0" baseline="0" dirty="0">
                    <a:ln>
                      <a:noFill/>
                    </a:ln>
                    <a:solidFill>
                      <a:schemeClr val="tx1">
                        <a:lumMod val="50000"/>
                      </a:schemeClr>
                    </a:solidFill>
                    <a:effectLst/>
                    <a:latin typeface="Avenir Next Regular (Headings)"/>
                  </a:rPr>
                  <a:t> is proportional to the </a:t>
                </a:r>
                <a:r>
                  <a:rPr kumimoji="0" lang="en-US" altLang="en-US" sz="2500" b="1" i="0" u="none" strike="noStrike" cap="none" normalizeH="0" baseline="0" dirty="0">
                    <a:ln>
                      <a:noFill/>
                    </a:ln>
                    <a:solidFill>
                      <a:schemeClr val="tx1">
                        <a:lumMod val="50000"/>
                      </a:schemeClr>
                    </a:solidFill>
                    <a:effectLst/>
                    <a:latin typeface="Avenir Next Regular (Headings)"/>
                  </a:rPr>
                  <a:t>distance from the boundary</a:t>
                </a:r>
                <a:endParaRPr kumimoji="0" lang="en-US" altLang="en-US" sz="2500" b="0" i="0" u="none" strike="noStrike" cap="none" normalizeH="0" baseline="0" dirty="0">
                  <a:ln>
                    <a:noFill/>
                  </a:ln>
                  <a:solidFill>
                    <a:schemeClr val="tx1">
                      <a:lumMod val="50000"/>
                    </a:schemeClr>
                  </a:solidFill>
                  <a:effectLst/>
                  <a:latin typeface="Avenir Next Regular (Heading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lumMod val="50000"/>
                      </a:schemeClr>
                    </a:solidFill>
                    <a:effectLst/>
                    <a:latin typeface="Avenir Next Regular (Headings)"/>
                  </a:rPr>
                  <a:t>Larger magnitude → more confident prediction</a:t>
                </a:r>
              </a:p>
            </p:txBody>
          </p:sp>
        </mc:Choice>
        <mc:Fallback xmlns="">
          <p:sp>
            <p:nvSpPr>
              <p:cNvPr id="4" name="Rectangle 1">
                <a:extLst>
                  <a:ext uri="{FF2B5EF4-FFF2-40B4-BE49-F238E27FC236}">
                    <a16:creationId xmlns:a16="http://schemas.microsoft.com/office/drawing/2014/main" id="{1BDC3182-1715-B400-B5B5-B524E21C631B}"/>
                  </a:ext>
                </a:extLst>
              </p:cNvPr>
              <p:cNvSpPr>
                <a:spLocks noGrp="1" noRot="1" noChangeAspect="1" noMove="1" noResize="1" noEditPoints="1" noAdjustHandles="1" noChangeArrowheads="1" noChangeShapeType="1" noTextEdit="1"/>
              </p:cNvSpPr>
              <p:nvPr>
                <p:ph type="body" idx="1"/>
              </p:nvPr>
            </p:nvSpPr>
            <p:spPr bwMode="auto">
              <a:xfrm>
                <a:off x="698500" y="1884300"/>
                <a:ext cx="10014993" cy="7017306"/>
              </a:xfrm>
              <a:prstGeom prst="rect">
                <a:avLst/>
              </a:prstGeom>
              <a:blipFill>
                <a:blip r:embed="rId2"/>
                <a:stretch>
                  <a:fillRect l="-1096" t="-348" b="-173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769856650"/>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What if a separating hyperplane does not exist?…"/>
          <p:cNvSpPr txBox="1">
            <a:spLocks noGrp="1"/>
          </p:cNvSpPr>
          <p:nvPr>
            <p:ph type="body" sz="quarter" idx="1"/>
          </p:nvPr>
        </p:nvSpPr>
        <p:spPr>
          <a:xfrm>
            <a:off x="698500" y="1924756"/>
            <a:ext cx="11607800" cy="2150117"/>
          </a:xfrm>
          <a:prstGeom prst="rect">
            <a:avLst/>
          </a:prstGeom>
        </p:spPr>
        <p:txBody>
          <a:bodyPr/>
          <a:lstStyle/>
          <a:p>
            <a:r>
              <a:t>What if a separating hyperplane does not exist?</a:t>
            </a:r>
          </a:p>
          <a:p>
            <a:r>
              <a:t>Then there is no maximum marginal classifier </a:t>
            </a:r>
          </a:p>
        </p:txBody>
      </p:sp>
      <p:sp>
        <p:nvSpPr>
          <p:cNvPr id="206" name="Potential problems"/>
          <p:cNvSpPr txBox="1">
            <a:spLocks noGrp="1"/>
          </p:cNvSpPr>
          <p:nvPr>
            <p:ph type="title"/>
          </p:nvPr>
        </p:nvSpPr>
        <p:spPr>
          <a:prstGeom prst="rect">
            <a:avLst/>
          </a:prstGeom>
        </p:spPr>
        <p:txBody>
          <a:bodyPr/>
          <a:lstStyle>
            <a:lvl1pPr defTabSz="1525858">
              <a:defRPr sz="5280" spc="-105"/>
            </a:lvl1pPr>
          </a:lstStyle>
          <a:p>
            <a:r>
              <a:rPr dirty="0"/>
              <a:t>Potential problems </a:t>
            </a:r>
          </a:p>
        </p:txBody>
      </p:sp>
      <p:pic>
        <p:nvPicPr>
          <p:cNvPr id="207" name="pasted-image.tiff" descr="pasted-image.tiff"/>
          <p:cNvPicPr>
            <a:picLocks noChangeAspect="1"/>
          </p:cNvPicPr>
          <p:nvPr/>
        </p:nvPicPr>
        <p:blipFill>
          <a:blip r:embed="rId2"/>
          <a:stretch>
            <a:fillRect/>
          </a:stretch>
        </p:blipFill>
        <p:spPr>
          <a:xfrm>
            <a:off x="3035300" y="4308295"/>
            <a:ext cx="6934200" cy="5245101"/>
          </a:xfrm>
          <a:prstGeom prst="rect">
            <a:avLst/>
          </a:prstGeom>
          <a:ln w="12700">
            <a:miter lim="400000"/>
          </a:ln>
        </p:spPr>
      </p:pic>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Soft Margin SVM"/>
          <p:cNvSpPr txBox="1">
            <a:spLocks noGrp="1"/>
          </p:cNvSpPr>
          <p:nvPr>
            <p:ph type="title"/>
          </p:nvPr>
        </p:nvSpPr>
        <p:spPr>
          <a:prstGeom prst="rect">
            <a:avLst/>
          </a:prstGeom>
        </p:spPr>
        <p:txBody>
          <a:bodyPr/>
          <a:lstStyle/>
          <a:p>
            <a:r>
              <a:t>Soft Margin SVM</a:t>
            </a: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In this case, a natural generalization would be to allow some points to spill into the “street” or margin"/>
          <p:cNvSpPr txBox="1">
            <a:spLocks noGrp="1"/>
          </p:cNvSpPr>
          <p:nvPr>
            <p:ph type="body" sz="half" idx="1"/>
          </p:nvPr>
        </p:nvSpPr>
        <p:spPr>
          <a:xfrm>
            <a:off x="698500" y="1924756"/>
            <a:ext cx="11607800" cy="2405122"/>
          </a:xfrm>
          <a:prstGeom prst="rect">
            <a:avLst/>
          </a:prstGeom>
        </p:spPr>
        <p:txBody>
          <a:bodyPr/>
          <a:lstStyle/>
          <a:p>
            <a:r>
              <a:t>In this case, a natural generalization would be to allow some points to spill into the “street” or margin</a:t>
            </a:r>
          </a:p>
        </p:txBody>
      </p:sp>
      <p:sp>
        <p:nvSpPr>
          <p:cNvPr id="212" name="Potential problems"/>
          <p:cNvSpPr txBox="1">
            <a:spLocks noGrp="1"/>
          </p:cNvSpPr>
          <p:nvPr>
            <p:ph type="title"/>
          </p:nvPr>
        </p:nvSpPr>
        <p:spPr>
          <a:prstGeom prst="rect">
            <a:avLst/>
          </a:prstGeom>
        </p:spPr>
        <p:txBody>
          <a:bodyPr/>
          <a:lstStyle>
            <a:lvl1pPr defTabSz="1525858">
              <a:defRPr sz="5280" spc="-105"/>
            </a:lvl1pPr>
          </a:lstStyle>
          <a:p>
            <a:r>
              <a:t>Potential problems </a:t>
            </a:r>
          </a:p>
        </p:txBody>
      </p:sp>
      <p:pic>
        <p:nvPicPr>
          <p:cNvPr id="213" name="pasted-image.tiff" descr="pasted-image.tiff"/>
          <p:cNvPicPr>
            <a:picLocks noChangeAspect="1"/>
          </p:cNvPicPr>
          <p:nvPr/>
        </p:nvPicPr>
        <p:blipFill>
          <a:blip r:embed="rId2"/>
          <a:stretch>
            <a:fillRect/>
          </a:stretch>
        </p:blipFill>
        <p:spPr>
          <a:xfrm>
            <a:off x="3035300" y="4306173"/>
            <a:ext cx="6934200" cy="5245101"/>
          </a:xfrm>
          <a:prstGeom prst="rect">
            <a:avLst/>
          </a:prstGeom>
          <a:ln w="12700">
            <a:miter lim="400000"/>
          </a:ln>
        </p:spPr>
      </p:pic>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Hyper-parameter C controls the width of the road and the amount of over-spill that is allowed…"/>
          <p:cNvSpPr txBox="1">
            <a:spLocks noGrp="1"/>
          </p:cNvSpPr>
          <p:nvPr>
            <p:ph type="body" sz="half" idx="1"/>
          </p:nvPr>
        </p:nvSpPr>
        <p:spPr>
          <a:xfrm>
            <a:off x="698500" y="1924756"/>
            <a:ext cx="11607800" cy="3823800"/>
          </a:xfrm>
          <a:prstGeom prst="rect">
            <a:avLst/>
          </a:prstGeom>
        </p:spPr>
        <p:txBody>
          <a:bodyPr/>
          <a:lstStyle/>
          <a:p>
            <a:r>
              <a:t>Hyper-parameter </a:t>
            </a:r>
            <a:r>
              <a:rPr b="1">
                <a:latin typeface="Courier New"/>
                <a:ea typeface="Courier New"/>
                <a:cs typeface="Courier New"/>
                <a:sym typeface="Courier New"/>
              </a:rPr>
              <a:t>C</a:t>
            </a:r>
            <a:r>
              <a:t> controls the width of the road and the amount of over-spill that is allowed</a:t>
            </a:r>
          </a:p>
          <a:p>
            <a:r>
              <a:t>When </a:t>
            </a:r>
            <a:r>
              <a:rPr b="1">
                <a:latin typeface="Courier"/>
                <a:ea typeface="Courier"/>
                <a:cs typeface="Courier"/>
                <a:sym typeface="Courier"/>
              </a:rPr>
              <a:t>C</a:t>
            </a:r>
            <a:r>
              <a:t> is small, the margin is wider and more points are involved in determining the direction of the boundary </a:t>
            </a:r>
          </a:p>
        </p:txBody>
      </p:sp>
      <p:sp>
        <p:nvSpPr>
          <p:cNvPr id="216" name="Support Vector Classifier  (Soft margin)"/>
          <p:cNvSpPr txBox="1">
            <a:spLocks noGrp="1"/>
          </p:cNvSpPr>
          <p:nvPr>
            <p:ph type="title"/>
          </p:nvPr>
        </p:nvSpPr>
        <p:spPr>
          <a:prstGeom prst="rect">
            <a:avLst/>
          </a:prstGeom>
        </p:spPr>
        <p:txBody>
          <a:bodyPr/>
          <a:lstStyle>
            <a:lvl1pPr defTabSz="1525858">
              <a:defRPr sz="5280" spc="-105"/>
            </a:lvl1pPr>
          </a:lstStyle>
          <a:p>
            <a:r>
              <a:t>Support Vector Classifier  (Soft margin) </a:t>
            </a:r>
          </a:p>
        </p:txBody>
      </p:sp>
      <p:pic>
        <p:nvPicPr>
          <p:cNvPr id="217" name="pasted-image.tiff" descr="pasted-image.tiff"/>
          <p:cNvPicPr>
            <a:picLocks noChangeAspect="1"/>
          </p:cNvPicPr>
          <p:nvPr/>
        </p:nvPicPr>
        <p:blipFill>
          <a:blip r:embed="rId2"/>
          <a:stretch>
            <a:fillRect/>
          </a:stretch>
        </p:blipFill>
        <p:spPr>
          <a:xfrm>
            <a:off x="8517587" y="6217045"/>
            <a:ext cx="4483057" cy="3391031"/>
          </a:xfrm>
          <a:prstGeom prst="rect">
            <a:avLst/>
          </a:prstGeom>
          <a:ln w="12700">
            <a:miter lim="400000"/>
          </a:ln>
        </p:spPr>
      </p:pic>
      <p:pic>
        <p:nvPicPr>
          <p:cNvPr id="218" name="pasted-image.tiff" descr="pasted-image.tiff"/>
          <p:cNvPicPr>
            <a:picLocks noChangeAspect="1"/>
          </p:cNvPicPr>
          <p:nvPr/>
        </p:nvPicPr>
        <p:blipFill>
          <a:blip r:embed="rId3"/>
          <a:stretch>
            <a:fillRect/>
          </a:stretch>
        </p:blipFill>
        <p:spPr>
          <a:xfrm>
            <a:off x="4282655" y="6217045"/>
            <a:ext cx="4483057" cy="3391031"/>
          </a:xfrm>
          <a:prstGeom prst="rect">
            <a:avLst/>
          </a:prstGeom>
          <a:ln w="12700">
            <a:miter lim="400000"/>
          </a:ln>
        </p:spPr>
      </p:pic>
      <p:sp>
        <p:nvSpPr>
          <p:cNvPr id="219" name="C=1"/>
          <p:cNvSpPr txBox="1"/>
          <p:nvPr/>
        </p:nvSpPr>
        <p:spPr>
          <a:xfrm>
            <a:off x="6232037" y="5634482"/>
            <a:ext cx="685894" cy="469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2500">
                <a:solidFill>
                  <a:srgbClr val="000000"/>
                </a:solidFill>
                <a:latin typeface="Courier New"/>
                <a:ea typeface="Courier New"/>
                <a:cs typeface="Courier New"/>
                <a:sym typeface="Courier New"/>
              </a:defRPr>
            </a:lvl1pPr>
          </a:lstStyle>
          <a:p>
            <a:r>
              <a:t>C=1</a:t>
            </a:r>
          </a:p>
        </p:txBody>
      </p:sp>
      <p:sp>
        <p:nvSpPr>
          <p:cNvPr id="220" name="C=10"/>
          <p:cNvSpPr txBox="1"/>
          <p:nvPr/>
        </p:nvSpPr>
        <p:spPr>
          <a:xfrm>
            <a:off x="10320903" y="5634482"/>
            <a:ext cx="876425" cy="469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2500">
                <a:solidFill>
                  <a:srgbClr val="000000"/>
                </a:solidFill>
                <a:latin typeface="Courier New"/>
                <a:ea typeface="Courier New"/>
                <a:cs typeface="Courier New"/>
                <a:sym typeface="Courier New"/>
              </a:defRPr>
            </a:lvl1pPr>
          </a:lstStyle>
          <a:p>
            <a:r>
              <a:t>C=10</a:t>
            </a:r>
          </a:p>
        </p:txBody>
      </p:sp>
      <p:pic>
        <p:nvPicPr>
          <p:cNvPr id="221" name="pasted-image.tiff" descr="pasted-image.tiff"/>
          <p:cNvPicPr>
            <a:picLocks noChangeAspect="1"/>
          </p:cNvPicPr>
          <p:nvPr/>
        </p:nvPicPr>
        <p:blipFill>
          <a:blip r:embed="rId4"/>
          <a:stretch>
            <a:fillRect/>
          </a:stretch>
        </p:blipFill>
        <p:spPr>
          <a:xfrm>
            <a:off x="4156" y="6217045"/>
            <a:ext cx="4483057" cy="3391031"/>
          </a:xfrm>
          <a:prstGeom prst="rect">
            <a:avLst/>
          </a:prstGeom>
          <a:ln w="12700">
            <a:miter lim="400000"/>
          </a:ln>
        </p:spPr>
      </p:pic>
      <p:sp>
        <p:nvSpPr>
          <p:cNvPr id="222" name="C=0.1"/>
          <p:cNvSpPr txBox="1"/>
          <p:nvPr/>
        </p:nvSpPr>
        <p:spPr>
          <a:xfrm>
            <a:off x="1902738" y="5634482"/>
            <a:ext cx="1066956" cy="469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2500">
                <a:solidFill>
                  <a:srgbClr val="000000"/>
                </a:solidFill>
                <a:latin typeface="Courier New"/>
                <a:ea typeface="Courier New"/>
                <a:cs typeface="Courier New"/>
                <a:sym typeface="Courier New"/>
              </a:defRPr>
            </a:lvl1pPr>
          </a:lstStyle>
          <a:p>
            <a:r>
              <a:t>C=0.1</a:t>
            </a:r>
          </a:p>
        </p:txBody>
      </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E1D5A62B-6880-8289-9C7A-888AE45923C2}"/>
                  </a:ext>
                </a:extLst>
              </p14:cNvPr>
              <p14:cNvContentPartPr/>
              <p14:nvPr/>
            </p14:nvContentPartPr>
            <p14:xfrm>
              <a:off x="7066800" y="7026480"/>
              <a:ext cx="360" cy="360"/>
            </p14:xfrm>
          </p:contentPart>
        </mc:Choice>
        <mc:Fallback xmlns="">
          <p:pic>
            <p:nvPicPr>
              <p:cNvPr id="2" name="Ink 1">
                <a:extLst>
                  <a:ext uri="{FF2B5EF4-FFF2-40B4-BE49-F238E27FC236}">
                    <a16:creationId xmlns:a16="http://schemas.microsoft.com/office/drawing/2014/main" id="{E1D5A62B-6880-8289-9C7A-888AE45923C2}"/>
                  </a:ext>
                </a:extLst>
              </p:cNvPr>
              <p:cNvPicPr/>
              <p:nvPr/>
            </p:nvPicPr>
            <p:blipFill>
              <a:blip r:embed="rId6"/>
              <a:stretch>
                <a:fillRect/>
              </a:stretch>
            </p:blipFill>
            <p:spPr>
              <a:xfrm>
                <a:off x="7057440" y="7017120"/>
                <a:ext cx="19080" cy="19080"/>
              </a:xfrm>
              <a:prstGeom prst="rect">
                <a:avLst/>
              </a:prstGeom>
            </p:spPr>
          </p:pic>
        </mc:Fallback>
      </mc:AlternateContent>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24" name="In soft margin SVM, we introduce slack variables,…"/>
              <p:cNvSpPr txBox="1">
                <a:spLocks noGrp="1"/>
              </p:cNvSpPr>
              <p:nvPr>
                <p:ph type="body" idx="1"/>
              </p:nvPr>
            </p:nvSpPr>
            <p:spPr>
              <a:xfrm>
                <a:off x="542791" y="1924756"/>
                <a:ext cx="11763509" cy="7640537"/>
              </a:xfrm>
              <a:prstGeom prst="rect">
                <a:avLst/>
              </a:prstGeom>
            </p:spPr>
            <p:txBody>
              <a:bodyPr wrap="square"/>
              <a:lstStyle/>
              <a:p>
                <a14:m>
                  <m:oMath xmlns:m="http://schemas.openxmlformats.org/officeDocument/2006/math">
                    <m:sSub>
                      <m:sSubPr>
                        <m:ctrlPr>
                          <a:rPr lang="ar-AE" sz="3250" i="1">
                            <a:solidFill>
                              <a:srgbClr val="000000"/>
                            </a:solidFill>
                            <a:latin typeface="Cambria Math" panose="02040503050406030204" pitchFamily="18" charset="0"/>
                          </a:rPr>
                        </m:ctrlPr>
                      </m:sSubPr>
                      <m:e>
                        <m:r>
                          <a:rPr lang="ar-AE" sz="3250" i="1">
                            <a:solidFill>
                              <a:srgbClr val="000000"/>
                            </a:solidFill>
                            <a:latin typeface="Cambria Math" panose="02040503050406030204" pitchFamily="18" charset="0"/>
                          </a:rPr>
                          <m:t>𝜉</m:t>
                        </m:r>
                      </m:e>
                      <m:sub>
                        <m:r>
                          <a:rPr lang="ar-AE" sz="3250" i="1">
                            <a:solidFill>
                              <a:srgbClr val="000000"/>
                            </a:solidFill>
                            <a:latin typeface="Cambria Math" panose="02040503050406030204" pitchFamily="18" charset="0"/>
                          </a:rPr>
                          <m:t>𝑖</m:t>
                        </m:r>
                      </m:sub>
                    </m:sSub>
                  </m:oMath>
                </a14:m>
                <a:r>
                  <a:rPr lang="en-US"/>
                  <a:t>Let f(x) = wᵀx + b. The two </a:t>
                </a:r>
                <a:r>
                  <a:rPr dirty="0"/>
                  <a:t>margin </a:t>
                </a:r>
                <a:r>
                  <a:rPr lang="en-US"/>
                  <a:t>edges have scores −1 and +1.</a:t>
                </a:r>
              </a:p>
              <a:p>
                <a:r>
                  <a:rPr lang="en-US"/>
                  <a:t>At the optimum</a:t>
                </a:r>
                <a:r>
                  <a:rPr dirty="0"/>
                  <a:t>, </a:t>
                </a:r>
                <a:r>
                  <a:rPr lang="el-GR"/>
                  <a:t>ξ</a:t>
                </a:r>
                <a:r>
                  <a:rPr lang="en-US"/>
                  <a:t>ᵢ = max(0</a:t>
                </a:r>
                <a:r>
                  <a:rPr dirty="0"/>
                  <a:t>, </a:t>
                </a:r>
                <a:r>
                  <a:rPr lang="en-US"/>
                  <a:t>1 − yᵢf(xᵢ)). Slack </a:t>
                </a:r>
                <a:r>
                  <a:rPr dirty="0"/>
                  <a:t>measures the </a:t>
                </a:r>
                <a:r>
                  <a:rPr lang="en-US"/>
                  <a:t>shortfall from </a:t>
                </a:r>
                <a:r>
                  <a:rPr dirty="0"/>
                  <a:t>the </a:t>
                </a:r>
                <a:r>
                  <a:rPr lang="en-US"/>
                  <a:t>correct </a:t>
                </a:r>
                <a:r>
                  <a:rPr dirty="0"/>
                  <a:t>margin </a:t>
                </a:r>
                <a:r>
                  <a:rPr lang="en-US"/>
                  <a:t>edge.</a:t>
                </a:r>
                <a:endParaRPr dirty="0"/>
              </a:p>
              <a:p>
                <a:r>
                  <a:rPr lang="el-GR"/>
                  <a:t>ξ</a:t>
                </a:r>
                <a:r>
                  <a:rPr lang="en-US"/>
                  <a:t>ᵢ = 0</a:t>
                </a:r>
                <a:r>
                  <a:rPr dirty="0"/>
                  <a:t>: </a:t>
                </a:r>
                <a:r>
                  <a:rPr lang="en-US"/>
                  <a:t>on or beyond </a:t>
                </a:r>
                <a:r>
                  <a:rPr dirty="0"/>
                  <a:t>the </a:t>
                </a:r>
                <a:r>
                  <a:rPr lang="en-US"/>
                  <a:t>correct </a:t>
                </a:r>
                <a:r>
                  <a:rPr dirty="0"/>
                  <a:t>margin</a:t>
                </a:r>
                <a:r>
                  <a:rPr lang="en-US"/>
                  <a:t> edge.
0 &lt; </a:t>
                </a:r>
                <a:r>
                  <a:rPr lang="el-GR"/>
                  <a:t>ξ</a:t>
                </a:r>
                <a:r>
                  <a:rPr lang="en-US"/>
                  <a:t>ᵢ &lt; 1</a:t>
                </a:r>
                <a:r>
                  <a:rPr dirty="0"/>
                  <a:t>: inside the </a:t>
                </a:r>
                <a:r>
                  <a:rPr lang="en-US"/>
                  <a:t>street, </a:t>
                </a:r>
                <a:r>
                  <a:rPr dirty="0"/>
                  <a:t>but </a:t>
                </a:r>
                <a:r>
                  <a:rPr lang="en-US"/>
                  <a:t>on the correct side.</a:t>
                </a:r>
              </a:p>
              <a:p>
                <a:r>
                  <a:rPr lang="en-US"/>
                  <a:t>ξᵢ = 1: on the decision boundary.
ξᵢ &gt; 1</a:t>
                </a:r>
                <a:r>
                  <a:rPr dirty="0"/>
                  <a:t>: </a:t>
                </a:r>
                <a:r>
                  <a:rPr lang="en-US"/>
                  <a:t>on the wrong side of the boundary.</a:t>
                </a:r>
              </a:p>
              <a:p>
                <a:r>
                  <a:rPr lang="en-US"/>
                  <a:t>For ξᵢ &gt; 0, the perpendicular shortfall </a:t>
                </a:r>
                <a:r>
                  <a:rPr dirty="0"/>
                  <a:t>is </a:t>
                </a:r>
                <a:r>
                  <a:rPr lang="en-US"/>
                  <a:t>ξᵢ/‖w‖. Slack itself uses score units.</a:t>
                </a:r>
              </a:p>
            </p:txBody>
          </p:sp>
        </mc:Choice>
        <mc:Fallback>
          <p:sp>
            <p:nvSpPr>
              <p:cNvPr id="224" name="In soft margin SVM, we introduce slack variables,…"/>
              <p:cNvSpPr txBox="1">
                <a:spLocks noGrp="1" noRot="1" noChangeAspect="1" noMove="1" noResize="1" noEditPoints="1" noAdjustHandles="1" noChangeArrowheads="1" noChangeShapeType="1" noTextEdit="1"/>
              </p:cNvSpPr>
              <p:nvPr>
                <p:ph type="body" idx="1"/>
              </p:nvPr>
            </p:nvSpPr>
            <p:spPr>
              <a:xfrm>
                <a:off x="542791" y="1924756"/>
                <a:ext cx="11763509" cy="7640537"/>
              </a:xfrm>
              <a:prstGeom prst="rect">
                <a:avLst/>
              </a:prstGeom>
              <a:blipFill>
                <a:blip r:embed="rId3"/>
                <a:stretch>
                  <a:fillRect l="-1295" t="-1197" r="-1658"/>
                </a:stretch>
              </a:blipFill>
            </p:spPr>
            <p:txBody>
              <a:bodyPr/>
              <a:lstStyle/>
              <a:p>
                <a:r>
                  <a:rPr lang="en-US">
                    <a:noFill/>
                  </a:rPr>
                  <a:t> </a:t>
                </a:r>
              </a:p>
            </p:txBody>
          </p:sp>
        </mc:Fallback>
      </mc:AlternateContent>
      <p:sp>
        <p:nvSpPr>
          <p:cNvPr id="225" name="Slack Variables"/>
          <p:cNvSpPr txBox="1">
            <a:spLocks noGrp="1"/>
          </p:cNvSpPr>
          <p:nvPr>
            <p:ph type="title"/>
          </p:nvPr>
        </p:nvSpPr>
        <p:spPr>
          <a:prstGeom prst="rect">
            <a:avLst/>
          </a:prstGeom>
        </p:spPr>
        <p:txBody>
          <a:bodyPr/>
          <a:lstStyle>
            <a:lvl1pPr defTabSz="1525858">
              <a:defRPr sz="5280" spc="-105"/>
            </a:lvl1pPr>
          </a:lstStyle>
          <a:p>
            <a:r>
              <a:t>Slack Variables</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76DD1C5-1827-E971-D503-4F5C0C4C6083}"/>
              </a:ext>
            </a:extLst>
          </p:cNvPr>
          <p:cNvSpPr>
            <a:spLocks noGrp="1"/>
          </p:cNvSpPr>
          <p:nvPr>
            <p:ph type="title"/>
          </p:nvPr>
        </p:nvSpPr>
        <p:spPr/>
        <p:txBody>
          <a:bodyPr/>
          <a:lstStyle/>
          <a:p>
            <a:r>
              <a:rPr lang="en-US" dirty="0"/>
              <a:t>Optimization w/ Slack Variables</a:t>
            </a:r>
          </a:p>
        </p:txBody>
      </p:sp>
      <p:pic>
        <p:nvPicPr>
          <p:cNvPr id="5" name="Picture 4">
            <a:extLst>
              <a:ext uri="{FF2B5EF4-FFF2-40B4-BE49-F238E27FC236}">
                <a16:creationId xmlns:a16="http://schemas.microsoft.com/office/drawing/2014/main" id="{7024FE20-8934-DB36-7F1F-7B57C7E0F2C5}"/>
              </a:ext>
            </a:extLst>
          </p:cNvPr>
          <p:cNvPicPr>
            <a:picLocks noChangeAspect="1"/>
          </p:cNvPicPr>
          <p:nvPr/>
        </p:nvPicPr>
        <p:blipFill>
          <a:blip r:embed="rId3"/>
          <a:stretch>
            <a:fillRect/>
          </a:stretch>
        </p:blipFill>
        <p:spPr>
          <a:xfrm>
            <a:off x="1120024" y="2985823"/>
            <a:ext cx="10764752" cy="3781953"/>
          </a:xfrm>
          <a:prstGeom prst="rect">
            <a:avLst/>
          </a:prstGeom>
        </p:spPr>
      </p:pic>
      <p:sp>
        <p:nvSpPr>
          <p:cNvPr id="6" name="TextBox 5"/>
          <p:cNvSpPr txBox="1"/>
          <p:nvPr/>
        </p:nvSpPr>
        <p:spPr>
          <a:xfrm>
            <a:off x="694944" y="1920240"/>
            <a:ext cx="11603736" cy="640080"/>
          </a:xfrm>
          <a:prstGeom prst="rect">
            <a:avLst/>
          </a:prstGeom>
          <a:noFill/>
        </p:spPr>
        <p:txBody>
          <a:bodyPr wrap="square">
            <a:spAutoFit/>
          </a:bodyPr>
          <a:lstStyle/>
          <a:p>
            <a:pPr>
              <a:lnSpc>
                <a:spcPct val="95000"/>
              </a:lnSpc>
              <a:defRPr sz="3000">
                <a:solidFill>
                  <a:srgbClr val="000000"/>
                </a:solidFill>
                <a:latin typeface="+mj-lt"/>
              </a:defRPr>
            </a:pPr>
            <a:r>
              <a:t>C &gt; 0 sets the cost of a margin violation.</a:t>
            </a:r>
          </a:p>
        </p:txBody>
      </p:sp>
      <p:sp>
        <p:nvSpPr>
          <p:cNvPr id="7" name="TextBox 6"/>
          <p:cNvSpPr txBox="1"/>
          <p:nvPr/>
        </p:nvSpPr>
        <p:spPr>
          <a:xfrm>
            <a:off x="694944" y="7086600"/>
            <a:ext cx="11603736" cy="1325880"/>
          </a:xfrm>
          <a:prstGeom prst="rect">
            <a:avLst/>
          </a:prstGeom>
          <a:noFill/>
        </p:spPr>
        <p:txBody>
          <a:bodyPr wrap="square">
            <a:spAutoFit/>
          </a:bodyPr>
          <a:lstStyle/>
          <a:p>
            <a:pPr>
              <a:lnSpc>
                <a:spcPct val="95000"/>
              </a:lnSpc>
              <a:defRPr sz="3000">
                <a:solidFill>
                  <a:srgbClr val="000000"/>
                </a:solidFill>
                <a:latin typeface="+mj-lt"/>
              </a:defRPr>
            </a:pPr>
            <a:r>
              <a:t>The first term favors a wider margin: total street width = 2/‖w‖.</a:t>
            </a:r>
            <a:br/>
            <a:r>
              <a:t>The second term charges C for each unit of slack.</a:t>
            </a:r>
          </a:p>
        </p:txBody>
      </p:sp>
    </p:spTree>
    <p:extLst>
      <p:ext uri="{BB962C8B-B14F-4D97-AF65-F5344CB8AC3E}">
        <p14:creationId xmlns:p14="http://schemas.microsoft.com/office/powerpoint/2010/main" val="2163697949"/>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The points inside the margin (or points wrongly misclassified, if any) are the support vectors…"/>
          <p:cNvSpPr txBox="1">
            <a:spLocks noGrp="1"/>
          </p:cNvSpPr>
          <p:nvPr>
            <p:ph type="body" idx="1"/>
          </p:nvPr>
        </p:nvSpPr>
        <p:spPr>
          <a:xfrm>
            <a:off x="698500" y="1924756"/>
            <a:ext cx="11607800" cy="7309643"/>
          </a:xfrm>
          <a:prstGeom prst="rect">
            <a:avLst/>
          </a:prstGeom>
        </p:spPr>
        <p:txBody>
          <a:bodyPr/>
          <a:lstStyle/>
          <a:p>
            <a:pPr marL="373380" indent="-373380" defTabSz="1699251">
              <a:spcBef>
                <a:spcPts val="3100"/>
              </a:spcBef>
              <a:defRPr sz="2940"/>
            </a:pPr>
            <a:r>
              <a:rPr dirty="0"/>
              <a:t>The points inside the margin (or points wrongly misclassified, if any) are the support vectors</a:t>
            </a:r>
          </a:p>
          <a:p>
            <a:pPr marL="995680" lvl="1" indent="-373380" defTabSz="1699251">
              <a:spcBef>
                <a:spcPts val="3100"/>
              </a:spcBef>
              <a:defRPr sz="2940" b="1"/>
            </a:pPr>
            <a:r>
              <a:rPr dirty="0"/>
              <a:t>Only these points effect the decision boundary</a:t>
            </a:r>
            <a:br>
              <a:rPr dirty="0"/>
            </a:br>
            <a:r>
              <a:rPr dirty="0"/>
              <a:t>(the support vectors influence the position and orientation of the hyperplane)  </a:t>
            </a:r>
          </a:p>
          <a:p>
            <a:pPr marL="995680" lvl="1" indent="-373380" defTabSz="1699251">
              <a:spcBef>
                <a:spcPts val="3100"/>
              </a:spcBef>
              <a:defRPr sz="2940"/>
            </a:pPr>
            <a:r>
              <a:rPr dirty="0"/>
              <a:t>When C is small, the street is wider so more points are involved in making the decision boundary </a:t>
            </a:r>
          </a:p>
          <a:p>
            <a:pPr marL="1617980" lvl="2" indent="-373380" defTabSz="1699251">
              <a:spcBef>
                <a:spcPts val="3100"/>
              </a:spcBef>
              <a:defRPr sz="2940"/>
            </a:pPr>
            <a:r>
              <a:rPr dirty="0"/>
              <a:t>Can lead to underfitting</a:t>
            </a:r>
          </a:p>
          <a:p>
            <a:pPr marL="995680" lvl="1" indent="-373380" defTabSz="1699251">
              <a:spcBef>
                <a:spcPts val="3100"/>
              </a:spcBef>
              <a:defRPr sz="2940"/>
            </a:pPr>
            <a:r>
              <a:rPr dirty="0"/>
              <a:t>When C is large, the street more narrow so fewer points are involved in making the decision boundary </a:t>
            </a:r>
          </a:p>
          <a:p>
            <a:pPr marL="1617980" lvl="2" indent="-373380" defTabSz="1699251">
              <a:spcBef>
                <a:spcPts val="3100"/>
              </a:spcBef>
              <a:defRPr sz="2940"/>
            </a:pPr>
            <a:r>
              <a:rPr dirty="0"/>
              <a:t>Can lead to overfitting</a:t>
            </a:r>
          </a:p>
        </p:txBody>
      </p:sp>
      <p:sp>
        <p:nvSpPr>
          <p:cNvPr id="231" name="Support Vectors"/>
          <p:cNvSpPr txBox="1">
            <a:spLocks noGrp="1"/>
          </p:cNvSpPr>
          <p:nvPr>
            <p:ph type="title"/>
          </p:nvPr>
        </p:nvSpPr>
        <p:spPr>
          <a:prstGeom prst="rect">
            <a:avLst/>
          </a:prstGeom>
        </p:spPr>
        <p:txBody>
          <a:bodyPr/>
          <a:lstStyle>
            <a:lvl1pPr defTabSz="1525858">
              <a:defRPr sz="5280" spc="-105"/>
            </a:lvl1pPr>
          </a:lstStyle>
          <a:p>
            <a:r>
              <a:t>Support Vectors</a:t>
            </a: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Non-linearly separable data"/>
          <p:cNvSpPr txBox="1">
            <a:spLocks noGrp="1"/>
          </p:cNvSpPr>
          <p:nvPr>
            <p:ph type="title"/>
          </p:nvPr>
        </p:nvSpPr>
        <p:spPr>
          <a:prstGeom prst="rect">
            <a:avLst/>
          </a:prstGeom>
        </p:spPr>
        <p:txBody>
          <a:bodyPr/>
          <a:lstStyle/>
          <a:p>
            <a:r>
              <a:t>Non-linearly separable data</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Non-linearly Separable"/>
          <p:cNvSpPr txBox="1">
            <a:spLocks noGrp="1"/>
          </p:cNvSpPr>
          <p:nvPr>
            <p:ph type="title"/>
          </p:nvPr>
        </p:nvSpPr>
        <p:spPr>
          <a:prstGeom prst="rect">
            <a:avLst/>
          </a:prstGeom>
        </p:spPr>
        <p:txBody>
          <a:bodyPr/>
          <a:lstStyle>
            <a:lvl1pPr defTabSz="1525858">
              <a:defRPr sz="5280" spc="-105"/>
            </a:lvl1pPr>
          </a:lstStyle>
          <a:p>
            <a:r>
              <a:t>Non-linearly Separable </a:t>
            </a:r>
          </a:p>
        </p:txBody>
      </p:sp>
      <p:sp>
        <p:nvSpPr>
          <p:cNvPr id="236" name="Now what happens if the classes aren’t linearly separable"/>
          <p:cNvSpPr txBox="1">
            <a:spLocks noGrp="1"/>
          </p:cNvSpPr>
          <p:nvPr>
            <p:ph type="body" sz="half" idx="4294967295"/>
          </p:nvPr>
        </p:nvSpPr>
        <p:spPr>
          <a:xfrm>
            <a:off x="698500" y="1924756"/>
            <a:ext cx="11607800" cy="3076175"/>
          </a:xfrm>
          <a:prstGeom prst="rect">
            <a:avLst/>
          </a:prstGeom>
        </p:spPr>
        <p:txBody>
          <a:bodyPr/>
          <a:lstStyle/>
          <a:p>
            <a:r>
              <a:t>Now what happens if the classes aren’t linearly separable</a:t>
            </a:r>
          </a:p>
        </p:txBody>
      </p:sp>
      <p:pic>
        <p:nvPicPr>
          <p:cNvPr id="237" name="pasted-image.tiff" descr="pasted-image.tiff"/>
          <p:cNvPicPr>
            <a:picLocks noChangeAspect="1"/>
          </p:cNvPicPr>
          <p:nvPr/>
        </p:nvPicPr>
        <p:blipFill>
          <a:blip r:embed="rId2"/>
          <a:stretch>
            <a:fillRect/>
          </a:stretch>
        </p:blipFill>
        <p:spPr>
          <a:xfrm>
            <a:off x="2754090" y="3973992"/>
            <a:ext cx="7496620" cy="5450888"/>
          </a:xfrm>
          <a:prstGeom prst="rect">
            <a:avLst/>
          </a:prstGeom>
          <a:ln w="12700">
            <a:miter lim="400000"/>
          </a:ln>
        </p:spPr>
      </p:pic>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Non-linearly Separable"/>
          <p:cNvSpPr txBox="1">
            <a:spLocks noGrp="1"/>
          </p:cNvSpPr>
          <p:nvPr>
            <p:ph type="title"/>
          </p:nvPr>
        </p:nvSpPr>
        <p:spPr>
          <a:prstGeom prst="rect">
            <a:avLst/>
          </a:prstGeom>
        </p:spPr>
        <p:txBody>
          <a:bodyPr/>
          <a:lstStyle>
            <a:lvl1pPr defTabSz="1525858">
              <a:defRPr sz="5280" spc="-105"/>
            </a:lvl1pPr>
          </a:lstStyle>
          <a:p>
            <a:r>
              <a:t>Non-linearly Separable </a:t>
            </a:r>
          </a:p>
        </p:txBody>
      </p:sp>
      <p:sp>
        <p:nvSpPr>
          <p:cNvPr id="240" name="One possibility is to add polynomials terms to a linear model (e.g. logistic regression)"/>
          <p:cNvSpPr txBox="1">
            <a:spLocks noGrp="1"/>
          </p:cNvSpPr>
          <p:nvPr>
            <p:ph type="body" sz="half" idx="4294967295"/>
          </p:nvPr>
        </p:nvSpPr>
        <p:spPr>
          <a:xfrm>
            <a:off x="698500" y="1924756"/>
            <a:ext cx="11607800" cy="3076175"/>
          </a:xfrm>
          <a:prstGeom prst="rect">
            <a:avLst/>
          </a:prstGeom>
        </p:spPr>
        <p:txBody>
          <a:bodyPr/>
          <a:lstStyle/>
          <a:p>
            <a:r>
              <a:t>One possibility is to add polynomials terms to a linear model (e.g. logistic regression)</a:t>
            </a:r>
          </a:p>
        </p:txBody>
      </p:sp>
      <p:pic>
        <p:nvPicPr>
          <p:cNvPr id="241" name="pasted-image.tiff" descr="pasted-image.tiff"/>
          <p:cNvPicPr>
            <a:picLocks noChangeAspect="1"/>
          </p:cNvPicPr>
          <p:nvPr/>
        </p:nvPicPr>
        <p:blipFill>
          <a:blip r:embed="rId2"/>
          <a:stretch>
            <a:fillRect/>
          </a:stretch>
        </p:blipFill>
        <p:spPr>
          <a:xfrm>
            <a:off x="2754090" y="3973992"/>
            <a:ext cx="7496620" cy="5450888"/>
          </a:xfrm>
          <a:prstGeom prst="rect">
            <a:avLst/>
          </a:prstGeom>
          <a:ln w="12700">
            <a:miter lim="400000"/>
          </a:ln>
        </p:spPr>
      </p:pic>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Non-linearly Separable"/>
          <p:cNvSpPr txBox="1">
            <a:spLocks noGrp="1"/>
          </p:cNvSpPr>
          <p:nvPr>
            <p:ph type="title"/>
          </p:nvPr>
        </p:nvSpPr>
        <p:spPr>
          <a:prstGeom prst="rect">
            <a:avLst/>
          </a:prstGeom>
        </p:spPr>
        <p:txBody>
          <a:bodyPr/>
          <a:lstStyle>
            <a:lvl1pPr defTabSz="1525858">
              <a:defRPr sz="5280" spc="-105"/>
            </a:lvl1pPr>
          </a:lstStyle>
          <a:p>
            <a:r>
              <a:t>Non-linearly Separable </a:t>
            </a:r>
          </a:p>
        </p:txBody>
      </p:sp>
      <p:sp>
        <p:nvSpPr>
          <p:cNvPr id="244" name="This is the decision boundary of a logistic regression model after adding 4th order polynomials to the feature matrix"/>
          <p:cNvSpPr txBox="1">
            <a:spLocks noGrp="1"/>
          </p:cNvSpPr>
          <p:nvPr>
            <p:ph type="body" sz="quarter" idx="4294967295"/>
          </p:nvPr>
        </p:nvSpPr>
        <p:spPr>
          <a:xfrm>
            <a:off x="698500" y="1924756"/>
            <a:ext cx="11607800" cy="1927859"/>
          </a:xfrm>
          <a:prstGeom prst="rect">
            <a:avLst/>
          </a:prstGeom>
        </p:spPr>
        <p:txBody>
          <a:bodyPr/>
          <a:lstStyle/>
          <a:p>
            <a:r>
              <a:rPr dirty="0"/>
              <a:t>This is the decision boundary of a logistic regression model after adding 4th order polynomials to the feature matrix</a:t>
            </a:r>
          </a:p>
        </p:txBody>
      </p:sp>
      <p:pic>
        <p:nvPicPr>
          <p:cNvPr id="245" name="pasted-image.tiff" descr="pasted-image.tiff"/>
          <p:cNvPicPr>
            <a:picLocks noChangeAspect="1"/>
          </p:cNvPicPr>
          <p:nvPr/>
        </p:nvPicPr>
        <p:blipFill>
          <a:blip r:embed="rId2"/>
          <a:stretch>
            <a:fillRect/>
          </a:stretch>
        </p:blipFill>
        <p:spPr>
          <a:xfrm>
            <a:off x="2754151" y="3761941"/>
            <a:ext cx="7496498" cy="5806768"/>
          </a:xfrm>
          <a:prstGeom prst="rect">
            <a:avLst/>
          </a:prstGeom>
          <a:ln w="12700">
            <a:miter lim="400000"/>
          </a:ln>
        </p:spPr>
      </p:pic>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47" name="Here we can visualize how adding higher dimensions can create linear separability…"/>
              <p:cNvSpPr txBox="1">
                <a:spLocks noGrp="1"/>
              </p:cNvSpPr>
              <p:nvPr>
                <p:ph type="body" idx="1"/>
              </p:nvPr>
            </p:nvSpPr>
            <p:spPr>
              <a:xfrm>
                <a:off x="698500" y="1710266"/>
                <a:ext cx="11607800" cy="7640537"/>
              </a:xfrm>
              <a:prstGeom prst="rect">
                <a:avLst/>
              </a:prstGeom>
            </p:spPr>
            <p:txBody>
              <a:bodyPr/>
              <a:lstStyle/>
              <a:p>
                <a:r>
                  <a:t>Here we can visualize how adding higher dimensions can create linear separability </a:t>
                </a:r>
              </a:p>
              <a:p>
                <a:pPr lvl="1"/>
                <a:r>
                  <a:t>In 1-dimension the data is not linearly separable </a:t>
                </a:r>
              </a:p>
              <a:p>
                <a:pPr lvl="1"/>
                <a:r>
                  <a:t>After applying the transformation </a:t>
                </a:r>
                <a14:m>
                  <m:oMath xmlns:m="http://schemas.openxmlformats.org/officeDocument/2006/math">
                    <m:r>
                      <a:rPr sz="3250" i="1">
                        <a:solidFill>
                          <a:srgbClr val="000000"/>
                        </a:solidFill>
                        <a:latin typeface="Cambria Math" panose="02040503050406030204" pitchFamily="18" charset="0"/>
                      </a:rPr>
                      <m:t>𝜙</m:t>
                    </m:r>
                    <m:r>
                      <a:rPr sz="3250" i="1">
                        <a:solidFill>
                          <a:srgbClr val="000000"/>
                        </a:solidFill>
                        <a:latin typeface="Cambria Math" panose="02040503050406030204" pitchFamily="18" charset="0"/>
                      </a:rPr>
                      <m:t>(</m:t>
                    </m:r>
                    <m:r>
                      <a:rPr sz="3250" i="1">
                        <a:solidFill>
                          <a:srgbClr val="000000"/>
                        </a:solidFill>
                        <a:latin typeface="Cambria Math" panose="02040503050406030204" pitchFamily="18" charset="0"/>
                      </a:rPr>
                      <m:t>𝑥</m:t>
                    </m:r>
                    <m:r>
                      <a:rPr sz="3250" i="1">
                        <a:solidFill>
                          <a:srgbClr val="000000"/>
                        </a:solidFill>
                        <a:latin typeface="Cambria Math" panose="02040503050406030204" pitchFamily="18" charset="0"/>
                      </a:rPr>
                      <m:t>)=</m:t>
                    </m:r>
                    <m:sSup>
                      <m:sSupPr>
                        <m:ctrlPr>
                          <a:rPr sz="3250" i="1">
                            <a:solidFill>
                              <a:srgbClr val="000000"/>
                            </a:solidFill>
                            <a:latin typeface="Cambria Math" panose="02040503050406030204" pitchFamily="18" charset="0"/>
                          </a:rPr>
                        </m:ctrlPr>
                      </m:sSupPr>
                      <m:e>
                        <m:r>
                          <a:rPr sz="3250" i="1">
                            <a:solidFill>
                              <a:srgbClr val="000000"/>
                            </a:solidFill>
                            <a:latin typeface="Cambria Math" panose="02040503050406030204" pitchFamily="18" charset="0"/>
                          </a:rPr>
                          <m:t>𝑥</m:t>
                        </m:r>
                      </m:e>
                      <m:sup>
                        <m:r>
                          <a:rPr sz="3250" i="1">
                            <a:solidFill>
                              <a:srgbClr val="000000"/>
                            </a:solidFill>
                            <a:latin typeface="Cambria Math" panose="02040503050406030204" pitchFamily="18" charset="0"/>
                          </a:rPr>
                          <m:t>2</m:t>
                        </m:r>
                      </m:sup>
                    </m:sSup>
                  </m:oMath>
                </a14:m>
                <a:r>
                  <a:t> we have linear separation</a:t>
                </a:r>
              </a:p>
            </p:txBody>
          </p:sp>
        </mc:Choice>
        <mc:Fallback xmlns="">
          <p:sp>
            <p:nvSpPr>
              <p:cNvPr id="247" name="Here we can visualize how adding higher dimensions can create linear separability…"/>
              <p:cNvSpPr txBox="1">
                <a:spLocks noGrp="1" noRot="1" noChangeAspect="1" noMove="1" noResize="1" noEditPoints="1" noAdjustHandles="1" noChangeArrowheads="1" noChangeShapeType="1" noTextEdit="1"/>
              </p:cNvSpPr>
              <p:nvPr>
                <p:ph type="body" idx="1"/>
              </p:nvPr>
            </p:nvSpPr>
            <p:spPr>
              <a:xfrm>
                <a:off x="698500" y="1710266"/>
                <a:ext cx="11607800" cy="7640537"/>
              </a:xfrm>
              <a:prstGeom prst="rect">
                <a:avLst/>
              </a:prstGeom>
              <a:blipFill>
                <a:blip r:embed="rId2"/>
                <a:stretch>
                  <a:fillRect l="-1313" t="-1596"/>
                </a:stretch>
              </a:blipFill>
            </p:spPr>
            <p:txBody>
              <a:bodyPr/>
              <a:lstStyle/>
              <a:p>
                <a:r>
                  <a:rPr lang="en-US">
                    <a:noFill/>
                  </a:rPr>
                  <a:t> </a:t>
                </a:r>
              </a:p>
            </p:txBody>
          </p:sp>
        </mc:Fallback>
      </mc:AlternateContent>
      <p:sp>
        <p:nvSpPr>
          <p:cNvPr id="248" name="Examples"/>
          <p:cNvSpPr txBox="1">
            <a:spLocks noGrp="1"/>
          </p:cNvSpPr>
          <p:nvPr>
            <p:ph type="title"/>
          </p:nvPr>
        </p:nvSpPr>
        <p:spPr>
          <a:prstGeom prst="rect">
            <a:avLst/>
          </a:prstGeom>
        </p:spPr>
        <p:txBody>
          <a:bodyPr/>
          <a:lstStyle>
            <a:lvl1pPr defTabSz="1525858">
              <a:defRPr sz="5280" spc="-105"/>
            </a:lvl1pPr>
          </a:lstStyle>
          <a:p>
            <a:r>
              <a:t>Examples</a:t>
            </a:r>
          </a:p>
        </p:txBody>
      </p:sp>
      <p:pic>
        <p:nvPicPr>
          <p:cNvPr id="249" name="pasted-image.tiff" descr="pasted-image.tiff"/>
          <p:cNvPicPr>
            <a:picLocks noChangeAspect="1"/>
          </p:cNvPicPr>
          <p:nvPr/>
        </p:nvPicPr>
        <p:blipFill>
          <a:blip r:embed="rId3"/>
          <a:stretch>
            <a:fillRect/>
          </a:stretch>
        </p:blipFill>
        <p:spPr>
          <a:xfrm>
            <a:off x="1460500" y="6149806"/>
            <a:ext cx="10083800" cy="3479801"/>
          </a:xfrm>
          <a:prstGeom prst="rect">
            <a:avLst/>
          </a:prstGeom>
          <a:ln w="12700">
            <a:miter lim="400000"/>
          </a:ln>
        </p:spPr>
      </p:pic>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 name="Another Example"/>
          <p:cNvSpPr txBox="1">
            <a:spLocks noGrp="1"/>
          </p:cNvSpPr>
          <p:nvPr>
            <p:ph type="title"/>
          </p:nvPr>
        </p:nvSpPr>
        <p:spPr>
          <a:prstGeom prst="rect">
            <a:avLst/>
          </a:prstGeom>
        </p:spPr>
        <p:txBody>
          <a:bodyPr/>
          <a:lstStyle>
            <a:lvl1pPr defTabSz="1525858">
              <a:defRPr sz="5280" spc="-105"/>
            </a:lvl1pPr>
          </a:lstStyle>
          <a:p>
            <a:r>
              <a:t>Another Example</a:t>
            </a:r>
          </a:p>
        </p:txBody>
      </p:sp>
      <p:pic>
        <p:nvPicPr>
          <p:cNvPr id="252" name="pasted-image.tiff" descr="pasted-image.tiff"/>
          <p:cNvPicPr>
            <a:picLocks noChangeAspect="1"/>
          </p:cNvPicPr>
          <p:nvPr/>
        </p:nvPicPr>
        <p:blipFill>
          <a:blip r:embed="rId2"/>
          <a:stretch>
            <a:fillRect/>
          </a:stretch>
        </p:blipFill>
        <p:spPr>
          <a:xfrm>
            <a:off x="286358" y="3074684"/>
            <a:ext cx="12432084" cy="5868563"/>
          </a:xfrm>
          <a:prstGeom prst="rect">
            <a:avLst/>
          </a:prstGeom>
          <a:ln w="12700">
            <a:miter lim="400000"/>
          </a:ln>
        </p:spPr>
      </p:pic>
      <p:sp>
        <p:nvSpPr>
          <p:cNvPr id="253" name="Another Example"/>
          <p:cNvSpPr txBox="1"/>
          <p:nvPr/>
        </p:nvSpPr>
        <p:spPr>
          <a:xfrm>
            <a:off x="349756" y="2258638"/>
            <a:ext cx="2932787" cy="584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Another Example</a:t>
            </a: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 name="While mapping to higher-dimensional space can create linearly separable data……"/>
          <p:cNvSpPr txBox="1">
            <a:spLocks noGrp="1"/>
          </p:cNvSpPr>
          <p:nvPr>
            <p:ph type="body" idx="1"/>
          </p:nvPr>
        </p:nvSpPr>
        <p:spPr>
          <a:prstGeom prst="rect">
            <a:avLst/>
          </a:prstGeom>
        </p:spPr>
        <p:txBody>
          <a:bodyPr/>
          <a:lstStyle/>
          <a:p>
            <a:r>
              <a:t>While mapping to higher-dimensional space can create linearly separable data…</a:t>
            </a:r>
          </a:p>
          <a:p>
            <a:r>
              <a:t>…It can be computationally expensive to directly compute the transformation</a:t>
            </a:r>
          </a:p>
          <a:p>
            <a:pPr lvl="1"/>
            <a:r>
              <a:t>E.g., polynomial space gets really big really fast, especially with lots of features</a:t>
            </a:r>
          </a:p>
          <a:p>
            <a:r>
              <a:t>…It is also hard to determine how many higher-dimensions to include</a:t>
            </a:r>
          </a:p>
          <a:p>
            <a:r>
              <a:t>This is where SVMs and the </a:t>
            </a:r>
            <a:r>
              <a:rPr b="1">
                <a:solidFill>
                  <a:srgbClr val="941751"/>
                </a:solidFill>
              </a:rPr>
              <a:t>Kernel Trick</a:t>
            </a:r>
            <a:r>
              <a:t> come to the rescue</a:t>
            </a:r>
          </a:p>
        </p:txBody>
      </p:sp>
      <p:sp>
        <p:nvSpPr>
          <p:cNvPr id="256" name="A solution and a problem"/>
          <p:cNvSpPr txBox="1">
            <a:spLocks noGrp="1"/>
          </p:cNvSpPr>
          <p:nvPr>
            <p:ph type="title"/>
          </p:nvPr>
        </p:nvSpPr>
        <p:spPr>
          <a:prstGeom prst="rect">
            <a:avLst/>
          </a:prstGeom>
        </p:spPr>
        <p:txBody>
          <a:bodyPr/>
          <a:lstStyle>
            <a:lvl1pPr defTabSz="1525858">
              <a:defRPr sz="5280" spc="-105"/>
            </a:lvl1pPr>
          </a:lstStyle>
          <a:p>
            <a:r>
              <a:t>A solution and a problem </a:t>
            </a: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Support Vector Machines"/>
          <p:cNvSpPr txBox="1">
            <a:spLocks noGrp="1"/>
          </p:cNvSpPr>
          <p:nvPr>
            <p:ph type="title"/>
          </p:nvPr>
        </p:nvSpPr>
        <p:spPr>
          <a:prstGeom prst="rect">
            <a:avLst/>
          </a:prstGeom>
        </p:spPr>
        <p:txBody>
          <a:bodyPr/>
          <a:lstStyle/>
          <a:p>
            <a:r>
              <a:t>Support Vector Machines</a:t>
            </a: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 name="The main idea behind SVMachines is to…"/>
          <p:cNvSpPr txBox="1">
            <a:spLocks noGrp="1"/>
          </p:cNvSpPr>
          <p:nvPr>
            <p:ph type="body" idx="1"/>
          </p:nvPr>
        </p:nvSpPr>
        <p:spPr>
          <a:prstGeom prst="rect">
            <a:avLst/>
          </a:prstGeom>
        </p:spPr>
        <p:txBody>
          <a:bodyPr/>
          <a:lstStyle/>
          <a:p>
            <a:r>
              <a:t>The main idea behind SV</a:t>
            </a:r>
            <a:r>
              <a:rPr i="1"/>
              <a:t>Machines </a:t>
            </a:r>
            <a:r>
              <a:t>is to </a:t>
            </a:r>
          </a:p>
          <a:p>
            <a:pPr lvl="1"/>
            <a:r>
              <a:t>create linear separation by expanding the feature space</a:t>
            </a:r>
          </a:p>
          <a:p>
            <a:pPr lvl="1"/>
            <a:r>
              <a:t>but in a specific way using </a:t>
            </a:r>
            <a:r>
              <a:rPr b="1">
                <a:solidFill>
                  <a:srgbClr val="941751"/>
                </a:solidFill>
              </a:rPr>
              <a:t>kernels</a:t>
            </a:r>
            <a:r>
              <a:t> </a:t>
            </a:r>
            <a:r>
              <a:rPr sz="2800" i="1">
                <a:solidFill>
                  <a:srgbClr val="941751"/>
                </a:solidFill>
              </a:rPr>
              <a:t> </a:t>
            </a:r>
            <a:br>
              <a:rPr sz="2800" i="1">
                <a:solidFill>
                  <a:srgbClr val="941751"/>
                </a:solidFill>
              </a:rPr>
            </a:br>
            <a:r>
              <a:rPr sz="2800" i="1">
                <a:solidFill>
                  <a:srgbClr val="941751"/>
                </a:solidFill>
              </a:rPr>
              <a:t>- a computationally efficient trick for expanding the feature space</a:t>
            </a:r>
          </a:p>
          <a:p>
            <a:pPr marL="990600" lvl="1" indent="-355600"/>
            <a:r>
              <a:rPr sz="2800"/>
              <a:t>this is called the </a:t>
            </a:r>
            <a:r>
              <a:rPr sz="2800" b="1"/>
              <a:t>kernel trick</a:t>
            </a:r>
            <a:r>
              <a:rPr sz="2800"/>
              <a:t> </a:t>
            </a:r>
          </a:p>
        </p:txBody>
      </p:sp>
      <p:sp>
        <p:nvSpPr>
          <p:cNvPr id="261" name="Support Vector Machines"/>
          <p:cNvSpPr txBox="1">
            <a:spLocks noGrp="1"/>
          </p:cNvSpPr>
          <p:nvPr>
            <p:ph type="title"/>
          </p:nvPr>
        </p:nvSpPr>
        <p:spPr>
          <a:prstGeom prst="rect">
            <a:avLst/>
          </a:prstGeom>
        </p:spPr>
        <p:txBody>
          <a:bodyPr/>
          <a:lstStyle>
            <a:lvl1pPr defTabSz="1525858">
              <a:defRPr sz="5280" spc="-105"/>
            </a:lvl1pPr>
          </a:lstStyle>
          <a:p>
            <a:r>
              <a:t>Support Vector Machines</a:t>
            </a: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63" name="Given two vectors in n-dimensional space:    and…"/>
              <p:cNvSpPr txBox="1">
                <a:spLocks noGrp="1"/>
              </p:cNvSpPr>
              <p:nvPr>
                <p:ph type="body" idx="1"/>
              </p:nvPr>
            </p:nvSpPr>
            <p:spPr>
              <a:prstGeom prst="rect">
                <a:avLst/>
              </a:prstGeom>
            </p:spPr>
            <p:txBody>
              <a:bodyPr/>
              <a:lstStyle/>
              <a:p>
                <a:r>
                  <a:rPr dirty="0"/>
                  <a:t>Given two vectors in n-dimensional space:</a:t>
                </a:r>
                <a:br>
                  <a:rPr dirty="0"/>
                </a:br>
                <a:br>
                  <a:rPr dirty="0"/>
                </a:br>
                <a14:m>
                  <m:oMath xmlns:m="http://schemas.openxmlformats.org/officeDocument/2006/math">
                    <m:r>
                      <a:rPr sz="3250" i="1">
                        <a:solidFill>
                          <a:srgbClr val="000000"/>
                        </a:solidFill>
                        <a:latin typeface="Cambria Math" panose="02040503050406030204" pitchFamily="18" charset="0"/>
                      </a:rPr>
                      <m:t>𝐚</m:t>
                    </m:r>
                    <m:r>
                      <a:rPr sz="3250" i="1">
                        <a:solidFill>
                          <a:srgbClr val="000000"/>
                        </a:solidFill>
                        <a:latin typeface="Cambria Math" panose="02040503050406030204" pitchFamily="18" charset="0"/>
                      </a:rPr>
                      <m:t>=(</m:t>
                    </m:r>
                    <m:sSub>
                      <m:sSubPr>
                        <m:ctrlPr>
                          <a:rPr sz="3250" i="1">
                            <a:solidFill>
                              <a:srgbClr val="000000"/>
                            </a:solidFill>
                            <a:latin typeface="Cambria Math" panose="02040503050406030204" pitchFamily="18" charset="0"/>
                          </a:rPr>
                        </m:ctrlPr>
                      </m:sSubPr>
                      <m:e>
                        <m:r>
                          <a:rPr sz="3250" i="1">
                            <a:solidFill>
                              <a:srgbClr val="000000"/>
                            </a:solidFill>
                            <a:latin typeface="Cambria Math" panose="02040503050406030204" pitchFamily="18" charset="0"/>
                          </a:rPr>
                          <m:t>𝑎</m:t>
                        </m:r>
                      </m:e>
                      <m:sub>
                        <m:r>
                          <a:rPr sz="3250" i="1">
                            <a:solidFill>
                              <a:srgbClr val="000000"/>
                            </a:solidFill>
                            <a:latin typeface="Cambria Math" panose="02040503050406030204" pitchFamily="18" charset="0"/>
                          </a:rPr>
                          <m:t>1</m:t>
                        </m:r>
                      </m:sub>
                    </m:sSub>
                    <m:r>
                      <a:rPr sz="3250" i="1">
                        <a:solidFill>
                          <a:srgbClr val="000000"/>
                        </a:solidFill>
                        <a:latin typeface="Cambria Math" panose="02040503050406030204" pitchFamily="18" charset="0"/>
                      </a:rPr>
                      <m:t>,</m:t>
                    </m:r>
                    <m:sSub>
                      <m:sSubPr>
                        <m:ctrlPr>
                          <a:rPr sz="3250" i="1">
                            <a:solidFill>
                              <a:srgbClr val="000000"/>
                            </a:solidFill>
                            <a:latin typeface="Cambria Math" panose="02040503050406030204" pitchFamily="18" charset="0"/>
                          </a:rPr>
                        </m:ctrlPr>
                      </m:sSubPr>
                      <m:e>
                        <m:r>
                          <a:rPr sz="3250" i="1">
                            <a:solidFill>
                              <a:srgbClr val="000000"/>
                            </a:solidFill>
                            <a:latin typeface="Cambria Math" panose="02040503050406030204" pitchFamily="18" charset="0"/>
                          </a:rPr>
                          <m:t>𝑎</m:t>
                        </m:r>
                      </m:e>
                      <m:sub>
                        <m:r>
                          <a:rPr sz="3250" i="1">
                            <a:solidFill>
                              <a:srgbClr val="000000"/>
                            </a:solidFill>
                            <a:latin typeface="Cambria Math" panose="02040503050406030204" pitchFamily="18" charset="0"/>
                          </a:rPr>
                          <m:t>2</m:t>
                        </m:r>
                      </m:sub>
                    </m:sSub>
                    <m:r>
                      <a:rPr sz="3250" i="1">
                        <a:solidFill>
                          <a:srgbClr val="000000"/>
                        </a:solidFill>
                        <a:latin typeface="Cambria Math" panose="02040503050406030204" pitchFamily="18" charset="0"/>
                      </a:rPr>
                      <m:t>,…,</m:t>
                    </m:r>
                    <m:sSub>
                      <m:sSubPr>
                        <m:ctrlPr>
                          <a:rPr sz="3250" i="1">
                            <a:solidFill>
                              <a:srgbClr val="000000"/>
                            </a:solidFill>
                            <a:latin typeface="Cambria Math" panose="02040503050406030204" pitchFamily="18" charset="0"/>
                          </a:rPr>
                        </m:ctrlPr>
                      </m:sSubPr>
                      <m:e>
                        <m:r>
                          <a:rPr sz="3250" i="1">
                            <a:solidFill>
                              <a:srgbClr val="000000"/>
                            </a:solidFill>
                            <a:latin typeface="Cambria Math" panose="02040503050406030204" pitchFamily="18" charset="0"/>
                          </a:rPr>
                          <m:t>𝑎</m:t>
                        </m:r>
                      </m:e>
                      <m:sub>
                        <m:r>
                          <a:rPr sz="3250" i="1">
                            <a:solidFill>
                              <a:srgbClr val="000000"/>
                            </a:solidFill>
                            <a:latin typeface="Cambria Math" panose="02040503050406030204" pitchFamily="18" charset="0"/>
                          </a:rPr>
                          <m:t>𝑛</m:t>
                        </m:r>
                      </m:sub>
                    </m:sSub>
                    <m:r>
                      <a:rPr sz="3250" i="1">
                        <a:solidFill>
                          <a:srgbClr val="000000"/>
                        </a:solidFill>
                        <a:latin typeface="Cambria Math" panose="02040503050406030204" pitchFamily="18" charset="0"/>
                      </a:rPr>
                      <m:t>)</m:t>
                    </m:r>
                  </m:oMath>
                </a14:m>
                <a:r>
                  <a:rPr dirty="0"/>
                  <a:t> and </a:t>
                </a:r>
                <a14:m>
                  <m:oMath xmlns:m="http://schemas.openxmlformats.org/officeDocument/2006/math">
                    <m:r>
                      <a:rPr sz="3250" i="1">
                        <a:solidFill>
                          <a:srgbClr val="000000"/>
                        </a:solidFill>
                        <a:latin typeface="Cambria Math" panose="02040503050406030204" pitchFamily="18" charset="0"/>
                      </a:rPr>
                      <m:t>𝐛</m:t>
                    </m:r>
                    <m:r>
                      <a:rPr sz="3250" i="1">
                        <a:solidFill>
                          <a:srgbClr val="000000"/>
                        </a:solidFill>
                        <a:latin typeface="Cambria Math" panose="02040503050406030204" pitchFamily="18" charset="0"/>
                      </a:rPr>
                      <m:t>=(</m:t>
                    </m:r>
                    <m:sSub>
                      <m:sSubPr>
                        <m:ctrlPr>
                          <a:rPr sz="3250" i="1">
                            <a:solidFill>
                              <a:srgbClr val="000000"/>
                            </a:solidFill>
                            <a:latin typeface="Cambria Math" panose="02040503050406030204" pitchFamily="18" charset="0"/>
                          </a:rPr>
                        </m:ctrlPr>
                      </m:sSubPr>
                      <m:e>
                        <m:r>
                          <a:rPr sz="3250" i="1">
                            <a:solidFill>
                              <a:srgbClr val="000000"/>
                            </a:solidFill>
                            <a:latin typeface="Cambria Math" panose="02040503050406030204" pitchFamily="18" charset="0"/>
                          </a:rPr>
                          <m:t>𝑏</m:t>
                        </m:r>
                      </m:e>
                      <m:sub>
                        <m:r>
                          <a:rPr sz="3250" i="1">
                            <a:solidFill>
                              <a:srgbClr val="000000"/>
                            </a:solidFill>
                            <a:latin typeface="Cambria Math" panose="02040503050406030204" pitchFamily="18" charset="0"/>
                          </a:rPr>
                          <m:t>1</m:t>
                        </m:r>
                      </m:sub>
                    </m:sSub>
                    <m:r>
                      <a:rPr sz="3250" i="1">
                        <a:solidFill>
                          <a:srgbClr val="000000"/>
                        </a:solidFill>
                        <a:latin typeface="Cambria Math" panose="02040503050406030204" pitchFamily="18" charset="0"/>
                      </a:rPr>
                      <m:t>,</m:t>
                    </m:r>
                    <m:sSub>
                      <m:sSubPr>
                        <m:ctrlPr>
                          <a:rPr sz="3250" i="1">
                            <a:solidFill>
                              <a:srgbClr val="000000"/>
                            </a:solidFill>
                            <a:latin typeface="Cambria Math" panose="02040503050406030204" pitchFamily="18" charset="0"/>
                          </a:rPr>
                        </m:ctrlPr>
                      </m:sSubPr>
                      <m:e>
                        <m:r>
                          <a:rPr sz="3250" i="1">
                            <a:solidFill>
                              <a:srgbClr val="000000"/>
                            </a:solidFill>
                            <a:latin typeface="Cambria Math" panose="02040503050406030204" pitchFamily="18" charset="0"/>
                          </a:rPr>
                          <m:t>𝑏</m:t>
                        </m:r>
                      </m:e>
                      <m:sub>
                        <m:r>
                          <a:rPr sz="3250" i="1">
                            <a:solidFill>
                              <a:srgbClr val="000000"/>
                            </a:solidFill>
                            <a:latin typeface="Cambria Math" panose="02040503050406030204" pitchFamily="18" charset="0"/>
                          </a:rPr>
                          <m:t>2</m:t>
                        </m:r>
                      </m:sub>
                    </m:sSub>
                    <m:r>
                      <a:rPr sz="3250" i="1">
                        <a:solidFill>
                          <a:srgbClr val="000000"/>
                        </a:solidFill>
                        <a:latin typeface="Cambria Math" panose="02040503050406030204" pitchFamily="18" charset="0"/>
                      </a:rPr>
                      <m:t>,…,</m:t>
                    </m:r>
                    <m:sSub>
                      <m:sSubPr>
                        <m:ctrlPr>
                          <a:rPr sz="3250" i="1">
                            <a:solidFill>
                              <a:srgbClr val="000000"/>
                            </a:solidFill>
                            <a:latin typeface="Cambria Math" panose="02040503050406030204" pitchFamily="18" charset="0"/>
                          </a:rPr>
                        </m:ctrlPr>
                      </m:sSubPr>
                      <m:e>
                        <m:r>
                          <a:rPr sz="3250" i="1">
                            <a:solidFill>
                              <a:srgbClr val="000000"/>
                            </a:solidFill>
                            <a:latin typeface="Cambria Math" panose="02040503050406030204" pitchFamily="18" charset="0"/>
                          </a:rPr>
                          <m:t>𝑏</m:t>
                        </m:r>
                      </m:e>
                      <m:sub>
                        <m:r>
                          <a:rPr sz="3250" i="1">
                            <a:solidFill>
                              <a:srgbClr val="000000"/>
                            </a:solidFill>
                            <a:latin typeface="Cambria Math" panose="02040503050406030204" pitchFamily="18" charset="0"/>
                          </a:rPr>
                          <m:t>𝑛</m:t>
                        </m:r>
                      </m:sub>
                    </m:sSub>
                    <m:r>
                      <a:rPr sz="3250" i="1">
                        <a:solidFill>
                          <a:srgbClr val="000000"/>
                        </a:solidFill>
                        <a:latin typeface="Cambria Math" panose="02040503050406030204" pitchFamily="18" charset="0"/>
                      </a:rPr>
                      <m:t>)</m:t>
                    </m:r>
                  </m:oMath>
                </a14:m>
                <a:endParaRPr dirty="0"/>
              </a:p>
              <a:p>
                <a:r>
                  <a:rPr dirty="0"/>
                  <a:t>The dot product between </a:t>
                </a:r>
                <a14:m>
                  <m:oMath xmlns:m="http://schemas.openxmlformats.org/officeDocument/2006/math">
                    <m:r>
                      <a:rPr sz="3250" i="1">
                        <a:solidFill>
                          <a:srgbClr val="000000"/>
                        </a:solidFill>
                        <a:latin typeface="Cambria Math" panose="02040503050406030204" pitchFamily="18" charset="0"/>
                      </a:rPr>
                      <m:t>𝐚</m:t>
                    </m:r>
                  </m:oMath>
                </a14:m>
                <a:r>
                  <a:rPr dirty="0"/>
                  <a:t> and </a:t>
                </a:r>
                <a14:m>
                  <m:oMath xmlns:m="http://schemas.openxmlformats.org/officeDocument/2006/math">
                    <m:r>
                      <a:rPr sz="3250" i="1">
                        <a:solidFill>
                          <a:srgbClr val="000000"/>
                        </a:solidFill>
                        <a:latin typeface="Cambria Math" panose="02040503050406030204" pitchFamily="18" charset="0"/>
                      </a:rPr>
                      <m:t>𝐛</m:t>
                    </m:r>
                  </m:oMath>
                </a14:m>
                <a:r>
                  <a:rPr dirty="0"/>
                  <a:t> is </a:t>
                </a:r>
                <a:br>
                  <a:rPr dirty="0"/>
                </a:br>
                <a:br>
                  <a:rPr dirty="0"/>
                </a:br>
                <a14:m>
                  <m:oMath xmlns:m="http://schemas.openxmlformats.org/officeDocument/2006/math">
                    <m:r>
                      <a:rPr sz="3250" i="1">
                        <a:solidFill>
                          <a:srgbClr val="000000"/>
                        </a:solidFill>
                        <a:latin typeface="Cambria Math" panose="02040503050406030204" pitchFamily="18" charset="0"/>
                      </a:rPr>
                      <m:t>⟨</m:t>
                    </m:r>
                    <m:r>
                      <a:rPr sz="3250" i="1">
                        <a:solidFill>
                          <a:srgbClr val="000000"/>
                        </a:solidFill>
                        <a:latin typeface="Cambria Math" panose="02040503050406030204" pitchFamily="18" charset="0"/>
                      </a:rPr>
                      <m:t>𝐚</m:t>
                    </m:r>
                    <m:r>
                      <a:rPr sz="3250" i="1">
                        <a:solidFill>
                          <a:srgbClr val="000000"/>
                        </a:solidFill>
                        <a:latin typeface="Cambria Math" panose="02040503050406030204" pitchFamily="18" charset="0"/>
                      </a:rPr>
                      <m:t>,</m:t>
                    </m:r>
                    <m:r>
                      <a:rPr sz="3250" i="1">
                        <a:solidFill>
                          <a:srgbClr val="000000"/>
                        </a:solidFill>
                        <a:latin typeface="Cambria Math" panose="02040503050406030204" pitchFamily="18" charset="0"/>
                      </a:rPr>
                      <m:t>𝐛</m:t>
                    </m:r>
                    <m:r>
                      <a:rPr sz="3250" i="1">
                        <a:solidFill>
                          <a:srgbClr val="000000"/>
                        </a:solidFill>
                        <a:latin typeface="Cambria Math" panose="02040503050406030204" pitchFamily="18" charset="0"/>
                      </a:rPr>
                      <m:t>⟩=</m:t>
                    </m:r>
                    <m:limUpp>
                      <m:limUppPr>
                        <m:ctrlPr>
                          <a:rPr sz="3250" i="1">
                            <a:solidFill>
                              <a:srgbClr val="000000"/>
                            </a:solidFill>
                            <a:latin typeface="Cambria Math" panose="02040503050406030204" pitchFamily="18" charset="0"/>
                          </a:rPr>
                        </m:ctrlPr>
                      </m:limUppPr>
                      <m:e>
                        <m:limLow>
                          <m:limLowPr>
                            <m:ctrlPr>
                              <a:rPr sz="3250" i="1">
                                <a:solidFill>
                                  <a:srgbClr val="000000"/>
                                </a:solidFill>
                                <a:latin typeface="Cambria Math" panose="02040503050406030204" pitchFamily="18" charset="0"/>
                              </a:rPr>
                            </m:ctrlPr>
                          </m:limLowPr>
                          <m:e>
                            <m:r>
                              <a:rPr sz="3250" i="1">
                                <a:solidFill>
                                  <a:srgbClr val="000000"/>
                                </a:solidFill>
                                <a:latin typeface="Cambria Math" panose="02040503050406030204" pitchFamily="18" charset="0"/>
                              </a:rPr>
                              <m:t>∑</m:t>
                            </m:r>
                          </m:e>
                          <m:lim>
                            <m:r>
                              <a:rPr sz="3250" i="1">
                                <a:solidFill>
                                  <a:srgbClr val="000000"/>
                                </a:solidFill>
                                <a:latin typeface="Cambria Math" panose="02040503050406030204" pitchFamily="18" charset="0"/>
                              </a:rPr>
                              <m:t>𝑖</m:t>
                            </m:r>
                            <m:r>
                              <a:rPr sz="3250" i="1">
                                <a:solidFill>
                                  <a:srgbClr val="000000"/>
                                </a:solidFill>
                                <a:latin typeface="Cambria Math" panose="02040503050406030204" pitchFamily="18" charset="0"/>
                              </a:rPr>
                              <m:t>=1</m:t>
                            </m:r>
                          </m:lim>
                        </m:limLow>
                      </m:e>
                      <m:lim>
                        <m:r>
                          <a:rPr sz="3250" i="1">
                            <a:solidFill>
                              <a:srgbClr val="000000"/>
                            </a:solidFill>
                            <a:latin typeface="Cambria Math" panose="02040503050406030204" pitchFamily="18" charset="0"/>
                          </a:rPr>
                          <m:t>𝑛</m:t>
                        </m:r>
                      </m:lim>
                    </m:limUpp>
                    <m:sSub>
                      <m:sSubPr>
                        <m:ctrlPr>
                          <a:rPr sz="3250" i="1">
                            <a:solidFill>
                              <a:srgbClr val="000000"/>
                            </a:solidFill>
                            <a:latin typeface="Cambria Math" panose="02040503050406030204" pitchFamily="18" charset="0"/>
                          </a:rPr>
                        </m:ctrlPr>
                      </m:sSubPr>
                      <m:e>
                        <m:r>
                          <a:rPr sz="3250" i="1">
                            <a:solidFill>
                              <a:srgbClr val="000000"/>
                            </a:solidFill>
                            <a:latin typeface="Cambria Math" panose="02040503050406030204" pitchFamily="18" charset="0"/>
                          </a:rPr>
                          <m:t>𝑎</m:t>
                        </m:r>
                      </m:e>
                      <m:sub>
                        <m:r>
                          <a:rPr sz="3250" i="1">
                            <a:solidFill>
                              <a:srgbClr val="000000"/>
                            </a:solidFill>
                            <a:latin typeface="Cambria Math" panose="02040503050406030204" pitchFamily="18" charset="0"/>
                          </a:rPr>
                          <m:t>𝑖</m:t>
                        </m:r>
                      </m:sub>
                    </m:sSub>
                    <m:sSub>
                      <m:sSubPr>
                        <m:ctrlPr>
                          <a:rPr sz="3250" i="1">
                            <a:solidFill>
                              <a:srgbClr val="000000"/>
                            </a:solidFill>
                            <a:latin typeface="Cambria Math" panose="02040503050406030204" pitchFamily="18" charset="0"/>
                          </a:rPr>
                        </m:ctrlPr>
                      </m:sSubPr>
                      <m:e>
                        <m:r>
                          <a:rPr sz="3250" i="1">
                            <a:solidFill>
                              <a:srgbClr val="000000"/>
                            </a:solidFill>
                            <a:latin typeface="Cambria Math" panose="02040503050406030204" pitchFamily="18" charset="0"/>
                          </a:rPr>
                          <m:t>𝑏</m:t>
                        </m:r>
                      </m:e>
                      <m:sub>
                        <m:r>
                          <a:rPr sz="3250" i="1">
                            <a:solidFill>
                              <a:srgbClr val="000000"/>
                            </a:solidFill>
                            <a:latin typeface="Cambria Math" panose="02040503050406030204" pitchFamily="18" charset="0"/>
                          </a:rPr>
                          <m:t>𝑖</m:t>
                        </m:r>
                      </m:sub>
                    </m:sSub>
                    <m:r>
                      <a:rPr sz="3250" i="1">
                        <a:solidFill>
                          <a:srgbClr val="000000"/>
                        </a:solidFill>
                        <a:latin typeface="Cambria Math" panose="02040503050406030204" pitchFamily="18" charset="0"/>
                      </a:rPr>
                      <m:t>=</m:t>
                    </m:r>
                    <m:r>
                      <a:rPr sz="3250" i="1">
                        <a:solidFill>
                          <a:srgbClr val="000000"/>
                        </a:solidFill>
                        <a:latin typeface="Cambria Math" panose="02040503050406030204" pitchFamily="18" charset="0"/>
                      </a:rPr>
                      <m:t>𝐚</m:t>
                    </m:r>
                    <m:r>
                      <a:rPr sz="3250" i="1">
                        <a:solidFill>
                          <a:srgbClr val="000000"/>
                        </a:solidFill>
                        <a:latin typeface="Cambria Math" panose="02040503050406030204" pitchFamily="18" charset="0"/>
                      </a:rPr>
                      <m:t>′</m:t>
                    </m:r>
                    <m:r>
                      <a:rPr sz="3250" i="1">
                        <a:solidFill>
                          <a:srgbClr val="000000"/>
                        </a:solidFill>
                        <a:latin typeface="Cambria Math" panose="02040503050406030204" pitchFamily="18" charset="0"/>
                      </a:rPr>
                      <m:t>𝐛</m:t>
                    </m:r>
                  </m:oMath>
                </a14:m>
                <a:endParaRPr dirty="0"/>
              </a:p>
            </p:txBody>
          </p:sp>
        </mc:Choice>
        <mc:Fallback xmlns="">
          <p:sp>
            <p:nvSpPr>
              <p:cNvPr id="263" name="Given two vectors in n-dimensional space:    and…"/>
              <p:cNvSpPr txBox="1">
                <a:spLocks noGrp="1" noRot="1" noChangeAspect="1" noMove="1" noResize="1" noEditPoints="1" noAdjustHandles="1" noChangeArrowheads="1" noChangeShapeType="1" noTextEdit="1"/>
              </p:cNvSpPr>
              <p:nvPr>
                <p:ph type="body" idx="1"/>
              </p:nvPr>
            </p:nvSpPr>
            <p:spPr>
              <a:prstGeom prst="rect">
                <a:avLst/>
              </a:prstGeom>
              <a:blipFill>
                <a:blip r:embed="rId2"/>
                <a:stretch>
                  <a:fillRect l="-1313" t="-1516"/>
                </a:stretch>
              </a:blipFill>
            </p:spPr>
            <p:txBody>
              <a:bodyPr/>
              <a:lstStyle/>
              <a:p>
                <a:r>
                  <a:rPr lang="en-US">
                    <a:noFill/>
                  </a:rPr>
                  <a:t> </a:t>
                </a:r>
              </a:p>
            </p:txBody>
          </p:sp>
        </mc:Fallback>
      </mc:AlternateContent>
      <p:sp>
        <p:nvSpPr>
          <p:cNvPr id="264" name="Dot Products"/>
          <p:cNvSpPr txBox="1">
            <a:spLocks noGrp="1"/>
          </p:cNvSpPr>
          <p:nvPr>
            <p:ph type="title"/>
          </p:nvPr>
        </p:nvSpPr>
        <p:spPr>
          <a:prstGeom prst="rect">
            <a:avLst/>
          </a:prstGeom>
        </p:spPr>
        <p:txBody>
          <a:bodyPr/>
          <a:lstStyle>
            <a:lvl1pPr defTabSz="1525858">
              <a:defRPr sz="5280" spc="-105"/>
            </a:lvl1pPr>
          </a:lstStyle>
          <a:p>
            <a:r>
              <a:t>Dot Products</a:t>
            </a: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69" name="The dot product of the transformed vectors is equal square of the dot product of the original vectors…"/>
              <p:cNvSpPr txBox="1">
                <a:spLocks noGrp="1"/>
              </p:cNvSpPr>
              <p:nvPr>
                <p:ph type="body" idx="1"/>
              </p:nvPr>
            </p:nvSpPr>
            <p:spPr>
              <a:prstGeom prst="rect">
                <a:avLst/>
              </a:prstGeom>
            </p:spPr>
            <p:txBody>
              <a:bodyPr wrap="square">
                <a:normAutofit/>
              </a:bodyPr>
              <a:lstStyle/>
              <a:p>
                <a14:m>
                  <m:oMath xmlns:m="http://schemas.openxmlformats.org/officeDocument/2006/math">
                    <m:r>
                      <a:rPr lang="ar-AE" i="1">
                        <a:latin typeface="Cambria Math" panose="02040503050406030204" pitchFamily="18" charset="0"/>
                      </a:rPr>
                      <m:t>𝜙</m:t>
                    </m:r>
                    <m:d>
                      <m:dPr>
                        <m:ctrlPr>
                          <a:rPr lang="ar-AE" b="0" i="1" smtClean="0">
                            <a:latin typeface="Cambria Math" panose="02040503050406030204" pitchFamily="18" charset="0"/>
                          </a:rPr>
                        </m:ctrlPr>
                      </m:dPr>
                      <m:e>
                        <m:sSub>
                          <m:sSubPr>
                            <m:ctrlPr>
                              <a:rPr lang="ar-AE" b="0" i="1" smtClean="0">
                                <a:latin typeface="Cambria Math" panose="02040503050406030204" pitchFamily="18" charset="0"/>
                              </a:rPr>
                            </m:ctrlPr>
                          </m:sSubPr>
                          <m:e>
                            <m:r>
                              <a:rPr lang="ar-AE" b="0" i="1" smtClean="0">
                                <a:latin typeface="Cambria Math" panose="02040503050406030204" pitchFamily="18" charset="0"/>
                              </a:rPr>
                              <m:t>𝑥</m:t>
                            </m:r>
                          </m:e>
                          <m:sub>
                            <m:r>
                              <a:rPr lang="ar-AE" b="0" i="1" smtClean="0">
                                <a:latin typeface="Cambria Math" panose="02040503050406030204" pitchFamily="18" charset="0"/>
                              </a:rPr>
                              <m:t>𝑖</m:t>
                            </m:r>
                          </m:sub>
                        </m:sSub>
                      </m:e>
                    </m:d>
                  </m:oMath>
                </a14:m>
                <a:r>
                  <a:rPr lang="en-US"/>
                  <a:t>A feature map </a:t>
                </a:r>
                <a:r>
                  <a:rPr lang="el-GR"/>
                  <a:t>φ(</a:t>
                </a:r>
                <a:r>
                  <a:rPr lang="en-US"/>
                  <a:t>x) can make a nonlinear boundary linear in feature space.</a:t>
                </a:r>
              </a:p>
              <a:p>
                <a:r>
                  <a:rPr lang="en-US"/>
                  <a:t>Explicitly constructing </a:t>
                </a:r>
                <a:r>
                  <a:rPr lang="el-GR"/>
                  <a:t>φ(</a:t>
                </a:r>
                <a:r>
                  <a:rPr lang="en-US"/>
                  <a:t>x) may require many features.</a:t>
                </a:r>
              </a:p>
              <a:p>
                <a:r>
                  <a:rPr lang="en-US"/>
                  <a:t>The SVM dual, introduced next, uses training data only through pairwise dot products:</a:t>
                </a:r>
              </a:p>
              <a:p>
                <a:r>
                  <a:rPr lang="en-US"/>
                  <a:t>xᵢᵀxⱼ in the original space
</a:t>
                </a:r>
                <a:r>
                  <a:rPr lang="el-GR"/>
                  <a:t>φ(</a:t>
                </a:r>
                <a:r>
                  <a:rPr lang="en-US"/>
                  <a:t>xᵢ)ᵀ</a:t>
                </a:r>
                <a:r>
                  <a:rPr lang="el-GR"/>
                  <a:t>φ(</a:t>
                </a:r>
                <a:r>
                  <a:rPr lang="en-US"/>
                  <a:t>xⱼ) in the transformed space</a:t>
                </a:r>
              </a:p>
              <a:p>
                <a:r>
                  <a:rPr lang="en-US"/>
                  <a:t>A kernel computes the second quantity directly from xᵢ and xⱼ.</a:t>
                </a:r>
              </a:p>
            </p:txBody>
          </p:sp>
        </mc:Choice>
        <mc:Fallback>
          <p:sp>
            <p:nvSpPr>
              <p:cNvPr id="269" name="The dot product of the transformed vectors is equal square of the dot product of the original vectors…"/>
              <p:cNvSpPr txBox="1">
                <a:spLocks noGrp="1" noRot="1" noChangeAspect="1" noMove="1" noResize="1" noEditPoints="1" noAdjustHandles="1" noChangeArrowheads="1" noChangeShapeType="1" noTextEdit="1"/>
              </p:cNvSpPr>
              <p:nvPr>
                <p:ph type="body" idx="1"/>
              </p:nvPr>
            </p:nvSpPr>
            <p:spPr>
              <a:prstGeom prst="rect">
                <a:avLst/>
              </a:prstGeom>
              <a:blipFill>
                <a:blip r:embed="rId3"/>
                <a:stretch>
                  <a:fillRect l="-1313" t="-1516"/>
                </a:stretch>
              </a:blipFill>
            </p:spPr>
            <p:txBody>
              <a:bodyPr/>
              <a:lstStyle/>
              <a:p>
                <a:r>
                  <a:rPr lang="en-US">
                    <a:noFill/>
                  </a:rPr>
                  <a:t> </a:t>
                </a:r>
              </a:p>
            </p:txBody>
          </p:sp>
        </mc:Fallback>
      </mc:AlternateContent>
      <p:sp>
        <p:nvSpPr>
          <p:cNvPr id="270" name="Results from previous slide"/>
          <p:cNvSpPr txBox="1">
            <a:spLocks noGrp="1"/>
          </p:cNvSpPr>
          <p:nvPr>
            <p:ph type="title"/>
          </p:nvPr>
        </p:nvSpPr>
        <p:spPr>
          <a:prstGeom prst="rect">
            <a:avLst/>
          </a:prstGeom>
        </p:spPr>
        <p:txBody>
          <a:bodyPr/>
          <a:lstStyle>
            <a:lvl1pPr defTabSz="1525858">
              <a:defRPr sz="5280" spc="-105"/>
            </a:lvl1pPr>
          </a:lstStyle>
          <a:p>
            <a:r>
              <a:rPr lang="en-US"/>
              <a:t>Dot Products in the Dual</a:t>
            </a:r>
            <a:endParaRPr dirty="0"/>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6936B0CC-459C-C8C3-3A17-949AC8A8174D}"/>
                  </a:ext>
                </a:extLst>
              </p:cNvPr>
              <p:cNvSpPr>
                <a:spLocks noGrp="1"/>
              </p:cNvSpPr>
              <p:nvPr>
                <p:ph type="body" idx="1"/>
              </p:nvPr>
            </p:nvSpPr>
            <p:spPr/>
            <p:txBody>
              <a:bodyPr/>
              <a:lstStyle/>
              <a:p>
                <a:r>
                  <a:rPr lang="en-US" dirty="0"/>
                  <a:t>In machine learning, a </a:t>
                </a:r>
                <a:r>
                  <a:rPr lang="en-US" b="1" dirty="0">
                    <a:solidFill>
                      <a:srgbClr val="FF7E79"/>
                    </a:solidFill>
                  </a:rPr>
                  <a:t>kernel function</a:t>
                </a:r>
                <a:r>
                  <a:rPr lang="en-US" dirty="0">
                    <a:solidFill>
                      <a:srgbClr val="FF7E79"/>
                    </a:solidFill>
                  </a:rPr>
                  <a:t>,</a:t>
                </a:r>
                <a:r>
                  <a:rPr lang="en-US" b="1" dirty="0">
                    <a:solidFill>
                      <a:srgbClr val="FF7E79"/>
                    </a:solidFill>
                  </a:rPr>
                  <a:t> </a:t>
                </a:r>
                <a14:m>
                  <m:oMath xmlns:m="http://schemas.openxmlformats.org/officeDocument/2006/math">
                    <m:r>
                      <a:rPr lang="en-US" sz="3250" i="1" smtClean="0">
                        <a:solidFill>
                          <a:srgbClr val="FF7D78"/>
                        </a:solidFill>
                        <a:latin typeface="Cambria Math" panose="02040503050406030204" pitchFamily="18" charset="0"/>
                      </a:rPr>
                      <m:t>𝐾</m:t>
                    </m:r>
                    <m:d>
                      <m:dPr>
                        <m:ctrlPr>
                          <a:rPr lang="en-US" sz="3250" b="0" i="1" smtClean="0">
                            <a:solidFill>
                              <a:srgbClr val="FF7D78"/>
                            </a:solidFill>
                            <a:latin typeface="Cambria Math" panose="02040503050406030204" pitchFamily="18" charset="0"/>
                          </a:rPr>
                        </m:ctrlPr>
                      </m:dPr>
                      <m:e>
                        <m:sSub>
                          <m:sSubPr>
                            <m:ctrlPr>
                              <a:rPr lang="en-US" sz="3250" b="0" i="1" smtClean="0">
                                <a:solidFill>
                                  <a:srgbClr val="FF7D78"/>
                                </a:solidFill>
                                <a:latin typeface="Cambria Math" panose="02040503050406030204" pitchFamily="18" charset="0"/>
                              </a:rPr>
                            </m:ctrlPr>
                          </m:sSubPr>
                          <m:e>
                            <m:r>
                              <a:rPr lang="en-US" sz="3250" b="0" i="1" smtClean="0">
                                <a:solidFill>
                                  <a:srgbClr val="FF7D78"/>
                                </a:solidFill>
                                <a:latin typeface="Cambria Math" panose="02040503050406030204" pitchFamily="18" charset="0"/>
                              </a:rPr>
                              <m:t>𝑥</m:t>
                            </m:r>
                          </m:e>
                          <m:sub>
                            <m:r>
                              <a:rPr lang="en-US" sz="3250" b="0" i="1" smtClean="0">
                                <a:solidFill>
                                  <a:srgbClr val="FF7D78"/>
                                </a:solidFill>
                                <a:latin typeface="Cambria Math" panose="02040503050406030204" pitchFamily="18" charset="0"/>
                              </a:rPr>
                              <m:t>𝑖</m:t>
                            </m:r>
                          </m:sub>
                        </m:sSub>
                        <m:r>
                          <a:rPr lang="en-US" sz="3250" i="1">
                            <a:solidFill>
                              <a:srgbClr val="FF7D78"/>
                            </a:solidFill>
                            <a:latin typeface="Cambria Math" panose="02040503050406030204" pitchFamily="18" charset="0"/>
                          </a:rPr>
                          <m:t>,</m:t>
                        </m:r>
                        <m:sSub>
                          <m:sSubPr>
                            <m:ctrlPr>
                              <a:rPr lang="en-US" sz="3250" b="0" i="1" smtClean="0">
                                <a:solidFill>
                                  <a:srgbClr val="FF7D78"/>
                                </a:solidFill>
                                <a:latin typeface="Cambria Math" panose="02040503050406030204" pitchFamily="18" charset="0"/>
                              </a:rPr>
                            </m:ctrlPr>
                          </m:sSubPr>
                          <m:e>
                            <m:r>
                              <a:rPr lang="en-US" sz="3250" b="0" i="1" smtClean="0">
                                <a:solidFill>
                                  <a:srgbClr val="FF7D78"/>
                                </a:solidFill>
                                <a:latin typeface="Cambria Math" panose="02040503050406030204" pitchFamily="18" charset="0"/>
                              </a:rPr>
                              <m:t>𝑥</m:t>
                            </m:r>
                          </m:e>
                          <m:sub>
                            <m:r>
                              <a:rPr lang="en-US" sz="3250" b="0" i="1" smtClean="0">
                                <a:solidFill>
                                  <a:srgbClr val="FF7D78"/>
                                </a:solidFill>
                                <a:latin typeface="Cambria Math" panose="02040503050406030204" pitchFamily="18" charset="0"/>
                              </a:rPr>
                              <m:t>𝑗</m:t>
                            </m:r>
                          </m:sub>
                        </m:sSub>
                      </m:e>
                    </m:d>
                  </m:oMath>
                </a14:m>
                <a:r>
                  <a:rPr lang="en-US" dirty="0">
                    <a:solidFill>
                      <a:srgbClr val="FF7E79"/>
                    </a:solidFill>
                  </a:rPr>
                  <a:t>,</a:t>
                </a:r>
                <a:r>
                  <a:rPr lang="en-US" dirty="0"/>
                  <a:t> is a function capable of computing the dot product between two transformed vectors based only on the original vectors </a:t>
                </a:r>
                <a:r>
                  <a:rPr lang="en-US" b="1" dirty="0"/>
                  <a:t>without having to compute the transformation </a:t>
                </a:r>
                <a14:m>
                  <m:oMath xmlns:m="http://schemas.openxmlformats.org/officeDocument/2006/math">
                    <m:r>
                      <a:rPr lang="en-US" sz="3250" i="1">
                        <a:latin typeface="Cambria Math" panose="02040503050406030204" pitchFamily="18" charset="0"/>
                      </a:rPr>
                      <m:t>𝜙</m:t>
                    </m:r>
                  </m:oMath>
                </a14:m>
                <a:br>
                  <a:rPr lang="en-US" b="1" dirty="0"/>
                </a:br>
                <a:br>
                  <a:rPr lang="en-US" dirty="0"/>
                </a:br>
                <a14:m>
                  <m:oMath xmlns:m="http://schemas.openxmlformats.org/officeDocument/2006/math">
                    <m:r>
                      <a:rPr lang="en-US" sz="3250" i="1">
                        <a:latin typeface="Cambria Math" panose="02040503050406030204" pitchFamily="18" charset="0"/>
                      </a:rPr>
                      <m:t>𝐾</m:t>
                    </m:r>
                    <m:r>
                      <a:rPr lang="en-US" sz="3250" i="1">
                        <a:latin typeface="Cambria Math" panose="02040503050406030204" pitchFamily="18" charset="0"/>
                      </a:rPr>
                      <m:t>(</m:t>
                    </m:r>
                    <m:sSub>
                      <m:sSubPr>
                        <m:ctrlPr>
                          <a:rPr lang="en-US" sz="3250" b="0" i="1" smtClean="0">
                            <a:latin typeface="Cambria Math" panose="02040503050406030204" pitchFamily="18" charset="0"/>
                          </a:rPr>
                        </m:ctrlPr>
                      </m:sSubPr>
                      <m:e>
                        <m:r>
                          <a:rPr lang="en-US" sz="3250" b="0" i="1" smtClean="0">
                            <a:latin typeface="Cambria Math" panose="02040503050406030204" pitchFamily="18" charset="0"/>
                          </a:rPr>
                          <m:t>𝑥</m:t>
                        </m:r>
                      </m:e>
                      <m:sub>
                        <m:r>
                          <a:rPr lang="en-US" sz="3250" b="0" i="1" smtClean="0">
                            <a:latin typeface="Cambria Math" panose="02040503050406030204" pitchFamily="18" charset="0"/>
                          </a:rPr>
                          <m:t>𝑖</m:t>
                        </m:r>
                      </m:sub>
                    </m:sSub>
                    <m:r>
                      <a:rPr lang="en-US" sz="3250" i="1">
                        <a:latin typeface="Cambria Math" panose="02040503050406030204" pitchFamily="18" charset="0"/>
                      </a:rPr>
                      <m:t>,</m:t>
                    </m:r>
                    <m:sSub>
                      <m:sSubPr>
                        <m:ctrlPr>
                          <a:rPr lang="en-US" sz="3250" b="0" i="1" smtClean="0">
                            <a:latin typeface="Cambria Math" panose="02040503050406030204" pitchFamily="18" charset="0"/>
                          </a:rPr>
                        </m:ctrlPr>
                      </m:sSubPr>
                      <m:e>
                        <m:r>
                          <a:rPr lang="en-US" sz="3250" b="0" i="1" smtClean="0">
                            <a:latin typeface="Cambria Math" panose="02040503050406030204" pitchFamily="18" charset="0"/>
                          </a:rPr>
                          <m:t>𝑥</m:t>
                        </m:r>
                      </m:e>
                      <m:sub>
                        <m:r>
                          <a:rPr lang="en-US" sz="3250" b="0" i="1" smtClean="0">
                            <a:latin typeface="Cambria Math" panose="02040503050406030204" pitchFamily="18" charset="0"/>
                          </a:rPr>
                          <m:t>𝑗</m:t>
                        </m:r>
                      </m:sub>
                    </m:sSub>
                    <m:r>
                      <a:rPr lang="en-US" sz="3250" i="1">
                        <a:latin typeface="Cambria Math" panose="02040503050406030204" pitchFamily="18" charset="0"/>
                      </a:rPr>
                      <m:t>)=</m:t>
                    </m:r>
                    <m:r>
                      <a:rPr lang="en-US" sz="3250" i="1">
                        <a:latin typeface="Cambria Math" panose="02040503050406030204" pitchFamily="18" charset="0"/>
                      </a:rPr>
                      <m:t>𝜙</m:t>
                    </m:r>
                    <m:r>
                      <a:rPr lang="en-US" sz="3250" i="1">
                        <a:latin typeface="Cambria Math" panose="02040503050406030204" pitchFamily="18" charset="0"/>
                      </a:rPr>
                      <m:t>(</m:t>
                    </m:r>
                    <m:sSub>
                      <m:sSubPr>
                        <m:ctrlPr>
                          <a:rPr lang="en-US" sz="3250" b="0" i="1" smtClean="0">
                            <a:latin typeface="Cambria Math" panose="02040503050406030204" pitchFamily="18" charset="0"/>
                          </a:rPr>
                        </m:ctrlPr>
                      </m:sSubPr>
                      <m:e>
                        <m:r>
                          <a:rPr lang="en-US" sz="3250" b="0" i="1" smtClean="0">
                            <a:latin typeface="Cambria Math" panose="02040503050406030204" pitchFamily="18" charset="0"/>
                          </a:rPr>
                          <m:t>𝑥</m:t>
                        </m:r>
                      </m:e>
                      <m:sub>
                        <m:r>
                          <a:rPr lang="en-US" sz="3250" b="0" i="1" smtClean="0">
                            <a:latin typeface="Cambria Math" panose="02040503050406030204" pitchFamily="18" charset="0"/>
                          </a:rPr>
                          <m:t>𝑖</m:t>
                        </m:r>
                      </m:sub>
                    </m:sSub>
                    <m:sSup>
                      <m:sSupPr>
                        <m:ctrlPr>
                          <a:rPr lang="ar-AE" sz="3250" i="1">
                            <a:latin typeface="Cambria Math" panose="02040503050406030204" pitchFamily="18" charset="0"/>
                          </a:rPr>
                        </m:ctrlPr>
                      </m:sSupPr>
                      <m:e>
                        <m:r>
                          <a:rPr lang="ar-AE" sz="3250" i="1">
                            <a:latin typeface="Cambria Math" panose="02040503050406030204" pitchFamily="18" charset="0"/>
                          </a:rPr>
                          <m:t>)</m:t>
                        </m:r>
                      </m:e>
                      <m:sup>
                        <m:r>
                          <a:rPr lang="ar-AE" sz="3250" i="1">
                            <a:latin typeface="Cambria Math" panose="02040503050406030204" pitchFamily="18" charset="0"/>
                          </a:rPr>
                          <m:t>⊤</m:t>
                        </m:r>
                      </m:sup>
                    </m:sSup>
                    <m:r>
                      <a:rPr lang="ar-AE" sz="3250" i="1">
                        <a:latin typeface="Cambria Math" panose="02040503050406030204" pitchFamily="18" charset="0"/>
                      </a:rPr>
                      <m:t>𝜙</m:t>
                    </m:r>
                    <m:d>
                      <m:dPr>
                        <m:ctrlPr>
                          <a:rPr lang="en-US" sz="3250" b="0" i="1" smtClean="0">
                            <a:latin typeface="Cambria Math" panose="02040503050406030204" pitchFamily="18" charset="0"/>
                          </a:rPr>
                        </m:ctrlPr>
                      </m:dPr>
                      <m:e>
                        <m:sSub>
                          <m:sSubPr>
                            <m:ctrlPr>
                              <a:rPr lang="en-US" sz="3250" b="0" i="1" smtClean="0">
                                <a:latin typeface="Cambria Math" panose="02040503050406030204" pitchFamily="18" charset="0"/>
                              </a:rPr>
                            </m:ctrlPr>
                          </m:sSubPr>
                          <m:e>
                            <m:r>
                              <a:rPr lang="en-US" sz="3250" b="0" i="1" smtClean="0">
                                <a:latin typeface="Cambria Math" panose="02040503050406030204" pitchFamily="18" charset="0"/>
                              </a:rPr>
                              <m:t>𝑥</m:t>
                            </m:r>
                          </m:e>
                          <m:sub>
                            <m:r>
                              <a:rPr lang="en-US" sz="3250" b="0" i="1" smtClean="0">
                                <a:latin typeface="Cambria Math" panose="02040503050406030204" pitchFamily="18" charset="0"/>
                              </a:rPr>
                              <m:t>𝑗</m:t>
                            </m:r>
                          </m:sub>
                        </m:sSub>
                      </m:e>
                    </m:d>
                  </m:oMath>
                </a14:m>
                <a:br>
                  <a:rPr lang="en-US" dirty="0"/>
                </a:br>
                <a:endParaRPr lang="en-US" dirty="0"/>
              </a:p>
              <a:p>
                <a:r>
                  <a:rPr lang="en-US" dirty="0"/>
                  <a:t>It computes the dot product in feature space </a:t>
                </a:r>
                <a:r>
                  <a:rPr lang="en-US" b="1" dirty="0"/>
                  <a:t>without explicitly computing </a:t>
                </a:r>
                <a14:m>
                  <m:oMath xmlns:m="http://schemas.openxmlformats.org/officeDocument/2006/math">
                    <m:r>
                      <a:rPr lang="en-US" i="1">
                        <a:latin typeface="Cambria Math" panose="02040503050406030204" pitchFamily="18" charset="0"/>
                      </a:rPr>
                      <m:t>𝜙</m:t>
                    </m:r>
                  </m:oMath>
                </a14:m>
                <a:r>
                  <a:rPr lang="en-US" dirty="0"/>
                  <a:t>.</a:t>
                </a:r>
              </a:p>
              <a:p>
                <a:r>
                  <a:rPr lang="en-US" dirty="0"/>
                  <a:t>This is the kernel trick.</a:t>
                </a:r>
              </a:p>
              <a:p>
                <a:endParaRPr lang="en-US" dirty="0"/>
              </a:p>
            </p:txBody>
          </p:sp>
        </mc:Choice>
        <mc:Fallback xmlns="">
          <p:sp>
            <p:nvSpPr>
              <p:cNvPr id="2" name="Text Placeholder 1">
                <a:extLst>
                  <a:ext uri="{FF2B5EF4-FFF2-40B4-BE49-F238E27FC236}">
                    <a16:creationId xmlns:a16="http://schemas.microsoft.com/office/drawing/2014/main" id="{6936B0CC-459C-C8C3-3A17-949AC8A8174D}"/>
                  </a:ext>
                </a:extLst>
              </p:cNvPr>
              <p:cNvSpPr>
                <a:spLocks noGrp="1" noRot="1" noChangeAspect="1" noMove="1" noResize="1" noEditPoints="1" noAdjustHandles="1" noChangeArrowheads="1" noChangeShapeType="1" noTextEdit="1"/>
              </p:cNvSpPr>
              <p:nvPr>
                <p:ph type="body" idx="1"/>
              </p:nvPr>
            </p:nvSpPr>
            <p:spPr>
              <a:blipFill>
                <a:blip r:embed="rId2"/>
                <a:stretch>
                  <a:fillRect l="-1313" t="-559" r="-998"/>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05BD891F-1BF0-C4FD-BFD4-CDBC9DC3A15C}"/>
              </a:ext>
            </a:extLst>
          </p:cNvPr>
          <p:cNvSpPr>
            <a:spLocks noGrp="1"/>
          </p:cNvSpPr>
          <p:nvPr>
            <p:ph type="title"/>
          </p:nvPr>
        </p:nvSpPr>
        <p:spPr/>
        <p:txBody>
          <a:bodyPr/>
          <a:lstStyle/>
          <a:p>
            <a:r>
              <a:rPr lang="en-US" dirty="0"/>
              <a:t>The Kernel Trick</a:t>
            </a:r>
          </a:p>
        </p:txBody>
      </p:sp>
    </p:spTree>
    <p:extLst>
      <p:ext uri="{BB962C8B-B14F-4D97-AF65-F5344CB8AC3E}">
        <p14:creationId xmlns:p14="http://schemas.microsoft.com/office/powerpoint/2010/main" val="3429124396"/>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 name="The previous example uses the 2nd order polynomial kernel…"/>
          <p:cNvSpPr txBox="1">
            <a:spLocks noGrp="1"/>
          </p:cNvSpPr>
          <p:nvPr>
            <p:ph type="body" idx="1"/>
          </p:nvPr>
        </p:nvSpPr>
        <p:spPr>
          <a:prstGeom prst="rect">
            <a:avLst/>
          </a:prstGeom>
        </p:spPr>
        <p:txBody>
          <a:bodyPr wrap="square">
            <a:normAutofit lnSpcReduction="10000"/>
          </a:bodyPr>
          <a:lstStyle/>
          <a:p>
            <a:r>
              <a:t>Linear: </a:t>
            </a:r>
            <a:r>
              <a:rPr lang="en-US"/>
              <a:t>K(a, b) = aᵀb
A straight hyperplane in the original feature space.</a:t>
            </a:r>
          </a:p>
          <a:p>
            <a:r>
              <a:t>Polynomial: </a:t>
            </a:r>
            <a:r>
              <a:rPr lang="en-US"/>
              <a:t>K(a, b) = (γaᵀb + r)ᵈ
Adds feature interactions. Larger degree d permits more complex global boundaries.</a:t>
            </a:r>
          </a:p>
          <a:p>
            <a:r>
              <a:t>Gaussian RBF: </a:t>
            </a:r>
            <a:r>
              <a:rPr lang="en-US"/>
              <a:t>K(a, b) = exp(−γ‖a − b‖²)
Nearby points have greater similarity. Larger γ makes each point’s influence more local.</a:t>
            </a:r>
          </a:p>
          <a:p>
            <a:r>
              <a:rPr lang="en-US"/>
              <a:t>The kernel changes pairwise similarities in the dual. C still sets the penalty for margin violations.</a:t>
            </a:r>
          </a:p>
          <a:p>
            <a:r>
              <a:rPr lang="en-US"/>
              <a:t>Scale features first. Tune C and kernel parameters together using validation data.</a:t>
            </a:r>
          </a:p>
        </p:txBody>
      </p:sp>
      <p:sp>
        <p:nvSpPr>
          <p:cNvPr id="273" name="Common Kernels"/>
          <p:cNvSpPr txBox="1">
            <a:spLocks noGrp="1"/>
          </p:cNvSpPr>
          <p:nvPr>
            <p:ph type="title"/>
          </p:nvPr>
        </p:nvSpPr>
        <p:spPr>
          <a:prstGeom prst="rect">
            <a:avLst/>
          </a:prstGeom>
        </p:spPr>
        <p:txBody>
          <a:bodyPr/>
          <a:lstStyle>
            <a:lvl1pPr defTabSz="1525858">
              <a:defRPr sz="5280" spc="-105"/>
            </a:lvl1pPr>
          </a:lstStyle>
          <a:p>
            <a:r>
              <a:t>Common Kernels</a:t>
            </a:r>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5" name="Primal vs Dual Problem…"/>
          <p:cNvSpPr txBox="1">
            <a:spLocks noGrp="1"/>
          </p:cNvSpPr>
          <p:nvPr>
            <p:ph type="body" idx="1"/>
          </p:nvPr>
        </p:nvSpPr>
        <p:spPr>
          <a:prstGeom prst="rect">
            <a:avLst/>
          </a:prstGeom>
        </p:spPr>
        <p:txBody>
          <a:bodyPr wrap="square"/>
          <a:lstStyle/>
          <a:p>
            <a:r>
              <a:rPr lang="en-US"/>
              <a:t>The primal chooses </a:t>
            </a:r>
            <a:r>
              <a:rPr dirty="0"/>
              <a:t>the </a:t>
            </a:r>
            <a:r>
              <a:rPr lang="en-US"/>
              <a:t>hyperplane parameters w and b</a:t>
            </a:r>
            <a:r>
              <a:rPr dirty="0"/>
              <a:t>, </a:t>
            </a:r>
            <a:r>
              <a:rPr lang="en-US"/>
              <a:t>plus slack values </a:t>
            </a:r>
            <a:r>
              <a:rPr lang="el-GR"/>
              <a:t>ξ</a:t>
            </a:r>
            <a:r>
              <a:rPr lang="en-US"/>
              <a:t>ᵢ.</a:t>
            </a:r>
          </a:p>
          <a:p>
            <a:r>
              <a:rPr dirty="0"/>
              <a:t>The dual </a:t>
            </a:r>
            <a:r>
              <a:rPr lang="en-US"/>
              <a:t>chooses one nonnegative weight αᵢ per training observation. Each weight belongs </a:t>
            </a:r>
            <a:r>
              <a:rPr dirty="0"/>
              <a:t>to </a:t>
            </a:r>
            <a:r>
              <a:rPr lang="en-US"/>
              <a:t>that point’s margin constraint.</a:t>
            </a:r>
          </a:p>
          <a:p>
            <a:r>
              <a:rPr lang="en-US"/>
              <a:t>The optimization conditions connect </a:t>
            </a:r>
            <a:r>
              <a:rPr dirty="0"/>
              <a:t>the </a:t>
            </a:r>
            <a:r>
              <a:rPr lang="en-US"/>
              <a:t>two views:
w = ∑ᵢ αᵢyᵢφ(xᵢ)</a:t>
            </a:r>
          </a:p>
          <a:p>
            <a:r>
              <a:rPr lang="en-US"/>
              <a:t>The </a:t>
            </a:r>
            <a:r>
              <a:rPr dirty="0"/>
              <a:t>dual </a:t>
            </a:r>
            <a:r>
              <a:rPr lang="en-US"/>
              <a:t>therefore builds </a:t>
            </a:r>
            <a:r>
              <a:rPr dirty="0"/>
              <a:t>the </a:t>
            </a:r>
            <a:r>
              <a:rPr lang="en-US"/>
              <a:t>normal vector from weighted training observations in feature space.</a:t>
            </a:r>
          </a:p>
          <a:p>
            <a:r>
              <a:rPr lang="en-US"/>
              <a:t>For soft-margin SVM with C &gt; 0</a:t>
            </a:r>
            <a:r>
              <a:rPr dirty="0"/>
              <a:t>, </a:t>
            </a:r>
            <a:r>
              <a:rPr lang="en-US"/>
              <a:t>strong duality gives </a:t>
            </a:r>
            <a:r>
              <a:rPr dirty="0"/>
              <a:t>the same </a:t>
            </a:r>
            <a:r>
              <a:rPr lang="en-US"/>
              <a:t>optimal objective value. Neither formulation is always faster.</a:t>
            </a:r>
          </a:p>
        </p:txBody>
      </p:sp>
      <p:sp>
        <p:nvSpPr>
          <p:cNvPr id="276" name="So how does this all fit in to SVM?"/>
          <p:cNvSpPr txBox="1">
            <a:spLocks noGrp="1"/>
          </p:cNvSpPr>
          <p:nvPr>
            <p:ph type="title"/>
          </p:nvPr>
        </p:nvSpPr>
        <p:spPr>
          <a:prstGeom prst="rect">
            <a:avLst/>
          </a:prstGeom>
        </p:spPr>
        <p:txBody>
          <a:bodyPr/>
          <a:lstStyle>
            <a:lvl1pPr defTabSz="1525858">
              <a:defRPr sz="5280" spc="-105"/>
            </a:lvl1pPr>
          </a:lstStyle>
          <a:p>
            <a:r>
              <a:rPr lang="en-US"/>
              <a:t>Primal and Dual: The Idea</a:t>
            </a:r>
            <a:endParaRP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9" name="If you’ve never taken an optimization class, the concept of primal vs dual can be a little confusing…"/>
          <p:cNvSpPr txBox="1">
            <a:spLocks noGrp="1"/>
          </p:cNvSpPr>
          <p:nvPr>
            <p:ph type="body" idx="1"/>
          </p:nvPr>
        </p:nvSpPr>
        <p:spPr>
          <a:prstGeom prst="rect">
            <a:avLst/>
          </a:prstGeom>
        </p:spPr>
        <p:txBody>
          <a:bodyPr wrap="square"/>
          <a:lstStyle/>
          <a:p>
            <a:r>
              <a:rPr lang="en-US"/>
              <a:t>Choose </a:t>
            </a:r>
            <a:r>
              <a:rPr lang="el-GR"/>
              <a:t>α₁</a:t>
            </a:r>
            <a:r>
              <a:rPr dirty="0"/>
              <a:t>, </a:t>
            </a:r>
            <a:r>
              <a:rPr lang="el-GR"/>
              <a:t>…, α</a:t>
            </a:r>
            <a:r>
              <a:rPr lang="en-US"/>
              <a:t>ₙ to maximize</a:t>
            </a:r>
            <a:endParaRPr dirty="0"/>
          </a:p>
          <a:p>
            <a:r>
              <a:rPr lang="en-US"/>
              <a:t>∑ᵢ </a:t>
            </a:r>
            <a:r>
              <a:rPr lang="el-GR"/>
              <a:t>α</a:t>
            </a:r>
            <a:r>
              <a:rPr lang="en-US"/>
              <a:t>ᵢ − ½ ∑ᵢ ∑ⱼ </a:t>
            </a:r>
            <a:r>
              <a:rPr lang="el-GR"/>
              <a:t>α</a:t>
            </a:r>
            <a:r>
              <a:rPr lang="en-US"/>
              <a:t>ᵢ</a:t>
            </a:r>
            <a:r>
              <a:rPr lang="el-GR"/>
              <a:t>α</a:t>
            </a:r>
            <a:r>
              <a:rPr lang="en-US"/>
              <a:t>ⱼyᵢyⱼ K(xᵢ, xⱼ)</a:t>
            </a:r>
            <a:endParaRPr dirty="0"/>
          </a:p>
          <a:p>
            <a:r>
              <a:rPr lang="en-US"/>
              <a:t>Subject to:   0 ≤ αᵢ ≤ C </a:t>
            </a:r>
            <a:r>
              <a:rPr dirty="0"/>
              <a:t>for </a:t>
            </a:r>
            <a:r>
              <a:rPr lang="en-US"/>
              <a:t>every i
</a:t>
            </a:r>
            <a:r>
              <a:rPr dirty="0"/>
              <a:t>and </a:t>
            </a:r>
            <a:r>
              <a:rPr lang="en-US"/>
              <a:t>            ∑ᵢ </a:t>
            </a:r>
            <a:r>
              <a:rPr lang="el-GR"/>
              <a:t>α</a:t>
            </a:r>
            <a:r>
              <a:rPr lang="en-US"/>
              <a:t>ᵢyᵢ = 0</a:t>
            </a:r>
            <a:endParaRPr dirty="0"/>
          </a:p>
          <a:p>
            <a:r>
              <a:rPr lang="en-US"/>
              <a:t>K(xᵢ, xⱼ) = φ(xᵢ)ᵀφ(xⱼ). For a linear SVM, K(xᵢ, xⱼ) = xᵢᵀxⱼ.</a:t>
            </a:r>
          </a:p>
          <a:p>
            <a:r>
              <a:rPr lang="en-US"/>
              <a:t>The first term rewards weight on active constraints. The quadratic term equals ½‖w‖² for the implied w.</a:t>
            </a:r>
          </a:p>
        </p:txBody>
      </p:sp>
      <p:sp>
        <p:nvSpPr>
          <p:cNvPr id="290" name="Math is cool"/>
          <p:cNvSpPr txBox="1">
            <a:spLocks noGrp="1"/>
          </p:cNvSpPr>
          <p:nvPr>
            <p:ph type="title"/>
          </p:nvPr>
        </p:nvSpPr>
        <p:spPr>
          <a:prstGeom prst="rect">
            <a:avLst/>
          </a:prstGeom>
        </p:spPr>
        <p:txBody>
          <a:bodyPr/>
          <a:lstStyle>
            <a:lvl1pPr defTabSz="1525858">
              <a:defRPr sz="5280" spc="-105"/>
            </a:lvl1pPr>
          </a:lstStyle>
          <a:p>
            <a:r>
              <a:rPr lang="en-US"/>
              <a:t>The SVM Dual Problem</a:t>
            </a:r>
            <a:endParaRP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wrap="square"/>
          <a:lstStyle/>
          <a:p>
            <a:r>
              <a:t>αᵢ = 0: the observation contributes no term to the prediction. Points strictly beyond the margin have zero weight.</a:t>
            </a:r>
          </a:p>
          <a:p>
            <a:r>
              <a:t>0 &lt; αᵢ &lt; C: the observation lies exactly on its margin edge. It is a support vector.</a:t>
            </a:r>
          </a:p>
          <a:p>
            <a:r>
              <a:t>αᵢ = C: the observation lies on or inside its margin edge. It may be correctly classified or misclassified.</a:t>
            </a:r>
          </a:p>
          <a:p>
            <a:r>
              <a:t>Example: yᵢ = +1 and f(xᵢ) = 0.4 give ξᵢ = 0.6 and αᵢ = C. The point violates the margin, but its label is correct.</a:t>
            </a:r>
          </a:p>
          <a:p>
            <a:r>
              <a:t>Only observations with αᵢ &gt; 0 appear in the fitted decision function.</a:t>
            </a:r>
          </a:p>
        </p:txBody>
      </p:sp>
      <p:sp>
        <p:nvSpPr>
          <p:cNvPr id="3" name="Title 2"/>
          <p:cNvSpPr>
            <a:spLocks noGrp="1"/>
          </p:cNvSpPr>
          <p:nvPr>
            <p:ph type="title"/>
          </p:nvPr>
        </p:nvSpPr>
        <p:spPr/>
        <p:txBody>
          <a:bodyPr/>
          <a:lstStyle/>
          <a:p>
            <a:r>
              <a:t>Interpreting Dual Weights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 name="A kernel function replaces the dot product in the SVM objective function…"/>
          <p:cNvSpPr txBox="1">
            <a:spLocks noGrp="1"/>
          </p:cNvSpPr>
          <p:nvPr>
            <p:ph type="body" idx="1"/>
          </p:nvPr>
        </p:nvSpPr>
        <p:spPr>
          <a:prstGeom prst="rect">
            <a:avLst/>
          </a:prstGeom>
        </p:spPr>
        <p:txBody>
          <a:bodyPr wrap="square"/>
          <a:lstStyle/>
          <a:p>
            <a:r>
              <a:rPr lang="en-US"/>
              <a:t>Training: compute K(xᵢ, xⱼ) for training pairs, then solve the dual for α and recover b.</a:t>
            </a:r>
          </a:p>
          <a:p>
            <a:r>
              <a:rPr lang="en-US"/>
              <a:t>Prediction: compare a new point x with the support vectors:</a:t>
            </a:r>
          </a:p>
          <a:p>
            <a:r>
              <a:rPr lang="en-US"/>
              <a:t>f(x) = ∑ᵢ αᵢyᵢ K(xᵢ, x) + b
Predict +1 if f(x) &gt; 0 and −1 if f(x) &lt; 0.</a:t>
            </a:r>
          </a:p>
          <a:p>
            <a:r>
              <a:t>A </a:t>
            </a:r>
            <a:r>
              <a:rPr lang="en-US"/>
              <a:t>linear </a:t>
            </a:r>
            <a:r>
              <a:t>kernel </a:t>
            </a:r>
            <a:r>
              <a:rPr lang="en-US"/>
              <a:t>gives f(x) = wᵀx + b. Other kernels can produce a curved boundary </a:t>
            </a:r>
            <a:r>
              <a:t>in the </a:t>
            </a:r>
            <a:r>
              <a:rPr lang="en-US"/>
              <a:t>original space.</a:t>
            </a:r>
            <a:endParaRPr/>
          </a:p>
          <a:p>
            <a:r>
              <a:rPr lang="en-US"/>
              <a:t>We use </a:t>
            </a:r>
            <a:r>
              <a:t>the </a:t>
            </a:r>
            <a:r>
              <a:rPr lang="en-US"/>
              <a:t>same kernel in training and prediction. We never need </a:t>
            </a:r>
            <a:r>
              <a:t>to </a:t>
            </a:r>
            <a:r>
              <a:rPr lang="en-US"/>
              <a:t>construct </a:t>
            </a:r>
            <a:r>
              <a:rPr lang="el-GR"/>
              <a:t>φ(</a:t>
            </a:r>
            <a:r>
              <a:rPr lang="en-US"/>
              <a:t>x) </a:t>
            </a:r>
            <a:r>
              <a:t>explicitly</a:t>
            </a:r>
            <a:r>
              <a:rPr lang="en-US"/>
              <a:t>.</a:t>
            </a:r>
          </a:p>
        </p:txBody>
      </p:sp>
      <p:sp>
        <p:nvSpPr>
          <p:cNvPr id="293" name="Summary of the Kernel Trick in SVM"/>
          <p:cNvSpPr txBox="1">
            <a:spLocks noGrp="1"/>
          </p:cNvSpPr>
          <p:nvPr>
            <p:ph type="title"/>
          </p:nvPr>
        </p:nvSpPr>
        <p:spPr>
          <a:xfrm>
            <a:off x="698500" y="439092"/>
            <a:ext cx="11607800" cy="1016001"/>
          </a:xfrm>
          <a:prstGeom prst="rect">
            <a:avLst/>
          </a:prstGeom>
        </p:spPr>
        <p:txBody>
          <a:bodyPr/>
          <a:lstStyle>
            <a:lvl1pPr defTabSz="1525858">
              <a:defRPr sz="5280" spc="-105"/>
            </a:lvl1pPr>
          </a:lstStyle>
          <a:p>
            <a:r>
              <a:t>Kernel </a:t>
            </a:r>
            <a:r>
              <a:rPr lang="en-US"/>
              <a:t>Training and Prediction</a:t>
            </a:r>
            <a:endParaRPr/>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 name="Gaussian RBF Kernel"/>
          <p:cNvSpPr txBox="1">
            <a:spLocks noGrp="1"/>
          </p:cNvSpPr>
          <p:nvPr>
            <p:ph type="title"/>
          </p:nvPr>
        </p:nvSpPr>
        <p:spPr>
          <a:prstGeom prst="rect">
            <a:avLst/>
          </a:prstGeom>
        </p:spPr>
        <p:txBody>
          <a:bodyPr/>
          <a:lstStyle/>
          <a:p>
            <a:r>
              <a:t>Gaussian RBF Kernel</a:t>
            </a:r>
          </a:p>
        </p:txBody>
      </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97" name="The Gaussian RBF kernel is very popular and is the default for the SVC and SVR functions in sklearn"/>
              <p:cNvSpPr txBox="1">
                <a:spLocks noGrp="1"/>
              </p:cNvSpPr>
              <p:nvPr>
                <p:ph type="body" idx="1"/>
              </p:nvPr>
            </p:nvSpPr>
            <p:spPr>
              <a:xfrm>
                <a:off x="698500" y="2018738"/>
                <a:ext cx="11607800" cy="7372318"/>
              </a:xfrm>
              <a:prstGeom prst="rect">
                <a:avLst/>
              </a:prstGeom>
            </p:spPr>
            <p:txBody>
              <a:bodyPr/>
              <a:lstStyle/>
              <a:p>
                <a:r>
                  <a:t>The Gaussian RBF kernel is very popular and is the default for the </a:t>
                </a:r>
                <a:r>
                  <a:rPr b="1">
                    <a:latin typeface="Courier New"/>
                    <a:ea typeface="Courier New"/>
                    <a:cs typeface="Courier New"/>
                    <a:sym typeface="Courier New"/>
                  </a:rPr>
                  <a:t>SVC</a:t>
                </a:r>
                <a:r>
                  <a:t> and </a:t>
                </a:r>
                <a:r>
                  <a:rPr b="1">
                    <a:latin typeface="Courier New"/>
                    <a:ea typeface="Courier New"/>
                    <a:cs typeface="Courier New"/>
                    <a:sym typeface="Courier New"/>
                  </a:rPr>
                  <a:t>SVR</a:t>
                </a:r>
                <a:r>
                  <a:t> functions in sklearn</a:t>
                </a:r>
              </a:p>
              <a:p>
                <a14:m>
                  <m:oMath xmlns:m="http://schemas.openxmlformats.org/officeDocument/2006/math">
                    <m:r>
                      <a:rPr sz="3250" i="1">
                        <a:solidFill>
                          <a:srgbClr val="000000"/>
                        </a:solidFill>
                        <a:latin typeface="Cambria Math" panose="02040503050406030204" pitchFamily="18" charset="0"/>
                      </a:rPr>
                      <m:t>𝐾</m:t>
                    </m:r>
                    <m:r>
                      <a:rPr sz="3250" i="1">
                        <a:solidFill>
                          <a:srgbClr val="000000"/>
                        </a:solidFill>
                        <a:latin typeface="Cambria Math" panose="02040503050406030204" pitchFamily="18" charset="0"/>
                      </a:rPr>
                      <m:t>(</m:t>
                    </m:r>
                    <m:r>
                      <a:rPr sz="3250" i="1">
                        <a:solidFill>
                          <a:srgbClr val="000000"/>
                        </a:solidFill>
                        <a:latin typeface="Cambria Math" panose="02040503050406030204" pitchFamily="18" charset="0"/>
                      </a:rPr>
                      <m:t>𝐚</m:t>
                    </m:r>
                    <m:r>
                      <a:rPr sz="3250" i="1">
                        <a:solidFill>
                          <a:srgbClr val="000000"/>
                        </a:solidFill>
                        <a:latin typeface="Cambria Math" panose="02040503050406030204" pitchFamily="18" charset="0"/>
                      </a:rPr>
                      <m:t>,</m:t>
                    </m:r>
                    <m:r>
                      <a:rPr sz="3250" i="1">
                        <a:solidFill>
                          <a:srgbClr val="000000"/>
                        </a:solidFill>
                        <a:latin typeface="Cambria Math" panose="02040503050406030204" pitchFamily="18" charset="0"/>
                      </a:rPr>
                      <m:t>𝐛</m:t>
                    </m:r>
                    <m:r>
                      <a:rPr sz="3250" i="1">
                        <a:solidFill>
                          <a:srgbClr val="000000"/>
                        </a:solidFill>
                        <a:latin typeface="Cambria Math" panose="02040503050406030204" pitchFamily="18" charset="0"/>
                      </a:rPr>
                      <m:t>)=</m:t>
                    </m:r>
                    <m:r>
                      <m:rPr>
                        <m:sty m:val="p"/>
                      </m:rPr>
                      <a:rPr sz="3250" i="1">
                        <a:solidFill>
                          <a:srgbClr val="000000"/>
                        </a:solidFill>
                        <a:latin typeface="Cambria Math" panose="02040503050406030204" pitchFamily="18" charset="0"/>
                      </a:rPr>
                      <m:t>exp</m:t>
                    </m:r>
                    <m:r>
                      <a:rPr sz="3250" i="1">
                        <a:solidFill>
                          <a:srgbClr val="000000"/>
                        </a:solidFill>
                        <a:latin typeface="Cambria Math" panose="02040503050406030204" pitchFamily="18" charset="0"/>
                      </a:rPr>
                      <m:t>(−</m:t>
                    </m:r>
                    <m:r>
                      <a:rPr sz="3250" i="1">
                        <a:solidFill>
                          <a:srgbClr val="000000"/>
                        </a:solidFill>
                        <a:latin typeface="Cambria Math" panose="02040503050406030204" pitchFamily="18" charset="0"/>
                      </a:rPr>
                      <m:t>𝛾</m:t>
                    </m:r>
                    <m:r>
                      <a:rPr sz="3250" i="1">
                        <a:solidFill>
                          <a:srgbClr val="000000"/>
                        </a:solidFill>
                        <a:latin typeface="Cambria Math" panose="02040503050406030204" pitchFamily="18" charset="0"/>
                      </a:rPr>
                      <m:t>(||</m:t>
                    </m:r>
                    <m:r>
                      <a:rPr sz="3250" i="1">
                        <a:solidFill>
                          <a:srgbClr val="000000"/>
                        </a:solidFill>
                        <a:latin typeface="Cambria Math" panose="02040503050406030204" pitchFamily="18" charset="0"/>
                      </a:rPr>
                      <m:t>𝐚</m:t>
                    </m:r>
                    <m:r>
                      <a:rPr sz="3250" i="1">
                        <a:solidFill>
                          <a:srgbClr val="000000"/>
                        </a:solidFill>
                        <a:latin typeface="Cambria Math" panose="02040503050406030204" pitchFamily="18" charset="0"/>
                      </a:rPr>
                      <m:t>−</m:t>
                    </m:r>
                    <m:r>
                      <a:rPr sz="3250" i="1">
                        <a:solidFill>
                          <a:srgbClr val="000000"/>
                        </a:solidFill>
                        <a:latin typeface="Cambria Math" panose="02040503050406030204" pitchFamily="18" charset="0"/>
                      </a:rPr>
                      <m:t>𝐛</m:t>
                    </m:r>
                    <m:r>
                      <a:rPr sz="3250" i="1">
                        <a:solidFill>
                          <a:srgbClr val="000000"/>
                        </a:solidFill>
                        <a:latin typeface="Cambria Math" panose="02040503050406030204" pitchFamily="18" charset="0"/>
                      </a:rPr>
                      <m:t>|</m:t>
                    </m:r>
                    <m:sSup>
                      <m:sSupPr>
                        <m:ctrlPr>
                          <a:rPr sz="3250" i="1">
                            <a:solidFill>
                              <a:srgbClr val="000000"/>
                            </a:solidFill>
                            <a:latin typeface="Cambria Math" panose="02040503050406030204" pitchFamily="18" charset="0"/>
                          </a:rPr>
                        </m:ctrlPr>
                      </m:sSupPr>
                      <m:e>
                        <m:r>
                          <a:rPr sz="3250" i="1">
                            <a:solidFill>
                              <a:srgbClr val="000000"/>
                            </a:solidFill>
                            <a:latin typeface="Cambria Math" panose="02040503050406030204" pitchFamily="18" charset="0"/>
                          </a:rPr>
                          <m:t>|</m:t>
                        </m:r>
                      </m:e>
                      <m:sup>
                        <m:r>
                          <a:rPr sz="3250" i="1">
                            <a:solidFill>
                              <a:srgbClr val="000000"/>
                            </a:solidFill>
                            <a:latin typeface="Cambria Math" panose="02040503050406030204" pitchFamily="18" charset="0"/>
                          </a:rPr>
                          <m:t>2</m:t>
                        </m:r>
                      </m:sup>
                    </m:sSup>
                    <m:r>
                      <a:rPr sz="3250" i="1">
                        <a:solidFill>
                          <a:srgbClr val="000000"/>
                        </a:solidFill>
                        <a:latin typeface="Cambria Math" panose="02040503050406030204" pitchFamily="18" charset="0"/>
                      </a:rPr>
                      <m:t>)</m:t>
                    </m:r>
                  </m:oMath>
                </a14:m>
                <a:endParaRPr/>
              </a:p>
            </p:txBody>
          </p:sp>
        </mc:Choice>
        <mc:Fallback xmlns="">
          <p:sp>
            <p:nvSpPr>
              <p:cNvPr id="297" name="The Gaussian RBF kernel is very popular and is the default for the SVC and SVR functions in sklearn"/>
              <p:cNvSpPr txBox="1">
                <a:spLocks noGrp="1" noRot="1" noChangeAspect="1" noMove="1" noResize="1" noEditPoints="1" noAdjustHandles="1" noChangeArrowheads="1" noChangeShapeType="1" noTextEdit="1"/>
              </p:cNvSpPr>
              <p:nvPr>
                <p:ph type="body" idx="1"/>
              </p:nvPr>
            </p:nvSpPr>
            <p:spPr>
              <a:xfrm>
                <a:off x="698500" y="2018738"/>
                <a:ext cx="11607800" cy="7372318"/>
              </a:xfrm>
              <a:prstGeom prst="rect">
                <a:avLst/>
              </a:prstGeom>
              <a:blipFill>
                <a:blip r:embed="rId2"/>
                <a:stretch>
                  <a:fillRect l="-1313" t="-1653"/>
                </a:stretch>
              </a:blipFill>
            </p:spPr>
            <p:txBody>
              <a:bodyPr/>
              <a:lstStyle/>
              <a:p>
                <a:r>
                  <a:rPr lang="en-US">
                    <a:noFill/>
                  </a:rPr>
                  <a:t> </a:t>
                </a:r>
              </a:p>
            </p:txBody>
          </p:sp>
        </mc:Fallback>
      </mc:AlternateContent>
      <p:sp>
        <p:nvSpPr>
          <p:cNvPr id="298" name="More about the RBF Kernel"/>
          <p:cNvSpPr txBox="1">
            <a:spLocks noGrp="1"/>
          </p:cNvSpPr>
          <p:nvPr>
            <p:ph type="title"/>
          </p:nvPr>
        </p:nvSpPr>
        <p:spPr>
          <a:prstGeom prst="rect">
            <a:avLst/>
          </a:prstGeom>
        </p:spPr>
        <p:txBody>
          <a:bodyPr/>
          <a:lstStyle>
            <a:lvl1pPr defTabSz="1525858">
              <a:defRPr sz="5280" spc="-105"/>
            </a:lvl1pPr>
          </a:lstStyle>
          <a:p>
            <a:r>
              <a:t>More about the RBF Kernel</a:t>
            </a:r>
          </a:p>
        </p:txBody>
      </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Main idea…"/>
          <p:cNvSpPr txBox="1">
            <a:spLocks noGrp="1"/>
          </p:cNvSpPr>
          <p:nvPr>
            <p:ph type="body" idx="1"/>
          </p:nvPr>
        </p:nvSpPr>
        <p:spPr>
          <a:xfrm>
            <a:off x="698500" y="2018738"/>
            <a:ext cx="11607800" cy="7372318"/>
          </a:xfrm>
          <a:prstGeom prst="rect">
            <a:avLst/>
          </a:prstGeom>
        </p:spPr>
        <p:txBody>
          <a:bodyPr/>
          <a:lstStyle/>
          <a:p>
            <a:r>
              <a:t>Main idea</a:t>
            </a:r>
          </a:p>
          <a:p>
            <a:pPr lvl="1"/>
            <a:r>
              <a:t>Rather than add polynomial features, we can also add “similarity” features </a:t>
            </a:r>
          </a:p>
          <a:p>
            <a:pPr lvl="1"/>
            <a:r>
              <a:t>The “similarity” features will also transform to a higher dimension</a:t>
            </a:r>
          </a:p>
          <a:p>
            <a:pPr lvl="2"/>
            <a:r>
              <a:t>Similarity features represent the similarity between two or more data points</a:t>
            </a:r>
          </a:p>
          <a:p>
            <a:pPr lvl="2"/>
            <a:r>
              <a:t>For example we can add features based on the RBF similarity function from several arbitrary landmarks </a:t>
            </a:r>
          </a:p>
          <a:p>
            <a:pPr lvl="2"/>
            <a:r>
              <a:t>RBF kernel corresponds to infinite-dimensional space</a:t>
            </a:r>
          </a:p>
        </p:txBody>
      </p:sp>
      <p:sp>
        <p:nvSpPr>
          <p:cNvPr id="301" name="More about the RBF Kernel"/>
          <p:cNvSpPr txBox="1">
            <a:spLocks noGrp="1"/>
          </p:cNvSpPr>
          <p:nvPr>
            <p:ph type="title"/>
          </p:nvPr>
        </p:nvSpPr>
        <p:spPr>
          <a:prstGeom prst="rect">
            <a:avLst/>
          </a:prstGeom>
        </p:spPr>
        <p:txBody>
          <a:bodyPr/>
          <a:lstStyle>
            <a:lvl1pPr defTabSz="1525858">
              <a:defRPr sz="5280" spc="-105"/>
            </a:lvl1pPr>
          </a:lstStyle>
          <a:p>
            <a:r>
              <a:t>More about the RBF Kernel</a:t>
            </a:r>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03" name="Example where original features space is 1-dimensional (just  )…"/>
              <p:cNvSpPr txBox="1">
                <a:spLocks noGrp="1"/>
              </p:cNvSpPr>
              <p:nvPr>
                <p:ph type="body" sz="half" idx="1"/>
              </p:nvPr>
            </p:nvSpPr>
            <p:spPr>
              <a:xfrm>
                <a:off x="698500" y="5942499"/>
                <a:ext cx="11607800" cy="3844258"/>
              </a:xfrm>
              <a:prstGeom prst="rect">
                <a:avLst/>
              </a:prstGeom>
            </p:spPr>
            <p:txBody>
              <a:bodyPr/>
              <a:lstStyle/>
              <a:p>
                <a:pPr marL="380999" indent="-380999">
                  <a:defRPr sz="2700"/>
                </a:pPr>
                <a:r>
                  <a:t>Example where original features space is 1-dimensional (just </a:t>
                </a:r>
                <a14:m>
                  <m:oMath xmlns:m="http://schemas.openxmlformats.org/officeDocument/2006/math">
                    <m:sSub>
                      <m:sSubPr>
                        <m:ctrlPr>
                          <a:rPr sz="2950" i="1">
                            <a:solidFill>
                              <a:srgbClr val="000000"/>
                            </a:solidFill>
                            <a:latin typeface="Cambria Math" panose="02040503050406030204" pitchFamily="18" charset="0"/>
                          </a:rPr>
                        </m:ctrlPr>
                      </m:sSubPr>
                      <m:e>
                        <m:r>
                          <a:rPr sz="2950" i="1">
                            <a:solidFill>
                              <a:srgbClr val="000000"/>
                            </a:solidFill>
                            <a:latin typeface="Cambria Math" panose="02040503050406030204" pitchFamily="18" charset="0"/>
                          </a:rPr>
                          <m:t>𝑥</m:t>
                        </m:r>
                      </m:e>
                      <m:sub>
                        <m:r>
                          <a:rPr sz="2950" i="1">
                            <a:solidFill>
                              <a:srgbClr val="000000"/>
                            </a:solidFill>
                            <a:latin typeface="Cambria Math" panose="02040503050406030204" pitchFamily="18" charset="0"/>
                          </a:rPr>
                          <m:t>1</m:t>
                        </m:r>
                      </m:sub>
                    </m:sSub>
                  </m:oMath>
                </a14:m>
                <a:r>
                  <a:t>)</a:t>
                </a:r>
              </a:p>
              <a:p>
                <a:pPr marL="380999" indent="-380999">
                  <a:defRPr sz="2700"/>
                </a:pPr>
                <a:r>
                  <a:t>Let </a:t>
                </a:r>
                <a14:m>
                  <m:oMath xmlns:m="http://schemas.openxmlformats.org/officeDocument/2006/math">
                    <m:sSub>
                      <m:sSubPr>
                        <m:ctrlPr>
                          <a:rPr sz="2950" i="1">
                            <a:solidFill>
                              <a:srgbClr val="000000"/>
                            </a:solidFill>
                            <a:latin typeface="Cambria Math" panose="02040503050406030204" pitchFamily="18" charset="0"/>
                          </a:rPr>
                        </m:ctrlPr>
                      </m:sSubPr>
                      <m:e>
                        <m:r>
                          <a:rPr sz="2950" i="1">
                            <a:solidFill>
                              <a:srgbClr val="000000"/>
                            </a:solidFill>
                            <a:latin typeface="Cambria Math" panose="02040503050406030204" pitchFamily="18" charset="0"/>
                          </a:rPr>
                          <m:t>𝑥</m:t>
                        </m:r>
                      </m:e>
                      <m:sub>
                        <m:r>
                          <a:rPr sz="2950" i="1">
                            <a:solidFill>
                              <a:srgbClr val="000000"/>
                            </a:solidFill>
                            <a:latin typeface="Cambria Math" panose="02040503050406030204" pitchFamily="18" charset="0"/>
                          </a:rPr>
                          <m:t>2</m:t>
                        </m:r>
                      </m:sub>
                    </m:sSub>
                  </m:oMath>
                </a14:m>
                <a:r>
                  <a:t> be the similarity of </a:t>
                </a:r>
                <a14:m>
                  <m:oMath xmlns:m="http://schemas.openxmlformats.org/officeDocument/2006/math">
                    <m:sSub>
                      <m:sSubPr>
                        <m:ctrlPr>
                          <a:rPr sz="2950" i="1">
                            <a:solidFill>
                              <a:srgbClr val="000000"/>
                            </a:solidFill>
                            <a:latin typeface="Cambria Math" panose="02040503050406030204" pitchFamily="18" charset="0"/>
                          </a:rPr>
                        </m:ctrlPr>
                      </m:sSubPr>
                      <m:e>
                        <m:r>
                          <a:rPr sz="2950" i="1">
                            <a:solidFill>
                              <a:srgbClr val="000000"/>
                            </a:solidFill>
                            <a:latin typeface="Cambria Math" panose="02040503050406030204" pitchFamily="18" charset="0"/>
                          </a:rPr>
                          <m:t>𝑥</m:t>
                        </m:r>
                      </m:e>
                      <m:sub>
                        <m:r>
                          <a:rPr sz="2950" i="1">
                            <a:solidFill>
                              <a:srgbClr val="000000"/>
                            </a:solidFill>
                            <a:latin typeface="Cambria Math" panose="02040503050406030204" pitchFamily="18" charset="0"/>
                          </a:rPr>
                          <m:t>1</m:t>
                        </m:r>
                      </m:sub>
                    </m:sSub>
                  </m:oMath>
                </a14:m>
                <a:r>
                  <a:t> to landmark 1 and </a:t>
                </a:r>
                <a14:m>
                  <m:oMath xmlns:m="http://schemas.openxmlformats.org/officeDocument/2006/math">
                    <m:sSub>
                      <m:sSubPr>
                        <m:ctrlPr>
                          <a:rPr sz="2950" i="1">
                            <a:solidFill>
                              <a:srgbClr val="000000"/>
                            </a:solidFill>
                            <a:latin typeface="Cambria Math" panose="02040503050406030204" pitchFamily="18" charset="0"/>
                          </a:rPr>
                        </m:ctrlPr>
                      </m:sSubPr>
                      <m:e>
                        <m:r>
                          <a:rPr sz="2950" i="1">
                            <a:solidFill>
                              <a:srgbClr val="000000"/>
                            </a:solidFill>
                            <a:latin typeface="Cambria Math" panose="02040503050406030204" pitchFamily="18" charset="0"/>
                          </a:rPr>
                          <m:t>𝑥</m:t>
                        </m:r>
                      </m:e>
                      <m:sub>
                        <m:r>
                          <a:rPr sz="2950" i="1">
                            <a:solidFill>
                              <a:srgbClr val="000000"/>
                            </a:solidFill>
                            <a:latin typeface="Cambria Math" panose="02040503050406030204" pitchFamily="18" charset="0"/>
                          </a:rPr>
                          <m:t>3</m:t>
                        </m:r>
                      </m:sub>
                    </m:sSub>
                  </m:oMath>
                </a14:m>
                <a:r>
                  <a:t> be the similarity of </a:t>
                </a:r>
                <a14:m>
                  <m:oMath xmlns:m="http://schemas.openxmlformats.org/officeDocument/2006/math">
                    <m:sSub>
                      <m:sSubPr>
                        <m:ctrlPr>
                          <a:rPr sz="2950" i="1">
                            <a:solidFill>
                              <a:srgbClr val="000000"/>
                            </a:solidFill>
                            <a:latin typeface="Cambria Math" panose="02040503050406030204" pitchFamily="18" charset="0"/>
                          </a:rPr>
                        </m:ctrlPr>
                      </m:sSubPr>
                      <m:e>
                        <m:r>
                          <a:rPr sz="2950" i="1">
                            <a:solidFill>
                              <a:srgbClr val="000000"/>
                            </a:solidFill>
                            <a:latin typeface="Cambria Math" panose="02040503050406030204" pitchFamily="18" charset="0"/>
                          </a:rPr>
                          <m:t>𝑥</m:t>
                        </m:r>
                      </m:e>
                      <m:sub>
                        <m:r>
                          <a:rPr sz="2950" i="1">
                            <a:solidFill>
                              <a:srgbClr val="000000"/>
                            </a:solidFill>
                            <a:latin typeface="Cambria Math" panose="02040503050406030204" pitchFamily="18" charset="0"/>
                          </a:rPr>
                          <m:t>1</m:t>
                        </m:r>
                      </m:sub>
                    </m:sSub>
                  </m:oMath>
                </a14:m>
                <a:r>
                  <a:t> to landmark 2</a:t>
                </a:r>
              </a:p>
              <a:p>
                <a:pPr marL="380999" indent="-380999">
                  <a:defRPr sz="2700"/>
                </a:pPr>
                <a:r>
                  <a:t>For example, if </a:t>
                </a:r>
                <a14:m>
                  <m:oMath xmlns:m="http://schemas.openxmlformats.org/officeDocument/2006/math">
                    <m:r>
                      <a:rPr sz="2950" i="1">
                        <a:solidFill>
                          <a:srgbClr val="000000"/>
                        </a:solidFill>
                        <a:latin typeface="Cambria Math" panose="02040503050406030204" pitchFamily="18" charset="0"/>
                      </a:rPr>
                      <m:t>𝛾</m:t>
                    </m:r>
                    <m:r>
                      <a:rPr sz="2950" i="1">
                        <a:solidFill>
                          <a:srgbClr val="000000"/>
                        </a:solidFill>
                        <a:latin typeface="Cambria Math" panose="02040503050406030204" pitchFamily="18" charset="0"/>
                      </a:rPr>
                      <m:t>=0.3</m:t>
                    </m:r>
                  </m:oMath>
                </a14:m>
                <a:r>
                  <a:t>, for </a:t>
                </a:r>
                <a14:m>
                  <m:oMath xmlns:m="http://schemas.openxmlformats.org/officeDocument/2006/math">
                    <m:sSub>
                      <m:sSubPr>
                        <m:ctrlPr>
                          <a:rPr sz="2950" i="1">
                            <a:solidFill>
                              <a:srgbClr val="000000"/>
                            </a:solidFill>
                            <a:latin typeface="Cambria Math" panose="02040503050406030204" pitchFamily="18" charset="0"/>
                          </a:rPr>
                        </m:ctrlPr>
                      </m:sSubPr>
                      <m:e>
                        <m:r>
                          <a:rPr sz="2950" i="1">
                            <a:solidFill>
                              <a:srgbClr val="000000"/>
                            </a:solidFill>
                            <a:latin typeface="Cambria Math" panose="02040503050406030204" pitchFamily="18" charset="0"/>
                          </a:rPr>
                          <m:t>𝑥</m:t>
                        </m:r>
                      </m:e>
                      <m:sub>
                        <m:r>
                          <a:rPr sz="2950" i="1">
                            <a:solidFill>
                              <a:srgbClr val="000000"/>
                            </a:solidFill>
                            <a:latin typeface="Cambria Math" panose="02040503050406030204" pitchFamily="18" charset="0"/>
                          </a:rPr>
                          <m:t>1</m:t>
                        </m:r>
                      </m:sub>
                    </m:sSub>
                    <m:r>
                      <a:rPr sz="2950" i="1">
                        <a:solidFill>
                          <a:srgbClr val="000000"/>
                        </a:solidFill>
                        <a:latin typeface="Cambria Math" panose="02040503050406030204" pitchFamily="18" charset="0"/>
                      </a:rPr>
                      <m:t>=−1</m:t>
                    </m:r>
                  </m:oMath>
                </a14:m>
                <a:br/>
                <a14:m>
                  <m:oMath xmlns:m="http://schemas.openxmlformats.org/officeDocument/2006/math">
                    <m:sSub>
                      <m:sSubPr>
                        <m:ctrlPr>
                          <a:rPr sz="2950" i="1">
                            <a:solidFill>
                              <a:srgbClr val="000000"/>
                            </a:solidFill>
                            <a:latin typeface="Cambria Math" panose="02040503050406030204" pitchFamily="18" charset="0"/>
                          </a:rPr>
                        </m:ctrlPr>
                      </m:sSubPr>
                      <m:e>
                        <m:r>
                          <a:rPr sz="2950" i="1">
                            <a:solidFill>
                              <a:srgbClr val="000000"/>
                            </a:solidFill>
                            <a:latin typeface="Cambria Math" panose="02040503050406030204" pitchFamily="18" charset="0"/>
                          </a:rPr>
                          <m:t>𝑥</m:t>
                        </m:r>
                      </m:e>
                      <m:sub>
                        <m:r>
                          <a:rPr sz="2950" i="1">
                            <a:solidFill>
                              <a:srgbClr val="000000"/>
                            </a:solidFill>
                            <a:latin typeface="Cambria Math" panose="02040503050406030204" pitchFamily="18" charset="0"/>
                          </a:rPr>
                          <m:t>2</m:t>
                        </m:r>
                      </m:sub>
                    </m:sSub>
                    <m:r>
                      <a:rPr sz="2950" i="1">
                        <a:solidFill>
                          <a:srgbClr val="000000"/>
                        </a:solidFill>
                        <a:latin typeface="Cambria Math" panose="02040503050406030204" pitchFamily="18" charset="0"/>
                      </a:rPr>
                      <m:t>=</m:t>
                    </m:r>
                    <m:r>
                      <m:rPr>
                        <m:sty m:val="p"/>
                      </m:rPr>
                      <a:rPr sz="2950" i="1">
                        <a:solidFill>
                          <a:srgbClr val="000000"/>
                        </a:solidFill>
                        <a:latin typeface="Cambria Math" panose="02040503050406030204" pitchFamily="18" charset="0"/>
                      </a:rPr>
                      <m:t>exp</m:t>
                    </m:r>
                    <m:r>
                      <a:rPr sz="2950" i="1">
                        <a:solidFill>
                          <a:srgbClr val="000000"/>
                        </a:solidFill>
                        <a:latin typeface="Cambria Math" panose="02040503050406030204" pitchFamily="18" charset="0"/>
                      </a:rPr>
                      <m:t>(−0.3∗</m:t>
                    </m:r>
                    <m:sSup>
                      <m:sSupPr>
                        <m:ctrlPr>
                          <a:rPr sz="2950" i="1">
                            <a:solidFill>
                              <a:srgbClr val="000000"/>
                            </a:solidFill>
                            <a:latin typeface="Cambria Math" panose="02040503050406030204" pitchFamily="18" charset="0"/>
                          </a:rPr>
                        </m:ctrlPr>
                      </m:sSupPr>
                      <m:e>
                        <m:r>
                          <a:rPr sz="2950" i="1">
                            <a:solidFill>
                              <a:srgbClr val="000000"/>
                            </a:solidFill>
                            <a:latin typeface="Cambria Math" panose="02040503050406030204" pitchFamily="18" charset="0"/>
                          </a:rPr>
                          <m:t>1</m:t>
                        </m:r>
                      </m:e>
                      <m:sup>
                        <m:r>
                          <a:rPr sz="2950" i="1">
                            <a:solidFill>
                              <a:srgbClr val="000000"/>
                            </a:solidFill>
                            <a:latin typeface="Cambria Math" panose="02040503050406030204" pitchFamily="18" charset="0"/>
                          </a:rPr>
                          <m:t>2</m:t>
                        </m:r>
                      </m:sup>
                    </m:sSup>
                    <m:r>
                      <a:rPr sz="2950" i="1">
                        <a:solidFill>
                          <a:srgbClr val="000000"/>
                        </a:solidFill>
                        <a:latin typeface="Cambria Math" panose="02040503050406030204" pitchFamily="18" charset="0"/>
                      </a:rPr>
                      <m:t>)≈0.74</m:t>
                    </m:r>
                  </m:oMath>
                </a14:m>
                <a:br/>
                <a14:m>
                  <m:oMath xmlns:m="http://schemas.openxmlformats.org/officeDocument/2006/math">
                    <m:sSub>
                      <m:sSubPr>
                        <m:ctrlPr>
                          <a:rPr sz="2950" i="1">
                            <a:solidFill>
                              <a:srgbClr val="000000"/>
                            </a:solidFill>
                            <a:latin typeface="Cambria Math" panose="02040503050406030204" pitchFamily="18" charset="0"/>
                          </a:rPr>
                        </m:ctrlPr>
                      </m:sSubPr>
                      <m:e>
                        <m:r>
                          <a:rPr sz="2950" i="1">
                            <a:solidFill>
                              <a:srgbClr val="000000"/>
                            </a:solidFill>
                            <a:latin typeface="Cambria Math" panose="02040503050406030204" pitchFamily="18" charset="0"/>
                          </a:rPr>
                          <m:t>𝑥</m:t>
                        </m:r>
                      </m:e>
                      <m:sub>
                        <m:r>
                          <a:rPr sz="2950" i="1">
                            <a:solidFill>
                              <a:srgbClr val="000000"/>
                            </a:solidFill>
                            <a:latin typeface="Cambria Math" panose="02040503050406030204" pitchFamily="18" charset="0"/>
                          </a:rPr>
                          <m:t>3</m:t>
                        </m:r>
                      </m:sub>
                    </m:sSub>
                    <m:r>
                      <a:rPr sz="2950" i="1">
                        <a:solidFill>
                          <a:srgbClr val="000000"/>
                        </a:solidFill>
                        <a:latin typeface="Cambria Math" panose="02040503050406030204" pitchFamily="18" charset="0"/>
                      </a:rPr>
                      <m:t>=</m:t>
                    </m:r>
                    <m:r>
                      <m:rPr>
                        <m:sty m:val="p"/>
                      </m:rPr>
                      <a:rPr sz="2950" i="1">
                        <a:solidFill>
                          <a:srgbClr val="000000"/>
                        </a:solidFill>
                        <a:latin typeface="Cambria Math" panose="02040503050406030204" pitchFamily="18" charset="0"/>
                      </a:rPr>
                      <m:t>exp</m:t>
                    </m:r>
                    <m:r>
                      <a:rPr sz="2950" i="1">
                        <a:solidFill>
                          <a:srgbClr val="000000"/>
                        </a:solidFill>
                        <a:latin typeface="Cambria Math" panose="02040503050406030204" pitchFamily="18" charset="0"/>
                      </a:rPr>
                      <m:t>(−0.3∗(−2</m:t>
                    </m:r>
                    <m:sSup>
                      <m:sSupPr>
                        <m:ctrlPr>
                          <a:rPr sz="2950" i="1">
                            <a:solidFill>
                              <a:srgbClr val="000000"/>
                            </a:solidFill>
                            <a:latin typeface="Cambria Math" panose="02040503050406030204" pitchFamily="18" charset="0"/>
                          </a:rPr>
                        </m:ctrlPr>
                      </m:sSupPr>
                      <m:e>
                        <m:r>
                          <a:rPr sz="2950" i="1">
                            <a:solidFill>
                              <a:srgbClr val="000000"/>
                            </a:solidFill>
                            <a:latin typeface="Cambria Math" panose="02040503050406030204" pitchFamily="18" charset="0"/>
                          </a:rPr>
                          <m:t>)</m:t>
                        </m:r>
                      </m:e>
                      <m:sup>
                        <m:r>
                          <a:rPr sz="2950" i="1">
                            <a:solidFill>
                              <a:srgbClr val="000000"/>
                            </a:solidFill>
                            <a:latin typeface="Cambria Math" panose="02040503050406030204" pitchFamily="18" charset="0"/>
                          </a:rPr>
                          <m:t>2</m:t>
                        </m:r>
                      </m:sup>
                    </m:sSup>
                    <m:r>
                      <a:rPr sz="2950" i="1">
                        <a:solidFill>
                          <a:srgbClr val="000000"/>
                        </a:solidFill>
                        <a:latin typeface="Cambria Math" panose="02040503050406030204" pitchFamily="18" charset="0"/>
                      </a:rPr>
                      <m:t>)≈0.30</m:t>
                    </m:r>
                  </m:oMath>
                </a14:m>
                <a:endParaRPr/>
              </a:p>
            </p:txBody>
          </p:sp>
        </mc:Choice>
        <mc:Fallback xmlns="">
          <p:sp>
            <p:nvSpPr>
              <p:cNvPr id="303" name="Example where original features space is 1-dimensional (just  )…"/>
              <p:cNvSpPr txBox="1">
                <a:spLocks noGrp="1" noRot="1" noChangeAspect="1" noMove="1" noResize="1" noEditPoints="1" noAdjustHandles="1" noChangeArrowheads="1" noChangeShapeType="1" noTextEdit="1"/>
              </p:cNvSpPr>
              <p:nvPr>
                <p:ph type="body" sz="half" idx="1"/>
              </p:nvPr>
            </p:nvSpPr>
            <p:spPr>
              <a:xfrm>
                <a:off x="698500" y="5942499"/>
                <a:ext cx="11607800" cy="3844258"/>
              </a:xfrm>
              <a:prstGeom prst="rect">
                <a:avLst/>
              </a:prstGeom>
              <a:blipFill>
                <a:blip r:embed="rId2"/>
                <a:stretch>
                  <a:fillRect l="-1155" t="-1746"/>
                </a:stretch>
              </a:blipFill>
            </p:spPr>
            <p:txBody>
              <a:bodyPr/>
              <a:lstStyle/>
              <a:p>
                <a:r>
                  <a:rPr lang="en-US">
                    <a:noFill/>
                  </a:rPr>
                  <a:t> </a:t>
                </a:r>
              </a:p>
            </p:txBody>
          </p:sp>
        </mc:Fallback>
      </mc:AlternateContent>
      <p:sp>
        <p:nvSpPr>
          <p:cNvPr id="304" name="Example of Similarity Features"/>
          <p:cNvSpPr txBox="1">
            <a:spLocks noGrp="1"/>
          </p:cNvSpPr>
          <p:nvPr>
            <p:ph type="title"/>
          </p:nvPr>
        </p:nvSpPr>
        <p:spPr>
          <a:prstGeom prst="rect">
            <a:avLst/>
          </a:prstGeom>
        </p:spPr>
        <p:txBody>
          <a:bodyPr/>
          <a:lstStyle>
            <a:lvl1pPr defTabSz="1525858">
              <a:defRPr sz="5280" spc="-105"/>
            </a:lvl1pPr>
          </a:lstStyle>
          <a:p>
            <a:r>
              <a:t>Example of Similarity Features</a:t>
            </a:r>
          </a:p>
        </p:txBody>
      </p:sp>
      <p:pic>
        <p:nvPicPr>
          <p:cNvPr id="305" name="pasted-image.png" descr="pasted-image.png"/>
          <p:cNvPicPr>
            <a:picLocks noChangeAspect="1"/>
          </p:cNvPicPr>
          <p:nvPr/>
        </p:nvPicPr>
        <p:blipFill>
          <a:blip r:embed="rId3"/>
          <a:stretch>
            <a:fillRect/>
          </a:stretch>
        </p:blipFill>
        <p:spPr>
          <a:xfrm>
            <a:off x="971467" y="1662584"/>
            <a:ext cx="11504683" cy="4225999"/>
          </a:xfrm>
          <a:prstGeom prst="rect">
            <a:avLst/>
          </a:prstGeom>
          <a:ln w="12700">
            <a:miter lim="400000"/>
          </a:ln>
        </p:spPr>
      </p:pic>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07" name="The   parameter is sort of the inverse standard deviation of the Gaussian used to compute the similarity features…"/>
              <p:cNvSpPr txBox="1">
                <a:spLocks noGrp="1"/>
              </p:cNvSpPr>
              <p:nvPr>
                <p:ph type="body" idx="1"/>
              </p:nvPr>
            </p:nvSpPr>
            <p:spPr>
              <a:prstGeom prst="rect">
                <a:avLst/>
              </a:prstGeom>
            </p:spPr>
            <p:txBody>
              <a:bodyPr/>
              <a:lstStyle/>
              <a:p>
                <a:r>
                  <a:t>The </a:t>
                </a:r>
                <a14:m>
                  <m:oMath xmlns:m="http://schemas.openxmlformats.org/officeDocument/2006/math">
                    <m:r>
                      <a:rPr sz="3250" i="1">
                        <a:solidFill>
                          <a:srgbClr val="000000"/>
                        </a:solidFill>
                        <a:latin typeface="Cambria Math" panose="02040503050406030204" pitchFamily="18" charset="0"/>
                      </a:rPr>
                      <m:t>𝛾</m:t>
                    </m:r>
                  </m:oMath>
                </a14:m>
                <a:r>
                  <a:t> parameter is sort of the inverse standard deviation of the Gaussian used to compute the similarity features</a:t>
                </a:r>
              </a:p>
              <a:p>
                <a:r>
                  <a:t>As </a:t>
                </a:r>
                <a14:m>
                  <m:oMath xmlns:m="http://schemas.openxmlformats.org/officeDocument/2006/math">
                    <m:r>
                      <a:rPr sz="3250" i="1">
                        <a:solidFill>
                          <a:srgbClr val="000000"/>
                        </a:solidFill>
                        <a:latin typeface="Cambria Math" panose="02040503050406030204" pitchFamily="18" charset="0"/>
                      </a:rPr>
                      <m:t>𝛾</m:t>
                    </m:r>
                  </m:oMath>
                </a14:m>
                <a:r>
                  <a:t> decreases, the standard deviation gets larger and it is easier to have a non-negligible distance from the landmark</a:t>
                </a:r>
              </a:p>
              <a:p>
                <a:pPr lvl="1"/>
                <a:r>
                  <a:t>Small </a:t>
                </a:r>
                <a14:m>
                  <m:oMath xmlns:m="http://schemas.openxmlformats.org/officeDocument/2006/math">
                    <m:r>
                      <a:rPr sz="3250" i="1">
                        <a:solidFill>
                          <a:srgbClr val="000000"/>
                        </a:solidFill>
                        <a:latin typeface="Cambria Math" panose="02040503050406030204" pitchFamily="18" charset="0"/>
                      </a:rPr>
                      <m:t>𝛾</m:t>
                    </m:r>
                  </m:oMath>
                </a14:m>
                <a:r>
                  <a:t> will smooth more and can lead to underfitting </a:t>
                </a:r>
              </a:p>
              <a:p>
                <a:r>
                  <a:t>As </a:t>
                </a:r>
                <a14:m>
                  <m:oMath xmlns:m="http://schemas.openxmlformats.org/officeDocument/2006/math">
                    <m:r>
                      <a:rPr sz="3250" i="1">
                        <a:solidFill>
                          <a:srgbClr val="000000"/>
                        </a:solidFill>
                        <a:latin typeface="Cambria Math" panose="02040503050406030204" pitchFamily="18" charset="0"/>
                      </a:rPr>
                      <m:t>𝛾</m:t>
                    </m:r>
                  </m:oMath>
                </a14:m>
                <a:r>
                  <a:t> increases, the standard deviations get smaller and it is many of the distances from the landmark will be very close to zero</a:t>
                </a:r>
              </a:p>
              <a:p>
                <a:pPr lvl="1"/>
                <a:r>
                  <a:t>Large </a:t>
                </a:r>
                <a14:m>
                  <m:oMath xmlns:m="http://schemas.openxmlformats.org/officeDocument/2006/math">
                    <m:r>
                      <a:rPr sz="3250" i="1">
                        <a:solidFill>
                          <a:srgbClr val="000000"/>
                        </a:solidFill>
                        <a:latin typeface="Cambria Math" panose="02040503050406030204" pitchFamily="18" charset="0"/>
                      </a:rPr>
                      <m:t>𝛾</m:t>
                    </m:r>
                  </m:oMath>
                </a14:m>
                <a:r>
                  <a:t> will capture small variations and can lead to overfitting </a:t>
                </a:r>
              </a:p>
            </p:txBody>
          </p:sp>
        </mc:Choice>
        <mc:Fallback xmlns="">
          <p:sp>
            <p:nvSpPr>
              <p:cNvPr id="307" name="The   parameter is sort of the inverse standard deviation of the Gaussian used to compute the similarity features…"/>
              <p:cNvSpPr txBox="1">
                <a:spLocks noGrp="1" noRot="1" noChangeAspect="1" noMove="1" noResize="1" noEditPoints="1" noAdjustHandles="1" noChangeArrowheads="1" noChangeShapeType="1" noTextEdit="1"/>
              </p:cNvSpPr>
              <p:nvPr>
                <p:ph type="body" idx="1"/>
              </p:nvPr>
            </p:nvSpPr>
            <p:spPr>
              <a:prstGeom prst="rect">
                <a:avLst/>
              </a:prstGeom>
              <a:blipFill>
                <a:blip r:embed="rId2"/>
                <a:stretch>
                  <a:fillRect l="-1313" t="-1197" r="-2048"/>
                </a:stretch>
              </a:blipFill>
            </p:spPr>
            <p:txBody>
              <a:bodyPr/>
              <a:lstStyle/>
              <a:p>
                <a:r>
                  <a:rPr lang="en-US">
                    <a:noFill/>
                  </a:rPr>
                  <a:t> </a:t>
                </a:r>
              </a:p>
            </p:txBody>
          </p:sp>
        </mc:Fallback>
      </mc:AlternateContent>
      <p:sp>
        <p:nvSpPr>
          <p:cNvPr id="308" name="More about the RBF Kernel"/>
          <p:cNvSpPr txBox="1">
            <a:spLocks noGrp="1"/>
          </p:cNvSpPr>
          <p:nvPr>
            <p:ph type="title"/>
          </p:nvPr>
        </p:nvSpPr>
        <p:spPr>
          <a:prstGeom prst="rect">
            <a:avLst/>
          </a:prstGeom>
        </p:spPr>
        <p:txBody>
          <a:bodyPr/>
          <a:lstStyle>
            <a:lvl1pPr defTabSz="1525858">
              <a:defRPr sz="5280" spc="-105"/>
            </a:lvl1pPr>
          </a:lstStyle>
          <a:p>
            <a:r>
              <a:t>More about the RBF Kernel</a:t>
            </a:r>
          </a:p>
        </p:txBody>
      </p:sp>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10" name="Comparing"/>
              <p:cNvSpPr txBox="1">
                <a:spLocks noGrp="1"/>
              </p:cNvSpPr>
              <p:nvPr>
                <p:ph type="title"/>
              </p:nvPr>
            </p:nvSpPr>
            <p:spPr>
              <a:prstGeom prst="rect">
                <a:avLst/>
              </a:prstGeom>
            </p:spPr>
            <p:txBody>
              <a:bodyPr/>
              <a:lstStyle/>
              <a:p>
                <a:pPr defTabSz="1317786">
                  <a:defRPr sz="4560" spc="-91"/>
                </a:pPr>
                <a:r>
                  <a:t>Comparing </a:t>
                </a:r>
                <a14:m>
                  <m:oMath xmlns:m="http://schemas.openxmlformats.org/officeDocument/2006/math">
                    <m:r>
                      <a:rPr sz="5250" i="1">
                        <a:solidFill>
                          <a:srgbClr val="000000"/>
                        </a:solidFill>
                        <a:latin typeface="Cambria Math" panose="02040503050406030204" pitchFamily="18" charset="0"/>
                      </a:rPr>
                      <m:t>𝛾</m:t>
                    </m:r>
                  </m:oMath>
                </a14:m>
                <a:endParaRPr sz="6000"/>
              </a:p>
            </p:txBody>
          </p:sp>
        </mc:Choice>
        <mc:Fallback xmlns="">
          <p:sp>
            <p:nvSpPr>
              <p:cNvPr id="310" name="Comparing"/>
              <p:cNvSpPr txBox="1">
                <a:spLocks noGrp="1" noRot="1" noChangeAspect="1" noMove="1" noResize="1" noEditPoints="1" noAdjustHandles="1" noChangeArrowheads="1" noChangeShapeType="1" noTextEdit="1"/>
              </p:cNvSpPr>
              <p:nvPr>
                <p:ph type="title"/>
              </p:nvPr>
            </p:nvSpPr>
            <p:spPr>
              <a:prstGeom prst="rect">
                <a:avLst/>
              </a:prstGeom>
              <a:blipFill>
                <a:blip r:embed="rId2"/>
                <a:stretch>
                  <a:fillRect l="-2626" t="-17365" b="-2395"/>
                </a:stretch>
              </a:blipFill>
            </p:spPr>
            <p:txBody>
              <a:bodyPr/>
              <a:lstStyle/>
              <a:p>
                <a:r>
                  <a:rPr lang="en-US">
                    <a:noFill/>
                  </a:rPr>
                  <a:t> </a:t>
                </a:r>
              </a:p>
            </p:txBody>
          </p:sp>
        </mc:Fallback>
      </mc:AlternateContent>
      <p:pic>
        <p:nvPicPr>
          <p:cNvPr id="311" name="pasted-image.tiff" descr="pasted-image.tiff"/>
          <p:cNvPicPr>
            <a:picLocks noChangeAspect="1"/>
          </p:cNvPicPr>
          <p:nvPr/>
        </p:nvPicPr>
        <p:blipFill>
          <a:blip r:embed="rId3"/>
          <a:stretch>
            <a:fillRect/>
          </a:stretch>
        </p:blipFill>
        <p:spPr>
          <a:xfrm>
            <a:off x="544453" y="1786466"/>
            <a:ext cx="5045802" cy="3908466"/>
          </a:xfrm>
          <a:prstGeom prst="rect">
            <a:avLst/>
          </a:prstGeom>
          <a:ln w="12700">
            <a:miter lim="400000"/>
          </a:ln>
        </p:spPr>
      </p:pic>
      <p:pic>
        <p:nvPicPr>
          <p:cNvPr id="312" name="pasted-image.tiff" descr="pasted-image.tiff"/>
          <p:cNvPicPr>
            <a:picLocks noChangeAspect="1"/>
          </p:cNvPicPr>
          <p:nvPr/>
        </p:nvPicPr>
        <p:blipFill>
          <a:blip r:embed="rId4"/>
          <a:stretch>
            <a:fillRect/>
          </a:stretch>
        </p:blipFill>
        <p:spPr>
          <a:xfrm>
            <a:off x="544453" y="5731758"/>
            <a:ext cx="5045803" cy="3908466"/>
          </a:xfrm>
          <a:prstGeom prst="rect">
            <a:avLst/>
          </a:prstGeom>
          <a:ln w="12700">
            <a:miter lim="400000"/>
          </a:ln>
        </p:spPr>
      </p:pic>
      <p:pic>
        <p:nvPicPr>
          <p:cNvPr id="313" name="pasted-image.tiff" descr="pasted-image.tiff"/>
          <p:cNvPicPr>
            <a:picLocks noChangeAspect="1"/>
          </p:cNvPicPr>
          <p:nvPr/>
        </p:nvPicPr>
        <p:blipFill>
          <a:blip r:embed="rId5"/>
          <a:stretch>
            <a:fillRect/>
          </a:stretch>
        </p:blipFill>
        <p:spPr>
          <a:xfrm>
            <a:off x="6619355" y="3128819"/>
            <a:ext cx="5045802" cy="3908466"/>
          </a:xfrm>
          <a:prstGeom prst="rect">
            <a:avLst/>
          </a:prstGeom>
          <a:ln w="12700">
            <a:miter lim="400000"/>
          </a:ln>
        </p:spPr>
      </p:pic>
      <mc:AlternateContent xmlns:mc="http://schemas.openxmlformats.org/markup-compatibility/2006">
        <mc:Choice xmlns:a14="http://schemas.microsoft.com/office/drawing/2010/main" Requires="a14">
          <p:sp>
            <p:nvSpPr>
              <p:cNvPr id="314" name="Text"/>
              <p:cNvSpPr txBox="1"/>
              <p:nvPr/>
            </p:nvSpPr>
            <p:spPr>
              <a:xfrm>
                <a:off x="2582600" y="1710266"/>
                <a:ext cx="1427351" cy="632747"/>
              </a:xfrm>
              <a:prstGeom prst="rect">
                <a:avLst/>
              </a:prstGeom>
              <a:solidFill>
                <a:srgbClr val="FFFFFF"/>
              </a:solidFill>
              <a:ln w="12700">
                <a:miter lim="400000"/>
              </a:ln>
              <a:extLst>
                <a:ext uri="{C572A759-6A51-4108-AA02-DFA0A04FC94B}">
                  <ma14:wrappingTextBoxFlag xmlns:ma14="http://schemas.microsoft.com/office/mac/drawingml/2011/main" xmlns:m="http://schemas.openxmlformats.org/officeDocument/2006/math" xmlns="" val="1"/>
                </a:ext>
              </a:extLst>
            </p:spPr>
            <p:txBody>
              <a:bodyPr lIns="50800" tIns="50800" rIns="50800" bIns="50800" anchor="ctr">
                <a:spAutoFit/>
              </a:bodyPr>
              <a:lstStyle>
                <a:lvl1pPr>
                  <a:defRPr>
                    <a:solidFill>
                      <a:srgbClr val="000000"/>
                    </a:solidFill>
                  </a:defRPr>
                </a:lvl1pPr>
              </a:lstStyle>
              <a:p>
                <a:pPr/>
                <a14:m>
                  <m:oMathPara xmlns:m="http://schemas.openxmlformats.org/officeDocument/2006/math">
                    <m:oMathParaPr>
                      <m:jc m:val="left"/>
                    </m:oMathParaPr>
                    <m:oMath>
                      <m:r>
                        <a:rPr sz="3050" i="1">
                          <a:solidFill>
                            <a:srgbClr val="000000"/>
                          </a:solidFill>
                          <a:latin typeface="Cambria Math" panose="02040503050406030204" pitchFamily="18" charset="0"/>
                        </a:rPr>
                        <m:t>𝛾</m:t>
                      </m:r>
                      <m:r>
                        <a:rPr sz="3050" i="1">
                          <a:solidFill>
                            <a:srgbClr val="000000"/>
                          </a:solidFill>
                          <a:latin typeface="Cambria Math" panose="02040503050406030204" pitchFamily="18" charset="0"/>
                        </a:rPr>
                        <m:t>=0.1</m:t>
                      </m:r>
                    </m:oMath>
                  </m:oMathPara>
                </a14:m>
                <a:endParaRPr/>
              </a:p>
            </p:txBody>
          </p:sp>
        </mc:Choice>
        <mc:Fallback>
          <p:sp>
            <p:nvSpPr>
              <p:cNvPr id="314" name="Text"/>
              <p:cNvSpPr txBox="1">
                <a:spLocks noRot="1" noChangeAspect="1" noMove="1" noResize="1" noEditPoints="1" noAdjustHandles="1" noChangeArrowheads="1" noChangeShapeType="1" noTextEdit="1"/>
              </p:cNvSpPr>
              <p:nvPr/>
            </p:nvSpPr>
            <p:spPr>
              <a:xfrm>
                <a:off x="2582600" y="1710266"/>
                <a:ext cx="1427351" cy="632747"/>
              </a:xfrm>
              <a:prstGeom prst="rect">
                <a:avLst/>
              </a:prstGeom>
              <a:blipFill>
                <a:blip r:embed="rId6"/>
                <a:stretch>
                  <a:fillRect/>
                </a:stretch>
              </a:blipFill>
              <a:ln w="12700">
                <a:miter lim="400000"/>
              </a:ln>
              <a:extLst>
                <a:ext uri="{C572A759-6A51-4108-AA02-DFA0A04FC94B}">
                  <ma14:wrappingTextBoxFlag xmlns:ma14="http://schemas.microsoft.com/office/mac/drawingml/2011/main" xmlns:m="http://schemas.openxmlformats.org/officeDocument/2006/math" xmlns="" xmlns:a14="http://schemas.microsoft.com/office/drawing/2010/main" val="1"/>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15" name="Text"/>
              <p:cNvSpPr txBox="1"/>
              <p:nvPr/>
            </p:nvSpPr>
            <p:spPr>
              <a:xfrm>
                <a:off x="2582600" y="5655297"/>
                <a:ext cx="1427351" cy="632747"/>
              </a:xfrm>
              <a:prstGeom prst="rect">
                <a:avLst/>
              </a:prstGeom>
              <a:solidFill>
                <a:srgbClr val="FFFFFF"/>
              </a:solidFill>
              <a:ln w="12700">
                <a:miter lim="400000"/>
              </a:ln>
              <a:extLst>
                <a:ext uri="{C572A759-6A51-4108-AA02-DFA0A04FC94B}">
                  <ma14:wrappingTextBoxFlag xmlns:ma14="http://schemas.microsoft.com/office/mac/drawingml/2011/main" xmlns:m="http://schemas.openxmlformats.org/officeDocument/2006/math" xmlns="" val="1"/>
                </a:ext>
              </a:extLst>
            </p:spPr>
            <p:txBody>
              <a:bodyPr lIns="50800" tIns="50800" rIns="50800" bIns="50800" anchor="ctr">
                <a:spAutoFit/>
              </a:bodyPr>
              <a:lstStyle>
                <a:lvl1pPr>
                  <a:defRPr>
                    <a:solidFill>
                      <a:srgbClr val="000000"/>
                    </a:solidFill>
                  </a:defRPr>
                </a:lvl1pPr>
              </a:lstStyle>
              <a:p>
                <a:pPr/>
                <a14:m>
                  <m:oMathPara xmlns:m="http://schemas.openxmlformats.org/officeDocument/2006/math">
                    <m:oMathParaPr>
                      <m:jc m:val="left"/>
                    </m:oMathParaPr>
                    <m:oMath>
                      <m:r>
                        <a:rPr sz="3050" i="1">
                          <a:solidFill>
                            <a:srgbClr val="000000"/>
                          </a:solidFill>
                          <a:latin typeface="Cambria Math" panose="02040503050406030204" pitchFamily="18" charset="0"/>
                        </a:rPr>
                        <m:t>𝛾</m:t>
                      </m:r>
                      <m:r>
                        <a:rPr sz="3050" i="1">
                          <a:solidFill>
                            <a:srgbClr val="000000"/>
                          </a:solidFill>
                          <a:latin typeface="Cambria Math" panose="02040503050406030204" pitchFamily="18" charset="0"/>
                        </a:rPr>
                        <m:t>=0.5</m:t>
                      </m:r>
                    </m:oMath>
                  </m:oMathPara>
                </a14:m>
                <a:endParaRPr/>
              </a:p>
            </p:txBody>
          </p:sp>
        </mc:Choice>
        <mc:Fallback>
          <p:sp>
            <p:nvSpPr>
              <p:cNvPr id="315" name="Text"/>
              <p:cNvSpPr txBox="1">
                <a:spLocks noRot="1" noChangeAspect="1" noMove="1" noResize="1" noEditPoints="1" noAdjustHandles="1" noChangeArrowheads="1" noChangeShapeType="1" noTextEdit="1"/>
              </p:cNvSpPr>
              <p:nvPr/>
            </p:nvSpPr>
            <p:spPr>
              <a:xfrm>
                <a:off x="2582600" y="5655297"/>
                <a:ext cx="1427351" cy="632747"/>
              </a:xfrm>
              <a:prstGeom prst="rect">
                <a:avLst/>
              </a:prstGeom>
              <a:blipFill>
                <a:blip r:embed="rId7"/>
                <a:stretch>
                  <a:fillRect/>
                </a:stretch>
              </a:blipFill>
              <a:ln w="12700">
                <a:miter lim="400000"/>
              </a:ln>
              <a:extLst>
                <a:ext uri="{C572A759-6A51-4108-AA02-DFA0A04FC94B}">
                  <ma14:wrappingTextBoxFlag xmlns:ma14="http://schemas.microsoft.com/office/mac/drawingml/2011/main" xmlns:m="http://schemas.openxmlformats.org/officeDocument/2006/math" xmlns="" xmlns:a14="http://schemas.microsoft.com/office/drawing/2010/main" val="1"/>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16" name="Text"/>
              <p:cNvSpPr txBox="1"/>
              <p:nvPr/>
            </p:nvSpPr>
            <p:spPr>
              <a:xfrm>
                <a:off x="8724466" y="2927585"/>
                <a:ext cx="1427352" cy="632747"/>
              </a:xfrm>
              <a:prstGeom prst="rect">
                <a:avLst/>
              </a:prstGeom>
              <a:solidFill>
                <a:srgbClr val="FFFFFF"/>
              </a:solidFill>
              <a:ln w="12700">
                <a:miter lim="400000"/>
              </a:ln>
              <a:extLst>
                <a:ext uri="{C572A759-6A51-4108-AA02-DFA0A04FC94B}">
                  <ma14:wrappingTextBoxFlag xmlns:ma14="http://schemas.microsoft.com/office/mac/drawingml/2011/main" xmlns:m="http://schemas.openxmlformats.org/officeDocument/2006/math" xmlns="" val="1"/>
                </a:ext>
              </a:extLst>
            </p:spPr>
            <p:txBody>
              <a:bodyPr lIns="50800" tIns="50800" rIns="50800" bIns="50800" anchor="ctr">
                <a:spAutoFit/>
              </a:bodyPr>
              <a:lstStyle>
                <a:lvl1pPr>
                  <a:defRPr>
                    <a:solidFill>
                      <a:srgbClr val="000000"/>
                    </a:solidFill>
                  </a:defRPr>
                </a:lvl1pPr>
              </a:lstStyle>
              <a:p>
                <a:pPr/>
                <a14:m>
                  <m:oMathPara xmlns:m="http://schemas.openxmlformats.org/officeDocument/2006/math">
                    <m:oMathParaPr>
                      <m:jc m:val="left"/>
                    </m:oMathParaPr>
                    <m:oMath>
                      <m:r>
                        <a:rPr sz="3050" i="1">
                          <a:solidFill>
                            <a:srgbClr val="000000"/>
                          </a:solidFill>
                          <a:latin typeface="Cambria Math" panose="02040503050406030204" pitchFamily="18" charset="0"/>
                        </a:rPr>
                        <m:t>𝛾</m:t>
                      </m:r>
                      <m:r>
                        <a:rPr sz="3050" i="1">
                          <a:solidFill>
                            <a:srgbClr val="000000"/>
                          </a:solidFill>
                          <a:latin typeface="Cambria Math" panose="02040503050406030204" pitchFamily="18" charset="0"/>
                        </a:rPr>
                        <m:t>=5</m:t>
                      </m:r>
                    </m:oMath>
                  </m:oMathPara>
                </a14:m>
                <a:endParaRPr/>
              </a:p>
            </p:txBody>
          </p:sp>
        </mc:Choice>
        <mc:Fallback>
          <p:sp>
            <p:nvSpPr>
              <p:cNvPr id="316" name="Text"/>
              <p:cNvSpPr txBox="1">
                <a:spLocks noRot="1" noChangeAspect="1" noMove="1" noResize="1" noEditPoints="1" noAdjustHandles="1" noChangeArrowheads="1" noChangeShapeType="1" noTextEdit="1"/>
              </p:cNvSpPr>
              <p:nvPr/>
            </p:nvSpPr>
            <p:spPr>
              <a:xfrm>
                <a:off x="8724466" y="2927585"/>
                <a:ext cx="1427352" cy="632747"/>
              </a:xfrm>
              <a:prstGeom prst="rect">
                <a:avLst/>
              </a:prstGeom>
              <a:blipFill>
                <a:blip r:embed="rId8"/>
                <a:stretch>
                  <a:fillRect/>
                </a:stretch>
              </a:blipFill>
              <a:ln w="12700">
                <a:miter lim="400000"/>
              </a:ln>
              <a:extLst>
                <a:ext uri="{C572A759-6A51-4108-AA02-DFA0A04FC94B}">
                  <ma14:wrappingTextBoxFlag xmlns:ma14="http://schemas.microsoft.com/office/mac/drawingml/2011/main" xmlns:m="http://schemas.openxmlformats.org/officeDocument/2006/math" xmlns="" xmlns:a14="http://schemas.microsoft.com/office/drawing/2010/main" val="1"/>
                </a:ext>
              </a:extLst>
            </p:spPr>
            <p:txBody>
              <a:bodyPr/>
              <a:lstStyle/>
              <a:p>
                <a:r>
                  <a:rPr lang="en-US">
                    <a:noFill/>
                  </a:rPr>
                  <a:t> </a:t>
                </a:r>
              </a:p>
            </p:txBody>
          </p:sp>
        </mc:Fallback>
      </mc:AlternateContent>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18" name="This is a very popular kernel and is the default for the SVC function in sklearn…"/>
              <p:cNvSpPr txBox="1">
                <a:spLocks noGrp="1"/>
              </p:cNvSpPr>
              <p:nvPr>
                <p:ph type="body" idx="1"/>
              </p:nvPr>
            </p:nvSpPr>
            <p:spPr>
              <a:prstGeom prst="rect">
                <a:avLst/>
              </a:prstGeom>
            </p:spPr>
            <p:txBody>
              <a:bodyPr/>
              <a:lstStyle/>
              <a:p>
                <a:r>
                  <a:t>This is a very popular kernel and is the default for the </a:t>
                </a:r>
                <a:r>
                  <a:rPr b="1">
                    <a:latin typeface="Courier New"/>
                    <a:ea typeface="Courier New"/>
                    <a:cs typeface="Courier New"/>
                    <a:sym typeface="Courier New"/>
                  </a:rPr>
                  <a:t>SVC</a:t>
                </a:r>
                <a:r>
                  <a:t> function in sklearn</a:t>
                </a:r>
              </a:p>
              <a:p>
                <a:r>
                  <a:t>As </a:t>
                </a:r>
                <a14:m>
                  <m:oMath xmlns:m="http://schemas.openxmlformats.org/officeDocument/2006/math">
                    <m:r>
                      <a:rPr sz="3250" i="1">
                        <a:solidFill>
                          <a:srgbClr val="000000"/>
                        </a:solidFill>
                        <a:latin typeface="Cambria Math" panose="02040503050406030204" pitchFamily="18" charset="0"/>
                      </a:rPr>
                      <m:t>𝛾</m:t>
                    </m:r>
                  </m:oMath>
                </a14:m>
                <a:r>
                  <a:t> decreases, the standard deviation gets larger and it is easier to have a non-negligible distance from the landmark</a:t>
                </a:r>
              </a:p>
              <a:p>
                <a:pPr lvl="1"/>
                <a:r>
                  <a:t>Small </a:t>
                </a:r>
                <a14:m>
                  <m:oMath xmlns:m="http://schemas.openxmlformats.org/officeDocument/2006/math">
                    <m:r>
                      <a:rPr sz="3250" i="1">
                        <a:solidFill>
                          <a:srgbClr val="000000"/>
                        </a:solidFill>
                        <a:latin typeface="Cambria Math" panose="02040503050406030204" pitchFamily="18" charset="0"/>
                      </a:rPr>
                      <m:t>𝛾</m:t>
                    </m:r>
                  </m:oMath>
                </a14:m>
                <a:r>
                  <a:t> will smooth more and can lead to underfitting </a:t>
                </a:r>
              </a:p>
              <a:p>
                <a:r>
                  <a:t>As </a:t>
                </a:r>
                <a14:m>
                  <m:oMath xmlns:m="http://schemas.openxmlformats.org/officeDocument/2006/math">
                    <m:r>
                      <a:rPr sz="3250" i="1">
                        <a:solidFill>
                          <a:srgbClr val="000000"/>
                        </a:solidFill>
                        <a:latin typeface="Cambria Math" panose="02040503050406030204" pitchFamily="18" charset="0"/>
                      </a:rPr>
                      <m:t>𝛾</m:t>
                    </m:r>
                  </m:oMath>
                </a14:m>
                <a:r>
                  <a:t> increases, the standard deviations get smaller and it is many of the distances from the landmark will be very close to zero</a:t>
                </a:r>
              </a:p>
              <a:p>
                <a:pPr lvl="1"/>
                <a:r>
                  <a:t>Large </a:t>
                </a:r>
                <a14:m>
                  <m:oMath xmlns:m="http://schemas.openxmlformats.org/officeDocument/2006/math">
                    <m:r>
                      <a:rPr sz="3250" i="1">
                        <a:solidFill>
                          <a:srgbClr val="000000"/>
                        </a:solidFill>
                        <a:latin typeface="Cambria Math" panose="02040503050406030204" pitchFamily="18" charset="0"/>
                      </a:rPr>
                      <m:t>𝛾</m:t>
                    </m:r>
                  </m:oMath>
                </a14:m>
                <a:r>
                  <a:t> will capture small variations and can lead to overfitting </a:t>
                </a:r>
              </a:p>
            </p:txBody>
          </p:sp>
        </mc:Choice>
        <mc:Fallback xmlns="">
          <p:sp>
            <p:nvSpPr>
              <p:cNvPr id="318" name="This is a very popular kernel and is the default for the SVC function in sklearn…"/>
              <p:cNvSpPr txBox="1">
                <a:spLocks noGrp="1" noRot="1" noChangeAspect="1" noMove="1" noResize="1" noEditPoints="1" noAdjustHandles="1" noChangeArrowheads="1" noChangeShapeType="1" noTextEdit="1"/>
              </p:cNvSpPr>
              <p:nvPr>
                <p:ph type="body" idx="1"/>
              </p:nvPr>
            </p:nvSpPr>
            <p:spPr>
              <a:prstGeom prst="rect">
                <a:avLst/>
              </a:prstGeom>
              <a:blipFill>
                <a:blip r:embed="rId2"/>
                <a:stretch>
                  <a:fillRect l="-1313" t="-1596" r="-2048"/>
                </a:stretch>
              </a:blipFill>
            </p:spPr>
            <p:txBody>
              <a:bodyPr/>
              <a:lstStyle/>
              <a:p>
                <a:r>
                  <a:rPr lang="en-US">
                    <a:noFill/>
                  </a:rPr>
                  <a:t> </a:t>
                </a:r>
              </a:p>
            </p:txBody>
          </p:sp>
        </mc:Fallback>
      </mc:AlternateContent>
      <p:sp>
        <p:nvSpPr>
          <p:cNvPr id="319" name="Gaussian RBF Kernel"/>
          <p:cNvSpPr txBox="1">
            <a:spLocks noGrp="1"/>
          </p:cNvSpPr>
          <p:nvPr>
            <p:ph type="title"/>
          </p:nvPr>
        </p:nvSpPr>
        <p:spPr>
          <a:prstGeom prst="rect">
            <a:avLst/>
          </a:prstGeom>
        </p:spPr>
        <p:txBody>
          <a:bodyPr/>
          <a:lstStyle>
            <a:lvl1pPr defTabSz="1525858">
              <a:defRPr sz="5280" spc="-105"/>
            </a:lvl1pPr>
          </a:lstStyle>
          <a:p>
            <a:r>
              <a:t>Gaussian RBF Kernel</a:t>
            </a:r>
          </a:p>
        </p:txBody>
      </p:sp>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SVM Regression"/>
          <p:cNvSpPr txBox="1">
            <a:spLocks noGrp="1"/>
          </p:cNvSpPr>
          <p:nvPr>
            <p:ph type="title"/>
          </p:nvPr>
        </p:nvSpPr>
        <p:spPr>
          <a:prstGeom prst="rect">
            <a:avLst/>
          </a:prstGeom>
        </p:spPr>
        <p:txBody>
          <a:bodyPr/>
          <a:lstStyle/>
          <a:p>
            <a:r>
              <a:t>SVM Regression</a:t>
            </a:r>
          </a:p>
        </p:txBody>
      </p:sp>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606EE20-5D3F-F096-6FBC-D077FCC190E0}"/>
              </a:ext>
            </a:extLst>
          </p:cNvPr>
          <p:cNvSpPr>
            <a:spLocks noGrp="1"/>
          </p:cNvSpPr>
          <p:nvPr>
            <p:ph type="body" idx="1"/>
          </p:nvPr>
        </p:nvSpPr>
        <p:spPr/>
        <p:txBody>
          <a:bodyPr wrap="square"/>
          <a:lstStyle/>
          <a:p>
            <a:r>
              <a:rPr lang="en-US"/>
              <a:t>For regression, predict a numeric response:
f(x) = wᵀx + b</a:t>
            </a:r>
          </a:p>
          <a:p>
            <a:r>
              <a:rPr lang="en-US"/>
              <a:t>The </a:t>
            </a:r>
            <a:r>
              <a:rPr lang="el-GR"/>
              <a:t>ε-</a:t>
            </a:r>
            <a:r>
              <a:rPr lang="en-US"/>
              <a:t>tube contains points with |yᵢ − f(xᵢ)| ≤ </a:t>
            </a:r>
            <a:r>
              <a:rPr lang="el-GR"/>
              <a:t>ε. </a:t>
            </a:r>
            <a:r>
              <a:rPr lang="en-US"/>
              <a:t>Its vertical width is 2</a:t>
            </a:r>
            <a:r>
              <a:rPr lang="el-GR"/>
              <a:t>ε </a:t>
            </a:r>
            <a:r>
              <a:rPr lang="en-US"/>
              <a:t>in response units.</a:t>
            </a:r>
          </a:p>
          <a:p>
            <a:r>
              <a:rPr lang="en-US"/>
              <a:t>The loss is L</a:t>
            </a:r>
            <a:r>
              <a:rPr lang="el-GR"/>
              <a:t>ε(</a:t>
            </a:r>
            <a:r>
              <a:rPr lang="en-US"/>
              <a:t>yᵢ, f(xᵢ)) = max(0, |yᵢ − f(xᵢ)| − </a:t>
            </a:r>
            <a:r>
              <a:rPr lang="el-GR"/>
              <a:t>ε). </a:t>
            </a:r>
            <a:r>
              <a:rPr lang="en-US"/>
              <a:t>Errors inside the tube incur zero loss.</a:t>
            </a:r>
          </a:p>
          <a:p>
            <a:r>
              <a:rPr lang="en-US"/>
              <a:t>Example: if </a:t>
            </a:r>
            <a:r>
              <a:rPr lang="el-GR"/>
              <a:t>ε = 0.5 </a:t>
            </a:r>
            <a:r>
              <a:rPr lang="en-US"/>
              <a:t>and the absolute error is 0.8, the loss is 0.3. An absolute error of 0.2 gives zero loss.</a:t>
            </a:r>
          </a:p>
          <a:p>
            <a:r>
              <a:rPr lang="en-US"/>
              <a:t>Classification penalizes a margin shortfall. SVR penalizes the amount by which a residual exceeds </a:t>
            </a:r>
            <a:r>
              <a:rPr lang="el-GR"/>
              <a:t>ε.</a:t>
            </a:r>
          </a:p>
        </p:txBody>
      </p:sp>
      <p:sp>
        <p:nvSpPr>
          <p:cNvPr id="3" name="Title 2">
            <a:extLst>
              <a:ext uri="{FF2B5EF4-FFF2-40B4-BE49-F238E27FC236}">
                <a16:creationId xmlns:a16="http://schemas.microsoft.com/office/drawing/2014/main" id="{AB7469D2-8F0D-4834-D5A1-29B4C8923288}"/>
              </a:ext>
            </a:extLst>
          </p:cNvPr>
          <p:cNvSpPr>
            <a:spLocks noGrp="1"/>
          </p:cNvSpPr>
          <p:nvPr>
            <p:ph type="title"/>
          </p:nvPr>
        </p:nvSpPr>
        <p:spPr/>
        <p:txBody>
          <a:bodyPr/>
          <a:lstStyle/>
          <a:p>
            <a:r>
              <a:rPr lang="en-US"/>
              <a:t>SVR and </a:t>
            </a:r>
            <a:r>
              <a:rPr lang="el-GR"/>
              <a:t>ε-</a:t>
            </a:r>
            <a:r>
              <a:rPr lang="en-US"/>
              <a:t>Insensitive Loss</a:t>
            </a:r>
          </a:p>
        </p:txBody>
      </p:sp>
    </p:spTree>
    <p:extLst>
      <p:ext uri="{BB962C8B-B14F-4D97-AF65-F5344CB8AC3E}">
        <p14:creationId xmlns:p14="http://schemas.microsoft.com/office/powerpoint/2010/main" val="1178738824"/>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164FB03-85C2-7348-8B2C-632559AEAC3D}"/>
              </a:ext>
            </a:extLst>
          </p:cNvPr>
          <p:cNvSpPr>
            <a:spLocks noGrp="1"/>
          </p:cNvSpPr>
          <p:nvPr>
            <p:ph type="title"/>
          </p:nvPr>
        </p:nvSpPr>
        <p:spPr/>
        <p:txBody>
          <a:bodyPr/>
          <a:lstStyle/>
          <a:p>
            <a:r>
              <a:rPr lang="en-US" dirty="0"/>
              <a:t>SVR Optimization</a:t>
            </a:r>
          </a:p>
        </p:txBody>
      </p:sp>
      <p:pic>
        <p:nvPicPr>
          <p:cNvPr id="5" name="Picture 4">
            <a:extLst>
              <a:ext uri="{FF2B5EF4-FFF2-40B4-BE49-F238E27FC236}">
                <a16:creationId xmlns:a16="http://schemas.microsoft.com/office/drawing/2014/main" id="{F4F4F9A3-1533-2011-046F-CED035E8458E}"/>
              </a:ext>
            </a:extLst>
          </p:cNvPr>
          <p:cNvPicPr>
            <a:picLocks noChangeAspect="1"/>
          </p:cNvPicPr>
          <p:nvPr/>
        </p:nvPicPr>
        <p:blipFill>
          <a:blip r:embed="rId3"/>
          <a:stretch>
            <a:fillRect/>
          </a:stretch>
        </p:blipFill>
        <p:spPr>
          <a:xfrm>
            <a:off x="804636" y="2594813"/>
            <a:ext cx="11163206" cy="5234031"/>
          </a:xfrm>
          <a:prstGeom prst="rect">
            <a:avLst/>
          </a:prstGeom>
        </p:spPr>
      </p:pic>
      <p:sp>
        <p:nvSpPr>
          <p:cNvPr id="6" name="TextBox 5"/>
          <p:cNvSpPr txBox="1"/>
          <p:nvPr/>
        </p:nvSpPr>
        <p:spPr>
          <a:xfrm>
            <a:off x="694944" y="8092440"/>
            <a:ext cx="11603736" cy="1234440"/>
          </a:xfrm>
          <a:prstGeom prst="rect">
            <a:avLst/>
          </a:prstGeom>
          <a:noFill/>
        </p:spPr>
        <p:txBody>
          <a:bodyPr wrap="square">
            <a:spAutoFit/>
          </a:bodyPr>
          <a:lstStyle/>
          <a:p>
            <a:pPr>
              <a:lnSpc>
                <a:spcPct val="95000"/>
              </a:lnSpc>
              <a:defRPr sz="3000">
                <a:solidFill>
                  <a:srgbClr val="000000"/>
                </a:solidFill>
                <a:latin typeface="+mj-lt"/>
              </a:defRPr>
            </a:pPr>
            <a:r>
              <a:t>ξᵢ and ξᵢ* measure excess above and below the ε-tube.</a:t>
            </a:r>
            <a:br/>
            <a:r>
              <a:t>C penalizes excess residual size, rather than counting outliers.</a:t>
            </a:r>
          </a:p>
        </p:txBody>
      </p:sp>
    </p:spTree>
    <p:extLst>
      <p:ext uri="{BB962C8B-B14F-4D97-AF65-F5344CB8AC3E}">
        <p14:creationId xmlns:p14="http://schemas.microsoft.com/office/powerpoint/2010/main" val="1376051194"/>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 name="SVMs can be used for regression tasks as well…"/>
          <p:cNvSpPr txBox="1">
            <a:spLocks noGrp="1"/>
          </p:cNvSpPr>
          <p:nvPr>
            <p:ph type="body" idx="1"/>
          </p:nvPr>
        </p:nvSpPr>
        <p:spPr>
          <a:prstGeom prst="rect">
            <a:avLst/>
          </a:prstGeom>
        </p:spPr>
        <p:txBody>
          <a:bodyPr/>
          <a:lstStyle/>
          <a:p>
            <a:r>
              <a:rPr dirty="0"/>
              <a:t>Here, instead of finding the widest possible road, we want to fit as many observations </a:t>
            </a:r>
            <a:r>
              <a:rPr dirty="0">
                <a:solidFill>
                  <a:srgbClr val="FF7E79"/>
                </a:solidFill>
              </a:rPr>
              <a:t>on the street</a:t>
            </a:r>
            <a:r>
              <a:rPr dirty="0"/>
              <a:t> while limiting the number of points </a:t>
            </a:r>
            <a:r>
              <a:rPr dirty="0">
                <a:solidFill>
                  <a:srgbClr val="FF7E79"/>
                </a:solidFill>
              </a:rPr>
              <a:t>off the street</a:t>
            </a:r>
          </a:p>
        </p:txBody>
      </p:sp>
      <p:sp>
        <p:nvSpPr>
          <p:cNvPr id="324" name="SVM Regression"/>
          <p:cNvSpPr txBox="1">
            <a:spLocks noGrp="1"/>
          </p:cNvSpPr>
          <p:nvPr>
            <p:ph type="title"/>
          </p:nvPr>
        </p:nvSpPr>
        <p:spPr>
          <a:prstGeom prst="rect">
            <a:avLst/>
          </a:prstGeom>
        </p:spPr>
        <p:txBody>
          <a:bodyPr/>
          <a:lstStyle>
            <a:lvl1pPr defTabSz="1525858">
              <a:defRPr sz="5280" spc="-105"/>
            </a:lvl1pPr>
          </a:lstStyle>
          <a:p>
            <a:r>
              <a:t>SVM Regression</a:t>
            </a:r>
          </a:p>
        </p:txBody>
      </p:sp>
      <p:pic>
        <p:nvPicPr>
          <p:cNvPr id="325" name="pasted-image.png" descr="pasted-image.png"/>
          <p:cNvPicPr>
            <a:picLocks noChangeAspect="1"/>
          </p:cNvPicPr>
          <p:nvPr/>
        </p:nvPicPr>
        <p:blipFill>
          <a:blip r:embed="rId2"/>
          <a:stretch>
            <a:fillRect/>
          </a:stretch>
        </p:blipFill>
        <p:spPr>
          <a:xfrm>
            <a:off x="406400" y="3739430"/>
            <a:ext cx="12192000" cy="5168901"/>
          </a:xfrm>
          <a:prstGeom prst="rect">
            <a:avLst/>
          </a:prstGeom>
          <a:ln w="12700">
            <a:miter lim="400000"/>
          </a:ln>
        </p:spPr>
      </p:pic>
    </p:spTree>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27" name="Here, the support vectors are the instances off the street because they are the only points that effect the model’s predictions…"/>
              <p:cNvSpPr txBox="1">
                <a:spLocks noGrp="1"/>
              </p:cNvSpPr>
              <p:nvPr>
                <p:ph type="body" idx="1"/>
              </p:nvPr>
            </p:nvSpPr>
            <p:spPr>
              <a:prstGeom prst="rect">
                <a:avLst/>
              </a:prstGeom>
            </p:spPr>
            <p:txBody>
              <a:bodyPr/>
              <a:lstStyle/>
              <a:p>
                <a:r>
                  <a:rPr lang="en-US"/>
                  <a:t>SVR </a:t>
                </a:r>
                <a:r>
                  <a:rPr dirty="0"/>
                  <a:t>support vectors </a:t>
                </a:r>
                <a:r>
                  <a:rPr lang="en-US"/>
                  <a:t>lie on or outside </a:t>
                </a:r>
                <a:r>
                  <a:rPr dirty="0"/>
                  <a:t>the </a:t>
                </a:r>
                <a:r>
                  <a:rPr lang="en-US"/>
                  <a:t>ε-tube. Their nonzero dual weights contribute to </a:t>
                </a:r>
                <a:r>
                  <a:rPr dirty="0"/>
                  <a:t>the predictions</a:t>
                </a:r>
                <a:r>
                  <a:rPr lang="en-US"/>
                  <a:t>.</a:t>
                </a:r>
                <a:endParaRPr dirty="0"/>
              </a:p>
              <a:p>
                <a:r>
                  <a:rPr dirty="0"/>
                  <a:t>If more points are added inside the margin, predictions don’t change (this is referred to as being </a:t>
                </a:r>
                <a14:m>
                  <m:oMath xmlns:m="http://schemas.openxmlformats.org/officeDocument/2006/math">
                    <m:r>
                      <a:rPr sz="3250" i="1">
                        <a:solidFill>
                          <a:srgbClr val="000000"/>
                        </a:solidFill>
                        <a:latin typeface="Cambria Math" panose="02040503050406030204" pitchFamily="18" charset="0"/>
                      </a:rPr>
                      <m:t>𝜖</m:t>
                    </m:r>
                  </m:oMath>
                </a14:m>
                <a:r>
                  <a:rPr dirty="0"/>
                  <a:t>-insensitive</a:t>
                </a:r>
                <a:r>
                  <a:rPr lang="en-US" dirty="0"/>
                  <a:t>)</a:t>
                </a:r>
                <a:endParaRPr dirty="0"/>
              </a:p>
            </p:txBody>
          </p:sp>
        </mc:Choice>
        <mc:Fallback>
          <p:sp>
            <p:nvSpPr>
              <p:cNvPr id="327" name="Here, the support vectors are the instances off the street because they are the only points that effect the model’s predictions…"/>
              <p:cNvSpPr txBox="1">
                <a:spLocks noGrp="1" noRot="1" noChangeAspect="1" noMove="1" noResize="1" noEditPoints="1" noAdjustHandles="1" noChangeArrowheads="1" noChangeShapeType="1" noTextEdit="1"/>
              </p:cNvSpPr>
              <p:nvPr>
                <p:ph type="body" idx="1"/>
              </p:nvPr>
            </p:nvSpPr>
            <p:spPr>
              <a:prstGeom prst="rect">
                <a:avLst/>
              </a:prstGeom>
              <a:blipFill>
                <a:blip r:embed="rId3"/>
                <a:stretch>
                  <a:fillRect l="-1313" t="-1516"/>
                </a:stretch>
              </a:blipFill>
            </p:spPr>
            <p:txBody>
              <a:bodyPr/>
              <a:lstStyle/>
              <a:p>
                <a:r>
                  <a:rPr lang="en-US">
                    <a:noFill/>
                  </a:rPr>
                  <a:t> </a:t>
                </a:r>
              </a:p>
            </p:txBody>
          </p:sp>
        </mc:Fallback>
      </mc:AlternateContent>
      <p:sp>
        <p:nvSpPr>
          <p:cNvPr id="328" name="SVM Regression"/>
          <p:cNvSpPr txBox="1">
            <a:spLocks noGrp="1"/>
          </p:cNvSpPr>
          <p:nvPr>
            <p:ph type="title"/>
          </p:nvPr>
        </p:nvSpPr>
        <p:spPr>
          <a:prstGeom prst="rect">
            <a:avLst/>
          </a:prstGeom>
        </p:spPr>
        <p:txBody>
          <a:bodyPr/>
          <a:lstStyle>
            <a:lvl1pPr defTabSz="1525858">
              <a:defRPr sz="5280" spc="-105"/>
            </a:lvl1pPr>
          </a:lstStyle>
          <a:p>
            <a:r>
              <a:t>SVM Regression</a:t>
            </a:r>
          </a:p>
        </p:txBody>
      </p:sp>
    </p:spTree>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4FB2BBA-6312-74B4-8D14-5C78EC5934BF}"/>
              </a:ext>
            </a:extLst>
          </p:cNvPr>
          <p:cNvSpPr>
            <a:spLocks noGrp="1"/>
          </p:cNvSpPr>
          <p:nvPr>
            <p:ph type="body" idx="1"/>
          </p:nvPr>
        </p:nvSpPr>
        <p:spPr/>
        <p:txBody>
          <a:bodyPr wrap="square"/>
          <a:lstStyle/>
          <a:p>
            <a:r>
              <a:rPr lang="en-US"/>
              <a:t>Linear SVR predicts the number f(x) = wᵀx + b. There is no sign threshold.</a:t>
            </a:r>
          </a:p>
          <a:p>
            <a:r>
              <a:rPr lang="en-US"/>
              <a:t>Kernel SVR uses the same kernel in fitting and prediction. Each support vector contributes a signed amount.</a:t>
            </a:r>
          </a:p>
          <a:p>
            <a:r>
              <a:rPr lang="en-US"/>
              <a:t>The two multipliers αᵢ and αᵢ* correspond to the two sides of the ε-tube. Their difference is the prediction weight.</a:t>
            </a:r>
          </a:p>
        </p:txBody>
      </p:sp>
      <p:sp>
        <p:nvSpPr>
          <p:cNvPr id="3" name="Title 2">
            <a:extLst>
              <a:ext uri="{FF2B5EF4-FFF2-40B4-BE49-F238E27FC236}">
                <a16:creationId xmlns:a16="http://schemas.microsoft.com/office/drawing/2014/main" id="{D7083C4F-4206-13B6-2F7C-0205FD5CBB97}"/>
              </a:ext>
            </a:extLst>
          </p:cNvPr>
          <p:cNvSpPr>
            <a:spLocks noGrp="1"/>
          </p:cNvSpPr>
          <p:nvPr>
            <p:ph type="title"/>
          </p:nvPr>
        </p:nvSpPr>
        <p:spPr/>
        <p:txBody>
          <a:bodyPr/>
          <a:lstStyle/>
          <a:p>
            <a:r>
              <a:rPr lang="en-US"/>
              <a:t>SVR Predictions</a:t>
            </a:r>
          </a:p>
        </p:txBody>
      </p:sp>
      <p:pic>
        <p:nvPicPr>
          <p:cNvPr id="5" name="Picture 4">
            <a:extLst>
              <a:ext uri="{FF2B5EF4-FFF2-40B4-BE49-F238E27FC236}">
                <a16:creationId xmlns:a16="http://schemas.microsoft.com/office/drawing/2014/main" id="{47850E2D-74DF-694C-D5B6-64D85B186050}"/>
              </a:ext>
            </a:extLst>
          </p:cNvPr>
          <p:cNvPicPr>
            <a:picLocks noChangeAspect="1"/>
          </p:cNvPicPr>
          <p:nvPr/>
        </p:nvPicPr>
        <p:blipFill>
          <a:blip r:embed="rId3"/>
          <a:stretch>
            <a:fillRect/>
          </a:stretch>
        </p:blipFill>
        <p:spPr>
          <a:xfrm>
            <a:off x="3192773" y="6786548"/>
            <a:ext cx="5337274" cy="1042296"/>
          </a:xfrm>
          <a:prstGeom prst="rect">
            <a:avLst/>
          </a:prstGeom>
        </p:spPr>
      </p:pic>
      <p:sp>
        <p:nvSpPr>
          <p:cNvPr id="6" name="TextBox 5"/>
          <p:cNvSpPr txBox="1"/>
          <p:nvPr/>
        </p:nvSpPr>
        <p:spPr>
          <a:xfrm>
            <a:off x="694944" y="8229600"/>
            <a:ext cx="11603736" cy="868680"/>
          </a:xfrm>
          <a:prstGeom prst="rect">
            <a:avLst/>
          </a:prstGeom>
          <a:noFill/>
        </p:spPr>
        <p:txBody>
          <a:bodyPr wrap="square">
            <a:spAutoFit/>
          </a:bodyPr>
          <a:lstStyle/>
          <a:p>
            <a:pPr>
              <a:lnSpc>
                <a:spcPct val="95000"/>
              </a:lnSpc>
              <a:defRPr sz="3000">
                <a:solidFill>
                  <a:srgbClr val="000000"/>
                </a:solidFill>
                <a:latin typeface="+mj-lt"/>
              </a:defRPr>
            </a:pPr>
            <a:r>
              <a:t>Only nonzero differences contribute. The output stays in response units.</a:t>
            </a:r>
          </a:p>
        </p:txBody>
      </p:sp>
    </p:spTree>
    <p:extLst>
      <p:ext uri="{BB962C8B-B14F-4D97-AF65-F5344CB8AC3E}">
        <p14:creationId xmlns:p14="http://schemas.microsoft.com/office/powerpoint/2010/main" val="1576684952"/>
      </p:ext>
    </p:ext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31" name="SVMs are a very different way of creating a classifier than other methods that we’ve looked at…"/>
              <p:cNvSpPr txBox="1">
                <a:spLocks noGrp="1"/>
              </p:cNvSpPr>
              <p:nvPr>
                <p:ph type="body" idx="1"/>
              </p:nvPr>
            </p:nvSpPr>
            <p:spPr>
              <a:prstGeom prst="rect">
                <a:avLst/>
              </a:prstGeom>
            </p:spPr>
            <p:txBody>
              <a:bodyPr/>
              <a:lstStyle/>
              <a:p>
                <a:r>
                  <a:rPr dirty="0"/>
                  <a:t>SVMs are a very different way of creating a classifier than other methods that we’ve looked at</a:t>
                </a:r>
              </a:p>
              <a:p>
                <a:pPr lvl="1"/>
                <a:r>
                  <a:rPr dirty="0"/>
                  <a:t>No notion of finding </a:t>
                </a:r>
                <a14:m>
                  <m:oMath xmlns:m="http://schemas.openxmlformats.org/officeDocument/2006/math">
                    <m:r>
                      <a:rPr sz="3250" i="1">
                        <a:solidFill>
                          <a:srgbClr val="000000"/>
                        </a:solidFill>
                        <a:latin typeface="Cambria Math" panose="02040503050406030204" pitchFamily="18" charset="0"/>
                      </a:rPr>
                      <m:t>𝑃</m:t>
                    </m:r>
                    <m:r>
                      <a:rPr sz="3250" i="1">
                        <a:solidFill>
                          <a:srgbClr val="000000"/>
                        </a:solidFill>
                        <a:latin typeface="Cambria Math" panose="02040503050406030204" pitchFamily="18" charset="0"/>
                      </a:rPr>
                      <m:t>(</m:t>
                    </m:r>
                    <m:sSub>
                      <m:sSubPr>
                        <m:ctrlPr>
                          <a:rPr sz="3250" i="1">
                            <a:solidFill>
                              <a:srgbClr val="000000"/>
                            </a:solidFill>
                            <a:latin typeface="Cambria Math" panose="02040503050406030204" pitchFamily="18" charset="0"/>
                          </a:rPr>
                        </m:ctrlPr>
                      </m:sSubPr>
                      <m:e>
                        <m:r>
                          <a:rPr sz="3250" i="1">
                            <a:solidFill>
                              <a:srgbClr val="000000"/>
                            </a:solidFill>
                            <a:latin typeface="Cambria Math" panose="02040503050406030204" pitchFamily="18" charset="0"/>
                          </a:rPr>
                          <m:t>𝑦</m:t>
                        </m:r>
                      </m:e>
                      <m:sub>
                        <m:r>
                          <a:rPr sz="3250" i="1">
                            <a:solidFill>
                              <a:srgbClr val="000000"/>
                            </a:solidFill>
                            <a:latin typeface="Cambria Math" panose="02040503050406030204" pitchFamily="18" charset="0"/>
                          </a:rPr>
                          <m:t>𝑖</m:t>
                        </m:r>
                      </m:sub>
                    </m:sSub>
                    <m:r>
                      <a:rPr sz="3250" i="1">
                        <a:solidFill>
                          <a:srgbClr val="000000"/>
                        </a:solidFill>
                        <a:latin typeface="Cambria Math" panose="02040503050406030204" pitchFamily="18" charset="0"/>
                      </a:rPr>
                      <m:t>|</m:t>
                    </m:r>
                    <m:sSub>
                      <m:sSubPr>
                        <m:ctrlPr>
                          <a:rPr sz="3250" i="1">
                            <a:solidFill>
                              <a:srgbClr val="000000"/>
                            </a:solidFill>
                            <a:latin typeface="Cambria Math" panose="02040503050406030204" pitchFamily="18" charset="0"/>
                          </a:rPr>
                        </m:ctrlPr>
                      </m:sSubPr>
                      <m:e>
                        <m:r>
                          <a:rPr sz="3250" i="1">
                            <a:solidFill>
                              <a:srgbClr val="000000"/>
                            </a:solidFill>
                            <a:latin typeface="Cambria Math" panose="02040503050406030204" pitchFamily="18" charset="0"/>
                          </a:rPr>
                          <m:t>𝑋</m:t>
                        </m:r>
                      </m:e>
                      <m:sub>
                        <m:r>
                          <a:rPr sz="3250" i="1">
                            <a:solidFill>
                              <a:srgbClr val="000000"/>
                            </a:solidFill>
                            <a:latin typeface="Cambria Math" panose="02040503050406030204" pitchFamily="18" charset="0"/>
                          </a:rPr>
                          <m:t>𝑖</m:t>
                        </m:r>
                      </m:sub>
                    </m:sSub>
                    <m:r>
                      <a:rPr sz="3250" i="1">
                        <a:solidFill>
                          <a:srgbClr val="000000"/>
                        </a:solidFill>
                        <a:latin typeface="Cambria Math" panose="02040503050406030204" pitchFamily="18" charset="0"/>
                      </a:rPr>
                      <m:t>)</m:t>
                    </m:r>
                  </m:oMath>
                </a14:m>
                <a:endParaRPr dirty="0"/>
              </a:p>
              <a:p>
                <a:r>
                  <a:rPr dirty="0"/>
                  <a:t>Only binary classifier </a:t>
                </a:r>
              </a:p>
              <a:p>
                <a:pPr lvl="1"/>
                <a:r>
                  <a:rPr dirty="0"/>
                  <a:t>Can be extended to multiclass problems using one-versus-one or one-versus-all strategies </a:t>
                </a:r>
              </a:p>
              <a:p>
                <a:r>
                  <a:rPr dirty="0"/>
                  <a:t>Pretty slow for large datasets </a:t>
                </a:r>
              </a:p>
            </p:txBody>
          </p:sp>
        </mc:Choice>
        <mc:Fallback xmlns="">
          <p:sp>
            <p:nvSpPr>
              <p:cNvPr id="331" name="SVMs are a very different way of creating a classifier than other methods that we’ve looked at…"/>
              <p:cNvSpPr txBox="1">
                <a:spLocks noGrp="1" noRot="1" noChangeAspect="1" noMove="1" noResize="1" noEditPoints="1" noAdjustHandles="1" noChangeArrowheads="1" noChangeShapeType="1" noTextEdit="1"/>
              </p:cNvSpPr>
              <p:nvPr>
                <p:ph type="body" idx="1"/>
              </p:nvPr>
            </p:nvSpPr>
            <p:spPr>
              <a:prstGeom prst="rect">
                <a:avLst/>
              </a:prstGeom>
              <a:blipFill>
                <a:blip r:embed="rId2"/>
                <a:stretch>
                  <a:fillRect l="-1313" t="-1516"/>
                </a:stretch>
              </a:blipFill>
            </p:spPr>
            <p:txBody>
              <a:bodyPr/>
              <a:lstStyle/>
              <a:p>
                <a:r>
                  <a:rPr lang="en-US">
                    <a:noFill/>
                  </a:rPr>
                  <a:t> </a:t>
                </a:r>
              </a:p>
            </p:txBody>
          </p:sp>
        </mc:Fallback>
      </mc:AlternateContent>
      <p:sp>
        <p:nvSpPr>
          <p:cNvPr id="332" name="Summary"/>
          <p:cNvSpPr txBox="1">
            <a:spLocks noGrp="1"/>
          </p:cNvSpPr>
          <p:nvPr>
            <p:ph type="title"/>
          </p:nvPr>
        </p:nvSpPr>
        <p:spPr>
          <a:prstGeom prst="rect">
            <a:avLst/>
          </a:prstGeom>
        </p:spPr>
        <p:txBody>
          <a:bodyPr/>
          <a:lstStyle>
            <a:lvl1pPr defTabSz="1525858">
              <a:defRPr sz="5280" spc="-105"/>
            </a:lvl1pPr>
          </a:lstStyle>
          <a:p>
            <a:r>
              <a:t>Summary</a:t>
            </a:r>
          </a:p>
        </p:txBody>
      </p:sp>
    </p:spTree>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Avenir Next Regular"/>
        <a:ea typeface="Avenir Next Regular"/>
        <a:cs typeface="Avenir Next Regular"/>
      </a:majorFont>
      <a:minorFont>
        <a:latin typeface="Avenir Next Demi Bold"/>
        <a:ea typeface="Avenir Next Demi Bold"/>
        <a:cs typeface="Avenir Next Demi Bold"/>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173393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5E5E5E"/>
            </a:solidFill>
            <a:effectLst/>
            <a:uFillTx/>
            <a:latin typeface="+mj-lt"/>
            <a:ea typeface="+mj-ea"/>
            <a:cs typeface="+mj-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310</TotalTime>
  <Words>4201</Words>
  <Application>Microsoft Office PowerPoint</Application>
  <PresentationFormat>Custom</PresentationFormat>
  <Paragraphs>333</Paragraphs>
  <Slides>55</Slides>
  <Notes>14</Notes>
  <HiddenSlides>2</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55</vt:i4>
      </vt:variant>
    </vt:vector>
  </HeadingPairs>
  <TitlesOfParts>
    <vt:vector size="65" baseType="lpstr">
      <vt:lpstr>Avenir Next Demi Bold</vt:lpstr>
      <vt:lpstr>Avenir Next Medium</vt:lpstr>
      <vt:lpstr>Avenir Next Regular</vt:lpstr>
      <vt:lpstr>Avenir Next Regular (Headings)</vt:lpstr>
      <vt:lpstr>Cambria Math</vt:lpstr>
      <vt:lpstr>Courier</vt:lpstr>
      <vt:lpstr>Courier New</vt:lpstr>
      <vt:lpstr>Helvetica Neue</vt:lpstr>
      <vt:lpstr>Helvetica Neue Medium</vt:lpstr>
      <vt:lpstr>21_BasicWhite</vt:lpstr>
      <vt:lpstr>Support Vector Machines</vt:lpstr>
      <vt:lpstr>Introduction to SVM</vt:lpstr>
      <vt:lpstr>Hyperplanes</vt:lpstr>
      <vt:lpstr>PowerPoint Presentation</vt:lpstr>
      <vt:lpstr>High-level view of SVM</vt:lpstr>
      <vt:lpstr>Introduction to SVM</vt:lpstr>
      <vt:lpstr>Separate the group</vt:lpstr>
      <vt:lpstr>Introduction to SVM</vt:lpstr>
      <vt:lpstr>Introduction to SVM</vt:lpstr>
      <vt:lpstr>Maximal margin (or hard margin) classifier</vt:lpstr>
      <vt:lpstr>Maximal Margin Classifier </vt:lpstr>
      <vt:lpstr>Maximal Margin Classifier </vt:lpstr>
      <vt:lpstr>Margins</vt:lpstr>
      <vt:lpstr>SVM Optimization Problem</vt:lpstr>
      <vt:lpstr>Hinge Loss</vt:lpstr>
      <vt:lpstr>Hinge Loss</vt:lpstr>
      <vt:lpstr>PowerPoint Presentation</vt:lpstr>
      <vt:lpstr>Potential problems </vt:lpstr>
      <vt:lpstr>Soft Margin SVM</vt:lpstr>
      <vt:lpstr>Potential problems </vt:lpstr>
      <vt:lpstr>Support Vector Classifier  (Soft margin) </vt:lpstr>
      <vt:lpstr>Slack Variables</vt:lpstr>
      <vt:lpstr>Optimization w/ Slack Variables</vt:lpstr>
      <vt:lpstr>Support Vectors</vt:lpstr>
      <vt:lpstr>Non-linearly separable data</vt:lpstr>
      <vt:lpstr>Non-linearly Separable </vt:lpstr>
      <vt:lpstr>Non-linearly Separable </vt:lpstr>
      <vt:lpstr>Non-linearly Separable </vt:lpstr>
      <vt:lpstr>Examples</vt:lpstr>
      <vt:lpstr>Another Example</vt:lpstr>
      <vt:lpstr>A solution and a problem </vt:lpstr>
      <vt:lpstr>Support Vector Machines</vt:lpstr>
      <vt:lpstr>Support Vector Machines</vt:lpstr>
      <vt:lpstr>Dot Products</vt:lpstr>
      <vt:lpstr>Dot Products in the Dual</vt:lpstr>
      <vt:lpstr>The Kernel Trick</vt:lpstr>
      <vt:lpstr>Common Kernels</vt:lpstr>
      <vt:lpstr>Primal and Dual: The Idea</vt:lpstr>
      <vt:lpstr>The SVM Dual Problem</vt:lpstr>
      <vt:lpstr>Interpreting Dual Weights</vt:lpstr>
      <vt:lpstr>Kernel Training and Prediction</vt:lpstr>
      <vt:lpstr>Gaussian RBF Kernel</vt:lpstr>
      <vt:lpstr>More about the RBF Kernel</vt:lpstr>
      <vt:lpstr>More about the RBF Kernel</vt:lpstr>
      <vt:lpstr>Example of Similarity Features</vt:lpstr>
      <vt:lpstr>More about the RBF Kernel</vt:lpstr>
      <vt:lpstr>Comparing γ</vt:lpstr>
      <vt:lpstr>Gaussian RBF Kernel</vt:lpstr>
      <vt:lpstr>SVM Regression</vt:lpstr>
      <vt:lpstr>SVR and ε-Insensitive Loss</vt:lpstr>
      <vt:lpstr>SVR Optimization</vt:lpstr>
      <vt:lpstr>SVM Regression</vt:lpstr>
      <vt:lpstr>SVM Regression</vt:lpstr>
      <vt:lpstr>SVR Predictions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Jake Rhodes</dc:creator>
  <cp:lastModifiedBy>Jake Rhodes</cp:lastModifiedBy>
  <cp:revision>19</cp:revision>
  <dcterms:modified xsi:type="dcterms:W3CDTF">2026-10-07T13:35:01Z</dcterms:modified>
</cp:coreProperties>
</file>