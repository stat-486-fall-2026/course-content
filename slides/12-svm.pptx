
<file path=[Content_Types].xml><?xml version="1.0" encoding="utf-8"?>
<Types xmlns="http://schemas.openxmlformats.org/package/2006/content-types">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sldIdLst>
    <p:sldId id="256" r:id="rId2"/>
    <p:sldId id="257" r:id="rId3"/>
    <p:sldId id="258" r:id="rId4"/>
    <p:sldId id="259" r:id="rId5"/>
    <p:sldId id="262" r:id="rId6"/>
    <p:sldId id="267" r:id="rId7"/>
    <p:sldId id="264" r:id="rId8"/>
    <p:sldId id="318" r:id="rId9"/>
    <p:sldId id="319" r:id="rId10"/>
    <p:sldId id="320" r:id="rId11"/>
    <p:sldId id="321" r:id="rId12"/>
    <p:sldId id="268" r:id="rId13"/>
    <p:sldId id="322" r:id="rId14"/>
    <p:sldId id="314" r:id="rId15"/>
    <p:sldId id="270" r:id="rId16"/>
    <p:sldId id="308" r:id="rId17"/>
    <p:sldId id="310" r:id="rId18"/>
    <p:sldId id="271" r:id="rId19"/>
    <p:sldId id="272" r:id="rId20"/>
    <p:sldId id="273" r:id="rId21"/>
    <p:sldId id="274" r:id="rId22"/>
    <p:sldId id="275" r:id="rId23"/>
    <p:sldId id="315" r:id="rId24"/>
    <p:sldId id="277" r:id="rId25"/>
    <p:sldId id="278" r:id="rId26"/>
    <p:sldId id="279" r:id="rId27"/>
    <p:sldId id="280" r:id="rId28"/>
    <p:sldId id="281" r:id="rId29"/>
    <p:sldId id="282" r:id="rId30"/>
    <p:sldId id="283" r:id="rId31"/>
    <p:sldId id="284" r:id="rId32"/>
    <p:sldId id="286" r:id="rId33"/>
    <p:sldId id="287" r:id="rId34"/>
    <p:sldId id="289" r:id="rId35"/>
    <p:sldId id="313" r:id="rId36"/>
    <p:sldId id="290" r:id="rId37"/>
    <p:sldId id="291" r:id="rId38"/>
    <p:sldId id="294" r:id="rId39"/>
    <p:sldId id="317" r:id="rId40"/>
    <p:sldId id="295" r:id="rId41"/>
    <p:sldId id="297" r:id="rId42"/>
    <p:sldId id="300" r:id="rId43"/>
    <p:sldId id="298" r:id="rId44"/>
    <p:sldId id="299" r:id="rId45"/>
    <p:sldId id="301" r:id="rId46"/>
    <p:sldId id="302" r:id="rId47"/>
    <p:sldId id="303" r:id="rId48"/>
    <p:sldId id="311" r:id="rId49"/>
    <p:sldId id="316" r:id="rId50"/>
    <p:sldId id="304" r:id="rId51"/>
    <p:sldId id="305" r:id="rId52"/>
    <p:sldId id="312" r:id="rId53"/>
    <p:sldId id="306" r:id="rId54"/>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1pPr>
    <a:lvl2pPr marL="0" marR="0" indent="457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2pPr>
    <a:lvl3pPr marL="0" marR="0" indent="914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3pPr>
    <a:lvl4pPr marL="0" marR="0" indent="1371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4pPr>
    <a:lvl5pPr marL="0" marR="0" indent="18288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5pPr>
    <a:lvl6pPr marL="0" marR="0" indent="22860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6pPr>
    <a:lvl7pPr marL="0" marR="0" indent="2743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7pPr>
    <a:lvl8pPr marL="0" marR="0" indent="3200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8pPr>
    <a:lvl9pPr marL="0" marR="0" indent="3657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254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536773"/>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
          <a:latin typeface="Helvetica Neue"/>
          <a:ea typeface="Helvetica Neue"/>
          <a:cs typeface="Helvetica Neue"/>
        </a:font>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254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25400" cap="flat">
              <a:solidFill>
                <a:srgbClr val="CB297B"/>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8615" autoAdjust="0"/>
  </p:normalViewPr>
  <p:slideViewPr>
    <p:cSldViewPr snapToGrid="0">
      <p:cViewPr>
        <p:scale>
          <a:sx n="100" d="100"/>
          <a:sy n="100" d="100"/>
        </p:scale>
        <p:origin x="1668" y="-5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63.78738" units="1/cm"/>
          <inkml:channelProperty channel="Y" name="resolution" value="63.82979" units="1/cm"/>
          <inkml:channelProperty channel="T" name="resolution" value="1" units="1/dev"/>
        </inkml:channelProperties>
      </inkml:inkSource>
      <inkml:timestamp xml:id="ts0" timeString="2026-02-19T16:52:14.603"/>
    </inkml:context>
    <inkml:brush xml:id="br0">
      <inkml:brushProperty name="width" value="0.05292" units="cm"/>
      <inkml:brushProperty name="height" value="0.05292" units="cm"/>
      <inkml:brushProperty name="color" value="#FF0000"/>
    </inkml:brush>
  </inkml:definitions>
  <inkml:trace contextRef="#ctx0" brushRef="#br0">19630 19518 0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718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he support vector machines (SVM) is an approach developed in the 1990s by computer scientists…"/>
          <p:cNvSpPr txBox="1">
            <a:spLocks noGrp="1"/>
          </p:cNvSpPr>
          <p:nvPr>
            <p:ph type="body" idx="13"/>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Definition restricted to the maximal margin classifier with linearly separable classes, as introduced on slides 5–7. Perpendicular appears on slide 3. No new notation or optimization terminology.</a:t>
            </a:r>
          </a:p>
          <a:p>
            <a:r>
              <a:t>[Sources]</a:t>
            </a:r>
          </a:p>
          <a:p>
            <a:r>
              <a:t>https://web.stanford.edu/class/stats202/notes/Support-vector-machines/Maximal-margin-classifier.html</a:t>
            </a:r>
          </a:p>
          <a:p>
            <a:r>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Treat points as coordinate lists, not as abstract vector spaces. The same coordinates describe a position or a displacement, depending on the chosen starting point. Check: the length of u is sqrt(9/25+16/25)=1. Throughout, w is nonzero. In p dimensions, p is the number of features.</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θ is the angle between two nonzero vectors. T and the prime symbol denote transpose, and wᵀx or w′x is the same scalar as w·x for column vectors. Ask which direction is perpendicular to w and check the final calculation. Also connect w·w to w₁²+...+wₚ²=‖w‖².</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rPr dirty="0"/>
              <a:t>Timing: about 2 minutes. Distinguish scalar projection (a signed number) from vector projection (a vector). The chart uses the same illustrative x=(2,1) and w=(3,4). The projection is (1.2,1.6). The remainder (0.8,-0.6) has dot product 3(0.8)+4(-0.6)=0 with w. A negative scalar projection points opposite u.</a:t>
            </a:r>
          </a:p>
          <a:p>
            <a:endParaRPr dirty="0"/>
          </a:p>
          <a:p>
            <a:r>
              <a:rPr dirty="0"/>
              <a:t>[Sources]</a:t>
            </a:r>
          </a:p>
          <a:p>
            <a:r>
              <a:rPr dirty="0"/>
              <a:t>Cornell CS4780, Lecture 9: SVM. https://www.cs.cornell.edu/courses/cs4780/2018fa/lectures/lecturenote09.html</a:t>
            </a:r>
          </a:p>
          <a:p>
            <a:r>
              <a:rPr dirty="0"/>
              <a:t>David Sontag, Support vector machines, Lecture 2. https://people.csail.mit.edu/dsontag/courses/ml14/slides/lecture2.pdf</a:t>
            </a:r>
          </a:p>
          <a:p>
            <a:r>
              <a:rPr dirty="0"/>
              <a:t>UW–Madison CS760, Support Vector Machines Part 1. https://pages.cs.wisc.edu/~yliang/cs760_spring20/slides/lecture22-SVM-1.pdf</a:t>
            </a:r>
          </a:p>
          <a:p>
            <a:r>
              <a:rPr dirty="0"/>
              <a:t>Numerical examples are illustrative calculations, not observed data.</a:t>
            </a:r>
          </a:p>
          <a:p>
            <a:r>
              <a:rPr dirty="0"/>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Let a and c lie on the boundary. Then w·(a−c)=0, so w is perpendicular to every displacement along it. This uses the zero-dot-product criterion from the refresher. Because w·x₀+b=0, w·(x−x₀)=w·x+b. For the example, the closest boundary point is (1.4,0.2), obtained by subtracting one unit of u from x. The displacement has length 1. Distances here are in the chosen feature-coordinate scale.</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14:m>
                  <m:oMath xmlns:m="http://schemas.openxmlformats.org/officeDocument/2006/math">
                    <m:d>
                      <m:dPr>
                        <m:sepChr m:val=","/>
                        <m:ctrlPr>
                          <a:rPr lang="ar-AE" sz="2200" b="1">
                            <a:latin typeface="Cambria Math" panose="02040503050406030204" pitchFamily="18" charset="0"/>
                            <a:ea typeface="Helvetica Neue"/>
                            <a:cs typeface="Helvetica Neue"/>
                            <a:sym typeface="Helvetica Neue"/>
                          </a:rPr>
                        </m:ctrlPr>
                      </m:dPr>
                      <m:e>
                        <m:r>
                          <a:rPr lang="ar-AE" sz="2200" b="1">
                            <a:latin typeface="Cambria Math" panose="02040503050406030204" pitchFamily="18" charset="0"/>
                            <a:ea typeface="Helvetica Neue"/>
                            <a:cs typeface="Helvetica Neue"/>
                            <a:sym typeface="Helvetica Neue"/>
                          </a:rPr>
                          <m:t>𝐰</m:t>
                        </m:r>
                      </m:e>
                      <m:e>
                        <m:r>
                          <a:rPr lang="ar-AE" sz="2200" b="0" i="1">
                            <a:latin typeface="Cambria Math" panose="02040503050406030204" pitchFamily="18" charset="0"/>
                            <a:ea typeface="Helvetica Neue"/>
                            <a:cs typeface="Helvetica Neue"/>
                            <a:sym typeface="Helvetica Neue"/>
                          </a:rPr>
                          <m:t>𝑏</m:t>
                        </m:r>
                      </m:e>
                    </m:d>
                  </m:oMath>
                </a14:m>
                <a:r>
                  <a:rPr lang="en-US" dirty="0"/>
                  <a:t>defines a separating hyperplane, then so does</a:t>
                </a:r>
              </a:p>
              <a:p>
                <a:pPr/>
                <a14:m>
                  <m:oMathPara xmlns:m="http://schemas.openxmlformats.org/officeDocument/2006/math">
                    <m:oMath>
                      <m:d>
                        <m:dPr>
                          <m:sepChr m:val=","/>
                          <m:ctrlPr>
                            <a:rPr lang="ar-AE" sz="2200" i="1">
                              <a:latin typeface="Cambria Math" panose="02040503050406030204" pitchFamily="18" charset="0"/>
                              <a:ea typeface="Helvetica Neue"/>
                              <a:cs typeface="Helvetica Neue"/>
                              <a:sym typeface="Helvetica Neue"/>
                            </a:rPr>
                          </m:ctrlPr>
                        </m:dPr>
                        <m:e>
                          <m:r>
                            <a:rPr lang="ar-AE" sz="2200" i="1">
                              <a:latin typeface="Cambria Math" panose="02040503050406030204" pitchFamily="18" charset="0"/>
                              <a:ea typeface="Helvetica Neue"/>
                              <a:cs typeface="Helvetica Neue"/>
                              <a:sym typeface="Helvetica Neue"/>
                            </a:rPr>
                            <m:t>𝛼</m:t>
                          </m:r>
                        </m:e>
                        <m:e>
                          <m:r>
                            <a:rPr lang="ar-AE" sz="2200" b="1" i="0">
                              <a:latin typeface="Cambria Math" panose="02040503050406030204" pitchFamily="18" charset="0"/>
                              <a:ea typeface="Helvetica Neue"/>
                              <a:cs typeface="Helvetica Neue"/>
                              <a:sym typeface="Helvetica Neue"/>
                            </a:rPr>
                            <m:t>𝐰</m:t>
                          </m:r>
                          <m:r>
                            <a:rPr lang="ar-AE" sz="2200" b="0" i="1">
                              <a:latin typeface="Cambria Math" panose="02040503050406030204" pitchFamily="18" charset="0"/>
                              <a:ea typeface="Helvetica Neue"/>
                              <a:cs typeface="Helvetica Neue"/>
                              <a:sym typeface="Helvetica Neue"/>
                            </a:rPr>
                            <m:t>𝛼</m:t>
                          </m:r>
                          <m:r>
                            <a:rPr lang="ar-AE" sz="2200" b="0" i="1">
                              <a:latin typeface="Cambria Math" panose="02040503050406030204" pitchFamily="18" charset="0"/>
                              <a:ea typeface="Helvetica Neue"/>
                              <a:cs typeface="Helvetica Neue"/>
                              <a:sym typeface="Helvetica Neue"/>
                            </a:rPr>
                            <m:t>𝑏</m:t>
                          </m:r>
                        </m:e>
                      </m:d>
                    </m:oMath>
                  </m:oMathPara>
                </a14:m>
                <a:endParaRPr lang="ar-AE" b="0" dirty="0"/>
              </a:p>
              <a:p>
                <a:r>
                  <a:rPr lang="en-US" dirty="0"/>
                  <a:t>for any positive </a:t>
                </a:r>
                <a14:m>
                  <m:oMath xmlns:m="http://schemas.openxmlformats.org/officeDocument/2006/math">
                    <m:r>
                      <a:rPr lang="en-US" sz="2200" i="1">
                        <a:latin typeface="Cambria Math" panose="02040503050406030204" pitchFamily="18" charset="0"/>
                        <a:ea typeface="Helvetica Neue"/>
                        <a:cs typeface="Helvetica Neue"/>
                        <a:sym typeface="Helvetica Neue"/>
                      </a:rPr>
                      <m:t>𝛼</m:t>
                    </m:r>
                  </m:oMath>
                </a14:m>
                <a:r>
                  <a:rPr lang="en-US" dirty="0"/>
                  <a:t>.</a:t>
                </a:r>
              </a:p>
              <a:p>
                <a:r>
                  <a:rPr lang="en-US" dirty="0"/>
                  <a:t>Why?</a:t>
                </a:r>
              </a:p>
              <a:p>
                <a:r>
                  <a:rPr lang="en-US" dirty="0"/>
                  <a:t>Because:</a:t>
                </a:r>
              </a:p>
              <a:p>
                <a:pPr/>
                <a14:m>
                  <m:oMathPara xmlns:m="http://schemas.openxmlformats.org/officeDocument/2006/math">
                    <m:oMath>
                      <m:r>
                        <a:rPr lang="en-US" sz="2200" i="1">
                          <a:latin typeface="Cambria Math" panose="02040503050406030204" pitchFamily="18" charset="0"/>
                          <a:ea typeface="Helvetica Neue"/>
                          <a:cs typeface="Helvetica Neue"/>
                          <a:sym typeface="Helvetica Neue"/>
                        </a:rPr>
                        <m:t>𝛼</m:t>
                      </m:r>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𝐱</m:t>
                          </m:r>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=0</m:t>
                      </m:r>
                    </m:oMath>
                  </m:oMathPara>
                </a14:m>
                <a:endParaRPr lang="ar-AE" b="0" dirty="0"/>
              </a:p>
              <a:p>
                <a:r>
                  <a:rPr lang="en-US" dirty="0"/>
                  <a:t>defines the exact same decision boundary.</a:t>
                </a:r>
              </a:p>
              <a:p>
                <a:r>
                  <a:rPr lang="en-US" dirty="0"/>
                  <a:t>So we are free to scale </a:t>
                </a:r>
                <a14:m>
                  <m:oMath xmlns:m="http://schemas.openxmlformats.org/officeDocument/2006/math">
                    <m:r>
                      <a:rPr lang="en-US" sz="2200" b="1">
                        <a:latin typeface="Cambria Math" panose="02040503050406030204" pitchFamily="18" charset="0"/>
                        <a:ea typeface="Helvetica Neue"/>
                        <a:cs typeface="Helvetica Neue"/>
                        <a:sym typeface="Helvetica Neue"/>
                      </a:rPr>
                      <m:t>𝐰</m:t>
                    </m:r>
                  </m:oMath>
                </a14:m>
                <a:r>
                  <a:rPr lang="en-US" dirty="0"/>
                  <a:t>and </a:t>
                </a:r>
                <a14:m>
                  <m:oMath xmlns:m="http://schemas.openxmlformats.org/officeDocument/2006/math">
                    <m:r>
                      <a:rPr lang="en-US" sz="2200" i="1">
                        <a:latin typeface="Cambria Math" panose="02040503050406030204" pitchFamily="18" charset="0"/>
                        <a:ea typeface="Helvetica Neue"/>
                        <a:cs typeface="Helvetica Neue"/>
                        <a:sym typeface="Helvetica Neue"/>
                      </a:rPr>
                      <m:t>𝑏</m:t>
                    </m:r>
                  </m:oMath>
                </a14:m>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14:m>
                  <m:oMathPara xmlns:m="http://schemas.openxmlformats.org/officeDocument/2006/math">
                    <m:oMath>
                      <m:limLow>
                        <m:limLowPr>
                          <m:ctrlPr>
                            <a:rPr lang="en-US" sz="2200" i="1">
                              <a:latin typeface="Cambria Math" panose="02040503050406030204" pitchFamily="18" charset="0"/>
                              <a:ea typeface="Helvetica Neue"/>
                              <a:cs typeface="Helvetica Neue"/>
                              <a:sym typeface="Helvetica Neue"/>
                            </a:rPr>
                          </m:ctrlPr>
                        </m:limLowPr>
                        <m:e>
                          <m:func>
                            <m:funcPr>
                              <m:ctrlPr>
                                <a:rPr lang="en-US" sz="2200">
                                  <a:latin typeface="Cambria Math" panose="02040503050406030204" pitchFamily="18" charset="0"/>
                                  <a:ea typeface="Helvetica Neue"/>
                                  <a:cs typeface="Helvetica Neue"/>
                                  <a:sym typeface="Helvetica Neue"/>
                                </a:rPr>
                              </m:ctrlPr>
                            </m:funcPr>
                            <m:fName>
                              <m:r>
                                <m:rPr>
                                  <m:sty m:val="p"/>
                                </m:rPr>
                                <a:rPr lang="en-US" sz="2200">
                                  <a:latin typeface="Cambria Math" panose="02040503050406030204" pitchFamily="18" charset="0"/>
                                  <a:ea typeface="Helvetica Neue"/>
                                  <a:cs typeface="Helvetica Neue"/>
                                  <a:sym typeface="Helvetica Neue"/>
                                </a:rPr>
                                <m:t>min</m:t>
                              </m:r>
                            </m:fName>
                            <m:e/>
                          </m:func>
                        </m:e>
                        <m:lim>
                          <m:r>
                            <a:rPr lang="ar-AE" sz="2200" i="1">
                              <a:latin typeface="Cambria Math" panose="02040503050406030204" pitchFamily="18" charset="0"/>
                              <a:ea typeface="Helvetica Neue"/>
                              <a:cs typeface="Helvetica Neue"/>
                              <a:sym typeface="Helvetica Neue"/>
                            </a:rPr>
                            <m:t>𝑖</m:t>
                          </m:r>
                        </m:lim>
                      </m:limLow>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means:</a:t>
                </a:r>
              </a:p>
              <a:p>
                <a:r>
                  <a:rPr lang="en-US" dirty="0"/>
                  <a:t>The closest correctly classified point satisfies</a:t>
                </a:r>
              </a:p>
              <a:p>
                <a:pPr/>
                <a14:m>
                  <m:oMathPara xmlns:m="http://schemas.openxmlformats.org/officeDocument/2006/math">
                    <m:oMath>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limLow>
                        <m:limLowPr>
                          <m:ctrlPr>
                            <a:rPr lang="en-US" sz="2200" b="0" i="1">
                              <a:latin typeface="Cambria Math" panose="02040503050406030204" pitchFamily="18" charset="0"/>
                              <a:ea typeface="Helvetica Neue"/>
                              <a:cs typeface="Helvetica Neue"/>
                              <a:sym typeface="Helvetica Neue"/>
                            </a:rPr>
                          </m:ctrlPr>
                        </m:limLowPr>
                        <m:e>
                          <m:func>
                            <m:funcPr>
                              <m:ctrlPr>
                                <a:rPr lang="en-US" sz="2200" b="0" i="0">
                                  <a:latin typeface="Cambria Math" panose="02040503050406030204" pitchFamily="18" charset="0"/>
                                  <a:ea typeface="Helvetica Neue"/>
                                  <a:cs typeface="Helvetica Neue"/>
                                  <a:sym typeface="Helvetica Neue"/>
                                </a:rPr>
                              </m:ctrlPr>
                            </m:funcPr>
                            <m:fName>
                              <m:r>
                                <m:rPr>
                                  <m:sty m:val="p"/>
                                </m:rPr>
                                <a:rPr lang="en-US" sz="2200" b="0" i="0">
                                  <a:latin typeface="Cambria Math" panose="02040503050406030204" pitchFamily="18" charset="0"/>
                                  <a:ea typeface="Helvetica Neue"/>
                                  <a:cs typeface="Helvetica Neue"/>
                                  <a:sym typeface="Helvetica Neue"/>
                                </a:rPr>
                                <m:t>min</m:t>
                              </m:r>
                            </m:fName>
                            <m:e/>
                          </m:func>
                        </m:e>
                        <m:lim>
                          <m:r>
                            <a:rPr lang="ar-AE" sz="2200" b="0" i="1">
                              <a:latin typeface="Cambria Math" panose="02040503050406030204" pitchFamily="18" charset="0"/>
                              <a:ea typeface="Helvetica Neue"/>
                              <a:cs typeface="Helvetica Neue"/>
                              <a:sym typeface="Helvetica Neue"/>
                            </a:rPr>
                            <m:t>𝑖</m:t>
                          </m:r>
                        </m:lim>
                      </m:limLow>
                      <m:f>
                        <m:fPr>
                          <m:ctrlPr>
                            <a:rPr lang="ar-AE" sz="2200" b="0" i="1">
                              <a:latin typeface="Cambria Math" panose="02040503050406030204" pitchFamily="18" charset="0"/>
                              <a:ea typeface="Helvetica Neue"/>
                              <a:cs typeface="Helvetica Neue"/>
                              <a:sym typeface="Helvetica Neue"/>
                            </a:rPr>
                          </m:ctrlPr>
                        </m:fPr>
                        <m:num>
                          <m:sSub>
                            <m:sSubPr>
                              <m:ctrlPr>
                                <a:rPr lang="ar-AE" sz="2200" b="0" i="1">
                                  <a:latin typeface="Cambria Math" panose="02040503050406030204" pitchFamily="18" charset="0"/>
                                  <a:ea typeface="Helvetica Neue"/>
                                  <a:cs typeface="Helvetica Neue"/>
                                  <a:sym typeface="Helvetica Neue"/>
                                </a:rPr>
                              </m:ctrlPr>
                            </m:sSubPr>
                            <m:e>
                              <m:r>
                                <a:rPr lang="ar-AE" sz="2200" b="0" i="1">
                                  <a:latin typeface="Cambria Math" panose="02040503050406030204" pitchFamily="18" charset="0"/>
                                  <a:ea typeface="Helvetica Neue"/>
                                  <a:cs typeface="Helvetica Neue"/>
                                  <a:sym typeface="Helvetica Neue"/>
                                </a:rPr>
                                <m:t>𝑦</m:t>
                              </m:r>
                            </m:e>
                            <m:sub>
                              <m:r>
                                <a:rPr lang="ar-AE" sz="2200" b="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After normalization:</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f>
                        <m:fPr>
                          <m:ctrlPr>
                            <a:rPr lang="ar-AE" sz="2200" b="0" i="0">
                              <a:latin typeface="Cambria Math" panose="02040503050406030204" pitchFamily="18" charset="0"/>
                              <a:ea typeface="Helvetica Neue"/>
                              <a:cs typeface="Helvetica Neue"/>
                              <a:sym typeface="Helvetica Neue"/>
                            </a:rPr>
                          </m:ctrlPr>
                        </m:fPr>
                        <m:num>
                          <m:r>
                            <a:rPr lang="ar-AE" sz="2200" b="0" i="0">
                              <a:latin typeface="Cambria Math" panose="02040503050406030204" pitchFamily="18" charset="0"/>
                              <a:ea typeface="Helvetica Neue"/>
                              <a:cs typeface="Helvetica Neue"/>
                              <a:sym typeface="Helvetica Neue"/>
                            </a:rPr>
                            <m:t>1</m:t>
                          </m:r>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The numerator disappears because we fixed it.</a:t>
                </a:r>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r>
                  <a:rPr lang="ar-AE" sz="2200" b="1"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𝑏</a:t>
                </a:r>
                <a:r>
                  <a:rPr lang="ar-AE" sz="2200" b="1" i="0">
                    <a:latin typeface="Cambria Math" panose="02040503050406030204" pitchFamily="18" charset="0"/>
                    <a:ea typeface="Helvetica Neue"/>
                    <a:cs typeface="Helvetica Neue"/>
                    <a:sym typeface="Helvetica Neue"/>
                  </a:rPr>
                  <a:t>)</a:t>
                </a:r>
                <a:r>
                  <a:rPr lang="en-US" dirty="0"/>
                  <a:t>defines a separating hyperplane, then so does</a:t>
                </a:r>
              </a:p>
              <a:p>
                <a:pPr/>
                <a:r>
                  <a:rPr lang="ar-AE" sz="2200" i="0">
                    <a:latin typeface="Cambria Math" panose="02040503050406030204" pitchFamily="18" charset="0"/>
                    <a:sym typeface="Helvetica Neue"/>
                  </a:rPr>
                  <a:t>(</a:t>
                </a:r>
                <a:r>
                  <a:rPr lang="ar-AE" sz="2200" i="0">
                    <a:latin typeface="Cambria Math" panose="02040503050406030204" pitchFamily="18" charset="0"/>
                    <a:ea typeface="Helvetica Neue"/>
                    <a:cs typeface="Helvetica Neue"/>
                    <a:sym typeface="Helvetica Neue"/>
                  </a:rPr>
                  <a:t>𝛼ⓜ,</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𝛼𝑏)</a:t>
                </a:r>
                <a:endParaRPr lang="ar-AE" b="0" dirty="0"/>
              </a:p>
              <a:p>
                <a:r>
                  <a:rPr lang="en-US" dirty="0"/>
                  <a:t>for any positive </a:t>
                </a:r>
                <a:r>
                  <a:rPr lang="en-US" sz="2200" i="0">
                    <a:latin typeface="Cambria Math" panose="02040503050406030204" pitchFamily="18" charset="0"/>
                    <a:ea typeface="Helvetica Neue"/>
                    <a:cs typeface="Helvetica Neue"/>
                    <a:sym typeface="Helvetica Neue"/>
                  </a:rPr>
                  <a:t>𝛼</a:t>
                </a:r>
                <a:r>
                  <a:rPr lang="en-US" dirty="0"/>
                  <a:t>.</a:t>
                </a:r>
              </a:p>
              <a:p>
                <a:r>
                  <a:rPr lang="en-US" dirty="0"/>
                  <a:t>Why?</a:t>
                </a:r>
              </a:p>
              <a:p>
                <a:r>
                  <a:rPr lang="en-US" dirty="0"/>
                  <a:t>Because:</a:t>
                </a:r>
              </a:p>
              <a:p>
                <a:pPr/>
                <a:r>
                  <a:rPr lang="en-US" sz="2200" i="0">
                    <a:latin typeface="Cambria Math" panose="02040503050406030204" pitchFamily="18" charset="0"/>
                    <a:ea typeface="Helvetica Neue"/>
                    <a:cs typeface="Helvetica Neue"/>
                    <a:sym typeface="Helvetica Neue"/>
                  </a:rPr>
                  <a:t>𝛼</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+𝑏)=0</a:t>
                </a:r>
                <a:endParaRPr lang="ar-AE" b="0" dirty="0"/>
              </a:p>
              <a:p>
                <a:r>
                  <a:rPr lang="en-US" dirty="0"/>
                  <a:t>defines the exact same decision boundary.</a:t>
                </a:r>
              </a:p>
              <a:p>
                <a:r>
                  <a:rPr lang="en-US" dirty="0"/>
                  <a:t>So we are free to scale </a:t>
                </a:r>
                <a:r>
                  <a:rPr lang="en-US" sz="2200" b="1" i="0">
                    <a:latin typeface="Cambria Math" panose="02040503050406030204" pitchFamily="18" charset="0"/>
                    <a:ea typeface="Helvetica Neue"/>
                    <a:cs typeface="Helvetica Neue"/>
                    <a:sym typeface="Helvetica Neue"/>
                  </a:rPr>
                  <a:t>𝐰</a:t>
                </a:r>
                <a:r>
                  <a:rPr lang="en-US" dirty="0"/>
                  <a:t>and </a:t>
                </a:r>
                <a:r>
                  <a:rPr lang="en-US" sz="2200" i="0">
                    <a:latin typeface="Cambria Math" panose="02040503050406030204" pitchFamily="18" charset="0"/>
                    <a:ea typeface="Helvetica Neue"/>
                    <a:cs typeface="Helvetica Neue"/>
                    <a:sym typeface="Helvetica Neue"/>
                  </a:rPr>
                  <a:t>𝑏</a:t>
                </a:r>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r>
                  <a:rPr lang="ar-AE" sz="2200" i="0">
                    <a:latin typeface="Cambria Math" panose="02040503050406030204" pitchFamily="18" charset="0"/>
                    <a:sym typeface="Helvetica Neue"/>
                  </a:rPr>
                  <a:t>(</a:t>
                </a:r>
                <a:r>
                  <a:rPr lang="en-US" sz="2200" i="0">
                    <a:latin typeface="Cambria Math" panose="02040503050406030204" pitchFamily="18" charset="0"/>
                    <a:ea typeface="Helvetica Neue"/>
                    <a:cs typeface="Helvetica Neue"/>
                    <a:sym typeface="Helvetica Neue"/>
                  </a:rPr>
                  <a:t>min</a:t>
                </a:r>
                <a:r>
                  <a:rPr lang="ar-AE" sz="2200" i="0">
                    <a:latin typeface="Cambria Math" panose="02040503050406030204" pitchFamily="18" charset="0"/>
                    <a:ea typeface="Helvetica Neue"/>
                    <a:cs typeface="Helvetica Neue"/>
                    <a:sym typeface="Helvetica Neue"/>
                  </a:rPr>
                  <a:t>⁡</a:t>
                </a:r>
                <a:r>
                  <a:rPr lang="en-US" sz="2200" i="0">
                    <a:latin typeface="Cambria Math" panose="02040503050406030204" pitchFamily="18" charset="0"/>
                    <a:ea typeface="Helvetica Neue"/>
                    <a:cs typeface="Helvetica Neue"/>
                    <a:sym typeface="Helvetica Neue"/>
                  </a:rPr>
                  <a:t> </a:t>
                </a:r>
                <a:r>
                  <a:rPr lang="ar-AE" sz="2200" i="0">
                    <a:latin typeface="Cambria Math" panose="02040503050406030204" pitchFamily="18" charset="0"/>
                    <a:ea typeface="Helvetica Neue"/>
                    <a:cs typeface="Helvetica Neue"/>
                    <a:sym typeface="Helvetica Neue"/>
                  </a:rPr>
                  <a:t>)┬𝑖 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means:</a:t>
                </a:r>
              </a:p>
              <a:p>
                <a:r>
                  <a:rPr lang="en-US" dirty="0"/>
                  <a:t>The closest correctly classified point satisfies</a:t>
                </a:r>
              </a:p>
              <a:p>
                <a:pPr/>
                <a:r>
                  <a:rPr lang="ar-AE" sz="2200" i="0">
                    <a:latin typeface="Cambria Math" panose="02040503050406030204" pitchFamily="18" charset="0"/>
                    <a:ea typeface="Helvetica Neue"/>
                    <a:cs typeface="Helvetica Neue"/>
                    <a:sym typeface="Helvetica Neue"/>
                  </a:rPr>
                  <a:t>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min</a:t>
                </a:r>
                <a:r>
                  <a:rPr lang="ar-AE" sz="2200" b="0" i="0">
                    <a:latin typeface="Cambria Math" panose="02040503050406030204" pitchFamily="18" charset="0"/>
                    <a:ea typeface="Helvetica Neue"/>
                    <a:cs typeface="Helvetica Neue"/>
                    <a:sym typeface="Helvetica Neue"/>
                  </a:rPr>
                  <a:t>⁡</a:t>
                </a:r>
                <a:r>
                  <a:rPr lang="en-US" sz="2200" b="0" i="0">
                    <a:latin typeface="Cambria Math" panose="02040503050406030204" pitchFamily="18" charset="0"/>
                    <a:ea typeface="Helvetica Neue"/>
                    <a:cs typeface="Helvetica Neue"/>
                    <a:sym typeface="Helvetica Neue"/>
                  </a:rPr>
                  <a:t> </a:t>
                </a:r>
                <a:r>
                  <a:rPr lang="ar-AE" sz="2200" b="0" i="0">
                    <a:latin typeface="Cambria Math" panose="02040503050406030204" pitchFamily="18" charset="0"/>
                    <a:ea typeface="Helvetica Neue"/>
                    <a:cs typeface="Helvetica Neue"/>
                    <a:sym typeface="Helvetica Neue"/>
                  </a:rPr>
                  <a:t>)┬𝑖 </a:t>
                </a:r>
                <a:r>
                  <a:rPr lang="ar-AE" sz="2200" b="0" i="0">
                    <a:latin typeface="Cambria Math" panose="02040503050406030204" pitchFamily="18" charset="0"/>
                    <a:sym typeface="Helvetica Neue"/>
                  </a:rPr>
                  <a:t> (</a:t>
                </a:r>
                <a:r>
                  <a:rPr lang="ar-AE" sz="2200" b="0" i="0">
                    <a:latin typeface="Cambria Math" panose="02040503050406030204" pitchFamily="18" charset="0"/>
                    <a:ea typeface="Helvetica Neue"/>
                    <a:cs typeface="Helvetica Neue"/>
                    <a:sym typeface="Helvetica Neue"/>
                  </a:rPr>
                  <a:t>𝑦_𝑖 (</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After normalization:</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ea typeface="Helvetica Neue"/>
                    <a:cs typeface="Helvetica Neue"/>
                    <a:sym typeface="Helvetica Neue"/>
                  </a:rPr>
                  <a:t>1/(∥</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The numerator disappears because we fixed it.</a:t>
                </a:r>
              </a:p>
              <a:p>
                <a:endParaRPr lang="en-US" dirty="0"/>
              </a:p>
              <a:p>
                <a:endParaRPr lang="en-US" dirty="0"/>
              </a:p>
            </p:txBody>
          </p:sp>
        </mc:Fallback>
      </mc:AlternateContent>
    </p:spTree>
    <p:extLst>
      <p:ext uri="{BB962C8B-B14F-4D97-AF65-F5344CB8AC3E}">
        <p14:creationId xmlns:p14="http://schemas.microsoft.com/office/powerpoint/2010/main" val="26745129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The index i labels a training observation. Ask: if yᵢ=-1 and the score is -2, what is the product? Answer: +2, correctly classified. At zero the point lies on the boundary. Explain that normalization fixes the arbitrary scale: for a strictly separating hyperplane, divide w and b by min_i y_i(w·x_i+b)&gt;0. At the normalized closest points, this product equals 1. With constraints held fixed, maximizing 1/‖w‖ is equivalent to minimizing ½‖w‖². The one-sided margin is 1/‖w‖ and the whole street is 2/‖w‖. On the following slides, min means choose w,b to make the objective as small as possible; s.t. means subject to; ∀i means for every observation. The identity with the absolute score assumes correct classification. A negative label-adjusted score gives negative signed margin. For hinge loss later, max(0,1−yᵢf(xᵢ)) is zero at scores of at least 1 and positive below 1.</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Hinge loss is the margin-violation penalty in soft-margin SVM. Hard-margin SVM instead enforces every margin constraint with no slack.</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952739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Assume w is nonzero. Signed distance to the boundary is f(x)/||w||. For example, y=+1 and f(x)=0.4 gives slack 0.6, so the point is correctly classified but inside its margin. This makes the geometry concrete without treating slack as raw Euclidean distance.</a:t>
            </a:r>
          </a:p>
          <a:p>
            <a:endParaRPr/>
          </a:p>
          <a:p>
            <a:r>
              <a:t>[Sources]</a:t>
            </a:r>
          </a:p>
          <a:p>
            <a:r>
              <a:t>https://scikit-learn.org/stable/modules/svm.html#mathematical-formulation</a:t>
            </a:r>
          </a:p>
          <a:p>
            <a:r>
              <a:t>https://surnamnarendra.github.io/Fundamentals-of-Machine-Learning/lecture_25.html</a:t>
            </a:r>
          </a:p>
          <a:p>
            <a:r>
              <a:t>[/Sources]</a:t>
            </a:r>
          </a:p>
          <a:p>
            <a:endParaRPr lang="en-US"/>
          </a:p>
          <a:p>
            <a:r>
              <a:rPr lang="en-US"/>
              <a:t>Accuracy clarification: The equality </a:t>
            </a:r>
            <a:r>
              <a:rPr lang="el-GR"/>
              <a:t>ξ</a:t>
            </a:r>
            <a:r>
              <a:rPr lang="en-US"/>
              <a:t>ᵢ = max(0, 1 − yᵢ f(xᵢ)) holds at an optimum of the standard soft-margin objective with C &gt; 0 because reducing excess slack lowers the objective. For arbitrary feasible slacks, only </a:t>
            </a:r>
            <a:r>
              <a:rPr lang="el-GR"/>
              <a:t>ξ</a:t>
            </a:r>
            <a:r>
              <a:rPr lang="en-US"/>
              <a:t>ᵢ ≥ max(0, 1 − yᵢ f(xᵢ)) is guaranteed. Geometric distance statements require w ≠ 0.</a:t>
            </a:r>
          </a:p>
          <a:p>
            <a:r>
              <a:rPr lang="en-US"/>
              <a:t>[Sources]</a:t>
            </a:r>
          </a:p>
          <a:p>
            <a:r>
              <a:rPr lang="en-US"/>
              <a:t>https://people.eecs.berkeley.edu/~jrs/189s19/lec/04.pdf</a:t>
            </a:r>
          </a:p>
          <a:p>
            <a:r>
              <a:rPr lang="en-US"/>
              <a:t>[/Sources]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is the soft-margin primal for binary classification. Variables are w, b and all nonnegative slack values. With C &gt; 0, each optimal slack equals max(0, 1 − y_i f(x_i)). C changes the tradeoff, not a fixed geometric width.</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claim refers specifically to the dual objective. The primal contains a weight vector in feature space. A valid positive-semidefinite kernel lets us work with inner products without constructing that vector explicitly.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For the standard polynomial kernel, use nonnegative gamma and offset with a nonnegative integer degree. RBF gamma is positive. Small gamma gives broad influence and can underfit, while large gamma can overfit. These are tendencies, not guarantees. Feature scaling must be learned on training data only.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concepts in 586</a:t>
            </a:r>
          </a:p>
          <a:p>
            <a:endParaRPr lang="en-US"/>
          </a:p>
          <a:p>
            <a:r>
              <a:rPr lang="en-US"/>
              <a:t>High-level derivation: attach multipliers alpha_i &gt;= 0 to 1 − xi_i − y_i(w·phi(x_i)+b) &lt;= 0 and mu_i &gt;= 0 to −xi_i &lt;= 0. Minimizing the Lagrangian over w yields w = sum alpha_i y_i phi(x_i). Minimizing over b gives sum alpha_i y_i = 0. Minimizing over xi gives alpha_i + mu_i = C, hence 0 &lt;= alpha_i &lt;= C. Convexity and strict feasibility of the soft-margin primal imply strong duality. Primal and dual optimizers are different variables, even though their optimal objective values agree.</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158592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All sums run over the n training observations with labels in {−1,+1}. This is the complete soft-margin classification dual. The box bound comes from the slack penalty C, while the equality constraint comes from the unpenalized intercept b. A valid positive-semidefinite kernel makes the quadratic term positive semidefinite and the maximization concave. Training uses the n by n Gram matrix K. Kernelization does not guarantee separability or low computational cost for large n.</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These are the KKT relationships at an exact optimum for C &gt; 0. Alpha_i = C does not imply misclassification. Points exactly on a margin may have zero alpha in degenerate solutions. Positive alpha defines a support vector in the fitted dual solution. For 0 &lt; alpha_i &lt; C, y_i f(x_i)=1, giving b = y_i − sum_j alpha_j y_j K(x_j,x_i). Average this expression across such support vectors. If none exist, a solver uses KKT bounds for b.</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Only nonzero alpha terms need to be evaluated. The sign gives the class, not a calibrated probability. A score of exactly zero lies on the decision boundary and requires a tie convention. To recover b, use a support vector with 0 &lt; alpha_i &lt; C and the equality y_i f(x_i)=1, or solver bounds if there are no such points.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1558939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rPr dirty="0"/>
              <a:t>Examples are illustrative calculations. This is epsilon-insensitive absolute loss, not squared error. The standard epsilon-SVR objective is 1/2 ||w||^2 + C </a:t>
            </a:r>
            <a:r>
              <a:rPr dirty="0" err="1"/>
              <a:t>sum_i</a:t>
            </a:r>
            <a:r>
              <a:rPr dirty="0"/>
              <a:t> max(0, |</a:t>
            </a:r>
            <a:r>
              <a:rPr dirty="0" err="1"/>
              <a:t>y_i</a:t>
            </a:r>
            <a:r>
              <a:rPr dirty="0"/>
              <a:t>−f(</a:t>
            </a:r>
            <a:r>
              <a:rPr dirty="0" err="1"/>
              <a:t>x_i</a:t>
            </a:r>
            <a:r>
              <a:rPr dirty="0"/>
              <a:t>)|−epsilon). The tube width is fixed by epsilon; training trades function flatness against residual excess.</a:t>
            </a:r>
          </a:p>
          <a:p>
            <a:endParaRPr dirty="0"/>
          </a:p>
          <a:p>
            <a:r>
              <a:rPr dirty="0"/>
              <a:t>[Sources]</a:t>
            </a:r>
          </a:p>
          <a:p>
            <a:r>
              <a:rPr dirty="0"/>
              <a:t>https://scikit-learn.org/stable/modules/svm.html#mathematical-formulation</a:t>
            </a:r>
          </a:p>
          <a:p>
            <a:r>
              <a:rPr dirty="0"/>
              <a:t>https://surnamnarendra.github.io/Fundamentals-of-Machine-Learning/lecture_25.html</a:t>
            </a:r>
          </a:p>
          <a:p>
            <a:r>
              <a:rPr dirty="0"/>
              <a:t>[/Sources]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Preserve the full epsilon-SVR optimization already present. With f_i = w·x_i+b, xi_i &gt;= y_i−f_i−epsilon and xi_i* &gt;= f_i−y_i−epsilon, with nonnegative slacks. At the optimum their sum equals the epsilon-insensitive loss.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Strictly interior points have zero dual coefficients. Points on the tube boundary can also be support vectors, so support vectors are not limited to observations outside the tube.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 existing equation uses f(x)=sum_i (alpha_i−alpha_i*) K(x_i,x)+b, consistent with the residual constraints on the SVR optimization slide. The multipliers each lie in [0,C] and sum_i(alpha_i−alpha_i*)=0. Points strictly inside the epsilon-tube have both multipliers zero. Points on or outside its boundary may be support vectors.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6963634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2" name="Presentation Title"/>
          <p:cNvSpPr txBox="1">
            <a:spLocks noGrp="1"/>
          </p:cNvSpPr>
          <p:nvPr>
            <p:ph type="title" hasCustomPrompt="1"/>
          </p:nvPr>
        </p:nvSpPr>
        <p:spPr>
          <a:xfrm>
            <a:off x="698500" y="1854200"/>
            <a:ext cx="11609057"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15" name="01"/>
          <p:cNvSpPr txBox="1">
            <a:spLocks noGrp="1"/>
          </p:cNvSpPr>
          <p:nvPr>
            <p:ph type="sldNum" sz="quarter" idx="2"/>
          </p:nvPr>
        </p:nvSpPr>
        <p:spPr>
          <a:xfrm>
            <a:off x="6353454" y="9220199"/>
            <a:ext cx="297892"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2" name="Avocados and limes"/>
          <p:cNvSpPr>
            <a:spLocks noGrp="1"/>
          </p:cNvSpPr>
          <p:nvPr>
            <p:ph type="pic" idx="21"/>
          </p:nvPr>
        </p:nvSpPr>
        <p:spPr>
          <a:xfrm>
            <a:off x="-376767" y="-915894"/>
            <a:ext cx="17835652" cy="10682195"/>
          </a:xfrm>
          <a:prstGeom prst="rect">
            <a:avLst/>
          </a:prstGeom>
        </p:spPr>
        <p:txBody>
          <a:bodyPr lIns="91439" tIns="45719" rIns="91439" bIns="45719">
            <a:noAutofit/>
          </a:bodyPr>
          <a:lstStyle/>
          <a:p>
            <a:endParaRPr/>
          </a:p>
        </p:txBody>
      </p:sp>
      <p:sp>
        <p:nvSpPr>
          <p:cNvPr id="23" name="Presentation Title"/>
          <p:cNvSpPr txBox="1">
            <a:spLocks noGrp="1"/>
          </p:cNvSpPr>
          <p:nvPr>
            <p:ph type="title" hasCustomPrompt="1"/>
          </p:nvPr>
        </p:nvSpPr>
        <p:spPr>
          <a:xfrm>
            <a:off x="698500" y="51816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24" name="Body Level One…"/>
          <p:cNvSpPr txBox="1">
            <a:spLocks noGrp="1"/>
          </p:cNvSpPr>
          <p:nvPr>
            <p:ph type="body" sz="quarter" idx="1" hasCustomPrompt="1"/>
          </p:nvPr>
        </p:nvSpPr>
        <p:spPr>
          <a:xfrm>
            <a:off x="698500" y="8432800"/>
            <a:ext cx="11607800" cy="68976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Presentation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25" name="Author and Date"/>
          <p:cNvSpPr txBox="1">
            <a:spLocks noGrp="1"/>
          </p:cNvSpPr>
          <p:nvPr>
            <p:ph type="body" sz="quarter" idx="22" hasCustomPrompt="1"/>
          </p:nvPr>
        </p:nvSpPr>
        <p:spPr>
          <a:xfrm>
            <a:off x="698500" y="571500"/>
            <a:ext cx="11607801"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Author and Date</a:t>
            </a:r>
          </a:p>
        </p:txBody>
      </p:sp>
      <p:sp>
        <p:nvSpPr>
          <p:cNvPr id="26" name="01"/>
          <p:cNvSpPr txBox="1">
            <a:spLocks noGrp="1"/>
          </p:cNvSpPr>
          <p:nvPr>
            <p:ph type="sldNum" sz="quarter" idx="2"/>
          </p:nvPr>
        </p:nvSpPr>
        <p:spPr>
          <a:xfrm>
            <a:off x="6349999" y="9220199"/>
            <a:ext cx="297893"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3" name="Bowl with salmon cakes, salad, and hummus "/>
          <p:cNvSpPr>
            <a:spLocks noGrp="1"/>
          </p:cNvSpPr>
          <p:nvPr>
            <p:ph type="pic" idx="21"/>
          </p:nvPr>
        </p:nvSpPr>
        <p:spPr>
          <a:xfrm>
            <a:off x="5319129" y="495299"/>
            <a:ext cx="7543801" cy="8780059"/>
          </a:xfrm>
          <a:prstGeom prst="rect">
            <a:avLst/>
          </a:prstGeom>
        </p:spPr>
        <p:txBody>
          <a:bodyPr lIns="91439" tIns="45719" rIns="91439" bIns="45719">
            <a:noAutofit/>
          </a:bodyPr>
          <a:lstStyle/>
          <a:p>
            <a:endParaRPr/>
          </a:p>
        </p:txBody>
      </p:sp>
      <p:sp>
        <p:nvSpPr>
          <p:cNvPr id="34" name="Body Level One…"/>
          <p:cNvSpPr txBox="1">
            <a:spLocks noGrp="1"/>
          </p:cNvSpPr>
          <p:nvPr>
            <p:ph type="body" sz="quarter" idx="1" hasCustomPrompt="1"/>
          </p:nvPr>
        </p:nvSpPr>
        <p:spPr>
          <a:xfrm>
            <a:off x="698500" y="5003800"/>
            <a:ext cx="5105400" cy="4044566"/>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5" name="Slide Title"/>
          <p:cNvSpPr txBox="1">
            <a:spLocks noGrp="1"/>
          </p:cNvSpPr>
          <p:nvPr>
            <p:ph type="title" hasCustomPrompt="1"/>
          </p:nvPr>
        </p:nvSpPr>
        <p:spPr>
          <a:xfrm>
            <a:off x="698500" y="692534"/>
            <a:ext cx="5105400" cy="4387466"/>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36"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44"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numCol="2" spcCol="589358"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53"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Bowl of pappardelle pasta with parsley butter, roasted hazelnuts, and shaved parmesan cheese"/>
          <p:cNvSpPr>
            <a:spLocks noGrp="1"/>
          </p:cNvSpPr>
          <p:nvPr>
            <p:ph type="pic" idx="21"/>
          </p:nvPr>
        </p:nvSpPr>
        <p:spPr>
          <a:xfrm>
            <a:off x="6172200" y="596900"/>
            <a:ext cx="6448425" cy="8597900"/>
          </a:xfrm>
          <a:prstGeom prst="rect">
            <a:avLst/>
          </a:prstGeom>
        </p:spPr>
        <p:txBody>
          <a:bodyPr lIns="91439" tIns="45719" rIns="91439" bIns="45719">
            <a:noAutofit/>
          </a:bodyPr>
          <a:lstStyle/>
          <a:p>
            <a:endParaRPr/>
          </a:p>
        </p:txBody>
      </p:sp>
      <p:sp>
        <p:nvSpPr>
          <p:cNvPr id="61" name="Slide Title"/>
          <p:cNvSpPr txBox="1">
            <a:spLocks noGrp="1"/>
          </p:cNvSpPr>
          <p:nvPr>
            <p:ph type="title" hasCustomPrompt="1"/>
          </p:nvPr>
        </p:nvSpPr>
        <p:spPr>
          <a:xfrm>
            <a:off x="698500" y="444500"/>
            <a:ext cx="51054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62" name="Slide Subtitle"/>
          <p:cNvSpPr txBox="1">
            <a:spLocks noGrp="1"/>
          </p:cNvSpPr>
          <p:nvPr>
            <p:ph type="body" sz="quarter" idx="22" hasCustomPrompt="1"/>
          </p:nvPr>
        </p:nvSpPr>
        <p:spPr>
          <a:xfrm>
            <a:off x="698500" y="1412977"/>
            <a:ext cx="51054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p:txBody>
      </p:sp>
      <p:sp>
        <p:nvSpPr>
          <p:cNvPr id="63" name="Body Level One…"/>
          <p:cNvSpPr txBox="1">
            <a:spLocks noGrp="1"/>
          </p:cNvSpPr>
          <p:nvPr>
            <p:ph type="body" sz="half" idx="1" hasCustomPrompt="1"/>
          </p:nvPr>
        </p:nvSpPr>
        <p:spPr>
          <a:xfrm>
            <a:off x="698500" y="3480196"/>
            <a:ext cx="5105400" cy="5593161"/>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6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71" name="Section Title"/>
          <p:cNvSpPr txBox="1">
            <a:spLocks noGrp="1"/>
          </p:cNvSpPr>
          <p:nvPr>
            <p:ph type="title" hasCustomPrompt="1"/>
          </p:nvPr>
        </p:nvSpPr>
        <p:spPr>
          <a:xfrm>
            <a:off x="698500" y="32258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Section Title</a:t>
            </a:r>
          </a:p>
        </p:txBody>
      </p:sp>
      <p:sp>
        <p:nvSpPr>
          <p:cNvPr id="7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81"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8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89" name="Agenda Title"/>
          <p:cNvSpPr txBox="1">
            <a:spLocks noGrp="1"/>
          </p:cNvSpPr>
          <p:nvPr>
            <p:ph type="title" hasCustomPrompt="1"/>
          </p:nvPr>
        </p:nvSpPr>
        <p:spPr>
          <a:xfrm>
            <a:off x="698500" y="444500"/>
            <a:ext cx="116078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Agenda Title</a:t>
            </a:r>
          </a:p>
        </p:txBody>
      </p:sp>
      <p:sp>
        <p:nvSpPr>
          <p:cNvPr id="90" name="Agenda Subtitle"/>
          <p:cNvSpPr txBox="1">
            <a:spLocks noGrp="1"/>
          </p:cNvSpPr>
          <p:nvPr>
            <p:ph type="body" sz="quarter" idx="21" hasCustomPrompt="1"/>
          </p:nvPr>
        </p:nvSpPr>
        <p:spPr>
          <a:xfrm>
            <a:off x="698500" y="1409700"/>
            <a:ext cx="11607801" cy="671802"/>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Subtitle</a:t>
            </a:r>
          </a:p>
        </p:txBody>
      </p:sp>
      <p:sp>
        <p:nvSpPr>
          <p:cNvPr id="91"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Topics</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9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99" name="Body Level One…"/>
          <p:cNvSpPr txBox="1">
            <a:spLocks noGrp="1"/>
          </p:cNvSpPr>
          <p:nvPr>
            <p:ph type="body" sz="half" idx="1" hasCustomPrompt="1"/>
          </p:nvPr>
        </p:nvSpPr>
        <p:spPr>
          <a:xfrm>
            <a:off x="698500" y="3568700"/>
            <a:ext cx="11607800" cy="2617788"/>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Statement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0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09" name="Fact information"/>
          <p:cNvSpPr txBox="1">
            <a:spLocks noGrp="1"/>
          </p:cNvSpPr>
          <p:nvPr>
            <p:ph type="body" sz="quarter" idx="21" hasCustomPrompt="1"/>
          </p:nvPr>
        </p:nvSpPr>
        <p:spPr>
          <a:xfrm>
            <a:off x="698500" y="6209979"/>
            <a:ext cx="116078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Fact information</a:t>
            </a:r>
          </a:p>
        </p:txBody>
      </p:sp>
      <p:sp>
        <p:nvSpPr>
          <p:cNvPr id="110" name="Body Level One…"/>
          <p:cNvSpPr txBox="1">
            <a:spLocks noGrp="1"/>
          </p:cNvSpPr>
          <p:nvPr>
            <p:ph type="body" idx="1" hasCustomPrompt="1"/>
          </p:nvPr>
        </p:nvSpPr>
        <p:spPr>
          <a:xfrm>
            <a:off x="698500" y="999066"/>
            <a:ext cx="11607800" cy="5210914"/>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100%</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1"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18" name="Body Level One…"/>
          <p:cNvSpPr txBox="1">
            <a:spLocks noGrp="1"/>
          </p:cNvSpPr>
          <p:nvPr>
            <p:ph type="body" sz="half" idx="1" hasCustomPrompt="1"/>
          </p:nvPr>
        </p:nvSpPr>
        <p:spPr>
          <a:xfrm>
            <a:off x="736600" y="3721100"/>
            <a:ext cx="11531600" cy="23241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“Notable Quote”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9" name="Attribution"/>
          <p:cNvSpPr txBox="1">
            <a:spLocks noGrp="1"/>
          </p:cNvSpPr>
          <p:nvPr>
            <p:ph type="body" sz="quarter" idx="21" hasCustomPrompt="1"/>
          </p:nvPr>
        </p:nvSpPr>
        <p:spPr>
          <a:xfrm>
            <a:off x="1219200" y="6426200"/>
            <a:ext cx="11049000"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Attribution</a:t>
            </a:r>
          </a:p>
        </p:txBody>
      </p:sp>
      <p:sp>
        <p:nvSpPr>
          <p:cNvPr id="12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27" name="Bowl of pappardelle pasta with parsley butter, roasted hazelnuts, and shaved parmesan cheese"/>
          <p:cNvSpPr>
            <a:spLocks noGrp="1"/>
          </p:cNvSpPr>
          <p:nvPr>
            <p:ph type="pic" idx="21"/>
          </p:nvPr>
        </p:nvSpPr>
        <p:spPr>
          <a:xfrm>
            <a:off x="-2082800" y="687558"/>
            <a:ext cx="11165190" cy="8373892"/>
          </a:xfrm>
          <a:prstGeom prst="rect">
            <a:avLst/>
          </a:prstGeom>
        </p:spPr>
        <p:txBody>
          <a:bodyPr lIns="91439" tIns="45719" rIns="91439" bIns="45719">
            <a:noAutofit/>
          </a:bodyPr>
          <a:lstStyle/>
          <a:p>
            <a:endParaRPr/>
          </a:p>
        </p:txBody>
      </p:sp>
      <p:sp>
        <p:nvSpPr>
          <p:cNvPr id="128" name="Bowl of salad with fried rice, boiled eggs, and chopsticks"/>
          <p:cNvSpPr>
            <a:spLocks noGrp="1"/>
          </p:cNvSpPr>
          <p:nvPr>
            <p:ph type="pic" sz="half" idx="22"/>
          </p:nvPr>
        </p:nvSpPr>
        <p:spPr>
          <a:xfrm>
            <a:off x="6597650" y="292100"/>
            <a:ext cx="5740400" cy="4592321"/>
          </a:xfrm>
          <a:prstGeom prst="rect">
            <a:avLst/>
          </a:prstGeom>
        </p:spPr>
        <p:txBody>
          <a:bodyPr lIns="91439" tIns="45719" rIns="91439" bIns="45719">
            <a:noAutofit/>
          </a:bodyPr>
          <a:lstStyle/>
          <a:p>
            <a:endParaRPr/>
          </a:p>
        </p:txBody>
      </p:sp>
      <p:sp>
        <p:nvSpPr>
          <p:cNvPr id="129" name="Bowl with salmon cakes, salad, and hummus"/>
          <p:cNvSpPr>
            <a:spLocks noGrp="1"/>
          </p:cNvSpPr>
          <p:nvPr>
            <p:ph type="pic" idx="23"/>
          </p:nvPr>
        </p:nvSpPr>
        <p:spPr>
          <a:xfrm>
            <a:off x="4984750" y="2749413"/>
            <a:ext cx="7937500" cy="9238277"/>
          </a:xfrm>
          <a:prstGeom prst="rect">
            <a:avLst/>
          </a:prstGeom>
        </p:spPr>
        <p:txBody>
          <a:bodyPr lIns="91439" tIns="45719" rIns="91439" bIns="45719">
            <a:noAutofit/>
          </a:bodyPr>
          <a:lstStyle/>
          <a:p>
            <a:endParaRPr/>
          </a:p>
        </p:txBody>
      </p:sp>
      <p:sp>
        <p:nvSpPr>
          <p:cNvPr id="13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37" name="Bowl of salad with fried rice, boiled eggs, and chopsticks"/>
          <p:cNvSpPr>
            <a:spLocks noGrp="1"/>
          </p:cNvSpPr>
          <p:nvPr>
            <p:ph type="pic" idx="21"/>
          </p:nvPr>
        </p:nvSpPr>
        <p:spPr>
          <a:xfrm>
            <a:off x="-1016000" y="-1054100"/>
            <a:ext cx="14427200" cy="11541760"/>
          </a:xfrm>
          <a:prstGeom prst="rect">
            <a:avLst/>
          </a:prstGeom>
        </p:spPr>
        <p:txBody>
          <a:bodyPr lIns="91439" tIns="45719" rIns="91439" bIns="45719">
            <a:noAutofit/>
          </a:bodyPr>
          <a:lstStyle/>
          <a:p>
            <a:endParaRPr/>
          </a:p>
        </p:txBody>
      </p:sp>
      <p:sp>
        <p:nvSpPr>
          <p:cNvPr id="138" name="01"/>
          <p:cNvSpPr txBox="1">
            <a:spLocks noGrp="1"/>
          </p:cNvSpPr>
          <p:nvPr>
            <p:ph type="sldNum" sz="quarter" idx="2"/>
          </p:nvPr>
        </p:nvSpPr>
        <p:spPr>
          <a:xfrm>
            <a:off x="6353454" y="9220199"/>
            <a:ext cx="297892" cy="287479"/>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ody Level One…"/>
          <p:cNvSpPr txBox="1">
            <a:spLocks noGrp="1"/>
          </p:cNvSpPr>
          <p:nvPr>
            <p:ph type="body" idx="1" hasCustomPrompt="1"/>
          </p:nvPr>
        </p:nvSpPr>
        <p:spPr>
          <a:xfrm>
            <a:off x="698500" y="1924756"/>
            <a:ext cx="11607800" cy="76405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 name="Slide Title"/>
          <p:cNvSpPr txBox="1">
            <a:spLocks noGrp="1"/>
          </p:cNvSpPr>
          <p:nvPr>
            <p:ph type="title" hasCustomPrompt="1"/>
          </p:nvPr>
        </p:nvSpPr>
        <p:spPr>
          <a:xfrm>
            <a:off x="698500" y="440266"/>
            <a:ext cx="11607800" cy="101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5" name="01"/>
          <p:cNvSpPr txBox="1">
            <a:spLocks noGrp="1"/>
          </p:cNvSpPr>
          <p:nvPr>
            <p:ph type="sldNum" sz="quarter" idx="2"/>
          </p:nvPr>
        </p:nvSpPr>
        <p:spPr>
          <a:xfrm>
            <a:off x="6350067" y="9220199"/>
            <a:ext cx="297892" cy="287479"/>
          </a:xfrm>
          <a:prstGeom prst="rect">
            <a:avLst/>
          </a:prstGeom>
          <a:ln w="12700">
            <a:miter lim="400000"/>
          </a:ln>
        </p:spPr>
        <p:txBody>
          <a:bodyPr wrap="none" lIns="50800" tIns="50800" rIns="50800" bIns="50800" anchor="b">
            <a:spAutoFit/>
          </a:bodyPr>
          <a:lstStyle>
            <a:lvl1pPr algn="ctr" defTabSz="584200">
              <a:defRPr sz="1300">
                <a:solidFill>
                  <a:srgbClr val="000000"/>
                </a:solidFill>
                <a:latin typeface="Helvetica Neue"/>
                <a:ea typeface="Helvetica Neue"/>
                <a:cs typeface="Helvetica Neue"/>
                <a:sym typeface="Helvetica Neue"/>
              </a:defRPr>
            </a:lvl1pPr>
          </a:lstStyle>
          <a:p>
            <a:fld id="{86CB4B4D-7CA3-9044-876B-883B54F8677D}" type="slidenum">
              <a:t>‹#›</a:t>
            </a:fld>
            <a:endParaRPr/>
          </a:p>
        </p:txBody>
      </p:sp>
      <p:cxnSp>
        <p:nvCxnSpPr>
          <p:cNvPr id="900" name="Straight Connector 6">
            <a:extLst>
              <a:ext uri="{FF2B5EF4-FFF2-40B4-BE49-F238E27FC236}">
                <a16:creationId xmlns:a16="http://schemas.microsoft.com/office/drawing/2014/main" id="{F64F9B95-9045-48D2-B9F3-2927E98F54AA}"/>
              </a:ext>
            </a:extLst>
          </p:cNvPr>
          <p:cNvCxnSpPr>
            <a:cxnSpLocks/>
          </p:cNvCxnSpPr>
          <p:nvPr/>
        </p:nvCxnSpPr>
        <p:spPr>
          <a:xfrm>
            <a:off x="853440" y="1029547"/>
            <a:ext cx="1129792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1" name="Straight Connector 7">
            <a:extLst>
              <a:ext uri="{FF2B5EF4-FFF2-40B4-BE49-F238E27FC236}">
                <a16:creationId xmlns:a16="http://schemas.microsoft.com/office/drawing/2014/main" id="{085AA86F-6A4D-4BCB-A045-D992CDC2959B}"/>
              </a:ext>
            </a:extLst>
          </p:cNvPr>
          <p:cNvCxnSpPr>
            <a:cxnSpLocks/>
          </p:cNvCxnSpPr>
          <p:nvPr/>
        </p:nvCxnSpPr>
        <p:spPr>
          <a:xfrm>
            <a:off x="853440" y="8736400"/>
            <a:ext cx="112979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spd="med"/>
  <p:txStyles>
    <p:title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p:titleStyle>
    <p:body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p:bodyStyle>
    <p:other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5.tif"/><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tif"/><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9.tif"/><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0.ti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0.tif"/><Relationship Id="rId2" Type="http://schemas.openxmlformats.org/officeDocument/2006/relationships/image" Target="../media/image11.tif"/><Relationship Id="rId1" Type="http://schemas.openxmlformats.org/officeDocument/2006/relationships/slideLayout" Target="../slideLayouts/slideLayout4.xml"/><Relationship Id="rId6" Type="http://schemas.openxmlformats.org/officeDocument/2006/relationships/image" Target="../media/image130.png"/><Relationship Id="rId5" Type="http://schemas.openxmlformats.org/officeDocument/2006/relationships/customXml" Target="../ink/ink1.xml"/><Relationship Id="rId4" Type="http://schemas.openxmlformats.org/officeDocument/2006/relationships/image" Target="../media/image12.tif"/></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ti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4.ti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5.ti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16.tif"/><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17.ti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4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19.tif"/><Relationship Id="rId7" Type="http://schemas.openxmlformats.org/officeDocument/2006/relationships/image" Target="../media/image31.png"/><Relationship Id="rId2" Type="http://schemas.openxmlformats.org/officeDocument/2006/relationships/image" Target="../media/image33.png"/><Relationship Id="rId1" Type="http://schemas.openxmlformats.org/officeDocument/2006/relationships/slideLayout" Target="../slideLayouts/slideLayout8.xml"/><Relationship Id="rId6" Type="http://schemas.openxmlformats.org/officeDocument/2006/relationships/image" Target="../media/image30.png"/><Relationship Id="rId5" Type="http://schemas.openxmlformats.org/officeDocument/2006/relationships/image" Target="../media/image21.tif"/><Relationship Id="rId4" Type="http://schemas.openxmlformats.org/officeDocument/2006/relationships/image" Target="../media/image20.tif"/></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9" name="Rectangle 15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7B5218C-B546-9504-79DF-6415BC0A89E7}"/>
              </a:ext>
            </a:extLst>
          </p:cNvPr>
          <p:cNvPicPr>
            <a:picLocks noChangeAspect="1"/>
          </p:cNvPicPr>
          <p:nvPr/>
        </p:nvPicPr>
        <p:blipFill>
          <a:blip r:embed="rId2"/>
          <a:srcRect l="7896" r="3103" b="-1"/>
          <a:stretch>
            <a:fillRect/>
          </a:stretch>
        </p:blipFill>
        <p:spPr>
          <a:xfrm>
            <a:off x="20" y="10"/>
            <a:ext cx="13004780" cy="9753590"/>
          </a:xfrm>
          <a:prstGeom prst="rect">
            <a:avLst/>
          </a:prstGeom>
          <a:noFill/>
        </p:spPr>
      </p:pic>
      <p:sp>
        <p:nvSpPr>
          <p:cNvPr id="161" name="Rectangle 160">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60" y="6026407"/>
            <a:ext cx="13001548" cy="3727193"/>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Support Vector Machines"/>
          <p:cNvSpPr txBox="1">
            <a:spLocks noGrp="1"/>
          </p:cNvSpPr>
          <p:nvPr>
            <p:ph type="title"/>
          </p:nvPr>
        </p:nvSpPr>
        <p:spPr>
          <a:xfrm>
            <a:off x="752168" y="7862378"/>
            <a:ext cx="11409679" cy="1096482"/>
          </a:xfrm>
        </p:spPr>
        <p:txBody>
          <a:bodyPr lIns="91440" tIns="45720" rIns="91440" bIns="45720" anchor="b">
            <a:norm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5000" b="0" cap="all" spc="32">
                <a:solidFill>
                  <a:srgbClr val="FFFFFF"/>
                </a:solidFill>
                <a:latin typeface="+mj-lt"/>
              </a:rPr>
              <a:t>Support Vector Machines</a:t>
            </a:r>
          </a:p>
        </p:txBody>
      </p:sp>
    </p:spTree>
  </p:cSld>
  <p:clrMapOvr>
    <a:overrideClrMapping bg1="dk1" tx1="lt1" bg2="dk2" tx2="lt2" accent1="accent1" accent2="accent2" accent3="accent3" accent4="accent4" accent5="accent5" accent6="accent6" hlink="hlink" folHlink="folHlink"/>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The support vector machines (SVM) is an approach developed in the 1990s by computer scientist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Support vector machines (SVMs) are an approach developed by computer scientists in the 1990s</a:t>
            </a:r>
          </a:p>
          <a:p>
            <a:pPr lvl="1">
              <a:defRPr sz="2020" cap="none" spc="0">
                <a:solidFill>
                  <a:schemeClr val="tx1"/>
                </a:solidFill>
                <a:latin typeface="+mn-lt"/>
              </a:defRPr>
            </a:pPr>
            <a:r>
              <a:rPr lang="en-US" sz="2020" cap="none" spc="0">
                <a:solidFill>
                  <a:schemeClr val="tx1"/>
                </a:solidFill>
                <a:latin typeface="+mn-lt"/>
              </a:rPr>
              <a:t>Do not directly provide probability estimates</a:t>
            </a:r>
          </a:p>
          <a:p>
            <a:pPr>
              <a:defRPr sz="2233" cap="none" spc="0">
                <a:solidFill>
                  <a:schemeClr val="tx1"/>
                </a:solidFill>
                <a:latin typeface="+mn-lt"/>
              </a:defRPr>
            </a:pPr>
            <a:r>
              <a:rPr lang="en-US" sz="2233" cap="none" spc="0">
                <a:solidFill>
                  <a:schemeClr val="tx1"/>
                </a:solidFill>
                <a:latin typeface="+mn-lt"/>
              </a:rPr>
              <a:t>Perform well on a range of problems</a:t>
            </a:r>
          </a:p>
          <a:p>
            <a:pPr lvl="1">
              <a:defRPr sz="2020" cap="none" spc="0">
                <a:solidFill>
                  <a:schemeClr val="tx1"/>
                </a:solidFill>
                <a:latin typeface="+mn-lt"/>
              </a:defRPr>
            </a:pPr>
            <a:r>
              <a:rPr lang="en-US" sz="2020" cap="none" spc="0">
                <a:solidFill>
                  <a:schemeClr val="tx1"/>
                </a:solidFill>
                <a:latin typeface="+mn-lt"/>
              </a:rPr>
              <a:t>May be less widely used following advances in artificial neural networks</a:t>
            </a:r>
          </a:p>
          <a:p>
            <a:pPr lvl="1">
              <a:defRPr sz="2020" cap="none" spc="0">
                <a:solidFill>
                  <a:schemeClr val="tx1"/>
                </a:solidFill>
                <a:latin typeface="+mn-lt"/>
              </a:defRPr>
            </a:pPr>
            <a:r>
              <a:rPr lang="en-US" sz="2020" cap="none" spc="0">
                <a:solidFill>
                  <a:schemeClr val="tx1"/>
                </a:solidFill>
                <a:latin typeface="+mn-lt"/>
              </a:rPr>
              <a:t>Remain mathematically instructive</a:t>
            </a:r>
          </a:p>
          <a:p>
            <a:pPr>
              <a:defRPr sz="2233" cap="none" spc="0">
                <a:solidFill>
                  <a:schemeClr val="tx1"/>
                </a:solidFill>
                <a:latin typeface="+mn-lt"/>
              </a:defRPr>
            </a:pPr>
            <a:r>
              <a:rPr lang="en-US" sz="2233" cap="none" spc="0">
                <a:solidFill>
                  <a:schemeClr val="tx1"/>
                </a:solidFill>
                <a:latin typeface="+mn-lt"/>
              </a:rPr>
              <a:t>We begin by reviewing the definition of a hyperplane</a:t>
            </a:r>
          </a:p>
        </p:txBody>
      </p:sp>
      <p:sp>
        <p:nvSpPr>
          <p:cNvPr id="157"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Introduction to SVM</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9" name="A hyperplane is a generalization of a line in   dimens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a:solidFill>
                      <a:schemeClr val="tx1"/>
                    </a:solidFill>
                    <a:latin typeface="+mn-lt"/>
                  </a:rPr>
                  <a:t>An affine space is a “flat” set of points, such as a line or plane, that need not pass through the origin.</a:t>
                </a:r>
              </a:p>
              <a:p>
                <a:pPr marL="243848" indent="-243848">
                  <a:defRPr sz="2233" cap="none" spc="0">
                    <a:solidFill>
                      <a:schemeClr val="tx1"/>
                    </a:solidFill>
                    <a:latin typeface="+mn-lt"/>
                  </a:defRPr>
                </a:pPr>
                <a:r>
                  <a:rPr lang="en-US" sz="2233" cap="none" spc="0">
                    <a:solidFill>
                      <a:schemeClr val="tx1"/>
                    </a:solidFill>
                    <a:latin typeface="+mn-lt"/>
                  </a:rPr>
                  <a:t>A hyperplane is a generalization of a line in </a:t>
                </a:r>
                <a14:m>
                  <m:oMath xmlns:m="http://schemas.openxmlformats.org/officeDocument/2006/math">
                    <m:r>
                      <a:rPr sz="2233" i="1" cap="none" spc="0">
                        <a:solidFill>
                          <a:schemeClr val="tx1"/>
                        </a:solidFill>
                        <a:latin typeface="Cambria Math"/>
                      </a:rPr>
                      <m:t>𝑝</m:t>
                    </m:r>
                  </m:oMath>
                </a14:m>
                <a:r>
                  <a:rPr lang="en-US" sz="2233" cap="none" spc="0">
                    <a:solidFill>
                      <a:schemeClr val="tx1"/>
                    </a:solidFill>
                    <a:latin typeface="+mn-lt"/>
                  </a:rPr>
                  <a:t> dimensions</a:t>
                </a:r>
              </a:p>
              <a:p>
                <a:pPr marL="243848" indent="-243848">
                  <a:defRPr sz="2233" cap="none" spc="0">
                    <a:solidFill>
                      <a:schemeClr val="tx1"/>
                    </a:solidFill>
                    <a:latin typeface="+mn-lt"/>
                  </a:defRPr>
                </a:pPr>
                <a:r>
                  <a:rPr lang="en-US" sz="2233" cap="none" spc="0">
                    <a:solidFill>
                      <a:schemeClr val="tx1"/>
                    </a:solidFill>
                    <a:latin typeface="+mn-lt"/>
                  </a:rPr>
                  <a:t>Formally, a hyperplane in </a:t>
                </a:r>
                <a14:m>
                  <m:oMath xmlns:m="http://schemas.openxmlformats.org/officeDocument/2006/math">
                    <m:r>
                      <a:rPr sz="2233" i="1" cap="none" spc="0">
                        <a:solidFill>
                          <a:schemeClr val="tx1"/>
                        </a:solidFill>
                        <a:latin typeface="Cambria Math"/>
                      </a:rPr>
                      <m:t>𝑝</m:t>
                    </m:r>
                  </m:oMath>
                </a14:m>
                <a:r>
                  <a:rPr lang="en-US" sz="2233" cap="none" spc="0">
                    <a:solidFill>
                      <a:schemeClr val="tx1"/>
                    </a:solidFill>
                    <a:latin typeface="+mn-lt"/>
                  </a:rPr>
                  <a:t> dimensions is an affine subspace of dimension </a:t>
                </a:r>
                <a14:m>
                  <m:oMath xmlns:m="http://schemas.openxmlformats.org/officeDocument/2006/math">
                    <m:r>
                      <a:rPr sz="2233" i="1" cap="none" spc="0">
                        <a:solidFill>
                          <a:schemeClr val="tx1"/>
                        </a:solidFill>
                        <a:latin typeface="Cambria Math"/>
                      </a:rPr>
                      <m:t>𝑝</m:t>
                    </m:r>
                    <m:r>
                      <a:rPr sz="2233" i="1" cap="none" spc="0">
                        <a:solidFill>
                          <a:schemeClr val="tx1"/>
                        </a:solidFill>
                        <a:latin typeface="Cambria Math"/>
                      </a:rPr>
                      <m:t>−1</m:t>
                    </m:r>
                  </m:oMath>
                </a14:m>
                <a:r>
                  <a:rPr lang="en-US" sz="2233" cap="none" spc="0">
                    <a:solidFill>
                      <a:schemeClr val="tx1"/>
                    </a:solidFill>
                    <a:latin typeface="+mn-lt"/>
                  </a:rPr>
                  <a:t>.</a:t>
                </a:r>
              </a:p>
              <a:p>
                <a:pPr marL="731543" lvl="1" indent="-243848">
                  <a:defRPr sz="2020" cap="none" spc="0">
                    <a:solidFill>
                      <a:schemeClr val="tx1"/>
                    </a:solidFill>
                    <a:latin typeface="+mn-lt"/>
                  </a:defRPr>
                </a:pPr>
                <a:r>
                  <a:rPr lang="en-US" sz="2020" cap="none" spc="0">
                    <a:solidFill>
                      <a:schemeClr val="tx1"/>
                    </a:solidFill>
                    <a:latin typeface="+mn-lt"/>
                  </a:rPr>
                  <a:t>Its general equation is:</a:t>
                </a:r>
                <a:br>
                  <a:rPr dirty="0"/>
                </a:br>
                <a14:m>
                  <m:oMath xmlns:m="http://schemas.openxmlformats.org/officeDocument/2006/math">
                    <m:r>
                      <a:rPr sz="2020" i="1" cap="none" spc="0">
                        <a:solidFill>
                          <a:schemeClr val="tx1"/>
                        </a:solidFill>
                        <a:latin typeface="Cambria Math"/>
                      </a:rPr>
                      <m:t>𝐰</m:t>
                    </m:r>
                    <m:r>
                      <a:rPr sz="2020" i="1" cap="none" spc="0">
                        <a:solidFill>
                          <a:schemeClr val="tx1"/>
                        </a:solidFill>
                        <a:latin typeface="Cambria Math"/>
                      </a:rPr>
                      <m:t>⋅</m:t>
                    </m:r>
                    <m:r>
                      <a:rPr sz="2020" i="1" cap="none" spc="0">
                        <a:solidFill>
                          <a:schemeClr val="tx1"/>
                        </a:solidFill>
                        <a:latin typeface="Cambria Math"/>
                      </a:rPr>
                      <m:t>𝐱</m:t>
                    </m:r>
                    <m:r>
                      <a:rPr sz="2020" i="1" cap="none" spc="0">
                        <a:solidFill>
                          <a:schemeClr val="tx1"/>
                        </a:solidFill>
                        <a:latin typeface="Cambria Math"/>
                      </a:rPr>
                      <m:t>+</m:t>
                    </m:r>
                    <m:r>
                      <a:rPr sz="2020" i="1" cap="none" spc="0">
                        <a:solidFill>
                          <a:schemeClr val="tx1"/>
                        </a:solidFill>
                        <a:latin typeface="Cambria Math"/>
                      </a:rPr>
                      <m:t>𝑏</m:t>
                    </m:r>
                    <m:r>
                      <a:rPr sz="2020" i="1" cap="none" spc="0">
                        <a:solidFill>
                          <a:schemeClr val="tx1"/>
                        </a:solidFill>
                        <a:latin typeface="Cambria Math"/>
                      </a:rPr>
                      <m:t>=0</m:t>
                    </m:r>
                  </m:oMath>
                </a14:m>
                <a:endParaRPr lang="en-US" sz="2020" cap="none" spc="0">
                  <a:solidFill>
                    <a:schemeClr val="tx1"/>
                  </a:solidFill>
                  <a:latin typeface="+mn-lt"/>
                </a:endParaRPr>
              </a:p>
              <a:p>
                <a:pPr marL="1219238" lvl="2" indent="-243848">
                  <a:defRPr sz="1807" cap="none" spc="0">
                    <a:solidFill>
                      <a:schemeClr val="tx1"/>
                    </a:solidFill>
                    <a:latin typeface="+mn-lt"/>
                  </a:defRPr>
                </a:pPr>
                <a:r>
                  <a:rPr lang="en-US" sz="1807" cap="none" spc="0">
                    <a:solidFill>
                      <a:schemeClr val="tx1"/>
                    </a:solidFill>
                    <a:latin typeface="+mn-lt"/>
                  </a:rPr>
                  <a:t>Where </a:t>
                </a:r>
                <a14:m>
                  <m:oMath xmlns:m="http://schemas.openxmlformats.org/officeDocument/2006/math">
                    <m:r>
                      <a:rPr sz="1807" i="1" cap="none" spc="0">
                        <a:solidFill>
                          <a:schemeClr val="tx1"/>
                        </a:solidFill>
                        <a:latin typeface="Cambria Math"/>
                      </a:rPr>
                      <m:t>𝐰</m:t>
                    </m:r>
                  </m:oMath>
                </a14:m>
                <a:r>
                  <a:rPr lang="en-US" sz="1807" cap="none" spc="0">
                    <a:solidFill>
                      <a:schemeClr val="tx1"/>
                    </a:solidFill>
                    <a:latin typeface="+mn-lt"/>
                  </a:rPr>
                  <a:t> is the normal vector (perpendicular to the hyperplane) that determines the orientation</a:t>
                </a:r>
              </a:p>
              <a:p>
                <a:pPr marL="1219238" lvl="2" indent="-243848">
                  <a:defRPr sz="1807" cap="none" spc="0">
                    <a:solidFill>
                      <a:schemeClr val="tx1"/>
                    </a:solidFill>
                    <a:latin typeface="+mn-lt"/>
                  </a:defRPr>
                </a:pPr>
                <a14:m>
                  <m:oMath xmlns:m="http://schemas.openxmlformats.org/officeDocument/2006/math">
                    <m:r>
                      <a:rPr sz="1807" i="1" cap="none" spc="0">
                        <a:solidFill>
                          <a:schemeClr val="tx1"/>
                        </a:solidFill>
                        <a:latin typeface="Cambria Math"/>
                      </a:rPr>
                      <m:t>𝑏</m:t>
                    </m:r>
                  </m:oMath>
                </a14:m>
                <a:r>
                  <a:rPr lang="en-US" sz="1807" cap="none" spc="0">
                    <a:solidFill>
                      <a:schemeClr val="tx1"/>
                    </a:solidFill>
                    <a:latin typeface="+mn-lt"/>
                  </a:rPr>
                  <a:t> is the bias term</a:t>
                </a:r>
              </a:p>
              <a:p>
                <a:pPr marL="1219238" lvl="2" indent="-243848">
                  <a:defRPr sz="1807" cap="none" spc="0">
                    <a:solidFill>
                      <a:schemeClr val="tx1"/>
                    </a:solidFill>
                    <a:latin typeface="+mn-lt"/>
                  </a:defRPr>
                </a:pPr>
                <a14:m>
                  <m:oMath xmlns:m="http://schemas.openxmlformats.org/officeDocument/2006/math">
                    <m:r>
                      <a:rPr sz="1807" i="1" cap="none" spc="0">
                        <a:solidFill>
                          <a:schemeClr val="tx1"/>
                        </a:solidFill>
                        <a:latin typeface="Cambria Math"/>
                      </a:rPr>
                      <m:t>𝐱</m:t>
                    </m:r>
                  </m:oMath>
                </a14:m>
                <a:r>
                  <a:rPr lang="en-US" sz="1807" cap="none" spc="0">
                    <a:solidFill>
                      <a:schemeClr val="tx1"/>
                    </a:solidFill>
                    <a:latin typeface="+mn-lt"/>
                  </a:rPr>
                  <a:t> is any point in the space</a:t>
                </a:r>
              </a:p>
              <a:p>
                <a:pPr marL="243848" indent="-243848">
                  <a:defRPr sz="2233" cap="none" spc="0">
                    <a:solidFill>
                      <a:schemeClr val="tx1"/>
                    </a:solidFill>
                    <a:latin typeface="+mn-lt"/>
                  </a:defRPr>
                </a:pPr>
                <a:r>
                  <a:rPr lang="en-US" sz="2233" cap="none" spc="0">
                    <a:solidFill>
                      <a:schemeClr val="tx1"/>
                    </a:solidFill>
                    <a:latin typeface="+mn-lt"/>
                  </a:rPr>
                  <a:t>When </a:t>
                </a:r>
                <a14:m>
                  <m:oMath xmlns:m="http://schemas.openxmlformats.org/officeDocument/2006/math">
                    <m:r>
                      <a:rPr sz="2233" i="1" cap="none" spc="0">
                        <a:solidFill>
                          <a:schemeClr val="tx1"/>
                        </a:solidFill>
                        <a:latin typeface="Cambria Math"/>
                      </a:rPr>
                      <m:t>𝑝</m:t>
                    </m:r>
                    <m:r>
                      <a:rPr sz="2233" i="1" cap="none" spc="0">
                        <a:solidFill>
                          <a:schemeClr val="tx1"/>
                        </a:solidFill>
                        <a:latin typeface="Cambria Math"/>
                      </a:rPr>
                      <m:t>=2</m:t>
                    </m:r>
                  </m:oMath>
                </a14:m>
                <a:r>
                  <a:rPr lang="en-US" sz="2233" cap="none" spc="0">
                    <a:solidFill>
                      <a:schemeClr val="tx1"/>
                    </a:solidFill>
                    <a:latin typeface="+mn-lt"/>
                  </a:rPr>
                  <a:t> (there are two features) a hyperplane is a line</a:t>
                </a:r>
              </a:p>
            </p:txBody>
          </p:sp>
        </mc:Choice>
        <mc:Fallback xmlns="">
          <p:sp>
            <p:nvSpPr>
              <p:cNvPr id="159" name="A hyperplane is a generalization of a line in   dimens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160" name="Hyperpla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Hyperplanes</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hp_b.png" descr="hp_b.png"/>
          <p:cNvPicPr>
            <a:picLocks noChangeAspect="1"/>
          </p:cNvPicPr>
          <p:nvPr/>
        </p:nvPicPr>
        <p:blipFill>
          <a:blip r:embed="rId2"/>
          <a:stretch>
            <a:fillRect/>
          </a:stretch>
        </p:blipFill>
        <p:spPr>
          <a:xfrm>
            <a:off x="1430528" y="2006025"/>
            <a:ext cx="10143745" cy="2817707"/>
          </a:xfrm>
          <a:prstGeom prst="rect">
            <a:avLst/>
          </a:prstGeom>
          <a:ln w="12700">
            <a:miter lim="400000"/>
          </a:ln>
        </p:spPr>
      </p:pic>
      <p:pic>
        <p:nvPicPr>
          <p:cNvPr id="163" name="hp_w.png" descr="hp_w.png"/>
          <p:cNvPicPr>
            <a:picLocks noChangeAspect="1"/>
          </p:cNvPicPr>
          <p:nvPr/>
        </p:nvPicPr>
        <p:blipFill>
          <a:blip r:embed="rId3"/>
          <a:stretch>
            <a:fillRect/>
          </a:stretch>
        </p:blipFill>
        <p:spPr>
          <a:xfrm>
            <a:off x="1430528" y="5658900"/>
            <a:ext cx="10143745" cy="2817708"/>
          </a:xfrm>
          <a:prstGeom prst="rect">
            <a:avLst/>
          </a:prstGeom>
          <a:ln w="12700">
            <a:miter lim="400000"/>
          </a:ln>
        </p:spPr>
      </p:pic>
      <mc:AlternateContent xmlns:mc="http://schemas.openxmlformats.org/markup-compatibility/2006" xmlns:a14="http://schemas.microsoft.com/office/drawing/2010/main">
        <mc:Choice Requires="a14">
          <p:sp>
            <p:nvSpPr>
              <p:cNvPr id="164" name="Changing"/>
              <p:cNvSpPr txBox="1"/>
              <p:nvPr/>
            </p:nvSpPr>
            <p:spPr>
              <a:xfrm>
                <a:off x="747345" y="1400000"/>
                <a:ext cx="2002440" cy="493542"/>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𝑏</m:t>
                    </m:r>
                  </m:oMath>
                </a14:m>
                <a:endParaRPr sz="2133" cap="none" spc="0">
                  <a:solidFill>
                    <a:schemeClr val="tx1"/>
                  </a:solidFill>
                  <a:latin typeface="+mn-lt"/>
                </a:endParaRPr>
              </a:p>
            </p:txBody>
          </p:sp>
        </mc:Choice>
        <mc:Fallback xmlns="">
          <p:sp>
            <p:nvSpPr>
              <p:cNvPr id="164" name="Changing"/>
              <p:cNvSpPr txBox="1">
                <a:spLocks noRot="1" noChangeAspect="1" noMove="1" noResize="1" noEditPoints="1" noAdjustHandles="1" noChangeArrowheads="1" noChangeShapeType="1" noTextEdit="1"/>
              </p:cNvSpPr>
              <p:nvPr/>
            </p:nvSpPr>
            <p:spPr>
              <a:xfrm>
                <a:off x="747345" y="1400000"/>
                <a:ext cx="2002440" cy="493542"/>
              </a:xfrm>
              <a:prstGeom prst="rect">
                <a:avLst/>
              </a:prstGeom>
              <a:blipFill>
                <a:blip r:embed="rId4"/>
                <a:stretch>
                  <a:fillRect l="-3659" t="-8642" b="-7407"/>
                </a:stretch>
              </a:blipFill>
              <a:ln w="12700">
                <a:miter lim="400000"/>
              </a:ln>
              <a:extLst>
                <a:ext uri="{C572A759-6A51-4108-AA02-DFA0A04FC94B}">
                  <ma14:wrappingTextBoxFlag xmlns:a14="http://schemas.microsoft.com/office/drawing/2010/main" xmlns="" xmlns:m="http://schemas.openxmlformats.org/officeDocument/2006/math" xmlns:ma14="http://schemas.microsoft.com/office/mac/drawingml/2011/main" val="1"/>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Changing"/>
              <p:cNvSpPr txBox="1"/>
              <p:nvPr/>
            </p:nvSpPr>
            <p:spPr>
              <a:xfrm>
                <a:off x="747345" y="5070664"/>
                <a:ext cx="2088761" cy="493542"/>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𝐰</m:t>
                    </m:r>
                  </m:oMath>
                </a14:m>
                <a:endParaRPr sz="2133" cap="none" spc="0">
                  <a:solidFill>
                    <a:schemeClr val="tx1"/>
                  </a:solidFill>
                  <a:latin typeface="+mn-lt"/>
                </a:endParaRPr>
              </a:p>
            </p:txBody>
          </p:sp>
        </mc:Choice>
        <mc:Fallback xmlns="">
          <p:sp>
            <p:nvSpPr>
              <p:cNvPr id="165" name="Changing"/>
              <p:cNvSpPr txBox="1">
                <a:spLocks noRot="1" noChangeAspect="1" noMove="1" noResize="1" noEditPoints="1" noAdjustHandles="1" noChangeArrowheads="1" noChangeShapeType="1" noTextEdit="1"/>
              </p:cNvSpPr>
              <p:nvPr/>
            </p:nvSpPr>
            <p:spPr>
              <a:xfrm>
                <a:off x="747345" y="5070664"/>
                <a:ext cx="2088761" cy="493542"/>
              </a:xfrm>
              <a:prstGeom prst="rect">
                <a:avLst/>
              </a:prstGeom>
              <a:blipFill>
                <a:blip r:embed="rId5"/>
                <a:stretch>
                  <a:fillRect l="-3509" t="-7407" b="-7407"/>
                </a:stretch>
              </a:blipFill>
              <a:ln w="12700">
                <a:miter lim="400000"/>
              </a:ln>
              <a:extLst>
                <a:ext uri="{C572A759-6A51-4108-AA02-DFA0A04FC94B}">
                  <ma14:wrappingTextBoxFlag xmlns:a14="http://schemas.microsoft.com/office/drawing/2010/main" xmlns="" xmlns:m="http://schemas.openxmlformats.org/officeDocument/2006/math" xmlns:ma14="http://schemas.microsoft.com/office/mac/drawingml/2011/main" val="1"/>
                </a:ext>
              </a:extLst>
            </p:spPr>
            <p:txBody>
              <a:bodyPr/>
              <a:lstStyle/>
              <a:p>
                <a:r>
                  <a:rPr lang="en-US">
                    <a:noFill/>
                  </a:rPr>
                  <a:t> </a:t>
                </a:r>
              </a:p>
            </p:txBody>
          </p:sp>
        </mc:Fallback>
      </mc:AlternateContent>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Consider two linearly separable groups…"/>
          <p:cNvSpPr txBox="1">
            <a:spLocks noGrp="1"/>
          </p:cNvSpPr>
          <p:nvPr>
            <p:ph type="body" idx="1"/>
          </p:nvPr>
        </p:nvSpPr>
        <p:spPr>
          <a:xfrm>
            <a:off x="747345" y="2409703"/>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b="0" i="0" cap="none" spc="0">
                <a:solidFill>
                  <a:schemeClr val="tx1"/>
                </a:solidFill>
                <a:latin typeface="+mn-lt"/>
              </a:rPr>
              <a:t>SVM uses a hyperplane as a boundary between two classes.</a:t>
            </a:r>
          </a:p>
          <a:p>
            <a:pPr lvl="1">
              <a:defRPr sz="2020" cap="none" spc="0">
                <a:solidFill>
                  <a:schemeClr val="tx1"/>
                </a:solidFill>
                <a:latin typeface="+mn-lt"/>
              </a:defRPr>
            </a:pPr>
            <a:r>
              <a:rPr lang="en-US" sz="2020" b="0" i="0" cap="none" spc="0">
                <a:solidFill>
                  <a:schemeClr val="tx1"/>
                </a:solidFill>
                <a:latin typeface="+mn-lt"/>
              </a:rPr>
              <a:t>With two features, this boundary is a line.</a:t>
            </a:r>
          </a:p>
          <a:p>
            <a:pPr>
              <a:defRPr sz="2233" cap="none" spc="0">
                <a:solidFill>
                  <a:schemeClr val="tx1"/>
                </a:solidFill>
                <a:latin typeface="+mn-lt"/>
              </a:defRPr>
            </a:pPr>
            <a:r>
              <a:rPr lang="en-US" sz="2233" b="0" i="0" cap="none" spc="0">
                <a:solidFill>
                  <a:schemeClr val="tx1"/>
                </a:solidFill>
                <a:latin typeface="+mn-lt"/>
              </a:rPr>
              <a:t>These classes are linearly separable: each </a:t>
            </a:r>
            <a:r>
              <a:rPr lang="en-US" dirty="0"/>
              <a:t>line</a:t>
            </a:r>
            <a:r>
              <a:rPr lang="en-US" sz="2233" b="0" i="0" cap="none" spc="0">
                <a:solidFill>
                  <a:schemeClr val="tx1"/>
                </a:solidFill>
                <a:latin typeface="+mn-lt"/>
              </a:rPr>
              <a:t> below separates all training points correctly.</a:t>
            </a:r>
          </a:p>
          <a:p>
            <a:pPr>
              <a:defRPr sz="2233" cap="none" spc="0">
                <a:solidFill>
                  <a:schemeClr val="tx1"/>
                </a:solidFill>
                <a:latin typeface="+mn-lt"/>
              </a:defRPr>
            </a:pPr>
            <a:r>
              <a:rPr lang="en-US" sz="2233" b="0" i="0" cap="none" spc="0">
                <a:solidFill>
                  <a:schemeClr val="tx1"/>
                </a:solidFill>
                <a:latin typeface="+mn-lt"/>
              </a:rPr>
              <a:t>Several boundaries work. Which line seems most optimal?</a:t>
            </a:r>
          </a:p>
        </p:txBody>
      </p:sp>
      <p:sp>
        <p:nvSpPr>
          <p:cNvPr id="173" name="Separate the group"/>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choosing a separating boundary</a:t>
            </a:r>
          </a:p>
        </p:txBody>
      </p:sp>
      <p:pic>
        <p:nvPicPr>
          <p:cNvPr id="174" name="pasted-image.tiff" descr="pasted-image.tiff"/>
          <p:cNvPicPr>
            <a:picLocks noChangeAspect="1"/>
          </p:cNvPicPr>
          <p:nvPr/>
        </p:nvPicPr>
        <p:blipFill>
          <a:blip r:embed="rId2"/>
          <a:stretch>
            <a:fillRect/>
          </a:stretch>
        </p:blipFill>
        <p:spPr>
          <a:xfrm>
            <a:off x="2171192" y="5373506"/>
            <a:ext cx="8662416" cy="3102560"/>
          </a:xfrm>
          <a:prstGeom prst="rect">
            <a:avLst/>
          </a:prstGeom>
          <a:ln w="12700">
            <a:miter lim="400000"/>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sp>
        <p:nvSpPr>
          <p:cNvPr id="189" name="Notice that only the points on the edge of the street matter…"/>
          <p:cNvSpPr txBox="1">
            <a:spLocks noGrp="1"/>
          </p:cNvSpPr>
          <p:nvPr>
            <p:ph type="body" sz="quarter" idx="1"/>
          </p:nvPr>
        </p:nvSpPr>
        <p:spPr>
          <a:xfrm>
            <a:off x="747064" y="2502712"/>
            <a:ext cx="11403482" cy="292608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spcBef>
                <a:spcPts val="400"/>
              </a:spcBef>
              <a:defRPr sz="2133" cap="none" spc="0">
                <a:solidFill>
                  <a:schemeClr val="tx1"/>
                </a:solidFill>
                <a:latin typeface="+mn-lt"/>
              </a:defRPr>
            </a:pPr>
            <a:r>
              <a:rPr lang="en-US" dirty="0"/>
              <a:t> The decision boundary is the hyperplane that is farthest from the training observations</a:t>
            </a:r>
            <a:endParaRPr lang="en-US"/>
          </a:p>
          <a:p>
            <a:pPr>
              <a:spcBef>
                <a:spcPts val="400"/>
              </a:spcBef>
              <a:defRPr sz="2133" cap="none" spc="0">
                <a:solidFill>
                  <a:schemeClr val="tx1"/>
                </a:solidFill>
                <a:latin typeface="+mn-lt"/>
              </a:defRPr>
            </a:pPr>
            <a:r>
              <a:rPr lang="en-US" dirty="0"/>
              <a:t>Fits the “widest possible street” </a:t>
            </a:r>
            <a:endParaRPr lang="en-US"/>
          </a:p>
          <a:p>
            <a:pPr marL="243848" indent="-243848">
              <a:spcBef>
                <a:spcPts val="400"/>
              </a:spcBef>
              <a:defRPr sz="2133" cap="none" spc="0">
                <a:solidFill>
                  <a:schemeClr val="tx1"/>
                </a:solidFill>
                <a:latin typeface="+mn-lt"/>
              </a:defRPr>
            </a:pPr>
            <a:r>
              <a:rPr lang="en-US" sz="2133" cap="none" spc="0" dirty="0">
                <a:solidFill>
                  <a:schemeClr val="tx1"/>
                </a:solidFill>
                <a:latin typeface="+mn-lt"/>
              </a:rPr>
              <a:t>Notice that only the points on the edge of the street matter</a:t>
            </a:r>
            <a:endParaRPr lang="en-US" sz="2133" cap="none" spc="0">
              <a:solidFill>
                <a:schemeClr val="tx1"/>
              </a:solidFill>
              <a:latin typeface="+mn-lt"/>
            </a:endParaRPr>
          </a:p>
          <a:p>
            <a:pPr marL="243848" indent="-243848">
              <a:spcBef>
                <a:spcPts val="400"/>
              </a:spcBef>
              <a:defRPr sz="2133" cap="none" spc="0">
                <a:solidFill>
                  <a:schemeClr val="tx1"/>
                </a:solidFill>
                <a:latin typeface="+mn-lt"/>
              </a:defRPr>
            </a:pPr>
            <a:r>
              <a:rPr lang="en-US" sz="2133" cap="none" spc="0" dirty="0">
                <a:solidFill>
                  <a:schemeClr val="tx1"/>
                </a:solidFill>
                <a:latin typeface="+mn-lt"/>
              </a:rPr>
              <a:t>These are called support vectors (decision boundary is supported by these instances)</a:t>
            </a:r>
            <a:endParaRPr lang="en-US" sz="2133" cap="none" spc="0">
              <a:solidFill>
                <a:schemeClr val="tx1"/>
              </a:solidFill>
              <a:latin typeface="+mn-lt"/>
            </a:endParaRPr>
          </a:p>
          <a:p>
            <a:pPr>
              <a:spcBef>
                <a:spcPts val="400"/>
              </a:spcBef>
              <a:defRPr sz="2233" cap="none" spc="0">
                <a:solidFill>
                  <a:schemeClr val="tx1"/>
                </a:solidFill>
                <a:latin typeface="+mn-lt"/>
              </a:defRPr>
            </a:pPr>
            <a:r>
              <a:rPr lang="en-US" sz="2233" b="0" i="0" cap="none" spc="0">
                <a:solidFill>
                  <a:schemeClr val="tx1"/>
                </a:solidFill>
                <a:latin typeface="+mn-lt"/>
              </a:rPr>
              <a:t>Consider the maximal margin classifier for linearly separable classes.</a:t>
            </a:r>
          </a:p>
          <a:p>
            <a:pPr>
              <a:spcBef>
                <a:spcPts val="400"/>
              </a:spcBef>
              <a:defRPr sz="2233" cap="none" spc="0">
                <a:solidFill>
                  <a:schemeClr val="tx1"/>
                </a:solidFill>
                <a:latin typeface="+mn-lt"/>
              </a:defRPr>
            </a:pPr>
            <a:r>
              <a:rPr lang="en-US" sz="2233" b="0" i="0" cap="none" spc="0">
                <a:solidFill>
                  <a:schemeClr val="tx1"/>
                </a:solidFill>
                <a:latin typeface="+mn-lt"/>
              </a:rPr>
              <a:t>A training observation is a support vector if and only if its perpendicular distance to the decision boundary equals the smallest such distance among all training observations.</a:t>
            </a:r>
          </a:p>
        </p:txBody>
      </p:sp>
      <p:pic>
        <p:nvPicPr>
          <p:cNvPr id="190" name="pasted-image.tiff" descr="pasted-image.tiff"/>
          <p:cNvPicPr>
            <a:picLocks noChangeAspect="1"/>
          </p:cNvPicPr>
          <p:nvPr/>
        </p:nvPicPr>
        <p:blipFill>
          <a:blip r:embed="rId3"/>
          <a:stretch>
            <a:fillRect/>
          </a:stretch>
        </p:blipFill>
        <p:spPr>
          <a:xfrm>
            <a:off x="5669280" y="5532120"/>
            <a:ext cx="3807933" cy="2880360"/>
          </a:xfrm>
          <a:prstGeom prst="rect">
            <a:avLst/>
          </a:prstGeom>
          <a:ln w="12700">
            <a:miter lim="400000"/>
          </a:ln>
        </p:spPr>
      </p:pic>
      <p:sp>
        <p:nvSpPr>
          <p:cNvPr id="191" name="The support vectors are just points in this two dimensional feature space, but in higher dimensions, they will be actual vectors."/>
          <p:cNvSpPr txBox="1"/>
          <p:nvPr/>
        </p:nvSpPr>
        <p:spPr>
          <a:xfrm>
            <a:off x="747064" y="5806440"/>
            <a:ext cx="4297680" cy="24688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sz="2233" cap="none" spc="0">
                <a:solidFill>
                  <a:schemeClr val="tx1"/>
                </a:solidFill>
                <a:latin typeface="+mn-lt"/>
              </a:rPr>
              <a:t>The support vectors are just points in this two dimensional feature space, but in higher dimensions, they will be actual vectors. </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b="0" i="0" cap="none" spc="0" dirty="0">
                <a:solidFill>
                  <a:schemeClr val="tx1"/>
                </a:solidFill>
                <a:latin typeface="+mn-lt"/>
              </a:rPr>
              <a:t>When perfect separation is possible, SVM chooses the boundary with the widest margin.</a:t>
            </a:r>
          </a:p>
          <a:p>
            <a:pPr lvl="1">
              <a:defRPr sz="2020" cap="none" spc="0">
                <a:solidFill>
                  <a:schemeClr val="tx1"/>
                </a:solidFill>
                <a:latin typeface="+mn-lt"/>
              </a:defRPr>
            </a:pPr>
            <a:r>
              <a:rPr lang="en-US" sz="2020" b="0" i="0" cap="none" spc="0" dirty="0">
                <a:solidFill>
                  <a:schemeClr val="tx1"/>
                </a:solidFill>
                <a:latin typeface="+mn-lt"/>
              </a:rPr>
              <a:t>The margin is the distance from the boundary to the nearest training points.</a:t>
            </a:r>
          </a:p>
          <a:p>
            <a:pPr>
              <a:defRPr sz="2233" cap="none" spc="0">
                <a:solidFill>
                  <a:schemeClr val="tx1"/>
                </a:solidFill>
                <a:latin typeface="+mn-lt"/>
              </a:defRPr>
            </a:pPr>
            <a:r>
              <a:rPr lang="en-US" sz="2233" b="0" i="0" cap="none" spc="0" dirty="0">
                <a:solidFill>
                  <a:schemeClr val="tx1"/>
                </a:solidFill>
                <a:latin typeface="+mn-lt"/>
              </a:rPr>
              <a:t>When a hyperplane cannot separate the classes perfectly, we can:</a:t>
            </a:r>
          </a:p>
          <a:p>
            <a:pPr marL="1219238" lvl="2" indent="-243848">
              <a:buAutoNum type="arabicPeriod"/>
              <a:defRPr sz="1807" cap="none" spc="0">
                <a:solidFill>
                  <a:schemeClr val="tx1"/>
                </a:solidFill>
                <a:latin typeface="+mn-lt"/>
              </a:defRPr>
            </a:pPr>
            <a:r>
              <a:rPr lang="en-US" sz="1807" b="0" i="0" cap="none" spc="0" dirty="0">
                <a:solidFill>
                  <a:schemeClr val="tx1"/>
                </a:solidFill>
                <a:latin typeface="+mn-lt"/>
              </a:rPr>
              <a:t>Allow some points to cross the margin or the boundary.</a:t>
            </a:r>
          </a:p>
          <a:p>
            <a:pPr marL="1219238" lvl="2" indent="-243848">
              <a:buAutoNum type="arabicPeriod"/>
              <a:defRPr sz="1807" cap="none" spc="0">
                <a:solidFill>
                  <a:schemeClr val="tx1"/>
                </a:solidFill>
                <a:latin typeface="+mn-lt"/>
              </a:defRPr>
            </a:pPr>
            <a:r>
              <a:rPr lang="en-US" sz="1807" b="0" i="0" cap="none" spc="0" dirty="0">
                <a:solidFill>
                  <a:schemeClr val="tx1"/>
                </a:solidFill>
                <a:latin typeface="+mn-lt"/>
              </a:rPr>
              <a:t>Expand the feature space to make separation easier.</a:t>
            </a:r>
          </a:p>
          <a:p>
            <a:pPr>
              <a:defRPr sz="2233" cap="none" spc="0">
                <a:solidFill>
                  <a:schemeClr val="tx1"/>
                </a:solidFill>
                <a:latin typeface="+mn-lt"/>
              </a:defRPr>
            </a:pPr>
            <a:r>
              <a:rPr lang="en-US" dirty="0"/>
              <a:t>In the </a:t>
            </a:r>
            <a:r>
              <a:rPr lang="en-US" sz="2233" b="0" i="0" cap="none" spc="0" dirty="0">
                <a:solidFill>
                  <a:schemeClr val="tx1"/>
                </a:solidFill>
                <a:latin typeface="+mn-lt"/>
              </a:rPr>
              <a:t>perfectly separable case: the maximal-margin (hard-margin) classifier.</a:t>
            </a:r>
          </a:p>
          <a:p>
            <a:pPr>
              <a:defRPr sz="2233" cap="none" spc="0">
                <a:solidFill>
                  <a:schemeClr val="tx1"/>
                </a:solidFill>
                <a:latin typeface="+mn-lt"/>
              </a:defRPr>
            </a:pPr>
            <a:r>
              <a:rPr lang="en-US" dirty="0"/>
              <a:t>Otherwise, a soft-margin classifier is used</a:t>
            </a:r>
            <a:endParaRPr lang="en-US" sz="2233" b="0" i="0" cap="none" spc="0" dirty="0">
              <a:solidFill>
                <a:schemeClr val="tx1"/>
              </a:solidFill>
              <a:latin typeface="+mn-lt"/>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Perfect separation and its extensions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The L2 norm ‖w‖ is the usual Euclidean length of a vector.</a:t>
            </a:r>
          </a:p>
          <a:p>
            <a:pPr marL="410000" lvl="0" indent="0">
              <a:buNone/>
              <a:defRPr sz="2233" cap="none" spc="0">
                <a:solidFill>
                  <a:schemeClr val="tx1"/>
                </a:solidFill>
                <a:latin typeface="+mn-lt"/>
              </a:defRPr>
            </a:pPr>
            <a:r>
              <a:rPr lang="en-US" sz="2500" b="0" dirty="0">
                <a:latin typeface="Cambria Math"/>
              </a:rPr>
              <a:t>‖w‖ = √(w₁² + ⋯ + wₚ²)</a:t>
            </a:r>
          </a:p>
          <a:p>
            <a:pPr lvl="0">
              <a:defRPr sz="2233" cap="none" spc="0">
                <a:solidFill>
                  <a:schemeClr val="tx1"/>
                </a:solidFill>
                <a:latin typeface="+mn-lt"/>
              </a:defRPr>
            </a:pPr>
            <a:r>
              <a:rPr lang="en-US" sz="2233" b="0" dirty="0">
                <a:latin typeface="+mn-lt"/>
              </a:rPr>
              <a:t>A </a:t>
            </a:r>
            <a:r>
              <a:rPr lang="en-US" sz="2233" b="1" dirty="0">
                <a:latin typeface="+mn-lt"/>
              </a:rPr>
              <a:t>unit vector</a:t>
            </a:r>
            <a:r>
              <a:rPr lang="en-US" sz="2233" b="0" dirty="0">
                <a:latin typeface="+mn-lt"/>
              </a:rPr>
              <a:t> has length 1. Divide a nonzero vector by its length to keep only its direction.</a:t>
            </a:r>
          </a:p>
          <a:p>
            <a:pPr marL="410000" lvl="0" indent="0">
              <a:buNone/>
              <a:defRPr sz="2233" cap="none" spc="0">
                <a:solidFill>
                  <a:schemeClr val="tx1"/>
                </a:solidFill>
                <a:latin typeface="+mn-lt"/>
              </a:defRPr>
            </a:pPr>
            <a:r>
              <a:rPr lang="en-US" sz="2500" b="0" dirty="0">
                <a:latin typeface="Cambria Math"/>
              </a:rPr>
              <a:t>w = (3, 4)     ‖w‖ = 5     u = w / ‖w‖ = (3/5, 4/5)</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Vectors, length, and unit directions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animEffect transition="in" filter="fade">
                                      <p:cBhvr>
                                        <p:cTn id="7" dur="500"/>
                                        <p:tgtEl>
                                          <p:spTgt spid="179">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79">
                                            <p:txEl>
                                              <p:pRg st="3" end="3"/>
                                            </p:txEl>
                                          </p:spTgt>
                                        </p:tgtEl>
                                        <p:attrNameLst>
                                          <p:attrName>style.visibility</p:attrName>
                                        </p:attrNameLst>
                                      </p:cBhvr>
                                      <p:to>
                                        <p:strVal val="visible"/>
                                      </p:to>
                                    </p:set>
                                    <p:animEffect transition="in" filter="fade">
                                      <p:cBhvr>
                                        <p:cTn id="10" dur="500"/>
                                        <p:tgtEl>
                                          <p:spTgt spid="17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Multiply matching coordinates, then add. The result is a number.</a:t>
            </a:r>
          </a:p>
          <a:p>
            <a:pPr marL="410000" lvl="0" indent="0">
              <a:buNone/>
              <a:defRPr sz="2233" cap="none" spc="0">
                <a:solidFill>
                  <a:schemeClr val="tx1"/>
                </a:solidFill>
                <a:latin typeface="+mn-lt"/>
              </a:defRPr>
            </a:pPr>
            <a:r>
              <a:rPr lang="en-US" sz="2500" b="0" dirty="0">
                <a:latin typeface="Cambria Math"/>
              </a:rPr>
              <a:t>w · x = </a:t>
            </a:r>
            <a:r>
              <a:rPr lang="en-US" sz="2500" b="0" dirty="0" err="1">
                <a:latin typeface="Cambria Math"/>
              </a:rPr>
              <a:t>w₁x</a:t>
            </a:r>
            <a:r>
              <a:rPr lang="en-US" sz="2500" b="0" dirty="0">
                <a:latin typeface="Cambria Math"/>
              </a:rPr>
              <a:t>₁ + ⋯ + </a:t>
            </a:r>
            <a:r>
              <a:rPr lang="en-US" sz="2500" b="0" dirty="0" err="1">
                <a:latin typeface="Cambria Math"/>
              </a:rPr>
              <a:t>wₚx</a:t>
            </a:r>
            <a:r>
              <a:rPr lang="en-US" sz="2500" b="0" dirty="0">
                <a:latin typeface="Cambria Math"/>
              </a:rPr>
              <a:t>ₚ = </a:t>
            </a:r>
            <a:r>
              <a:rPr lang="en-US" sz="2500" b="0" dirty="0" err="1">
                <a:latin typeface="Cambria Math"/>
              </a:rPr>
              <a:t>wᵀx</a:t>
            </a:r>
            <a:r>
              <a:rPr lang="en-US" sz="2500" b="0" dirty="0">
                <a:latin typeface="Cambria Math"/>
              </a:rPr>
              <a:t> = </a:t>
            </a:r>
            <a:r>
              <a:rPr lang="en-US" sz="2500" b="0" dirty="0" err="1">
                <a:latin typeface="Cambria Math"/>
              </a:rPr>
              <a:t>w′x</a:t>
            </a:r>
            <a:endParaRPr lang="en-US" sz="2500" b="0" dirty="0">
              <a:latin typeface="Cambria Math"/>
            </a:endParaRPr>
          </a:p>
          <a:p>
            <a:pPr marL="410000" lvl="0" indent="0">
              <a:buNone/>
              <a:defRPr sz="2233" cap="none" spc="0">
                <a:solidFill>
                  <a:schemeClr val="tx1"/>
                </a:solidFill>
                <a:latin typeface="+mn-lt"/>
              </a:defRPr>
            </a:pPr>
            <a:r>
              <a:rPr lang="en-US" sz="2500" b="0" dirty="0">
                <a:latin typeface="Cambria Math"/>
              </a:rPr>
              <a:t>For w = (3, 4) and x = (2, 1):     w · x = 3(2) + 4(1) = 10</a:t>
            </a:r>
          </a:p>
          <a:p>
            <a:pPr lvl="0">
              <a:defRPr sz="2233" cap="none" spc="0">
                <a:solidFill>
                  <a:schemeClr val="tx1"/>
                </a:solidFill>
                <a:latin typeface="+mn-lt"/>
              </a:defRPr>
            </a:pPr>
            <a:r>
              <a:rPr lang="en-US" sz="2233" b="0" dirty="0">
                <a:latin typeface="+mn-lt"/>
              </a:rPr>
              <a:t>If θ is the angle between the vectors, the dot product measures their alignment.</a:t>
            </a:r>
          </a:p>
          <a:p>
            <a:pPr marL="410000" lvl="0" indent="0">
              <a:buNone/>
              <a:defRPr sz="2233" cap="none" spc="0">
                <a:solidFill>
                  <a:schemeClr val="tx1"/>
                </a:solidFill>
                <a:latin typeface="+mn-lt"/>
              </a:defRPr>
            </a:pPr>
            <a:r>
              <a:rPr lang="en-US" sz="2500" b="0" dirty="0">
                <a:latin typeface="Cambria Math"/>
              </a:rPr>
              <a:t>w · x = ‖w‖ ‖x‖ cos θ</a:t>
            </a:r>
          </a:p>
          <a:p>
            <a:pPr lvl="0">
              <a:defRPr sz="2233" cap="none" spc="0">
                <a:solidFill>
                  <a:schemeClr val="tx1"/>
                </a:solidFill>
                <a:latin typeface="+mn-lt"/>
              </a:defRPr>
            </a:pPr>
            <a:r>
              <a:rPr lang="en-US" sz="2233" b="0" dirty="0">
                <a:latin typeface="+mn-lt"/>
              </a:rPr>
              <a:t>Interpretation:</a:t>
            </a:r>
          </a:p>
          <a:p>
            <a:pPr lvl="1">
              <a:defRPr sz="2233" cap="none" spc="0">
                <a:solidFill>
                  <a:schemeClr val="tx1"/>
                </a:solidFill>
                <a:latin typeface="+mn-lt"/>
              </a:defRPr>
            </a:pPr>
            <a:r>
              <a:rPr b="0" dirty="0">
                <a:latin typeface="+mn-lt"/>
              </a:rPr>
              <a:t>Positive: angle below 90°. Zero: perpendicular. Negative: angle above 90°.</a:t>
            </a:r>
            <a:endParaRPr lang="en-US" b="0" dirty="0">
              <a:latin typeface="+mn-lt"/>
            </a:endParaRPr>
          </a:p>
          <a:p>
            <a:pPr marL="410000" lvl="0" indent="0">
              <a:buNone/>
              <a:defRPr sz="2233" cap="none" spc="0">
                <a:solidFill>
                  <a:schemeClr val="tx1"/>
                </a:solidFill>
                <a:latin typeface="+mn-lt"/>
              </a:defRPr>
            </a:pPr>
            <a:r>
              <a:rPr lang="en-US" sz="2500" b="0" dirty="0">
                <a:latin typeface="Cambria Math"/>
              </a:rPr>
              <a:t>	Check: (3, 4) · (−4, 3) = −12 + 12 = 0</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Dot products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5943600"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dirty="0">
                <a:latin typeface="+mn-lt"/>
              </a:rPr>
              <a:t>Projecting x onto a direction gives its “shadow” along that direction.</a:t>
            </a:r>
          </a:p>
          <a:p>
            <a:pPr lvl="0">
              <a:defRPr sz="2233" cap="none" spc="0">
                <a:solidFill>
                  <a:schemeClr val="tx1"/>
                </a:solidFill>
                <a:latin typeface="+mn-lt"/>
              </a:defRPr>
            </a:pPr>
            <a:r>
              <a:rPr lang="en-US" sz="2233" b="0" dirty="0">
                <a:latin typeface="+mn-lt"/>
              </a:rPr>
              <a:t>Use the unit direction u = w / ‖w‖.</a:t>
            </a:r>
          </a:p>
          <a:p>
            <a:pPr marL="410000" lvl="0" indent="0">
              <a:buNone/>
              <a:defRPr sz="2233" cap="none" spc="0">
                <a:solidFill>
                  <a:schemeClr val="tx1"/>
                </a:solidFill>
                <a:latin typeface="+mn-lt"/>
              </a:defRPr>
            </a:pPr>
            <a:r>
              <a:rPr lang="en-US" sz="2500" b="0" dirty="0">
                <a:latin typeface="Cambria Math"/>
              </a:rPr>
              <a:t>Signed length: x · u = (w · x) / ‖w‖</a:t>
            </a:r>
          </a:p>
          <a:p>
            <a:pPr marL="410000" lvl="0" indent="0">
              <a:buNone/>
              <a:defRPr sz="2233" cap="none" spc="0">
                <a:solidFill>
                  <a:schemeClr val="tx1"/>
                </a:solidFill>
                <a:latin typeface="+mn-lt"/>
              </a:defRPr>
            </a:pPr>
            <a:r>
              <a:rPr lang="en-US" sz="2500" dirty="0">
                <a:latin typeface="Cambria Math"/>
              </a:rPr>
              <a:t>E</a:t>
            </a:r>
            <a:r>
              <a:rPr lang="en-US" sz="2500" b="0" dirty="0">
                <a:latin typeface="Cambria Math"/>
              </a:rPr>
              <a:t>xample: 10 / 5 = 2</a:t>
            </a:r>
          </a:p>
          <a:p>
            <a:pPr lvl="0">
              <a:defRPr sz="2233" cap="none" spc="0">
                <a:solidFill>
                  <a:schemeClr val="tx1"/>
                </a:solidFill>
                <a:latin typeface="+mn-lt"/>
              </a:defRPr>
            </a:pPr>
            <a:r>
              <a:rPr lang="en-US" sz="2233" b="0" dirty="0">
                <a:latin typeface="+mn-lt"/>
              </a:rPr>
              <a:t>The projected vector is (x · u)u.</a:t>
            </a:r>
          </a:p>
          <a:p>
            <a:pPr marL="410000" lvl="0" indent="0">
              <a:buNone/>
              <a:defRPr sz="2233" cap="none" spc="0">
                <a:solidFill>
                  <a:schemeClr val="tx1"/>
                </a:solidFill>
                <a:latin typeface="+mn-lt"/>
              </a:defRPr>
            </a:pPr>
            <a:r>
              <a:rPr lang="en-US" sz="2500" b="0" dirty="0">
                <a:latin typeface="Cambria Math"/>
              </a:rPr>
              <a:t>2(3/5, 4/5) = (1.2, 1.6)</a:t>
            </a:r>
          </a:p>
          <a:p>
            <a:pPr lvl="0">
              <a:defRPr sz="2233" cap="none" spc="0">
                <a:solidFill>
                  <a:schemeClr val="tx1"/>
                </a:solidFill>
                <a:latin typeface="+mn-lt"/>
              </a:defRPr>
            </a:pPr>
            <a:r>
              <a:rPr lang="en-US" sz="2233" b="0" dirty="0">
                <a:latin typeface="+mn-lt"/>
              </a:rPr>
              <a:t>The remainder is perpendicular to w.</a:t>
            </a:r>
          </a:p>
          <a:p>
            <a:pPr>
              <a:defRPr sz="2233" cap="none" spc="0">
                <a:solidFill>
                  <a:schemeClr val="tx1"/>
                </a:solidFill>
                <a:latin typeface="+mn-lt"/>
              </a:defRPr>
            </a:pPr>
            <a:r>
              <a:rPr lang="en-US" dirty="0"/>
              <a:t>For hyperplane distance, project x − x₀ onto the normal direction u, where x₀ lies on the boundary.</a:t>
            </a:r>
          </a:p>
          <a:p>
            <a:pPr lvl="0">
              <a:defRPr sz="2233" cap="none" spc="0">
                <a:solidFill>
                  <a:schemeClr val="tx1"/>
                </a:solidFill>
                <a:latin typeface="+mn-lt"/>
              </a:defRPr>
            </a:pPr>
            <a:endParaRPr lang="en-US" sz="2233" b="0" dirty="0">
              <a:latin typeface="+mn-lt"/>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Projections</a:t>
            </a:r>
          </a:p>
        </p:txBody>
      </p:sp>
      <p:sp>
        <p:nvSpPr>
          <p:cNvPr id="4" name="TextBox 3">
            <a:extLst>
              <a:ext uri="{FF2B5EF4-FFF2-40B4-BE49-F238E27FC236}">
                <a16:creationId xmlns:a16="http://schemas.microsoft.com/office/drawing/2014/main" id="{FE5EA9D0-536C-FB1C-D511-8C2F51D8DCF2}"/>
              </a:ext>
            </a:extLst>
          </p:cNvPr>
          <p:cNvSpPr txBox="1"/>
          <p:nvPr/>
        </p:nvSpPr>
        <p:spPr>
          <a:xfrm>
            <a:off x="342898" y="2344459"/>
            <a:ext cx="10808495" cy="477054"/>
          </a:xfrm>
          <a:prstGeom prst="rect">
            <a:avLst/>
          </a:prstGeom>
          <a:noFill/>
        </p:spPr>
        <p:txBody>
          <a:bodyPr wrap="square">
            <a:spAutoFit/>
          </a:bodyPr>
          <a:lstStyle/>
          <a:p>
            <a:pPr marL="410000" lvl="0" indent="0">
              <a:buNone/>
              <a:defRPr sz="2233" cap="none" spc="0">
                <a:solidFill>
                  <a:schemeClr val="tx1"/>
                </a:solidFill>
                <a:latin typeface="+mn-lt"/>
              </a:defRPr>
            </a:pPr>
            <a:r>
              <a:rPr lang="en-US" sz="2500" b="0" dirty="0">
                <a:latin typeface="Cambria Math"/>
              </a:rPr>
              <a:t>For w = (3, 4) and x = (2, 1):     w · x = 3(2) + 4(1) = 10</a:t>
            </a:r>
          </a:p>
        </p:txBody>
      </p:sp>
      <p:pic>
        <p:nvPicPr>
          <p:cNvPr id="6" name="Picture 5" descr="Projection graph using the slide’s example">
            <a:extLst>
              <a:ext uri="{FF2B5EF4-FFF2-40B4-BE49-F238E27FC236}">
                <a16:creationId xmlns:a16="http://schemas.microsoft.com/office/drawing/2014/main" id="{FD936233-6089-3D33-8CE4-621CBBB540C8}"/>
              </a:ext>
            </a:extLst>
          </p:cNvPr>
          <p:cNvPicPr>
            <a:picLocks noChangeAspect="1"/>
          </p:cNvPicPr>
          <p:nvPr/>
        </p:nvPicPr>
        <p:blipFill>
          <a:blip r:embed="rId3"/>
          <a:stretch>
            <a:fillRect/>
          </a:stretch>
        </p:blipFill>
        <p:spPr>
          <a:xfrm>
            <a:off x="6690945" y="3028231"/>
            <a:ext cx="5228829" cy="4380910"/>
          </a:xfrm>
          <a:prstGeom prst="rect">
            <a:avLst/>
          </a:prstGeom>
        </p:spPr>
      </p:pic>
      <p:sp>
        <p:nvSpPr>
          <p:cNvPr id="181" name="TextBox 180"/>
          <p:cNvSpPr txBox="1"/>
          <p:nvPr/>
        </p:nvSpPr>
        <p:spPr>
          <a:xfrm>
            <a:off x="6812280" y="7452360"/>
            <a:ext cx="5166360" cy="1005840"/>
          </a:xfrm>
          <a:prstGeom prst="rect">
            <a:avLst/>
          </a:prstGeom>
          <a:noFill/>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sz="2233" b="0">
                <a:latin typeface="+mn-lt"/>
              </a:rPr>
              <a:t>The projection and perpendicular remainder add back to x.</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2410073"/>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spcBef>
                <a:spcPts val="600"/>
              </a:spcBef>
              <a:defRPr sz="2233" cap="none" spc="0">
                <a:solidFill>
                  <a:schemeClr val="tx1"/>
                </a:solidFill>
                <a:latin typeface="+mn-lt"/>
              </a:defRPr>
            </a:pPr>
            <a:r>
              <a:rPr lang="en-US" sz="2233" b="0">
                <a:latin typeface="+mn-lt"/>
              </a:rPr>
              <a:t>Decision </a:t>
            </a:r>
            <a:r>
              <a:rPr lang="en-US" sz="2233" b="0" dirty="0">
                <a:latin typeface="+mn-lt"/>
              </a:rPr>
              <a:t>boundary </a:t>
            </a:r>
            <a:r>
              <a:rPr lang="en-US" sz="2233" b="0">
                <a:latin typeface="+mn-lt"/>
              </a:rPr>
              <a:t>(the street’s centerline): </a:t>
            </a:r>
            <a:r>
              <a:rPr lang="en-US" sz="2233" b="0" dirty="0">
                <a:latin typeface="+mn-lt"/>
              </a:rPr>
              <a:t>w · x + b = 0.</a:t>
            </a:r>
          </a:p>
          <a:p>
            <a:pPr lvl="0">
              <a:spcBef>
                <a:spcPts val="600"/>
              </a:spcBef>
              <a:defRPr sz="2233" cap="none" spc="0">
                <a:solidFill>
                  <a:schemeClr val="tx1"/>
                </a:solidFill>
                <a:latin typeface="+mn-lt"/>
              </a:defRPr>
            </a:pPr>
            <a:r>
              <a:rPr lang="en-US" sz="2233" b="0" dirty="0">
                <a:latin typeface="+mn-lt"/>
              </a:rPr>
              <a:t>x </a:t>
            </a:r>
            <a:r>
              <a:rPr lang="en-US" sz="2233" b="0">
                <a:latin typeface="+mn-lt"/>
              </a:rPr>
              <a:t>is </a:t>
            </a:r>
            <a:r>
              <a:rPr lang="en-US" sz="2233" b="0" dirty="0">
                <a:latin typeface="+mn-lt"/>
              </a:rPr>
              <a:t>the </a:t>
            </a:r>
            <a:r>
              <a:rPr lang="en-US" sz="2233" b="0">
                <a:latin typeface="+mn-lt"/>
              </a:rPr>
              <a:t>point to measure</a:t>
            </a:r>
            <a:r>
              <a:rPr lang="en-US" sz="2233" b="0" dirty="0">
                <a:latin typeface="+mn-lt"/>
              </a:rPr>
              <a:t>.</a:t>
            </a:r>
            <a:r>
              <a:rPr lang="en-US" sz="2233" b="0">
                <a:latin typeface="+mn-lt"/>
              </a:rPr>
              <a:t> </a:t>
            </a:r>
            <a:r>
              <a:rPr lang="en-US" sz="2233" b="0" dirty="0">
                <a:latin typeface="+mn-lt"/>
              </a:rPr>
              <a:t>x₀</a:t>
            </a:r>
            <a:r>
              <a:rPr lang="en-US" sz="2233" b="0">
                <a:latin typeface="+mn-lt"/>
              </a:rPr>
              <a:t> is any point</a:t>
            </a:r>
            <a:r>
              <a:rPr lang="en-US" sz="2233" b="0" dirty="0">
                <a:latin typeface="+mn-lt"/>
              </a:rPr>
              <a:t> on the </a:t>
            </a:r>
            <a:r>
              <a:rPr lang="en-US" sz="2233" b="0">
                <a:latin typeface="+mn-lt"/>
              </a:rPr>
              <a:t>decision </a:t>
            </a:r>
            <a:r>
              <a:rPr lang="en-US" sz="2233" b="0" dirty="0">
                <a:latin typeface="+mn-lt"/>
              </a:rPr>
              <a:t>boundary, </a:t>
            </a:r>
            <a:r>
              <a:rPr lang="en-US" sz="2233" b="0">
                <a:latin typeface="+mn-lt"/>
              </a:rPr>
              <a:t>so </a:t>
            </a:r>
            <a:r>
              <a:rPr lang="en-US" sz="2233" b="0" dirty="0">
                <a:latin typeface="+mn-lt"/>
              </a:rPr>
              <a:t>w · x₀ = −b.</a:t>
            </a:r>
          </a:p>
          <a:p>
            <a:pPr lvl="0">
              <a:spcBef>
                <a:spcPts val="600"/>
              </a:spcBef>
              <a:defRPr sz="2233" cap="none" spc="0">
                <a:solidFill>
                  <a:schemeClr val="tx1"/>
                </a:solidFill>
                <a:latin typeface="+mn-lt"/>
              </a:defRPr>
            </a:pPr>
            <a:r>
              <a:rPr lang="en-US" sz="2233" b="0">
                <a:latin typeface="+mn-lt"/>
              </a:rPr>
              <a:t>Project x − x₀ onto the unit normal u = w / ‖w‖ to get the signed distance d.</a:t>
            </a:r>
          </a:p>
          <a:p>
            <a:pPr marL="410000" lvl="0" indent="0">
              <a:spcBef>
                <a:spcPts val="600"/>
              </a:spcBef>
              <a:buNone/>
              <a:defRPr sz="2233" cap="none" spc="0">
                <a:solidFill>
                  <a:schemeClr val="tx1"/>
                </a:solidFill>
                <a:latin typeface="+mn-lt"/>
              </a:defRPr>
            </a:pPr>
            <a:r>
              <a:rPr lang="en-US" sz="2500" b="0">
                <a:latin typeface="Cambria Math"/>
              </a:rPr>
              <a:t>d </a:t>
            </a:r>
            <a:r>
              <a:rPr lang="en-US" sz="2500" b="0" dirty="0">
                <a:latin typeface="Cambria Math"/>
              </a:rPr>
              <a:t>= (x − x₀) · u = (w · x − w · x₀) / ‖w‖ = (w · x + b) / ‖w‖</a:t>
            </a:r>
          </a:p>
          <a:p>
            <a:pPr lvl="0">
              <a:spcBef>
                <a:spcPts val="600"/>
              </a:spcBef>
              <a:defRPr sz="2233" cap="none" spc="0">
                <a:solidFill>
                  <a:schemeClr val="tx1"/>
                </a:solidFill>
                <a:latin typeface="+mn-lt"/>
              </a:defRPr>
            </a:pPr>
            <a:r>
              <a:rPr lang="en-US" sz="2233" b="0" dirty="0">
                <a:latin typeface="+mn-lt"/>
              </a:rPr>
              <a:t>The sign </a:t>
            </a:r>
            <a:r>
              <a:rPr lang="en-US" sz="2233" b="0">
                <a:latin typeface="+mn-lt"/>
              </a:rPr>
              <a:t>tells which </a:t>
            </a:r>
            <a:r>
              <a:rPr lang="en-US" sz="2233" b="0" dirty="0">
                <a:latin typeface="+mn-lt"/>
              </a:rPr>
              <a:t>side</a:t>
            </a:r>
            <a:r>
              <a:rPr lang="en-US" sz="2233" b="0">
                <a:latin typeface="+mn-lt"/>
              </a:rPr>
              <a:t> x lies on</a:t>
            </a:r>
            <a:r>
              <a:rPr lang="en-US" sz="2233" b="0" dirty="0">
                <a:latin typeface="+mn-lt"/>
              </a:rPr>
              <a:t>. </a:t>
            </a:r>
            <a:r>
              <a:rPr lang="en-US" sz="2233" b="0">
                <a:latin typeface="+mn-lt"/>
              </a:rPr>
              <a:t>The </a:t>
            </a:r>
            <a:r>
              <a:rPr lang="en-US" sz="2233" b="0" dirty="0">
                <a:latin typeface="+mn-lt"/>
              </a:rPr>
              <a:t>absolute value </a:t>
            </a:r>
            <a:r>
              <a:rPr lang="en-US" sz="2233" b="0">
                <a:latin typeface="+mn-lt"/>
              </a:rPr>
              <a:t>|d| </a:t>
            </a:r>
            <a:r>
              <a:rPr lang="en-US" sz="2233" b="0" dirty="0">
                <a:latin typeface="+mn-lt"/>
              </a:rPr>
              <a:t>gives the shortest distance to the </a:t>
            </a:r>
            <a:r>
              <a:rPr lang="en-US" sz="2233" b="0">
                <a:latin typeface="+mn-lt"/>
              </a:rPr>
              <a:t>boundary</a:t>
            </a:r>
            <a:r>
              <a:rPr lang="en-US" sz="2233" b="0" dirty="0">
                <a:latin typeface="+mn-lt"/>
              </a:rPr>
              <a:t>.</a:t>
            </a:r>
          </a:p>
          <a:p>
            <a:pPr marL="752900" indent="-342900">
              <a:spcBef>
                <a:spcPts val="600"/>
              </a:spcBef>
              <a:defRPr sz="2233" cap="none" spc="0">
                <a:solidFill>
                  <a:schemeClr val="tx1"/>
                </a:solidFill>
                <a:latin typeface="+mn-lt"/>
              </a:defRPr>
            </a:pPr>
            <a:r>
              <a:rPr lang="en-US" sz="2500" b="0">
                <a:latin typeface="Cambria Math"/>
              </a:rPr>
              <a:t>Example</a:t>
            </a:r>
            <a:r>
              <a:rPr lang="en-US" sz="2500" b="0" dirty="0">
                <a:latin typeface="Cambria Math"/>
              </a:rPr>
              <a:t>: w = (3, 4), </a:t>
            </a:r>
            <a:r>
              <a:rPr lang="en-US" sz="2500" b="0">
                <a:latin typeface="Cambria Math"/>
              </a:rPr>
              <a:t>b = −5, </a:t>
            </a:r>
            <a:r>
              <a:rPr lang="en-US" sz="2500" b="0" dirty="0">
                <a:latin typeface="Cambria Math"/>
              </a:rPr>
              <a:t>x = (2, 1</a:t>
            </a:r>
            <a:r>
              <a:rPr lang="en-US" sz="2500" b="0">
                <a:latin typeface="Cambria Math"/>
              </a:rPr>
              <a:t>), ‖w‖ = 5</a:t>
            </a:r>
            <a:endParaRPr lang="en-US" sz="2500" b="0" dirty="0">
              <a:latin typeface="Cambria Math"/>
            </a:endParaRPr>
          </a:p>
          <a:p>
            <a:pPr marL="752900" indent="-342900">
              <a:spcBef>
                <a:spcPts val="600"/>
              </a:spcBef>
              <a:defRPr sz="2233" cap="none" spc="0">
                <a:solidFill>
                  <a:schemeClr val="tx1"/>
                </a:solidFill>
                <a:latin typeface="+mn-lt"/>
              </a:defRPr>
            </a:pPr>
            <a:r>
              <a:rPr lang="en-US" sz="2500">
                <a:latin typeface="Cambria Math"/>
              </a:rPr>
              <a:t>Score = w · x + b = 3(2) + 4(1) − 5 = 5</a:t>
            </a:r>
            <a:endParaRPr lang="en-US" sz="2500" b="0">
              <a:latin typeface="Cambria Math"/>
            </a:endParaRPr>
          </a:p>
          <a:p>
            <a:pPr marL="752900" indent="-342900">
              <a:spcBef>
                <a:spcPts val="600"/>
              </a:spcBef>
              <a:defRPr sz="2233" cap="none" spc="0">
                <a:solidFill>
                  <a:schemeClr val="tx1"/>
                </a:solidFill>
                <a:latin typeface="+mn-lt"/>
              </a:defRPr>
            </a:pPr>
            <a:r>
              <a:rPr lang="en-US" sz="2500" b="0">
                <a:latin typeface="Cambria Math"/>
              </a:rPr>
              <a:t>Signed distance: d</a:t>
            </a:r>
            <a:r>
              <a:rPr lang="en-US" sz="2500" b="0" dirty="0">
                <a:latin typeface="Cambria Math"/>
              </a:rPr>
              <a:t> = 5 / 5 = </a:t>
            </a:r>
            <a:r>
              <a:rPr lang="en-US" sz="2500" b="0">
                <a:latin typeface="Cambria Math"/>
              </a:rPr>
              <a:t>+1     Shortest distance: |d| = </a:t>
            </a:r>
            <a:r>
              <a:rPr lang="en-US" sz="2500" b="0" dirty="0">
                <a:latin typeface="Cambria Math"/>
              </a:rPr>
              <a:t>1</a:t>
            </a:r>
          </a:p>
          <a:p>
            <a:pPr lvl="0">
              <a:spcBef>
                <a:spcPts val="600"/>
              </a:spcBef>
              <a:defRPr sz="2233" cap="none" spc="0">
                <a:solidFill>
                  <a:schemeClr val="tx1"/>
                </a:solidFill>
                <a:latin typeface="+mn-lt"/>
              </a:defRPr>
            </a:pPr>
            <a:r>
              <a:rPr lang="en-US" sz="2233" b="0">
                <a:latin typeface="+mn-lt"/>
              </a:rPr>
              <a:t>Thus x lies 1 unit from the decision boundary, on the positive side. </a:t>
            </a:r>
            <a:r>
              <a:rPr lang="en-US" sz="2233" b="0" dirty="0">
                <a:latin typeface="+mn-lt"/>
              </a:rPr>
              <a:t>Dividing </a:t>
            </a:r>
            <a:r>
              <a:rPr lang="en-US" sz="2233" b="0">
                <a:latin typeface="+mn-lt"/>
              </a:rPr>
              <a:t>the score </a:t>
            </a:r>
            <a:r>
              <a:rPr lang="en-US" sz="2233" b="0" dirty="0">
                <a:latin typeface="+mn-lt"/>
              </a:rPr>
              <a:t>by ‖w‖ converts </a:t>
            </a:r>
            <a:r>
              <a:rPr lang="en-US" sz="2233" b="0">
                <a:latin typeface="+mn-lt"/>
              </a:rPr>
              <a:t>it </a:t>
            </a:r>
            <a:r>
              <a:rPr lang="en-US" sz="2233" b="0" dirty="0">
                <a:latin typeface="+mn-lt"/>
              </a:rPr>
              <a:t>to distance.</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Distance to a separating hyperplane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3" name="The decision boundary margin is the distance between the hyperplane and the nearest data point(s) from either clas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spcBef>
                    <a:spcPts val="500"/>
                  </a:spcBef>
                  <a:defRPr sz="2233" cap="none" spc="0">
                    <a:solidFill>
                      <a:schemeClr val="tx1"/>
                    </a:solidFill>
                    <a:latin typeface="+mn-lt"/>
                  </a:defRPr>
                </a:pPr>
                <a:r>
                  <a:rPr lang="en-US" sz="2233" cap="none" spc="0" dirty="0">
                    <a:solidFill>
                      <a:schemeClr val="tx1"/>
                    </a:solidFill>
                    <a:latin typeface="+mn-lt"/>
                  </a:rPr>
                  <a:t>The margin is the distance from the decision boundary to the nearest training points.</a:t>
                </a:r>
              </a:p>
              <a:p>
                <a:pPr>
                  <a:spcBef>
                    <a:spcPts val="500"/>
                  </a:spcBef>
                  <a:defRPr sz="2233" cap="none" spc="0">
                    <a:solidFill>
                      <a:schemeClr val="tx1"/>
                    </a:solidFill>
                    <a:latin typeface="+mn-lt"/>
                  </a:defRPr>
                </a:pPr>
                <a:r>
                  <a:rPr lang="en-US" sz="2233" cap="none" spc="0" dirty="0">
                    <a:solidFill>
                      <a:schemeClr val="tx1"/>
                    </a:solidFill>
                    <a:latin typeface="+mn-lt"/>
                  </a:rPr>
                  <a:t>For a </a:t>
                </a:r>
                <a:r>
                  <a:rPr lang="en-US" sz="2233" b="1" cap="none" spc="0" dirty="0">
                    <a:solidFill>
                      <a:schemeClr val="tx1"/>
                    </a:solidFill>
                    <a:latin typeface="+mn-lt"/>
                  </a:rPr>
                  <a:t>correctly classified </a:t>
                </a:r>
                <a:r>
                  <a:rPr lang="en-US" sz="2233" cap="none" spc="0" dirty="0">
                    <a:solidFill>
                      <a:schemeClr val="tx1"/>
                    </a:solidFill>
                    <a:latin typeface="+mn-lt"/>
                  </a:rPr>
                  <a:t>point </a:t>
                </a:r>
                <a14:m>
                  <m:oMath xmlns:m="http://schemas.openxmlformats.org/officeDocument/2006/math">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oMath>
                </a14:m>
                <a:r>
                  <a:rPr lang="en-US" sz="2233" cap="none" spc="0" dirty="0">
                    <a:solidFill>
                      <a:schemeClr val="tx1"/>
                    </a:solidFill>
                    <a:latin typeface="+mn-lt"/>
                  </a:rPr>
                  <a:t> with label </a:t>
                </a:r>
                <a14:m>
                  <m:oMath xmlns:m="http://schemas.openxmlformats.org/officeDocument/2006/math">
                    <m:sSub>
                      <m:sSubPr>
                        <m:ctrlPr>
                          <a:rPr lang="ar-AE" sz="2233" i="1" cap="none" spc="0">
                            <a:solidFill>
                              <a:schemeClr val="tx1"/>
                            </a:solidFill>
                            <a:latin typeface="Cambria Math"/>
                          </a:rPr>
                        </m:ctrlPr>
                      </m:sSubPr>
                      <m:e>
                        <m:r>
                          <a:rPr lang="ar-AE" sz="2233" i="1" cap="none" spc="0">
                            <a:solidFill>
                              <a:schemeClr val="tx1"/>
                            </a:solidFill>
                            <a:latin typeface="Cambria Math"/>
                          </a:rPr>
                          <m:t>𝑦</m:t>
                        </m:r>
                      </m:e>
                      <m:sub>
                        <m:r>
                          <a:rPr lang="ar-AE" sz="2233" i="1" cap="none" spc="0">
                            <a:solidFill>
                              <a:schemeClr val="tx1"/>
                            </a:solidFill>
                            <a:latin typeface="Cambria Math"/>
                          </a:rPr>
                          <m:t>𝑖</m:t>
                        </m:r>
                      </m:sub>
                    </m:sSub>
                  </m:oMath>
                </a14:m>
                <a:r>
                  <a:rPr lang="en-US" sz="2233" cap="none" spc="0" dirty="0">
                    <a:solidFill>
                      <a:schemeClr val="tx1"/>
                    </a:solidFill>
                    <a:latin typeface="+mn-lt"/>
                  </a:rPr>
                  <a:t> (±1), its distance to the decision boundary is:</a:t>
                </a:r>
              </a:p>
              <a:p>
                <a:pPr marL="0" indent="0" algn="ctr">
                  <a:spcBef>
                    <a:spcPts val="500"/>
                  </a:spcBef>
                  <a:buNone/>
                  <a:defRPr sz="2233" cap="none" spc="0">
                    <a:solidFill>
                      <a:schemeClr val="tx1"/>
                    </a:solidFill>
                    <a:latin typeface="+mn-lt"/>
                  </a:defRPr>
                </a:pPr>
                <a14:m>
                  <m:oMathPara xmlns:m="http://schemas.openxmlformats.org/officeDocument/2006/math">
                    <m:oMath>
                      <m:f>
                        <m:fPr>
                          <m:ctrlPr>
                            <a:rPr lang="en-US" sz="2233" b="0" i="1" cap="none" spc="0" smtClean="0">
                              <a:solidFill>
                                <a:schemeClr val="tx1"/>
                              </a:solidFill>
                              <a:latin typeface="Cambria Math"/>
                            </a:rPr>
                          </m:ctrlPr>
                        </m:fPr>
                        <m:num>
                          <m:r>
                            <a:rPr lang="en-US" sz="2233" b="0" i="1" cap="none" spc="0" smtClean="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r>
                            <a:rPr lang="ar-AE" sz="2233" i="1" cap="none" spc="0">
                              <a:solidFill>
                                <a:schemeClr val="tx1"/>
                              </a:solidFill>
                              <a:latin typeface="Cambria Math"/>
                            </a:rPr>
                            <m:t>+</m:t>
                          </m:r>
                          <m:r>
                            <a:rPr lang="ar-AE" sz="2233" i="1" cap="none" spc="0">
                              <a:solidFill>
                                <a:schemeClr val="tx1"/>
                              </a:solidFill>
                              <a:latin typeface="Cambria Math"/>
                            </a:rPr>
                            <m:t>𝑏</m:t>
                          </m:r>
                          <m:r>
                            <a:rPr lang="en-US" sz="2233" b="0" i="1" cap="none" spc="0" smtClean="0">
                              <a:solidFill>
                                <a:schemeClr val="tx1"/>
                              </a:solidFill>
                              <a:latin typeface="Cambria Math"/>
                            </a:rPr>
                            <m:t>|</m:t>
                          </m:r>
                        </m:num>
                        <m:den>
                          <m:r>
                            <a:rPr lang="ar-AE" sz="2233" i="1" cap="none" spc="0">
                              <a:solidFill>
                                <a:schemeClr val="tx1"/>
                              </a:solidFill>
                              <a:latin typeface="Cambria Math"/>
                            </a:rPr>
                            <m:t>||</m:t>
                          </m:r>
                          <m:r>
                            <a:rPr lang="ar-AE" sz="2233" i="1" cap="none" spc="0">
                              <a:solidFill>
                                <a:schemeClr val="tx1"/>
                              </a:solidFill>
                              <a:latin typeface="Cambria Math"/>
                            </a:rPr>
                            <m:t>𝑤</m:t>
                          </m:r>
                          <m:r>
                            <a:rPr lang="ar-AE" sz="2233" i="1" cap="none" spc="0">
                              <a:solidFill>
                                <a:schemeClr val="tx1"/>
                              </a:solidFill>
                              <a:latin typeface="Cambria Math"/>
                            </a:rPr>
                            <m:t>||</m:t>
                          </m:r>
                        </m:den>
                      </m:f>
                      <m:r>
                        <a:rPr lang="en-US" sz="2233" b="0" i="0" cap="none" spc="0" smtClean="0">
                          <a:solidFill>
                            <a:schemeClr val="tx1"/>
                          </a:solidFill>
                          <a:latin typeface="Cambria Math"/>
                        </a:rPr>
                        <m:t>=</m:t>
                      </m:r>
                      <m:f>
                        <m:fPr>
                          <m:ctrlPr>
                            <a:rPr lang="ar-AE" sz="2233" i="1" cap="none" spc="0">
                              <a:solidFill>
                                <a:schemeClr val="tx1"/>
                              </a:solidFill>
                              <a:latin typeface="Cambria Math"/>
                            </a:rPr>
                          </m:ctrlPr>
                        </m:fPr>
                        <m:num>
                          <m:sSub>
                            <m:sSubPr>
                              <m:ctrlPr>
                                <a:rPr lang="ar-AE" sz="2233" i="1" cap="none" spc="0">
                                  <a:solidFill>
                                    <a:schemeClr val="tx1"/>
                                  </a:solidFill>
                                  <a:latin typeface="Cambria Math"/>
                                </a:rPr>
                              </m:ctrlPr>
                            </m:sSubPr>
                            <m:e>
                              <m:r>
                                <a:rPr lang="ar-AE" sz="2233" i="1" cap="none" spc="0">
                                  <a:solidFill>
                                    <a:schemeClr val="tx1"/>
                                  </a:solidFill>
                                  <a:latin typeface="Cambria Math"/>
                                </a:rPr>
                                <m:t>𝑦</m:t>
                              </m:r>
                            </m:e>
                            <m:sub>
                              <m:r>
                                <a:rPr lang="ar-AE" sz="2233" i="1" cap="none" spc="0">
                                  <a:solidFill>
                                    <a:schemeClr val="tx1"/>
                                  </a:solidFill>
                                  <a:latin typeface="Cambria Math"/>
                                </a:rPr>
                                <m:t>𝑖</m:t>
                              </m:r>
                            </m:sub>
                          </m:sSub>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b>
                            <m:sSubPr>
                              <m:ctrlPr>
                                <a:rPr lang="ar-AE" sz="2233" i="1" cap="none" spc="0">
                                  <a:solidFill>
                                    <a:schemeClr val="tx1"/>
                                  </a:solidFill>
                                  <a:latin typeface="Cambria Math"/>
                                </a:rPr>
                              </m:ctrlPr>
                            </m:sSubPr>
                            <m:e>
                              <m:r>
                                <a:rPr lang="ar-AE" sz="2233" i="1" cap="none" spc="0">
                                  <a:solidFill>
                                    <a:schemeClr val="tx1"/>
                                  </a:solidFill>
                                  <a:latin typeface="Cambria Math"/>
                                </a:rPr>
                                <m:t>𝐱</m:t>
                              </m:r>
                            </m:e>
                            <m:sub>
                              <m:r>
                                <a:rPr lang="ar-AE" sz="2233" i="1" cap="none" spc="0">
                                  <a:solidFill>
                                    <a:schemeClr val="tx1"/>
                                  </a:solidFill>
                                  <a:latin typeface="Cambria Math"/>
                                </a:rPr>
                                <m:t>𝐢</m:t>
                              </m:r>
                            </m:sub>
                          </m:sSub>
                          <m:r>
                            <a:rPr lang="ar-AE" sz="2233" i="1" cap="none" spc="0">
                              <a:solidFill>
                                <a:schemeClr val="tx1"/>
                              </a:solidFill>
                              <a:latin typeface="Cambria Math"/>
                            </a:rPr>
                            <m:t>+</m:t>
                          </m:r>
                          <m:r>
                            <a:rPr lang="ar-AE" sz="2233" i="1" cap="none" spc="0">
                              <a:solidFill>
                                <a:schemeClr val="tx1"/>
                              </a:solidFill>
                              <a:latin typeface="Cambria Math"/>
                            </a:rPr>
                            <m:t>𝑏</m:t>
                          </m:r>
                          <m:r>
                            <a:rPr lang="ar-AE" sz="2233" i="1" cap="none" spc="0">
                              <a:solidFill>
                                <a:schemeClr val="tx1"/>
                              </a:solidFill>
                              <a:latin typeface="Cambria Math"/>
                            </a:rPr>
                            <m:t>)</m:t>
                          </m:r>
                        </m:num>
                        <m:den>
                          <m:r>
                            <a:rPr lang="ar-AE" sz="2233" i="1" cap="none" spc="0">
                              <a:solidFill>
                                <a:schemeClr val="tx1"/>
                              </a:solidFill>
                              <a:latin typeface="Cambria Math"/>
                            </a:rPr>
                            <m:t>||</m:t>
                          </m:r>
                          <m:r>
                            <a:rPr lang="ar-AE" sz="2233" i="1" cap="none" spc="0">
                              <a:solidFill>
                                <a:schemeClr val="tx1"/>
                              </a:solidFill>
                              <a:latin typeface="Cambria Math"/>
                            </a:rPr>
                            <m:t>𝑤</m:t>
                          </m:r>
                          <m:r>
                            <a:rPr lang="ar-AE" sz="2233" i="1" cap="none" spc="0">
                              <a:solidFill>
                                <a:schemeClr val="tx1"/>
                              </a:solidFill>
                              <a:latin typeface="Cambria Math"/>
                            </a:rPr>
                            <m:t>||</m:t>
                          </m:r>
                        </m:den>
                      </m:f>
                    </m:oMath>
                  </m:oMathPara>
                </a14:m>
                <a:endParaRPr lang="en-US" sz="2233" cap="none" spc="0" dirty="0">
                  <a:solidFill>
                    <a:schemeClr val="tx1"/>
                  </a:solidFill>
                  <a:latin typeface="+mn-lt"/>
                </a:endParaRPr>
              </a:p>
              <a:p>
                <a:pPr>
                  <a:spcBef>
                    <a:spcPts val="500"/>
                  </a:spcBef>
                  <a:defRPr sz="2233" cap="none" spc="0">
                    <a:solidFill>
                      <a:schemeClr val="tx1"/>
                    </a:solidFill>
                    <a:latin typeface="+mn-lt"/>
                  </a:defRPr>
                </a:pPr>
                <a:r>
                  <a:rPr lang="en-US" sz="2233" cap="none" spc="0" dirty="0">
                    <a:solidFill>
                      <a:schemeClr val="tx1"/>
                    </a:solidFill>
                    <a:latin typeface="+mn-lt"/>
                  </a:rPr>
                  <a:t>Scaling both w and b by the same positive constant preserves the boundary and distance</a:t>
                </a:r>
                <a:endParaRPr lang="en-US" dirty="0"/>
              </a:p>
              <a:p>
                <a:pPr>
                  <a:spcBef>
                    <a:spcPts val="500"/>
                  </a:spcBef>
                  <a:defRPr sz="2233" cap="none" spc="0">
                    <a:solidFill>
                      <a:schemeClr val="tx1"/>
                    </a:solidFill>
                    <a:latin typeface="+mn-lt"/>
                  </a:defRPr>
                </a:pPr>
                <a:r>
                  <a:rPr lang="en-US" sz="2233" cap="none" spc="0" dirty="0">
                    <a:solidFill>
                      <a:schemeClr val="tx1"/>
                    </a:solidFill>
                    <a:latin typeface="+mn-lt"/>
                  </a:rPr>
                  <a:t>The margin is then </a:t>
                </a: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den>
                    </m:f>
                  </m:oMath>
                </a14:m>
                <a:r>
                  <a:rPr lang="en-US" sz="2233" cap="none" spc="0" dirty="0">
                    <a:solidFill>
                      <a:schemeClr val="tx1"/>
                    </a:solidFill>
                    <a:latin typeface="+mn-lt"/>
                  </a:rPr>
                  <a:t>. Maximizing it is equivalent to minimizing:</a:t>
                </a:r>
              </a:p>
              <a:p>
                <a:pPr marL="0" indent="0" algn="ctr">
                  <a:spcBef>
                    <a:spcPts val="500"/>
                  </a:spcBef>
                  <a:buNone/>
                  <a:defRPr sz="2233" cap="none" spc="0">
                    <a:solidFill>
                      <a:schemeClr val="tx1"/>
                    </a:solidFill>
                    <a:latin typeface="+mn-lt"/>
                  </a:defRPr>
                </a:pP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2</m:t>
                        </m:r>
                      </m:den>
                    </m:f>
                    <m:r>
                      <a:rPr lang="ar-AE" sz="2233" i="1" cap="none" spc="0">
                        <a:solidFill>
                          <a:schemeClr val="tx1"/>
                        </a:solidFill>
                        <a:latin typeface="Cambria Math"/>
                      </a:rPr>
                      <m:t>||</m:t>
                    </m:r>
                    <m:r>
                      <a:rPr lang="ar-AE" sz="2233" i="1" cap="none" spc="0">
                        <a:solidFill>
                          <a:schemeClr val="tx1"/>
                        </a:solidFill>
                        <a:latin typeface="Cambria Math"/>
                      </a:rPr>
                      <m:t>𝐰</m:t>
                    </m:r>
                    <m:r>
                      <a:rPr lang="ar-AE" sz="2233" i="1" cap="none" spc="0">
                        <a:solidFill>
                          <a:schemeClr val="tx1"/>
                        </a:solidFill>
                        <a:latin typeface="Cambria Math"/>
                      </a:rPr>
                      <m:t>|</m:t>
                    </m:r>
                    <m:sSup>
                      <m:sSupPr>
                        <m:ctrlPr>
                          <a:rPr lang="ar-AE" sz="2233" i="1" cap="none" spc="0">
                            <a:solidFill>
                              <a:schemeClr val="tx1"/>
                            </a:solidFill>
                            <a:latin typeface="Cambria Math"/>
                          </a:rPr>
                        </m:ctrlPr>
                      </m:sSupPr>
                      <m:e>
                        <m:r>
                          <a:rPr lang="ar-AE" sz="2233" i="1" cap="none" spc="0">
                            <a:solidFill>
                              <a:schemeClr val="tx1"/>
                            </a:solidFill>
                            <a:latin typeface="Cambria Math"/>
                          </a:rPr>
                          <m:t>|</m:t>
                        </m:r>
                      </m:e>
                      <m:sup>
                        <m:r>
                          <a:rPr lang="ar-AE" sz="2233" i="1" cap="none" spc="0">
                            <a:solidFill>
                              <a:schemeClr val="tx1"/>
                            </a:solidFill>
                            <a:latin typeface="Cambria Math"/>
                          </a:rPr>
                          <m:t>2</m:t>
                        </m:r>
                      </m:sup>
                    </m:sSup>
                  </m:oMath>
                </a14:m>
                <a:r>
                  <a:rPr lang="en-US" sz="2233" cap="none" spc="0" dirty="0">
                    <a:solidFill>
                      <a:schemeClr val="tx1"/>
                    </a:solidFill>
                    <a:latin typeface="+mn-lt"/>
                  </a:rPr>
                  <a:t> = </a:t>
                </a:r>
                <a14:m>
                  <m:oMath xmlns:m="http://schemas.openxmlformats.org/officeDocument/2006/math">
                    <m:f>
                      <m:fPr>
                        <m:ctrlPr>
                          <a:rPr lang="ar-AE" sz="2233" i="1" cap="none" spc="0">
                            <a:solidFill>
                              <a:schemeClr val="tx1"/>
                            </a:solidFill>
                            <a:latin typeface="Cambria Math"/>
                          </a:rPr>
                        </m:ctrlPr>
                      </m:fPr>
                      <m:num>
                        <m:r>
                          <a:rPr lang="ar-AE" sz="2233" i="1" cap="none" spc="0">
                            <a:solidFill>
                              <a:schemeClr val="tx1"/>
                            </a:solidFill>
                            <a:latin typeface="Cambria Math"/>
                          </a:rPr>
                          <m:t>1</m:t>
                        </m:r>
                      </m:num>
                      <m:den>
                        <m:r>
                          <a:rPr lang="ar-AE" sz="2233" i="1" cap="none" spc="0">
                            <a:solidFill>
                              <a:schemeClr val="tx1"/>
                            </a:solidFill>
                            <a:latin typeface="Cambria Math"/>
                          </a:rPr>
                          <m:t>2</m:t>
                        </m:r>
                      </m:den>
                    </m:f>
                    <m:r>
                      <a:rPr lang="ar-AE" sz="2233" i="1" cap="none" spc="0">
                        <a:solidFill>
                          <a:schemeClr val="tx1"/>
                        </a:solidFill>
                        <a:latin typeface="Cambria Math"/>
                      </a:rPr>
                      <m:t>𝐰</m:t>
                    </m:r>
                    <m:r>
                      <a:rPr lang="ar-AE" sz="2233" i="1" cap="none" spc="0">
                        <a:solidFill>
                          <a:schemeClr val="tx1"/>
                        </a:solidFill>
                        <a:latin typeface="Cambria Math"/>
                      </a:rPr>
                      <m:t>′</m:t>
                    </m:r>
                    <m:r>
                      <a:rPr lang="ar-AE" sz="2233" i="1" cap="none" spc="0">
                        <a:solidFill>
                          <a:schemeClr val="tx1"/>
                        </a:solidFill>
                        <a:latin typeface="Cambria Math"/>
                      </a:rPr>
                      <m:t>𝐰</m:t>
                    </m:r>
                  </m:oMath>
                </a14:m>
                <a:r>
                  <a:rPr lang="en-US" sz="2233" cap="none" spc="0" dirty="0">
                    <a:solidFill>
                      <a:schemeClr val="tx1"/>
                    </a:solidFill>
                    <a:latin typeface="+mn-lt"/>
                  </a:rPr>
                  <a:t>, subject to </a:t>
                </a:r>
                <a14:m>
                  <m:oMath xmlns:m="http://schemas.openxmlformats.org/officeDocument/2006/math">
                    <m:r>
                      <a:rPr sz="2233">
                        <a:latin typeface="Cambria Math" panose="02040503050406030204" pitchFamily="18" charset="0"/>
                      </a:rPr>
                      <m:t>𝑦</m:t>
                    </m:r>
                    <m:r>
                      <a:rPr sz="2233">
                        <a:latin typeface="Cambria Math" panose="02040503050406030204" pitchFamily="18" charset="0"/>
                      </a:rPr>
                      <m:t>ᵢ(</m:t>
                    </m:r>
                    <m:r>
                      <a:rPr sz="2233">
                        <a:latin typeface="Cambria Math" panose="02040503050406030204" pitchFamily="18" charset="0"/>
                      </a:rPr>
                      <m:t>𝑤</m:t>
                    </m:r>
                    <m:r>
                      <a:rPr sz="2233">
                        <a:latin typeface="Cambria Math" panose="02040503050406030204" pitchFamily="18" charset="0"/>
                      </a:rPr>
                      <m:t>·</m:t>
                    </m:r>
                    <m:r>
                      <a:rPr sz="2233">
                        <a:latin typeface="Cambria Math" panose="02040503050406030204" pitchFamily="18" charset="0"/>
                      </a:rPr>
                      <m:t>𝑥</m:t>
                    </m:r>
                    <m:r>
                      <a:rPr sz="2233">
                        <a:latin typeface="Cambria Math" panose="02040503050406030204" pitchFamily="18" charset="0"/>
                      </a:rPr>
                      <m:t>ᵢ+</m:t>
                    </m:r>
                    <m:r>
                      <a:rPr sz="2233">
                        <a:latin typeface="Cambria Math" panose="02040503050406030204" pitchFamily="18" charset="0"/>
                      </a:rPr>
                      <m:t>𝑏</m:t>
                    </m:r>
                    <m:r>
                      <a:rPr sz="2233">
                        <a:latin typeface="Cambria Math" panose="02040503050406030204" pitchFamily="18" charset="0"/>
                      </a:rPr>
                      <m:t>)≥1</m:t>
                    </m:r>
                  </m:oMath>
                </a14:m>
                <a:r>
                  <a:rPr lang="en-US" sz="2233" cap="none" spc="0" dirty="0">
                    <a:solidFill>
                      <a:schemeClr val="tx1"/>
                    </a:solidFill>
                    <a:latin typeface="+mn-lt"/>
                  </a:rPr>
                  <a:t> for every </a:t>
                </a:r>
                <a:r>
                  <a:rPr lang="en-US" sz="2233" cap="none" spc="0" dirty="0" err="1">
                    <a:solidFill>
                      <a:schemeClr val="tx1"/>
                    </a:solidFill>
                    <a:latin typeface="+mn-lt"/>
                  </a:rPr>
                  <a:t>i</a:t>
                </a:r>
                <a:r>
                  <a:rPr lang="en-US" sz="2233" cap="none" spc="0" dirty="0">
                    <a:solidFill>
                      <a:schemeClr val="tx1"/>
                    </a:solidFill>
                    <a:latin typeface="+mn-lt"/>
                  </a:rPr>
                  <a:t>.</a:t>
                </a:r>
              </a:p>
            </p:txBody>
          </p:sp>
        </mc:Choice>
        <mc:Fallback xmlns="">
          <p:sp>
            <p:nvSpPr>
              <p:cNvPr id="193" name="The decision boundary margin is the distance between the hyperplane and the nearest data point(s) from either clas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194" name="Margin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Margins</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lvl="0">
              <a:defRPr sz="2233" cap="none" spc="0">
                <a:solidFill>
                  <a:schemeClr val="tx1"/>
                </a:solidFill>
                <a:latin typeface="+mn-lt"/>
              </a:defRPr>
            </a:pPr>
            <a:r>
              <a:rPr lang="en-US" dirty="0"/>
              <a:t>Given l</a:t>
            </a:r>
            <a:r>
              <a:rPr lang="en-US" sz="2233" b="0" dirty="0">
                <a:latin typeface="+mn-lt"/>
              </a:rPr>
              <a:t>abels yᵢ = +1 or −1:</a:t>
            </a:r>
          </a:p>
          <a:p>
            <a:pPr lvl="1">
              <a:defRPr sz="2233" cap="none" spc="0">
                <a:solidFill>
                  <a:schemeClr val="tx1"/>
                </a:solidFill>
                <a:latin typeface="+mn-lt"/>
              </a:defRPr>
            </a:pPr>
            <a:r>
              <a:rPr lang="en-US" sz="2287" b="0" dirty="0">
                <a:latin typeface="Cambria Math"/>
              </a:rPr>
              <a:t>yᵢ(w · xᵢ + b) &gt; 0 means correct classification.</a:t>
            </a:r>
          </a:p>
          <a:p>
            <a:pPr lvl="0">
              <a:defRPr sz="2233" cap="none" spc="0">
                <a:solidFill>
                  <a:schemeClr val="tx1"/>
                </a:solidFill>
                <a:latin typeface="+mn-lt"/>
              </a:defRPr>
            </a:pPr>
            <a:r>
              <a:rPr lang="en-US" sz="2233" b="0" dirty="0">
                <a:latin typeface="+mn-lt"/>
              </a:rPr>
              <a:t>Multiplying both w and b by the same positive constant keeps the boundary and distances unchanged.</a:t>
            </a:r>
          </a:p>
          <a:p>
            <a:pPr lvl="0">
              <a:defRPr sz="2233" cap="none" spc="0">
                <a:solidFill>
                  <a:schemeClr val="tx1"/>
                </a:solidFill>
                <a:latin typeface="+mn-lt"/>
              </a:defRPr>
            </a:pPr>
            <a:r>
              <a:rPr lang="en-US" sz="2233" b="0" dirty="0">
                <a:latin typeface="+mn-lt"/>
              </a:rPr>
              <a:t>For separable data, choose the scale so the smallest label-adjusted score is 1.</a:t>
            </a:r>
          </a:p>
          <a:p>
            <a:pPr marL="410000" lvl="0" indent="0">
              <a:buNone/>
              <a:defRPr sz="2233" cap="none" spc="0">
                <a:solidFill>
                  <a:schemeClr val="tx1"/>
                </a:solidFill>
                <a:latin typeface="+mn-lt"/>
              </a:defRPr>
            </a:pPr>
            <a:r>
              <a:rPr lang="en-US" sz="2500" b="0" dirty="0">
                <a:latin typeface="Cambria Math"/>
              </a:rPr>
              <a:t>yᵢ(w · xᵢ + b) ≥ 1 for every training point</a:t>
            </a:r>
          </a:p>
          <a:p>
            <a:pPr lvl="0">
              <a:defRPr sz="2233" cap="none" spc="0">
                <a:solidFill>
                  <a:schemeClr val="tx1"/>
                </a:solidFill>
                <a:latin typeface="+mn-lt"/>
              </a:defRPr>
            </a:pPr>
            <a:r>
              <a:rPr lang="en-US" sz="2233" b="0" dirty="0">
                <a:latin typeface="+mn-lt"/>
              </a:rPr>
              <a:t>Now the nearest points have distance 1 / ‖w‖. A wider margin requires a smaller norm.</a:t>
            </a:r>
          </a:p>
          <a:p>
            <a:pPr marL="410000" lvl="0" indent="0">
              <a:buNone/>
              <a:defRPr sz="2233" cap="none" spc="0">
                <a:solidFill>
                  <a:schemeClr val="tx1"/>
                </a:solidFill>
                <a:latin typeface="+mn-lt"/>
              </a:defRPr>
            </a:pPr>
            <a:r>
              <a:rPr lang="en-US" sz="2500" b="0" dirty="0">
                <a:latin typeface="Cambria Math"/>
              </a:rPr>
              <a:t>Minimize ½‖w‖² = ½wᵀw, subject to the constraints above.</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Labels, scale, and the SVM objective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442DEB-362B-C228-A503-BF6E2AB22B4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Optimization Problem</a:t>
            </a:r>
          </a:p>
        </p:txBody>
      </p:sp>
      <mc:AlternateContent xmlns:mc="http://schemas.openxmlformats.org/markup-compatibility/2006" xmlns:a14="http://schemas.microsoft.com/office/drawing/2010/main">
        <mc:Choice Requires="a14">
          <p:sp>
            <p:nvSpPr>
              <p:cNvPr id="6" name="Typeset SVM optimization equations"/>
              <p:cNvSpPr txBox="1"/>
              <p:nvPr/>
            </p:nvSpPr>
            <p:spPr>
              <a:xfrm>
                <a:off x="2650239" y="3752038"/>
                <a:ext cx="7915623" cy="2560320"/>
              </a:xfrm>
              <a:prstGeom prst="rect">
                <a:avLst/>
              </a:prstGeom>
              <a:noFill/>
            </p:spPr>
            <p:txBody>
              <a:bodyPr wrap="square" lIns="0" tIns="0" rIns="0" bIns="0">
                <a:spAutoFit/>
              </a:bodyPr>
              <a:lstStyle/>
              <a:p>
                <a:pPr>
                  <a:spcBef>
                    <a:spcPts val="0"/>
                  </a:spcBef>
                </a:pPr>
                <a14:m>
                  <m:oMathPara xmlns:m="http://schemas.openxmlformats.org/officeDocument/2006/math">
                    <m:oMath>
                      <m:r>
                        <m:rPr>
                          <m:nor/>
                        </m:rPr>
                        <a:rPr sz="2400" b="1" i="0">
                          <a:latin typeface="Cambria Math"/>
                        </a:rPr>
                        <m:t>Training data:   </m:t>
                      </m:r>
                      <m:sSubSup>
                        <m:sSubSupPr>
                          <m:ctrlPr>
                            <a:rPr sz="2400" i="1">
                              <a:latin typeface="Cambria Math"/>
                            </a:rPr>
                          </m:ctrlPr>
                        </m:sSubSupPr>
                        <m:e>
                          <m:box>
                            <m:boxPr>
                              <m:ctrlPr>
                                <a:rPr sz="2400">
                                  <a:latin typeface="Cambria Math"/>
                                </a:rPr>
                              </m:ctrlPr>
                            </m:boxPr>
                            <m:e>
                              <m:r>
                                <a:rPr sz="2400">
                                  <a:latin typeface="Cambria Math"/>
                                </a:rPr>
                                <m:t>{(</m:t>
                              </m:r>
                              <m:sSub>
                                <m:sSubPr>
                                  <m:ctrlPr>
                                    <a:rPr sz="2400">
                                      <a:latin typeface="Cambria Math"/>
                                    </a:rPr>
                                  </m:ctrlPr>
                                </m:sSubPr>
                                <m:e>
                                  <m:r>
                                    <a:rPr sz="2400">
                                      <a:latin typeface="Cambria Math"/>
                                    </a:rPr>
                                    <m:t>𝑥</m:t>
                                  </m:r>
                                </m:e>
                                <m:sub>
                                  <m:r>
                                    <a:rPr sz="2400">
                                      <a:latin typeface="Cambria Math"/>
                                    </a:rPr>
                                    <m:t>𝑖</m:t>
                                  </m:r>
                                </m:sub>
                              </m:sSub>
                              <m:r>
                                <a:rPr sz="2400">
                                  <a:latin typeface="Cambria Math"/>
                                </a:rPr>
                                <m: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m:t>
                              </m:r>
                            </m:e>
                          </m:box>
                        </m:e>
                        <m:sub>
                          <m:r>
                            <a:rPr sz="2400">
                              <a:latin typeface="Cambria Math"/>
                            </a:rPr>
                            <m:t>𝑖</m:t>
                          </m:r>
                          <m:r>
                            <a:rPr sz="2400">
                              <a:latin typeface="Cambria Math"/>
                            </a:rPr>
                            <m:t>=1</m:t>
                          </m:r>
                        </m:sub>
                        <m:sup>
                          <m:r>
                            <a:rPr sz="2400">
                              <a:latin typeface="Cambria Math"/>
                            </a:rPr>
                            <m:t>𝑛</m:t>
                          </m:r>
                        </m:sup>
                      </m:sSubSup>
                      <m:r>
                        <a:rPr sz="2400">
                          <a:latin typeface="Cambria Math"/>
                        </a:rPr>
                        <m:t>    </m:t>
                      </m:r>
                      <m:sSub>
                        <m:sSubPr>
                          <m:ctrlPr>
                            <a:rPr sz="2400">
                              <a:latin typeface="Cambria Math"/>
                            </a:rPr>
                          </m:ctrlPr>
                        </m:sSubPr>
                        <m:e>
                          <m:r>
                            <a:rPr sz="2400">
                              <a:latin typeface="Cambria Math"/>
                            </a:rPr>
                            <m:t>𝐱</m:t>
                          </m:r>
                        </m:e>
                        <m:sub>
                          <m:r>
                            <a:rPr sz="2400">
                              <a:latin typeface="Cambria Math"/>
                            </a:rPr>
                            <m:t>𝑖</m:t>
                          </m:r>
                        </m:sub>
                      </m:sSub>
                      <m:r>
                        <a:rPr sz="2400">
                          <a:latin typeface="Cambria Math"/>
                        </a:rPr>
                        <m:t> ∈ </m:t>
                      </m:r>
                      <m:sSup>
                        <m:sSupPr>
                          <m:ctrlPr>
                            <a:rPr sz="2400">
                              <a:latin typeface="Cambria Math"/>
                            </a:rPr>
                          </m:ctrlPr>
                        </m:sSupPr>
                        <m:e>
                          <m:r>
                            <a:rPr sz="2400">
                              <a:latin typeface="Cambria Math"/>
                            </a:rPr>
                            <m:t>ℝ</m:t>
                          </m:r>
                        </m:e>
                        <m:sup>
                          <m:r>
                            <a:rPr sz="2400">
                              <a:latin typeface="Cambria Math"/>
                            </a:rPr>
                            <m:t>𝑑</m:t>
                          </m:r>
                        </m:sup>
                      </m:sSup>
                      <m:r>
                        <a:rPr sz="2400">
                          <a:latin typeface="Cambria Math"/>
                        </a:rPr>
                        <m: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 ∈ {−1, +1}</m:t>
                      </m:r>
                    </m:oMath>
                  </m:oMathPara>
                </a14:m>
                <a:endParaRPr dirty="0"/>
              </a:p>
              <a:p>
                <a:pPr>
                  <a:spcBef>
                    <a:spcPts val="1400"/>
                  </a:spcBef>
                </a:pPr>
                <a14:m>
                  <m:oMathPara xmlns:m="http://schemas.openxmlformats.org/officeDocument/2006/math">
                    <m:oMath>
                      <m:limLow>
                        <m:limLowPr>
                          <m:ctrlPr>
                            <a:rPr sz="2400" i="0">
                              <a:latin typeface="Cambria Math"/>
                            </a:rPr>
                          </m:ctrlPr>
                        </m:limLowPr>
                        <m:e>
                          <m:r>
                            <m:rPr>
                              <m:nor/>
                            </m:rPr>
                            <a:rPr sz="2400" i="0">
                              <a:latin typeface="Cambria Math"/>
                            </a:rPr>
                            <m:t>min</m:t>
                          </m:r>
                        </m:e>
                        <m:lim>
                          <m:r>
                            <a:rPr sz="2400">
                              <a:latin typeface="Cambria Math"/>
                            </a:rPr>
                            <m:t>𝐰</m:t>
                          </m:r>
                          <m:r>
                            <a:rPr sz="2400">
                              <a:latin typeface="Cambria Math"/>
                            </a:rPr>
                            <m:t>,</m:t>
                          </m:r>
                          <m:r>
                            <a:rPr sz="2400">
                              <a:latin typeface="Cambria Math"/>
                            </a:rPr>
                            <m:t>𝑏</m:t>
                          </m:r>
                        </m:lim>
                      </m:limLow>
                      <m:r>
                        <a:rPr sz="2400">
                          <a:latin typeface="Cambria Math"/>
                        </a:rPr>
                        <m:t>   </m:t>
                      </m:r>
                      <m:f>
                        <m:fPr>
                          <m:ctrlPr>
                            <a:rPr sz="2400">
                              <a:latin typeface="Cambria Math"/>
                            </a:rPr>
                          </m:ctrlPr>
                        </m:fPr>
                        <m:num>
                          <m:r>
                            <a:rPr sz="2400">
                              <a:latin typeface="Cambria Math"/>
                            </a:rPr>
                            <m:t>1</m:t>
                          </m:r>
                        </m:num>
                        <m:den>
                          <m:r>
                            <a:rPr sz="2400">
                              <a:latin typeface="Cambria Math"/>
                            </a:rPr>
                            <m:t>2</m:t>
                          </m:r>
                        </m:den>
                      </m:f>
                      <m:sSup>
                        <m:sSupPr>
                          <m:ctrlPr>
                            <a:rPr sz="2400">
                              <a:latin typeface="Cambria Math"/>
                            </a:rPr>
                          </m:ctrlPr>
                        </m:sSupPr>
                        <m:e>
                          <m:r>
                            <a:rPr sz="2400">
                              <a:latin typeface="Cambria Math"/>
                            </a:rPr>
                            <m:t>‖</m:t>
                          </m:r>
                          <m:r>
                            <a:rPr sz="2400">
                              <a:latin typeface="Cambria Math"/>
                            </a:rPr>
                            <m:t>𝐰</m:t>
                          </m:r>
                          <m:r>
                            <a:rPr sz="2400">
                              <a:latin typeface="Cambria Math"/>
                            </a:rPr>
                            <m:t>‖</m:t>
                          </m:r>
                        </m:e>
                        <m:sup>
                          <m:r>
                            <a:rPr sz="2400">
                              <a:latin typeface="Cambria Math"/>
                            </a:rPr>
                            <m:t>2</m:t>
                          </m:r>
                        </m:sup>
                      </m:sSup>
                    </m:oMath>
                  </m:oMathPara>
                </a14:m>
                <a:endParaRPr dirty="0"/>
              </a:p>
              <a:p>
                <a:pPr>
                  <a:spcBef>
                    <a:spcPts val="1400"/>
                  </a:spcBef>
                </a:pPr>
                <a14:m>
                  <m:oMathPara xmlns:m="http://schemas.openxmlformats.org/officeDocument/2006/math">
                    <m:oMath>
                      <m:r>
                        <m:rPr>
                          <m:nor/>
                        </m:rPr>
                        <a:rPr sz="2400" i="0">
                          <a:latin typeface="Cambria Math"/>
                        </a:rPr>
                        <m:t>s.t.   </m:t>
                      </m:r>
                      <m:sSub>
                        <m:sSubPr>
                          <m:ctrlPr>
                            <a:rPr sz="2400">
                              <a:latin typeface="Cambria Math"/>
                            </a:rPr>
                          </m:ctrlPr>
                        </m:sSubPr>
                        <m:e>
                          <m:r>
                            <a:rPr sz="2400">
                              <a:latin typeface="Cambria Math"/>
                            </a:rPr>
                            <m:t>𝑦</m:t>
                          </m:r>
                        </m:e>
                        <m:sub>
                          <m:r>
                            <a:rPr sz="2400">
                              <a:latin typeface="Cambria Math"/>
                            </a:rPr>
                            <m:t>𝑖</m:t>
                          </m:r>
                        </m:sub>
                      </m:sSub>
                      <m:r>
                        <a:rPr sz="2400">
                          <a:latin typeface="Cambria Math"/>
                        </a:rPr>
                        <m:t>(</m:t>
                      </m:r>
                      <m:sSup>
                        <m:sSupPr>
                          <m:ctrlPr>
                            <a:rPr sz="2400">
                              <a:latin typeface="Cambria Math"/>
                            </a:rPr>
                          </m:ctrlPr>
                        </m:sSupPr>
                        <m:e>
                          <m:r>
                            <a:rPr sz="2400">
                              <a:latin typeface="Cambria Math"/>
                            </a:rPr>
                            <m:t>𝐰</m:t>
                          </m:r>
                        </m:e>
                        <m:sup>
                          <m:r>
                            <a:rPr sz="2400">
                              <a:latin typeface="Cambria Math"/>
                            </a:rPr>
                            <m:t>⊤</m:t>
                          </m:r>
                        </m:sup>
                      </m:sSup>
                      <m:sSub>
                        <m:sSubPr>
                          <m:ctrlPr>
                            <a:rPr sz="2400">
                              <a:latin typeface="Cambria Math"/>
                            </a:rPr>
                          </m:ctrlPr>
                        </m:sSubPr>
                        <m:e>
                          <m:r>
                            <a:rPr sz="2400">
                              <a:latin typeface="Cambria Math"/>
                            </a:rPr>
                            <m:t>𝐱</m:t>
                          </m:r>
                        </m:e>
                        <m:sub>
                          <m:r>
                            <a:rPr sz="2400">
                              <a:latin typeface="Cambria Math"/>
                            </a:rPr>
                            <m:t>𝑖</m:t>
                          </m:r>
                        </m:sub>
                      </m:sSub>
                      <m:r>
                        <a:rPr sz="2400">
                          <a:latin typeface="Cambria Math"/>
                        </a:rPr>
                        <m:t> + </m:t>
                      </m:r>
                      <m:r>
                        <a:rPr sz="2400">
                          <a:latin typeface="Cambria Math"/>
                        </a:rPr>
                        <m:t>𝑏</m:t>
                      </m:r>
                      <m:r>
                        <a:rPr sz="2400">
                          <a:latin typeface="Cambria Math"/>
                        </a:rPr>
                        <m:t>) ≥ 1,    </m:t>
                      </m:r>
                      <m:r>
                        <a:rPr sz="2400">
                          <a:latin typeface="Cambria Math"/>
                        </a:rPr>
                        <m:t>𝑖</m:t>
                      </m:r>
                      <m:r>
                        <a:rPr sz="2400">
                          <a:latin typeface="Cambria Math"/>
                        </a:rPr>
                        <m:t> = 1, …, </m:t>
                      </m:r>
                      <m:r>
                        <a:rPr sz="2400">
                          <a:latin typeface="Cambria Math"/>
                        </a:rPr>
                        <m:t>𝑛</m:t>
                      </m:r>
                    </m:oMath>
                  </m:oMathPara>
                </a14:m>
                <a:endParaRPr dirty="0"/>
              </a:p>
            </p:txBody>
          </p:sp>
        </mc:Choice>
        <mc:Fallback xmlns="">
          <p:sp>
            <p:nvSpPr>
              <p:cNvPr id="6" name="Typeset SVM optimization equations"/>
              <p:cNvSpPr txBox="1">
                <a:spLocks noRot="1" noChangeAspect="1" noMove="1" noResize="1" noEditPoints="1" noAdjustHandles="1" noChangeArrowheads="1" noChangeShapeType="1" noTextEdit="1"/>
              </p:cNvSpPr>
              <p:nvPr/>
            </p:nvSpPr>
            <p:spPr>
              <a:xfrm>
                <a:off x="2650239" y="3752038"/>
                <a:ext cx="7915623" cy="256032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58035065"/>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02" name="Sometimes you’ll see the term “hinge loss” in connection with SV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Sometimes you’ll see the term “hinge loss” in connection with SVM</a:t>
                </a:r>
              </a:p>
              <a:p>
                <a:pPr>
                  <a:defRPr sz="2233" cap="none" spc="0">
                    <a:solidFill>
                      <a:schemeClr val="tx1"/>
                    </a:solidFill>
                    <a:latin typeface="+mn-lt"/>
                  </a:defRPr>
                </a:pPr>
                <a:r>
                  <a:rPr lang="en-US" sz="2233" cap="none" spc="0">
                    <a:solidFill>
                      <a:schemeClr val="tx1"/>
                    </a:solidFill>
                    <a:latin typeface="+mn-lt"/>
                  </a:rPr>
                  <a:t>For and individual data point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𝑖</m:t>
                        </m:r>
                      </m:sub>
                    </m:sSub>
                  </m:oMath>
                </a14:m>
                <a:r>
                  <a:rPr lang="en-US" sz="2233" cap="none" spc="0">
                    <a:solidFill>
                      <a:schemeClr val="tx1"/>
                    </a:solidFill>
                    <a:latin typeface="+mn-lt"/>
                  </a:rPr>
                  <a:t> with label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oMath>
                </a14:m>
                <a:r>
                  <a:rPr lang="en-US" sz="2233" cap="none" spc="0">
                    <a:solidFill>
                      <a:schemeClr val="tx1"/>
                    </a:solidFill>
                    <a:latin typeface="+mn-lt"/>
                  </a:rPr>
                  <a:t>, the hinge loss is</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m:rPr>
                        <m:nor/>
                      </m:rPr>
                      <a:rPr lang="en-US" sz="2233" i="1" cap="none" spc="0">
                        <a:solidFill>
                          <a:schemeClr val="tx1"/>
                        </a:solidFill>
                        <a:latin typeface="Cambria Math"/>
                      </a:rPr>
                      <m:t>loss</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𝐱</m:t>
                        </m:r>
                      </m:e>
                      <m:sub>
                        <m:r>
                          <a:rPr sz="2233" i="1" cap="none" spc="0">
                            <a:solidFill>
                              <a:schemeClr val="tx1"/>
                            </a:solidFill>
                            <a:latin typeface="Cambria Math"/>
                          </a:rPr>
                          <m:t>𝐢</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𝐰</m:t>
                    </m:r>
                    <m:r>
                      <a:rPr sz="2233" i="1" cap="none" spc="0">
                        <a:solidFill>
                          <a:schemeClr val="tx1"/>
                        </a:solidFill>
                        <a:latin typeface="Cambria Math"/>
                      </a:rPr>
                      <m:t>,</m:t>
                    </m:r>
                    <m:r>
                      <a:rPr sz="2233" i="1" cap="none" spc="0">
                        <a:solidFill>
                          <a:schemeClr val="tx1"/>
                        </a:solidFill>
                        <a:latin typeface="Cambria Math"/>
                      </a:rPr>
                      <m:t>𝑏</m:t>
                    </m:r>
                    <m:r>
                      <a:rPr sz="2233" i="1" cap="none" spc="0">
                        <a:solidFill>
                          <a:schemeClr val="tx1"/>
                        </a:solidFill>
                        <a:latin typeface="Cambria Math"/>
                      </a:rPr>
                      <m:t>)=</m:t>
                    </m:r>
                    <m:r>
                      <a:rPr sz="2233" i="1" cap="none" spc="0">
                        <a:solidFill>
                          <a:schemeClr val="tx1"/>
                        </a:solidFill>
                        <a:latin typeface="Cambria Math"/>
                      </a:rPr>
                      <m:t>𝑚𝑎𝑥</m:t>
                    </m:r>
                    <m:r>
                      <a:rPr sz="2233" i="1" cap="none" spc="0">
                        <a:solidFill>
                          <a:schemeClr val="tx1"/>
                        </a:solidFill>
                        <a:latin typeface="Cambria Math"/>
                      </a:rPr>
                      <m:t>(0,1−</m:t>
                    </m:r>
                    <m:sSub>
                      <m:sSubPr>
                        <m:ctrlPr>
                          <a:rPr sz="2233" i="1" cap="none" spc="0">
                            <a:solidFill>
                              <a:schemeClr val="tx1"/>
                            </a:solidFill>
                            <a:latin typeface="Cambria Math"/>
                          </a:rPr>
                        </m:ctrlPr>
                      </m:sSubPr>
                      <m:e>
                        <m:r>
                          <a:rPr sz="2233" i="1" cap="none" spc="0">
                            <a:solidFill>
                              <a:schemeClr val="tx1"/>
                            </a:solidFill>
                            <a:latin typeface="Cambria Math"/>
                          </a:rPr>
                          <m:t>𝑦</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𝐰</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𝐱</m:t>
                        </m:r>
                      </m:e>
                      <m:sub>
                        <m:r>
                          <a:rPr sz="2233" i="1" cap="none" spc="0">
                            <a:solidFill>
                              <a:schemeClr val="tx1"/>
                            </a:solidFill>
                            <a:latin typeface="Cambria Math"/>
                          </a:rPr>
                          <m:t>𝐢</m:t>
                        </m:r>
                      </m:sub>
                    </m:sSub>
                    <m:r>
                      <a:rPr sz="2233" i="1" cap="none" spc="0">
                        <a:solidFill>
                          <a:schemeClr val="tx1"/>
                        </a:solidFill>
                        <a:latin typeface="Cambria Math"/>
                      </a:rPr>
                      <m:t>+</m:t>
                    </m:r>
                    <m:r>
                      <a:rPr sz="2233" i="1" cap="none" spc="0">
                        <a:solidFill>
                          <a:schemeClr val="tx1"/>
                        </a:solidFill>
                        <a:latin typeface="Cambria Math"/>
                      </a:rPr>
                      <m:t>𝑏</m:t>
                    </m:r>
                    <m:r>
                      <a:rPr sz="2233" i="1" cap="none" spc="0">
                        <a:solidFill>
                          <a:schemeClr val="tx1"/>
                        </a:solidFill>
                        <a:latin typeface="Cambria Math"/>
                      </a:rPr>
                      <m:t>))</m:t>
                    </m:r>
                  </m:oMath>
                </a14:m>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Adding C times the summed hinge loss to ½‖w‖² gives the soft-margin objective.</a:t>
                </a:r>
              </a:p>
            </p:txBody>
          </p:sp>
        </mc:Choice>
        <mc:Fallback xmlns="">
          <p:sp>
            <p:nvSpPr>
              <p:cNvPr id="202" name="Sometimes you’ll see the term “hinge loss” in connection with SVM…"/>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a:stretch>
              </a:blipFill>
            </p:spPr>
            <p:txBody>
              <a:bodyPr/>
              <a:lstStyle/>
              <a:p>
                <a:r>
                  <a:rPr lang="en-US">
                    <a:noFill/>
                  </a:rPr>
                  <a:t> </a:t>
                </a:r>
              </a:p>
            </p:txBody>
          </p:sp>
        </mc:Fallback>
      </mc:AlternateContent>
      <p:sp>
        <p:nvSpPr>
          <p:cNvPr id="203" name="Hinge Los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46C73F-195E-1E46-A718-E8B96AD8AAD3}"/>
              </a:ext>
            </a:extLst>
          </p:cNvPr>
          <p:cNvPicPr>
            <a:picLocks noChangeAspect="1"/>
          </p:cNvPicPr>
          <p:nvPr/>
        </p:nvPicPr>
        <p:blipFill>
          <a:blip r:embed="rId2"/>
          <a:stretch>
            <a:fillRect/>
          </a:stretch>
        </p:blipFill>
        <p:spPr>
          <a:xfrm>
            <a:off x="2259584" y="2901696"/>
            <a:ext cx="8485632" cy="4773168"/>
          </a:xfrm>
          <a:prstGeom prst="rect">
            <a:avLst/>
          </a:prstGeom>
        </p:spPr>
      </p:pic>
      <p:sp>
        <p:nvSpPr>
          <p:cNvPr id="3" name="Title 2">
            <a:extLst>
              <a:ext uri="{FF2B5EF4-FFF2-40B4-BE49-F238E27FC236}">
                <a16:creationId xmlns:a16="http://schemas.microsoft.com/office/drawing/2014/main" id="{940DA915-3410-2764-EBD6-B7BEEBCA65D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extLst>
      <p:ext uri="{BB962C8B-B14F-4D97-AF65-F5344CB8AC3E}">
        <p14:creationId xmlns:p14="http://schemas.microsoft.com/office/powerpoint/2010/main" val="3882946397"/>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tential problems">
            <a:extLst>
              <a:ext uri="{FF2B5EF4-FFF2-40B4-BE49-F238E27FC236}">
                <a16:creationId xmlns:a16="http://schemas.microsoft.com/office/drawing/2014/main" id="{8696AC20-D196-A9EC-DF27-303564D25498}"/>
              </a:ext>
            </a:extLst>
          </p:cNvPr>
          <p:cNvSpPr txBox="1">
            <a:spLocks/>
          </p:cNvSpPr>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hangingPunct="1">
              <a:buNone/>
              <a:defRPr sz="4267" b="0" cap="all" spc="32">
                <a:solidFill>
                  <a:schemeClr val="tx1"/>
                </a:solidFill>
                <a:latin typeface="+mj-lt"/>
              </a:defRPr>
            </a:pPr>
            <a:r>
              <a:rPr lang="en-US" sz="4267" b="0" cap="all" spc="32">
                <a:solidFill>
                  <a:schemeClr val="tx1"/>
                </a:solidFill>
                <a:latin typeface="+mj-lt"/>
              </a:rPr>
              <a:t>SVM Decision Process</a:t>
            </a:r>
          </a:p>
        </p:txBody>
      </p:sp>
      <mc:AlternateContent xmlns:mc="http://schemas.openxmlformats.org/markup-compatibility/2006" xmlns:a14="http://schemas.microsoft.com/office/drawing/2010/main">
        <mc:Choice Requires="a14">
          <p:sp>
            <p:nvSpPr>
              <p:cNvPr id="4" name="Rectangle 1">
                <a:extLst>
                  <a:ext uri="{FF2B5EF4-FFF2-40B4-BE49-F238E27FC236}">
                    <a16:creationId xmlns:a16="http://schemas.microsoft.com/office/drawing/2014/main" id="{1BDC3182-1715-B400-B5B5-B524E21C631B}"/>
                  </a:ext>
                </a:extLst>
              </p:cNvPr>
              <p:cNvSpPr>
                <a:spLocks noGrp="1" noChangeArrowheads="1"/>
              </p:cNvSpPr>
              <p:nvPr>
                <p:ph type="body" idx="1"/>
              </p:nvPr>
            </p:nvSpPr>
            <p:spPr bwMode="auto">
              <a:xfrm>
                <a:off x="747345" y="3132010"/>
                <a:ext cx="9838729" cy="5166360"/>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1" i="0" u="none" strike="noStrike" cap="none" spc="0" normalizeH="0" baseline="0">
                    <a:ln>
                      <a:noFill/>
                    </a:ln>
                    <a:solidFill>
                      <a:schemeClr val="tx1"/>
                    </a:solidFill>
                    <a:effectLst/>
                    <a:latin typeface="+mn-lt"/>
                  </a:rPr>
                  <a:t>After training</a:t>
                </a:r>
                <a:r>
                  <a:rPr kumimoji="0" lang="en-US" altLang="en-US" sz="2233" b="0" i="0" u="none" strike="noStrike" cap="none" spc="0" normalizeH="0" baseline="0">
                    <a:ln>
                      <a:noFill/>
                    </a:ln>
                    <a:solidFill>
                      <a:schemeClr val="tx1"/>
                    </a:solidFill>
                    <a:effectLst/>
                    <a:latin typeface="+mn-lt"/>
                  </a:rPr>
                  <a:t>, we obtain:</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Weight vector </a:t>
                </a:r>
                <a:r>
                  <a:rPr kumimoji="0" lang="en-US" altLang="en-US" sz="2233" b="1" i="0" u="none" strike="noStrike" cap="none" spc="0" normalizeH="0" baseline="0">
                    <a:ln>
                      <a:noFill/>
                    </a:ln>
                    <a:solidFill>
                      <a:schemeClr val="tx1"/>
                    </a:solidFill>
                    <a:effectLst/>
                    <a:latin typeface="+mn-lt"/>
                  </a:rPr>
                  <a:t>w</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Intercept </a:t>
                </a:r>
                <a:r>
                  <a:rPr kumimoji="0" lang="en-US" altLang="en-US" sz="2233" b="1" i="0" u="none" strike="noStrike" cap="none" spc="0" normalizeH="0" baseline="0">
                    <a:ln>
                      <a:noFill/>
                    </a:ln>
                    <a:solidFill>
                      <a:schemeClr val="tx1"/>
                    </a:solidFill>
                    <a:effectLst/>
                    <a:latin typeface="+mn-lt"/>
                  </a:rPr>
                  <a:t>b</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For a new data point </a:t>
                </a:r>
                <a:r>
                  <a:rPr kumimoji="0" lang="en-US" altLang="en-US" sz="2233" b="1" i="0" u="none" strike="noStrike" cap="none" spc="0" normalizeH="0" baseline="0">
                    <a:ln>
                      <a:noFill/>
                    </a:ln>
                    <a:solidFill>
                      <a:schemeClr val="tx1"/>
                    </a:solidFill>
                    <a:effectLst/>
                    <a:latin typeface="+mn-lt"/>
                  </a:rPr>
                  <a:t>x</a:t>
                </a:r>
                <a:r>
                  <a:rPr kumimoji="0" lang="en-US" altLang="en-US" sz="2233" b="0" i="0" u="none" strike="noStrike" cap="none" spc="0" normalizeH="0" baseline="0">
                    <a:ln>
                      <a:noFill/>
                    </a:ln>
                    <a:solidFill>
                      <a:schemeClr val="tx1"/>
                    </a:solidFill>
                    <a:effectLst/>
                    <a:latin typeface="+mn-lt"/>
                  </a:rPr>
                  <a:t>, compute the </a:t>
                </a:r>
                <a:r>
                  <a:rPr kumimoji="0" lang="en-US" altLang="en-US" sz="2233" b="1" i="0" u="none" strike="noStrike" cap="none" spc="0" normalizeH="0" baseline="0">
                    <a:ln>
                      <a:noFill/>
                    </a:ln>
                    <a:solidFill>
                      <a:schemeClr val="tx1"/>
                    </a:solidFill>
                    <a:effectLst/>
                    <a:latin typeface="+mn-lt"/>
                  </a:rPr>
                  <a:t>decision score</a:t>
                </a:r>
                <a:r>
                  <a:rPr kumimoji="0" lang="en-US" altLang="en-US" sz="22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2233" cap="none" spc="0">
                    <a:solidFill>
                      <a:schemeClr val="tx1"/>
                    </a:solidFill>
                    <a:latin typeface="+mn-lt"/>
                  </a:defRPr>
                </a:pPr>
                <a14:m>
                  <m:oMathPara xmlns:m="http://schemas.openxmlformats.org/officeDocument/2006/math">
                    <m:o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err="1" smtClean="0">
                          <a:ln>
                            <a:noFill/>
                          </a:ln>
                          <a:solidFill>
                            <a:schemeClr val="tx1"/>
                          </a:solidFill>
                          <a:effectLst/>
                          <a:latin typeface="Cambria Math"/>
                        </a:rPr>
                        <m:t>𝑤</m:t>
                      </m:r>
                      <m:r>
                        <a:rPr kumimoji="0" lang="en-US" altLang="en-US" sz="2233" b="0" i="1" u="none" strike="noStrike" cap="none" spc="0" normalizeH="0" baseline="0" dirty="0" err="1" smtClean="0">
                          <a:ln>
                            <a:noFill/>
                          </a:ln>
                          <a:solidFill>
                            <a:schemeClr val="tx1"/>
                          </a:solidFill>
                          <a:effectLst/>
                          <a:latin typeface="Cambria Math"/>
                        </a:rPr>
                        <m:t>⋅</m:t>
                      </m:r>
                      <m:r>
                        <a:rPr kumimoji="0" lang="en-US" altLang="en-US" sz="2233" b="0" i="1" u="none" strike="noStrike" cap="none" spc="0" normalizeH="0" baseline="0" dirty="0" err="1" smtClean="0">
                          <a:ln>
                            <a:noFill/>
                          </a:ln>
                          <a:solidFill>
                            <a:schemeClr val="tx1"/>
                          </a:solidFill>
                          <a:effectLst/>
                          <a:latin typeface="Cambria Math"/>
                        </a:rPr>
                        <m:t>𝑥</m:t>
                      </m:r>
                      <m:r>
                        <a:rPr kumimoji="0" lang="en-US" altLang="en-US" sz="2233" b="0" i="1" u="none" strike="noStrike" cap="none" spc="0" normalizeH="0" baseline="0" dirty="0" err="1"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𝑏</m:t>
                      </m:r>
                    </m:oMath>
                  </m:oMathPara>
                </a14:m>
                <a:endParaRPr kumimoji="0" lang="en-US" altLang="en-US" sz="2233"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700" cap="none" spc="0">
                    <a:solidFill>
                      <a:schemeClr val="tx1"/>
                    </a:solidFill>
                    <a:latin typeface="+mn-lt"/>
                  </a:defRPr>
                </a:pPr>
                <a:endParaRPr kumimoji="0" lang="en-US" altLang="en-US" sz="700"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prediction is based on the </a:t>
                </a:r>
                <a:r>
                  <a:rPr kumimoji="0" lang="en-US" altLang="en-US" sz="2233" b="1" i="0" u="none" strike="noStrike" cap="none" spc="0" normalizeH="0" baseline="0">
                    <a:ln>
                      <a:noFill/>
                    </a:ln>
                    <a:solidFill>
                      <a:schemeClr val="tx1"/>
                    </a:solidFill>
                    <a:effectLst/>
                    <a:latin typeface="+mn-lt"/>
                  </a:rPr>
                  <a:t>sign</a:t>
                </a:r>
                <a:r>
                  <a:rPr kumimoji="0" lang="en-US" altLang="en-US" sz="22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If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&gt;0</m:t>
                    </m:r>
                  </m:oMath>
                </a14:m>
                <a:r>
                  <a:rPr kumimoji="0" lang="en-US" altLang="en-US" sz="2233" b="0" i="0" u="none" strike="noStrike" cap="none" spc="0" normalizeH="0" baseline="0">
                    <a:ln>
                      <a:noFill/>
                    </a:ln>
                    <a:solidFill>
                      <a:schemeClr val="tx1"/>
                    </a:solidFill>
                    <a:effectLst/>
                    <a:latin typeface="+mn-lt"/>
                  </a:rPr>
                  <a:t> → predict </a:t>
                </a:r>
                <a:r>
                  <a:rPr kumimoji="0" lang="en-US" altLang="en-US" sz="2233" b="1" i="0" u="none" strike="noStrike" cap="none" spc="0" normalizeH="0" baseline="0">
                    <a:ln>
                      <a:noFill/>
                    </a:ln>
                    <a:solidFill>
                      <a:schemeClr val="tx1"/>
                    </a:solidFill>
                    <a:effectLst/>
                    <a:latin typeface="+mn-lt"/>
                  </a:rPr>
                  <a:t>+1</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If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𝑓</m:t>
                    </m:r>
                    <m:d>
                      <m:dPr>
                        <m:ctrlPr>
                          <a:rPr kumimoji="0" lang="en-US" altLang="en-US" sz="2233" b="0" i="1" u="none" strike="noStrike" cap="none" spc="0" normalizeH="0" baseline="0" dirty="0" smtClean="0">
                            <a:ln>
                              <a:noFill/>
                            </a:ln>
                            <a:solidFill>
                              <a:schemeClr val="tx1"/>
                            </a:solidFill>
                            <a:effectLst/>
                            <a:latin typeface="Cambria Math"/>
                          </a:rPr>
                        </m:ctrlPr>
                      </m:dPr>
                      <m:e>
                        <m:r>
                          <a:rPr kumimoji="0" lang="en-US" altLang="en-US" sz="2233" b="0" i="1" u="none" strike="noStrike" cap="none" spc="0" normalizeH="0" baseline="0" dirty="0" smtClean="0">
                            <a:ln>
                              <a:noFill/>
                            </a:ln>
                            <a:solidFill>
                              <a:schemeClr val="tx1"/>
                            </a:solidFill>
                            <a:effectLst/>
                            <a:latin typeface="Cambria Math"/>
                          </a:rPr>
                          <m:t>𝑥</m:t>
                        </m:r>
                      </m:e>
                    </m:d>
                    <m:r>
                      <a:rPr kumimoji="0" lang="en-US" altLang="en-US" sz="2233" b="0" i="1" u="none" strike="noStrike" cap="none" spc="0" normalizeH="0" baseline="0" dirty="0" smtClean="0">
                        <a:ln>
                          <a:noFill/>
                        </a:ln>
                        <a:solidFill>
                          <a:schemeClr val="tx1"/>
                        </a:solidFill>
                        <a:effectLst/>
                        <a:latin typeface="Cambria Math"/>
                      </a:rPr>
                      <m:t>&lt;0</m:t>
                    </m:r>
                  </m:oMath>
                </a14:m>
                <a:r>
                  <a:rPr kumimoji="0" lang="en-US" altLang="en-US" sz="2233" b="0" i="0" u="none" strike="noStrike" cap="none" spc="0" normalizeH="0" baseline="0">
                    <a:ln>
                      <a:noFill/>
                    </a:ln>
                    <a:solidFill>
                      <a:schemeClr val="tx1"/>
                    </a:solidFill>
                    <a:effectLst/>
                    <a:latin typeface="+mn-lt"/>
                  </a:rPr>
                  <a:t> → predict </a:t>
                </a:r>
                <a:r>
                  <a:rPr kumimoji="0" lang="en-US" altLang="en-US" sz="2233" b="1" i="0" u="none" strike="noStrike" cap="none" spc="0" normalizeH="0" baseline="0">
                    <a:ln>
                      <a:noFill/>
                    </a:ln>
                    <a:solidFill>
                      <a:schemeClr val="tx1"/>
                    </a:solidFill>
                    <a:effectLst/>
                    <a:latin typeface="+mn-lt"/>
                  </a:rPr>
                  <a:t>−1</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Geometric interpretation:</a:t>
                </a:r>
              </a:p>
              <a:p>
                <a:pPr marL="243848" marR="0" lvl="0" indent="-243848" algn="l" rtl="0" eaLnBrk="0" fontAlgn="base" hangingPunct="0">
                  <a:lnSpc>
                    <a:spcPct val="100000"/>
                  </a:lnSpc>
                  <a:spcBef>
                    <a:spcPct val="0"/>
                  </a:spcBef>
                  <a:spcAft>
                    <a:spcPct val="0"/>
                  </a:spcAft>
                  <a:buSzTx/>
                  <a:buChar char="•"/>
                  <a:defRPr sz="700" cap="none" spc="0">
                    <a:solidFill>
                      <a:schemeClr val="tx1"/>
                    </a:solidFill>
                    <a:latin typeface="+mn-lt"/>
                  </a:defRPr>
                </a:pPr>
                <a:endParaRPr kumimoji="0" lang="en-US" altLang="en-US" sz="7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hyperplane </a:t>
                </a:r>
                <a14:m>
                  <m:oMath xmlns:m="http://schemas.openxmlformats.org/officeDocument/2006/math">
                    <m:r>
                      <a:rPr kumimoji="0" lang="en-US" altLang="en-US" sz="2233" b="0" i="1" u="none" strike="noStrike" cap="none" spc="0" normalizeH="0" baseline="0" dirty="0" smtClean="0">
                        <a:ln>
                          <a:noFill/>
                        </a:ln>
                        <a:solidFill>
                          <a:schemeClr val="tx1"/>
                        </a:solidFill>
                        <a:effectLst/>
                        <a:latin typeface="Cambria Math"/>
                      </a:rPr>
                      <m:t>𝑤</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𝑥</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𝑏</m:t>
                    </m:r>
                    <m:r>
                      <a:rPr kumimoji="0" lang="en-US" altLang="en-US" sz="2233" b="0" i="1" u="none" strike="noStrike" cap="none" spc="0" normalizeH="0" baseline="0" dirty="0" smtClean="0">
                        <a:ln>
                          <a:noFill/>
                        </a:ln>
                        <a:solidFill>
                          <a:schemeClr val="tx1"/>
                        </a:solidFill>
                        <a:effectLst/>
                        <a:latin typeface="Cambria Math"/>
                      </a:rPr>
                      <m:t>=0</m:t>
                    </m:r>
                  </m:oMath>
                </a14:m>
                <a:r>
                  <a:rPr kumimoji="0" lang="en-US" altLang="en-US" sz="2233" b="0" i="0" u="none" strike="noStrike" cap="none" spc="0" normalizeH="0" baseline="0">
                    <a:ln>
                      <a:noFill/>
                    </a:ln>
                    <a:solidFill>
                      <a:schemeClr val="tx1"/>
                    </a:solidFill>
                    <a:effectLst/>
                    <a:latin typeface="+mn-lt"/>
                  </a:rPr>
                  <a:t> is the decision boundary</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The sign tells which </a:t>
                </a:r>
                <a:r>
                  <a:rPr kumimoji="0" lang="en-US" altLang="en-US" sz="2233" b="1" i="0" u="none" strike="noStrike" cap="none" spc="0" normalizeH="0" baseline="0">
                    <a:ln>
                      <a:noFill/>
                    </a:ln>
                    <a:solidFill>
                      <a:schemeClr val="tx1"/>
                    </a:solidFill>
                    <a:effectLst/>
                    <a:latin typeface="+mn-lt"/>
                  </a:rPr>
                  <a:t>side of the boundary</a:t>
                </a:r>
                <a:r>
                  <a:rPr kumimoji="0" lang="en-US" altLang="en-US" sz="2233" b="0" i="0" u="none" strike="noStrike" cap="none" spc="0" normalizeH="0" baseline="0">
                    <a:ln>
                      <a:noFill/>
                    </a:ln>
                    <a:solidFill>
                      <a:schemeClr val="tx1"/>
                    </a:solidFill>
                    <a:effectLst/>
                    <a:latin typeface="+mn-lt"/>
                  </a:rPr>
                  <a:t> the point lies on</a:t>
                </a: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14:m>
                  <m:oMath xmlns:m="http://schemas.openxmlformats.org/officeDocument/2006/math">
                    <m:r>
                      <a:rPr lang="en-US" altLang="en-US" sz="2233" i="1" cap="none" spc="0" dirty="0">
                        <a:solidFill>
                          <a:schemeClr val="tx1"/>
                        </a:solidFill>
                        <a:latin typeface="Cambria Math"/>
                      </a:rPr>
                      <m:t>|</m:t>
                    </m:r>
                    <m:r>
                      <a:rPr kumimoji="0" lang="en-US" altLang="en-US" sz="2233" b="0" i="1" u="none" strike="noStrike" cap="none" spc="0" normalizeH="0" baseline="0" dirty="0" smtClean="0">
                        <a:ln>
                          <a:noFill/>
                        </a:ln>
                        <a:solidFill>
                          <a:schemeClr val="tx1"/>
                        </a:solidFill>
                        <a:effectLst/>
                        <a:latin typeface="Cambria Math"/>
                      </a:rPr>
                      <m:t>𝑓</m:t>
                    </m:r>
                    <m:r>
                      <a:rPr kumimoji="0" lang="en-US" altLang="en-US" sz="2233" b="0" i="1" u="none" strike="noStrike" cap="none" spc="0" normalizeH="0" baseline="0" dirty="0" smtClean="0">
                        <a:ln>
                          <a:noFill/>
                        </a:ln>
                        <a:solidFill>
                          <a:schemeClr val="tx1"/>
                        </a:solidFill>
                        <a:effectLst/>
                        <a:latin typeface="Cambria Math"/>
                      </a:rPr>
                      <m:t>(</m:t>
                    </m:r>
                    <m:r>
                      <a:rPr kumimoji="0" lang="en-US" altLang="en-US" sz="2233" b="0" i="1" u="none" strike="noStrike" cap="none" spc="0" normalizeH="0" baseline="0" dirty="0" smtClean="0">
                        <a:ln>
                          <a:noFill/>
                        </a:ln>
                        <a:solidFill>
                          <a:schemeClr val="tx1"/>
                        </a:solidFill>
                        <a:effectLst/>
                        <a:latin typeface="Cambria Math"/>
                      </a:rPr>
                      <m:t>𝑥</m:t>
                    </m:r>
                    <m:r>
                      <a:rPr kumimoji="0" lang="en-US" altLang="en-US" sz="2233" b="0" i="1" u="none" strike="noStrike" cap="none" spc="0" normalizeH="0" baseline="0" dirty="0" smtClean="0">
                        <a:ln>
                          <a:noFill/>
                        </a:ln>
                        <a:solidFill>
                          <a:schemeClr val="tx1"/>
                        </a:solidFill>
                        <a:effectLst/>
                        <a:latin typeface="Cambria Math"/>
                      </a:rPr>
                      <m:t>)|</m:t>
                    </m:r>
                  </m:oMath>
                </a14:m>
                <a:r>
                  <a:rPr kumimoji="0" lang="en-US" altLang="en-US" sz="2233" b="0" i="0" u="none" strike="noStrike" cap="none" spc="0" normalizeH="0" baseline="0">
                    <a:ln>
                      <a:noFill/>
                    </a:ln>
                    <a:solidFill>
                      <a:schemeClr val="tx1"/>
                    </a:solidFill>
                    <a:effectLst/>
                    <a:latin typeface="+mn-lt"/>
                  </a:rPr>
                  <a:t> is proportional to the </a:t>
                </a:r>
                <a:r>
                  <a:rPr kumimoji="0" lang="en-US" altLang="en-US" sz="2233" b="1" i="0" u="none" strike="noStrike" cap="none" spc="0" normalizeH="0" baseline="0">
                    <a:ln>
                      <a:noFill/>
                    </a:ln>
                    <a:solidFill>
                      <a:schemeClr val="tx1"/>
                    </a:solidFill>
                    <a:effectLst/>
                    <a:latin typeface="+mn-lt"/>
                  </a:rPr>
                  <a:t>distance from the boundary</a:t>
                </a:r>
                <a:endParaRPr kumimoji="0" lang="en-US" altLang="en-US" sz="22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233" cap="none" spc="0">
                    <a:solidFill>
                      <a:schemeClr val="tx1"/>
                    </a:solidFill>
                    <a:latin typeface="+mn-lt"/>
                  </a:defRPr>
                </a:pPr>
                <a:r>
                  <a:rPr kumimoji="0" lang="en-US" altLang="en-US" sz="2233" b="0" i="0" u="none" strike="noStrike" cap="none" spc="0" normalizeH="0" baseline="0">
                    <a:ln>
                      <a:noFill/>
                    </a:ln>
                    <a:solidFill>
                      <a:schemeClr val="tx1"/>
                    </a:solidFill>
                    <a:effectLst/>
                    <a:latin typeface="+mn-lt"/>
                  </a:rPr>
                  <a:t>Larger magnitude → more confident prediction</a:t>
                </a:r>
              </a:p>
            </p:txBody>
          </p:sp>
        </mc:Choice>
        <mc:Fallback xmlns="">
          <p:sp>
            <p:nvSpPr>
              <p:cNvPr id="4" name="Rectangle 1">
                <a:extLst>
                  <a:ext uri="{FF2B5EF4-FFF2-40B4-BE49-F238E27FC236}">
                    <a16:creationId xmlns:a16="http://schemas.microsoft.com/office/drawing/2014/main" id="{1BDC3182-1715-B400-B5B5-B524E21C631B}"/>
                  </a:ext>
                </a:extLst>
              </p:cNvPr>
              <p:cNvSpPr>
                <a:spLocks noGrp="1" noRot="1" noChangeAspect="1" noMove="1" noResize="1" noEditPoints="1" noAdjustHandles="1" noChangeArrowheads="1" noChangeShapeType="1" noTextEdit="1"/>
              </p:cNvSpPr>
              <p:nvPr>
                <p:ph type="body" idx="1"/>
              </p:nvPr>
            </p:nvSpPr>
            <p:spPr bwMode="auto">
              <a:xfrm>
                <a:off x="747345" y="3132010"/>
                <a:ext cx="9838729" cy="5166360"/>
              </a:xfrm>
              <a:prstGeom prst="rect">
                <a:avLst/>
              </a:prstGeom>
              <a:blipFill>
                <a:blip r:embed="rId2"/>
                <a:stretch>
                  <a:fillRect l="-743" t="-826" b="-236"/>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76985665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What if a separating hyperplane does not exist?…"/>
          <p:cNvSpPr txBox="1">
            <a:spLocks noGrp="1"/>
          </p:cNvSpPr>
          <p:nvPr>
            <p:ph type="body" sz="quarter" idx="1"/>
          </p:nvPr>
        </p:nvSpPr>
        <p:spPr>
          <a:xfrm>
            <a:off x="747345" y="3160167"/>
            <a:ext cx="11403503" cy="1496481"/>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What if a separating hyperplane does not exist?</a:t>
            </a:r>
          </a:p>
          <a:p>
            <a:pPr>
              <a:defRPr sz="2233" cap="none" spc="0">
                <a:solidFill>
                  <a:schemeClr val="tx1"/>
                </a:solidFill>
                <a:latin typeface="+mn-lt"/>
              </a:defRPr>
            </a:pPr>
            <a:r>
              <a:rPr lang="en-US" sz="2233" cap="none" spc="0">
                <a:solidFill>
                  <a:schemeClr val="tx1"/>
                </a:solidFill>
                <a:latin typeface="+mn-lt"/>
              </a:rPr>
              <a:t>Then there is no maximum marginal classifier </a:t>
            </a:r>
          </a:p>
        </p:txBody>
      </p:sp>
      <p:sp>
        <p:nvSpPr>
          <p:cNvPr id="206"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07" name="pasted-image.tiff" descr="pasted-image.tiff"/>
          <p:cNvPicPr>
            <a:picLocks noChangeAspect="1"/>
          </p:cNvPicPr>
          <p:nvPr/>
        </p:nvPicPr>
        <p:blipFill>
          <a:blip r:embed="rId2"/>
          <a:stretch>
            <a:fillRect/>
          </a:stretch>
        </p:blipFill>
        <p:spPr>
          <a:xfrm>
            <a:off x="4089298" y="4819110"/>
            <a:ext cx="4826203" cy="3650590"/>
          </a:xfrm>
          <a:prstGeom prst="rect">
            <a:avLst/>
          </a:prstGeom>
          <a:ln w="12700">
            <a:miter lim="400000"/>
          </a:ln>
        </p:spPr>
      </p:pic>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Soft Margin SVM"/>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Soft Margin SVM</a:t>
            </a:r>
          </a:p>
        </p:txBody>
      </p:sp>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In this case, a natural generalization would be to allow some points to spill into the “street” or margin"/>
          <p:cNvSpPr txBox="1">
            <a:spLocks noGrp="1"/>
          </p:cNvSpPr>
          <p:nvPr>
            <p:ph type="body" sz="half" idx="1"/>
          </p:nvPr>
        </p:nvSpPr>
        <p:spPr>
          <a:xfrm>
            <a:off x="747345" y="3160167"/>
            <a:ext cx="11403503" cy="16739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In this case, a natural generalization would be to allow some points to spill into the “street” or margin</a:t>
            </a:r>
          </a:p>
        </p:txBody>
      </p:sp>
      <p:sp>
        <p:nvSpPr>
          <p:cNvPr id="212"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13" name="pasted-image.tiff" descr="pasted-image.tiff"/>
          <p:cNvPicPr>
            <a:picLocks noChangeAspect="1"/>
          </p:cNvPicPr>
          <p:nvPr/>
        </p:nvPicPr>
        <p:blipFill>
          <a:blip r:embed="rId2"/>
          <a:stretch>
            <a:fillRect/>
          </a:stretch>
        </p:blipFill>
        <p:spPr>
          <a:xfrm>
            <a:off x="4089298" y="4817633"/>
            <a:ext cx="4826203" cy="3650590"/>
          </a:xfrm>
          <a:prstGeom prst="rect">
            <a:avLst/>
          </a:prstGeom>
          <a:ln w="12700">
            <a:miter lim="400000"/>
          </a:ln>
        </p:spPr>
      </p:pic>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Hyper-parameter C controls the width of the road and the amount of over-spill that is allowed…"/>
          <p:cNvSpPr txBox="1">
            <a:spLocks noGrp="1"/>
          </p:cNvSpPr>
          <p:nvPr>
            <p:ph type="body" sz="half" idx="1"/>
          </p:nvPr>
        </p:nvSpPr>
        <p:spPr>
          <a:xfrm>
            <a:off x="747345" y="3160167"/>
            <a:ext cx="11403503" cy="26613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Hyper-parameter </a:t>
            </a:r>
            <a:r>
              <a:rPr lang="en-US" sz="2233" b="1" cap="none" spc="0">
                <a:solidFill>
                  <a:schemeClr val="tx1"/>
                </a:solidFill>
                <a:latin typeface="Courier New"/>
              </a:rPr>
              <a:t>C</a:t>
            </a:r>
            <a:r>
              <a:rPr lang="en-US" sz="2233" cap="none" spc="0">
                <a:solidFill>
                  <a:schemeClr val="tx1"/>
                </a:solidFill>
                <a:latin typeface="+mn-lt"/>
              </a:rPr>
              <a:t> controls the width of the road and the amount of over-spill that is allowed</a:t>
            </a:r>
          </a:p>
          <a:p>
            <a:pPr>
              <a:defRPr sz="2233" cap="none" spc="0">
                <a:solidFill>
                  <a:schemeClr val="tx1"/>
                </a:solidFill>
                <a:latin typeface="+mn-lt"/>
              </a:defRPr>
            </a:pPr>
            <a:r>
              <a:rPr lang="en-US" sz="2233" cap="none" spc="0">
                <a:solidFill>
                  <a:schemeClr val="tx1"/>
                </a:solidFill>
                <a:latin typeface="+mn-lt"/>
              </a:rPr>
              <a:t>When </a:t>
            </a:r>
            <a:r>
              <a:rPr lang="en-US" sz="2233" b="1" cap="none" spc="0">
                <a:solidFill>
                  <a:schemeClr val="tx1"/>
                </a:solidFill>
                <a:latin typeface="Courier New"/>
              </a:rPr>
              <a:t>C</a:t>
            </a:r>
            <a:r>
              <a:rPr lang="en-US" sz="2233" cap="none" spc="0">
                <a:solidFill>
                  <a:schemeClr val="tx1"/>
                </a:solidFill>
                <a:latin typeface="+mn-lt"/>
              </a:rPr>
              <a:t> is small, the margin is wider and more points are involved in determining the direction of the boundary </a:t>
            </a:r>
          </a:p>
        </p:txBody>
      </p:sp>
      <p:sp>
        <p:nvSpPr>
          <p:cNvPr id="216" name="Support Vector Classifier  (Soft margi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Classifier  (Soft margin) </a:t>
            </a:r>
          </a:p>
        </p:txBody>
      </p:sp>
      <p:pic>
        <p:nvPicPr>
          <p:cNvPr id="217" name="pasted-image.tiff" descr="pasted-image.tiff"/>
          <p:cNvPicPr>
            <a:picLocks noChangeAspect="1"/>
          </p:cNvPicPr>
          <p:nvPr/>
        </p:nvPicPr>
        <p:blipFill>
          <a:blip r:embed="rId2"/>
          <a:stretch>
            <a:fillRect/>
          </a:stretch>
        </p:blipFill>
        <p:spPr>
          <a:xfrm>
            <a:off x="8773340" y="6147600"/>
            <a:ext cx="3120208" cy="2360158"/>
          </a:xfrm>
          <a:prstGeom prst="rect">
            <a:avLst/>
          </a:prstGeom>
          <a:ln w="12700">
            <a:miter lim="400000"/>
          </a:ln>
        </p:spPr>
      </p:pic>
      <p:pic>
        <p:nvPicPr>
          <p:cNvPr id="218" name="pasted-image.tiff" descr="pasted-image.tiff"/>
          <p:cNvPicPr>
            <a:picLocks noChangeAspect="1"/>
          </p:cNvPicPr>
          <p:nvPr/>
        </p:nvPicPr>
        <p:blipFill>
          <a:blip r:embed="rId3"/>
          <a:stretch>
            <a:fillRect/>
          </a:stretch>
        </p:blipFill>
        <p:spPr>
          <a:xfrm>
            <a:off x="4961901" y="6147600"/>
            <a:ext cx="3120208" cy="2360158"/>
          </a:xfrm>
          <a:prstGeom prst="rect">
            <a:avLst/>
          </a:prstGeom>
          <a:ln w="12700">
            <a:miter lim="400000"/>
          </a:ln>
        </p:spPr>
      </p:pic>
      <p:sp>
        <p:nvSpPr>
          <p:cNvPr id="219" name="C=1"/>
          <p:cNvSpPr txBox="1"/>
          <p:nvPr/>
        </p:nvSpPr>
        <p:spPr>
          <a:xfrm>
            <a:off x="5535781"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a:t>
            </a:r>
          </a:p>
        </p:txBody>
      </p:sp>
      <p:sp>
        <p:nvSpPr>
          <p:cNvPr id="220" name="C=10"/>
          <p:cNvSpPr txBox="1"/>
          <p:nvPr/>
        </p:nvSpPr>
        <p:spPr>
          <a:xfrm>
            <a:off x="9472904"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C=10</a:t>
            </a:r>
          </a:p>
        </p:txBody>
      </p:sp>
      <p:pic>
        <p:nvPicPr>
          <p:cNvPr id="221" name="pasted-image.tiff" descr="pasted-image.tiff"/>
          <p:cNvPicPr>
            <a:picLocks noChangeAspect="1"/>
          </p:cNvPicPr>
          <p:nvPr/>
        </p:nvPicPr>
        <p:blipFill>
          <a:blip r:embed="rId4"/>
          <a:stretch>
            <a:fillRect/>
          </a:stretch>
        </p:blipFill>
        <p:spPr>
          <a:xfrm>
            <a:off x="1111252" y="6147600"/>
            <a:ext cx="3120208" cy="2360158"/>
          </a:xfrm>
          <a:prstGeom prst="rect">
            <a:avLst/>
          </a:prstGeom>
          <a:ln w="12700">
            <a:miter lim="400000"/>
          </a:ln>
        </p:spPr>
      </p:pic>
      <p:sp>
        <p:nvSpPr>
          <p:cNvPr id="222" name="C=0.1"/>
          <p:cNvSpPr txBox="1"/>
          <p:nvPr/>
        </p:nvSpPr>
        <p:spPr>
          <a:xfrm>
            <a:off x="1653418"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C=0.1</a:t>
            </a:r>
          </a:p>
        </p:txBody>
      </p:sp>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E1D5A62B-6880-8289-9C7A-888AE45923C2}"/>
                  </a:ext>
                </a:extLst>
              </p14:cNvPr>
              <p14:cNvContentPartPr/>
              <p14:nvPr/>
            </p14:nvContentPartPr>
            <p14:xfrm>
              <a:off x="7066800" y="7026480"/>
              <a:ext cx="360" cy="360"/>
            </p14:xfrm>
          </p:contentPart>
        </mc:Choice>
        <mc:Fallback xmlns="">
          <p:pic>
            <p:nvPicPr>
              <p:cNvPr id="2" name="Ink 1">
                <a:extLst>
                  <a:ext uri="{FF2B5EF4-FFF2-40B4-BE49-F238E27FC236}">
                    <a16:creationId xmlns:a16="http://schemas.microsoft.com/office/drawing/2014/main" id="{E1D5A62B-6880-8289-9C7A-888AE45923C2}"/>
                  </a:ext>
                </a:extLst>
              </p:cNvPr>
              <p:cNvPicPr/>
              <p:nvPr/>
            </p:nvPicPr>
            <p:blipFill>
              <a:blip r:embed="rId6"/>
              <a:stretch>
                <a:fillRect/>
              </a:stretch>
            </p:blipFill>
            <p:spPr>
              <a:xfrm>
                <a:off x="7057440" y="7017120"/>
                <a:ext cx="19080" cy="19080"/>
              </a:xfrm>
              <a:prstGeom prst="rect">
                <a:avLst/>
              </a:prstGeom>
            </p:spPr>
          </p:pic>
        </mc:Fallback>
      </mc:AlternateContent>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24" name="Slack variable definitions and interpretations"/>
              <p:cNvSpPr txBox="1">
                <a:spLocks noGrp="1"/>
              </p:cNvSpPr>
              <p:nvPr>
                <p:ph type="body" idx="1"/>
              </p:nvPr>
            </p:nvSpPr>
            <p:spPr>
              <a:xfrm>
                <a:off x="600979" y="3160167"/>
                <a:ext cx="11556471"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lnSpc>
                    <a:spcPct val="110000"/>
                  </a:lnSpc>
                  <a:spcBef>
                    <a:spcPts val="1067"/>
                  </a:spcBef>
                  <a:defRPr sz="2233" cap="none" spc="0">
                    <a:solidFill>
                      <a:schemeClr val="tx1"/>
                    </a:solidFill>
                    <a:latin typeface="+mn-lt"/>
                  </a:defRPr>
                </a:pPr>
                <a:r>
                  <a:rPr lang="en-US" sz="2233">
                    <a:solidFill>
                      <a:schemeClr val="tx1"/>
                    </a:solidFill>
                    <a:latin typeface="+mn-lt"/>
                  </a:rPr>
                  <a:t>Let </a:t>
                </a:r>
                <a14:m>
                  <m:oMath xmlns:m="http://schemas.openxmlformats.org/officeDocument/2006/math">
                    <m:r>
                      <a:rPr sz="2233">
                        <a:solidFill>
                          <a:schemeClr val="tx1"/>
                        </a:solidFill>
                        <a:latin typeface="Cambria Math"/>
                      </a:rPr>
                      <m:t>𝑓</m:t>
                    </m:r>
                    <m:r>
                      <a:rPr sz="2233">
                        <a:solidFill>
                          <a:schemeClr val="tx1"/>
                        </a:solidFill>
                        <a:latin typeface="Cambria Math"/>
                      </a:rPr>
                      <m:t>(</m:t>
                    </m:r>
                    <m:r>
                      <a:rPr sz="2233">
                        <a:solidFill>
                          <a:schemeClr val="tx1"/>
                        </a:solidFill>
                        <a:latin typeface="Cambria Math"/>
                      </a:rPr>
                      <m:t>𝐱</m:t>
                    </m:r>
                    <m:r>
                      <a:rPr sz="2233">
                        <a:solidFill>
                          <a:schemeClr val="tx1"/>
                        </a:solidFill>
                        <a:latin typeface="Cambria Math"/>
                      </a:rPr>
                      <m:t>) = </m:t>
                    </m:r>
                    <m:sSup>
                      <m:sSupPr>
                        <m:ctrlPr>
                          <a:rPr sz="2233">
                            <a:solidFill>
                              <a:schemeClr val="tx1"/>
                            </a:solidFill>
                            <a:latin typeface="Cambria Math"/>
                          </a:rPr>
                        </m:ctrlPr>
                      </m:sSupPr>
                      <m:e>
                        <m:r>
                          <a:rPr sz="2233">
                            <a:solidFill>
                              <a:schemeClr val="tx1"/>
                            </a:solidFill>
                            <a:latin typeface="Cambria Math"/>
                          </a:rPr>
                          <m:t>𝐰</m:t>
                        </m:r>
                      </m:e>
                      <m:sup>
                        <m:r>
                          <a:rPr sz="2233">
                            <a:solidFill>
                              <a:schemeClr val="tx1"/>
                            </a:solidFill>
                            <a:latin typeface="Cambria Math"/>
                          </a:rPr>
                          <m:t>⊤</m:t>
                        </m:r>
                      </m:sup>
                    </m:sSup>
                    <m:r>
                      <a:rPr sz="2233">
                        <a:solidFill>
                          <a:schemeClr val="tx1"/>
                        </a:solidFill>
                        <a:latin typeface="Cambria Math"/>
                      </a:rPr>
                      <m:t>𝐱</m:t>
                    </m:r>
                    <m:r>
                      <a:rPr sz="2233">
                        <a:solidFill>
                          <a:schemeClr val="tx1"/>
                        </a:solidFill>
                        <a:latin typeface="Cambria Math"/>
                      </a:rPr>
                      <m:t> + </m:t>
                    </m:r>
                    <m:r>
                      <a:rPr sz="2233">
                        <a:solidFill>
                          <a:schemeClr val="tx1"/>
                        </a:solidFill>
                        <a:latin typeface="Cambria Math"/>
                      </a:rPr>
                      <m:t>𝑏</m:t>
                    </m:r>
                  </m:oMath>
                </a14:m>
                <a:r>
                  <a:rPr lang="en-US" sz="2233">
                    <a:solidFill>
                      <a:schemeClr val="tx1"/>
                    </a:solidFill>
                    <a:latin typeface="+mn-lt"/>
                  </a:rPr>
                  <a:t>. The margin edges satisfy </a:t>
                </a:r>
                <a14:m>
                  <m:oMath xmlns:m="http://schemas.openxmlformats.org/officeDocument/2006/math">
                    <m:r>
                      <a:rPr sz="2233">
                        <a:solidFill>
                          <a:schemeClr val="tx1"/>
                        </a:solidFill>
                        <a:latin typeface="Cambria Math"/>
                      </a:rPr>
                      <m:t>𝑓</m:t>
                    </m:r>
                    <m:r>
                      <a:rPr sz="2233">
                        <a:solidFill>
                          <a:schemeClr val="tx1"/>
                        </a:solidFill>
                        <a:latin typeface="Cambria Math"/>
                      </a:rPr>
                      <m:t>(</m:t>
                    </m:r>
                    <m:r>
                      <a:rPr sz="2233">
                        <a:solidFill>
                          <a:schemeClr val="tx1"/>
                        </a:solidFill>
                        <a:latin typeface="Cambria Math"/>
                      </a:rPr>
                      <m:t>𝐱</m:t>
                    </m:r>
                    <m:r>
                      <a:rPr sz="2233">
                        <a:solidFill>
                          <a:schemeClr val="tx1"/>
                        </a:solidFill>
                        <a:latin typeface="Cambria Math"/>
                      </a:rPr>
                      <m:t>) = ±1</m:t>
                    </m:r>
                  </m:oMath>
                </a14:m>
                <a:r>
                  <a:rPr lang="en-US" sz="2233">
                    <a:solidFill>
                      <a:schemeClr val="tx1"/>
                    </a:solidFill>
                    <a:latin typeface="+mn-lt"/>
                  </a:rPr>
                  <a:t>.</a:t>
                </a:r>
              </a:p>
              <a:p>
                <a:pPr>
                  <a:lnSpc>
                    <a:spcPct val="110000"/>
                  </a:lnSpc>
                  <a:spcBef>
                    <a:spcPts val="1067"/>
                  </a:spcBef>
                  <a:defRPr sz="2233" cap="none" spc="0">
                    <a:solidFill>
                      <a:schemeClr val="tx1"/>
                    </a:solidFill>
                    <a:latin typeface="+mn-lt"/>
                  </a:defRPr>
                </a:pPr>
                <a:r>
                  <a:rPr lang="en-US" sz="2233">
                    <a:solidFill>
                      <a:schemeClr val="tx1"/>
                    </a:solidFill>
                    <a:latin typeface="+mn-lt"/>
                  </a:rPr>
                  <a:t>At the soft-margin optimum (</a:t>
                </a:r>
                <a14:m>
                  <m:oMath xmlns:m="http://schemas.openxmlformats.org/officeDocument/2006/math">
                    <m:r>
                      <a:rPr sz="2233">
                        <a:solidFill>
                          <a:schemeClr val="tx1"/>
                        </a:solidFill>
                        <a:latin typeface="Cambria Math"/>
                      </a:rPr>
                      <m:t>𝐶</m:t>
                    </m:r>
                    <m:r>
                      <a:rPr sz="2233">
                        <a:solidFill>
                          <a:schemeClr val="tx1"/>
                        </a:solidFill>
                        <a:latin typeface="Cambria Math"/>
                      </a:rPr>
                      <m:t> &gt; 0</m:t>
                    </m:r>
                  </m:oMath>
                </a14:m>
                <a:r>
                  <a:rPr lang="en-US" sz="2233">
                    <a:solidFill>
                      <a:schemeClr val="tx1"/>
                    </a:solidFill>
                    <a:latin typeface="+mn-lt"/>
                  </a:rPr>
                  <a:t>), </a:t>
                </a: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m:t>
                    </m:r>
                    <m:r>
                      <m:rPr>
                        <m:nor/>
                      </m:rPr>
                      <a:rPr lang="en-US" sz="2233" i="0">
                        <a:solidFill>
                          <a:schemeClr val="tx1"/>
                        </a:solidFill>
                        <a:latin typeface="Cambria Math"/>
                      </a:rPr>
                      <m:t>max</m:t>
                    </m:r>
                    <m:r>
                      <a:rPr sz="2233">
                        <a:solidFill>
                          <a:schemeClr val="tx1"/>
                        </a:solidFill>
                        <a:latin typeface="Cambria Math"/>
                      </a:rPr>
                      <m:t>(0, 1 − </m:t>
                    </m:r>
                    <m:sSub>
                      <m:sSubPr>
                        <m:ctrlPr>
                          <a:rPr sz="2233">
                            <a:solidFill>
                              <a:schemeClr val="tx1"/>
                            </a:solidFill>
                            <a:latin typeface="Cambria Math"/>
                          </a:rPr>
                        </m:ctrlPr>
                      </m:sSubPr>
                      <m:e>
                        <m:r>
                          <a:rPr sz="2233">
                            <a:solidFill>
                              <a:schemeClr val="tx1"/>
                            </a:solidFill>
                            <a:latin typeface="Cambria Math"/>
                          </a:rPr>
                          <m:t>𝑦</m:t>
                        </m:r>
                      </m:e>
                      <m:sub>
                        <m:r>
                          <a:rPr sz="2233">
                            <a:solidFill>
                              <a:schemeClr val="tx1"/>
                            </a:solidFill>
                            <a:latin typeface="Cambria Math"/>
                          </a:rPr>
                          <m:t>𝑖</m:t>
                        </m:r>
                      </m:sub>
                    </m:sSub>
                    <m:r>
                      <a:rPr sz="2233">
                        <a:solidFill>
                          <a:schemeClr val="tx1"/>
                        </a:solidFill>
                        <a:latin typeface="Cambria Math"/>
                      </a:rPr>
                      <m:t>𝑓</m:t>
                    </m:r>
                    <m:r>
                      <a:rPr sz="2233">
                        <a:solidFill>
                          <a:schemeClr val="tx1"/>
                        </a:solidFill>
                        <a:latin typeface="Cambria Math"/>
                      </a:rPr>
                      <m:t>(</m:t>
                    </m:r>
                    <m:sSub>
                      <m:sSubPr>
                        <m:ctrlPr>
                          <a:rPr sz="2233">
                            <a:solidFill>
                              <a:schemeClr val="tx1"/>
                            </a:solidFill>
                            <a:latin typeface="Cambria Math"/>
                          </a:rPr>
                        </m:ctrlPr>
                      </m:sSubPr>
                      <m:e>
                        <m:r>
                          <a:rPr sz="2233">
                            <a:solidFill>
                              <a:schemeClr val="tx1"/>
                            </a:solidFill>
                            <a:latin typeface="Cambria Math"/>
                          </a:rPr>
                          <m:t>𝐱</m:t>
                        </m:r>
                      </m:e>
                      <m:sub>
                        <m:r>
                          <a:rPr sz="2233">
                            <a:solidFill>
                              <a:schemeClr val="tx1"/>
                            </a:solidFill>
                            <a:latin typeface="Cambria Math"/>
                          </a:rPr>
                          <m:t>𝑖</m:t>
                        </m:r>
                      </m:sub>
                    </m:sSub>
                    <m:r>
                      <a:rPr sz="2233">
                        <a:solidFill>
                          <a:schemeClr val="tx1"/>
                        </a:solidFill>
                        <a:latin typeface="Cambria Math"/>
                      </a:rPr>
                      <m:t>))</m:t>
                    </m:r>
                  </m:oMath>
                </a14:m>
                <a:r>
                  <a:rPr lang="en-US" sz="2233">
                    <a:solidFill>
                      <a:schemeClr val="tx1"/>
                    </a:solidFill>
                    <a:latin typeface="+mn-lt"/>
                  </a:rPr>
                  <a:t>. This is the hinge loss.</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0</m:t>
                    </m:r>
                  </m:oMath>
                </a14:m>
                <a:r>
                  <a:rPr lang="en-US" sz="2233">
                    <a:solidFill>
                      <a:schemeClr val="tx1"/>
                    </a:solidFill>
                    <a:latin typeface="+mn-lt"/>
                  </a:rPr>
                  <a:t>: on or beyond the correct margin edge.</a:t>
                </a:r>
              </a:p>
              <a:p>
                <a:pPr>
                  <a:lnSpc>
                    <a:spcPct val="110000"/>
                  </a:lnSpc>
                  <a:spcBef>
                    <a:spcPts val="1067"/>
                  </a:spcBef>
                  <a:defRPr sz="2233" cap="none" spc="0">
                    <a:solidFill>
                      <a:schemeClr val="tx1"/>
                    </a:solidFill>
                    <a:latin typeface="+mn-lt"/>
                  </a:defRPr>
                </a:pPr>
                <a14:m>
                  <m:oMath xmlns:m="http://schemas.openxmlformats.org/officeDocument/2006/math">
                    <m:r>
                      <a:rPr sz="2233">
                        <a:solidFill>
                          <a:schemeClr val="tx1"/>
                        </a:solidFill>
                        <a:latin typeface="Cambria Math"/>
                      </a:rPr>
                      <m:t>0 &lt; </m:t>
                    </m:r>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&lt; 1</m:t>
                    </m:r>
                  </m:oMath>
                </a14:m>
                <a:r>
                  <a:rPr lang="en-US" sz="2233">
                    <a:solidFill>
                      <a:schemeClr val="tx1"/>
                    </a:solidFill>
                    <a:latin typeface="+mn-lt"/>
                  </a:rPr>
                  <a:t>: inside the margin, but correctly classified.</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 1</m:t>
                    </m:r>
                  </m:oMath>
                </a14:m>
                <a:r>
                  <a:rPr lang="en-US" sz="2233">
                    <a:solidFill>
                      <a:schemeClr val="tx1"/>
                    </a:solidFill>
                    <a:latin typeface="+mn-lt"/>
                  </a:rPr>
                  <a:t>: on the decision boundary.</a:t>
                </a:r>
              </a:p>
              <a:p>
                <a:pPr>
                  <a:lnSpc>
                    <a:spcPct val="110000"/>
                  </a:lnSpc>
                  <a:spcBef>
                    <a:spcPts val="1067"/>
                  </a:spcBef>
                  <a:defRPr sz="2233" cap="none" spc="0">
                    <a:solidFill>
                      <a:schemeClr val="tx1"/>
                    </a:solidFill>
                    <a:latin typeface="+mn-lt"/>
                  </a:defRPr>
                </a:pP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&gt; 1</m:t>
                    </m:r>
                  </m:oMath>
                </a14:m>
                <a:r>
                  <a:rPr lang="en-US" sz="2233">
                    <a:solidFill>
                      <a:schemeClr val="tx1"/>
                    </a:solidFill>
                    <a:latin typeface="+mn-lt"/>
                  </a:rPr>
                  <a:t>: on the wrong side of the boundary (misclassified).</a:t>
                </a:r>
              </a:p>
              <a:p>
                <a:pPr>
                  <a:lnSpc>
                    <a:spcPct val="110000"/>
                  </a:lnSpc>
                  <a:spcBef>
                    <a:spcPts val="1067"/>
                  </a:spcBef>
                  <a:defRPr sz="2233" cap="none" spc="0">
                    <a:solidFill>
                      <a:schemeClr val="tx1"/>
                    </a:solidFill>
                    <a:latin typeface="+mn-lt"/>
                  </a:defRPr>
                </a:pPr>
                <a:r>
                  <a:rPr lang="en-US" sz="2233">
                    <a:solidFill>
                      <a:schemeClr val="tx1"/>
                    </a:solidFill>
                    <a:latin typeface="+mn-lt"/>
                  </a:rPr>
                  <a:t>For </a:t>
                </a:r>
                <a14:m>
                  <m:oMath xmlns:m="http://schemas.openxmlformats.org/officeDocument/2006/math">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r>
                      <a:rPr sz="2233">
                        <a:solidFill>
                          <a:schemeClr val="tx1"/>
                        </a:solidFill>
                        <a:latin typeface="Cambria Math"/>
                      </a:rPr>
                      <m:t> &gt; 0</m:t>
                    </m:r>
                  </m:oMath>
                </a14:m>
                <a:r>
                  <a:rPr lang="en-US" sz="2233">
                    <a:solidFill>
                      <a:schemeClr val="tx1"/>
                    </a:solidFill>
                    <a:latin typeface="+mn-lt"/>
                  </a:rPr>
                  <a:t> and </a:t>
                </a:r>
                <a14:m>
                  <m:oMath xmlns:m="http://schemas.openxmlformats.org/officeDocument/2006/math">
                    <m:r>
                      <a:rPr sz="2233">
                        <a:solidFill>
                          <a:schemeClr val="tx1"/>
                        </a:solidFill>
                        <a:latin typeface="Cambria Math"/>
                      </a:rPr>
                      <m:t>𝐰</m:t>
                    </m:r>
                    <m:r>
                      <a:rPr sz="2233">
                        <a:solidFill>
                          <a:schemeClr val="tx1"/>
                        </a:solidFill>
                        <a:latin typeface="Cambria Math"/>
                      </a:rPr>
                      <m:t> ≠ 0</m:t>
                    </m:r>
                  </m:oMath>
                </a14:m>
                <a:r>
                  <a:rPr lang="en-US" sz="2233">
                    <a:solidFill>
                      <a:schemeClr val="tx1"/>
                    </a:solidFill>
                    <a:latin typeface="+mn-lt"/>
                  </a:rPr>
                  <a:t>, the distance to the correct margin edge is </a:t>
                </a:r>
                <a14:m>
                  <m:oMath xmlns:m="http://schemas.openxmlformats.org/officeDocument/2006/math">
                    <m:f>
                      <m:fPr>
                        <m:ctrlPr>
                          <a:rPr sz="2233" i="1">
                            <a:solidFill>
                              <a:schemeClr val="tx1"/>
                            </a:solidFill>
                            <a:latin typeface="Cambria Math"/>
                          </a:rPr>
                        </m:ctrlPr>
                      </m:fPr>
                      <m:num>
                        <m:sSub>
                          <m:sSubPr>
                            <m:ctrlPr>
                              <a:rPr sz="2233">
                                <a:solidFill>
                                  <a:schemeClr val="tx1"/>
                                </a:solidFill>
                                <a:latin typeface="Cambria Math"/>
                              </a:rPr>
                            </m:ctrlPr>
                          </m:sSubPr>
                          <m:e>
                            <m:r>
                              <a:rPr sz="2233">
                                <a:solidFill>
                                  <a:schemeClr val="tx1"/>
                                </a:solidFill>
                                <a:latin typeface="Cambria Math"/>
                              </a:rPr>
                              <m:t>𝜉</m:t>
                            </m:r>
                          </m:e>
                          <m:sub>
                            <m:r>
                              <a:rPr sz="2233">
                                <a:solidFill>
                                  <a:schemeClr val="tx1"/>
                                </a:solidFill>
                                <a:latin typeface="Cambria Math"/>
                              </a:rPr>
                              <m:t>𝑖</m:t>
                            </m:r>
                          </m:sub>
                        </m:sSub>
                      </m:num>
                      <m:den>
                        <m:r>
                          <a:rPr sz="2233">
                            <a:solidFill>
                              <a:schemeClr val="tx1"/>
                            </a:solidFill>
                            <a:latin typeface="Cambria Math"/>
                          </a:rPr>
                          <m:t>‖</m:t>
                        </m:r>
                        <m:r>
                          <a:rPr sz="2233">
                            <a:solidFill>
                              <a:schemeClr val="tx1"/>
                            </a:solidFill>
                            <a:latin typeface="Cambria Math"/>
                          </a:rPr>
                          <m:t>𝐰</m:t>
                        </m:r>
                        <m:r>
                          <a:rPr sz="2233">
                            <a:solidFill>
                              <a:schemeClr val="tx1"/>
                            </a:solidFill>
                            <a:latin typeface="Cambria Math"/>
                          </a:rPr>
                          <m:t>‖</m:t>
                        </m:r>
                      </m:den>
                    </m:f>
                  </m:oMath>
                </a14:m>
                <a:r>
                  <a:rPr lang="en-US" sz="2233">
                    <a:solidFill>
                      <a:schemeClr val="tx1"/>
                    </a:solidFill>
                    <a:latin typeface="+mn-lt"/>
                  </a:rPr>
                  <a:t>. Slack itself uses score units, not distance units.</a:t>
                </a:r>
              </a:p>
            </p:txBody>
          </p:sp>
        </mc:Choice>
        <mc:Fallback xmlns="">
          <p:sp>
            <p:nvSpPr>
              <p:cNvPr id="224" name="Slack variable definitions and interpretations"/>
              <p:cNvSpPr txBox="1">
                <a:spLocks noGrp="1" noRot="1" noChangeAspect="1" noMove="1" noResize="1" noEditPoints="1" noAdjustHandles="1" noChangeArrowheads="1" noChangeShapeType="1" noTextEdit="1"/>
              </p:cNvSpPr>
              <p:nvPr>
                <p:ph type="body" idx="1"/>
              </p:nvPr>
            </p:nvSpPr>
            <p:spPr>
              <a:xfrm>
                <a:off x="600979" y="3160167"/>
                <a:ext cx="11556471" cy="5317814"/>
              </a:xfrm>
              <a:prstGeom prst="rect">
                <a:avLst/>
              </a:prstGeom>
              <a:blipFill>
                <a:blip r:embed="rId3"/>
                <a:stretch>
                  <a:fillRect l="-633" t="-687" r="-1003"/>
                </a:stretch>
              </a:blipFill>
            </p:spPr>
            <p:txBody>
              <a:bodyPr/>
              <a:lstStyle/>
              <a:p>
                <a:r>
                  <a:rPr lang="en-US">
                    <a:noFill/>
                  </a:rPr>
                  <a:t> </a:t>
                </a:r>
              </a:p>
            </p:txBody>
          </p:sp>
        </mc:Fallback>
      </mc:AlternateContent>
      <p:sp>
        <p:nvSpPr>
          <p:cNvPr id="225" name="Slack Variab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Slack Variables</a:t>
            </a: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6DD1C5-1827-E971-D503-4F5C0C4C608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Optimization w/ Slack Variables</a:t>
            </a:r>
          </a:p>
        </p:txBody>
      </p:sp>
      <p:pic>
        <p:nvPicPr>
          <p:cNvPr id="5" name="Picture 4">
            <a:extLst>
              <a:ext uri="{FF2B5EF4-FFF2-40B4-BE49-F238E27FC236}">
                <a16:creationId xmlns:a16="http://schemas.microsoft.com/office/drawing/2014/main" id="{7024FE20-8934-DB36-7F1F-7B57C7E0F2C5}"/>
              </a:ext>
            </a:extLst>
          </p:cNvPr>
          <p:cNvPicPr>
            <a:picLocks noChangeAspect="1"/>
          </p:cNvPicPr>
          <p:nvPr/>
        </p:nvPicPr>
        <p:blipFill>
          <a:blip r:embed="rId3"/>
          <a:stretch>
            <a:fillRect/>
          </a:stretch>
        </p:blipFill>
        <p:spPr>
          <a:xfrm>
            <a:off x="2756266" y="3898670"/>
            <a:ext cx="7492267" cy="2632239"/>
          </a:xfrm>
          <a:prstGeom prst="rect">
            <a:avLst/>
          </a:prstGeom>
        </p:spPr>
      </p:pic>
      <p:sp>
        <p:nvSpPr>
          <p:cNvPr id="6" name="TextBox 5"/>
          <p:cNvSpPr txBox="1"/>
          <p:nvPr/>
        </p:nvSpPr>
        <p:spPr>
          <a:xfrm>
            <a:off x="744002" y="3157024"/>
            <a:ext cx="11399510" cy="445496"/>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C &gt; 0 sets the cost of a margin violation.</a:t>
            </a:r>
          </a:p>
        </p:txBody>
      </p:sp>
      <p:sp>
        <p:nvSpPr>
          <p:cNvPr id="7" name="TextBox 6"/>
          <p:cNvSpPr txBox="1"/>
          <p:nvPr/>
        </p:nvSpPr>
        <p:spPr>
          <a:xfrm>
            <a:off x="744002" y="6752810"/>
            <a:ext cx="11399510" cy="922812"/>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The first term favors a wider margin: total street width = 2/‖w‖.</a:t>
            </a:r>
            <a:br/>
            <a:r>
              <a:rPr lang="en-US" sz="2233" cap="none" spc="0">
                <a:solidFill>
                  <a:schemeClr val="tx1"/>
                </a:solidFill>
                <a:latin typeface="+mn-lt"/>
              </a:rPr>
              <a:t>The second term charges C for each unit of slack.</a:t>
            </a:r>
          </a:p>
        </p:txBody>
      </p:sp>
    </p:spTree>
    <p:extLst>
      <p:ext uri="{BB962C8B-B14F-4D97-AF65-F5344CB8AC3E}">
        <p14:creationId xmlns:p14="http://schemas.microsoft.com/office/powerpoint/2010/main" val="216369794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The points inside the margin (or points wrongly misclassified, if any) are the support vectors…"/>
          <p:cNvSpPr txBox="1">
            <a:spLocks noGrp="1"/>
          </p:cNvSpPr>
          <p:nvPr>
            <p:ph type="body" idx="1"/>
          </p:nvPr>
        </p:nvSpPr>
        <p:spPr>
          <a:xfrm>
            <a:off x="747345" y="3160167"/>
            <a:ext cx="11403503" cy="5087512"/>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a:solidFill>
                  <a:schemeClr val="tx1"/>
                </a:solidFill>
                <a:latin typeface="+mn-lt"/>
              </a:rPr>
              <a:t>The points inside the margin (or points wrongly misclassified, if any) are the support vectors</a:t>
            </a:r>
          </a:p>
          <a:p>
            <a:pPr marL="731543" lvl="1" indent="-243848">
              <a:defRPr sz="2020" cap="none" spc="0">
                <a:solidFill>
                  <a:schemeClr val="tx1"/>
                </a:solidFill>
                <a:latin typeface="+mn-lt"/>
              </a:defRPr>
            </a:pPr>
            <a:r>
              <a:rPr lang="en-US" sz="2020" cap="none" spc="0">
                <a:solidFill>
                  <a:schemeClr val="tx1"/>
                </a:solidFill>
                <a:latin typeface="+mn-lt"/>
              </a:rPr>
              <a:t>Only these points effect the decision boundary</a:t>
            </a:r>
            <a:br>
              <a:rPr lang="en-US" sz="2020" cap="none" spc="0">
                <a:solidFill>
                  <a:schemeClr val="tx1"/>
                </a:solidFill>
                <a:latin typeface="+mn-lt"/>
              </a:rPr>
            </a:br>
            <a:r>
              <a:rPr lang="en-US" sz="2020" cap="none" spc="0">
                <a:solidFill>
                  <a:schemeClr val="tx1"/>
                </a:solidFill>
                <a:latin typeface="+mn-lt"/>
              </a:rPr>
              <a:t>(the support vectors influence the position and orientation of the hyperplane)  </a:t>
            </a:r>
          </a:p>
          <a:p>
            <a:pPr marL="731543" lvl="1" indent="-243848">
              <a:defRPr sz="2020" cap="none" spc="0">
                <a:solidFill>
                  <a:schemeClr val="tx1"/>
                </a:solidFill>
                <a:latin typeface="+mn-lt"/>
              </a:defRPr>
            </a:pPr>
            <a:r>
              <a:rPr lang="en-US" sz="2020" cap="none" spc="0">
                <a:solidFill>
                  <a:schemeClr val="tx1"/>
                </a:solidFill>
                <a:latin typeface="+mn-lt"/>
              </a:rPr>
              <a:t>When C is small, the street is wider so more points are involved in making the decision boundary </a:t>
            </a:r>
          </a:p>
          <a:p>
            <a:pPr marL="1219238" lvl="2" indent="-243848">
              <a:defRPr sz="1807" cap="none" spc="0">
                <a:solidFill>
                  <a:schemeClr val="tx1"/>
                </a:solidFill>
                <a:latin typeface="+mn-lt"/>
              </a:defRPr>
            </a:pPr>
            <a:r>
              <a:rPr lang="en-US" sz="1807" cap="none" spc="0">
                <a:solidFill>
                  <a:schemeClr val="tx1"/>
                </a:solidFill>
                <a:latin typeface="+mn-lt"/>
              </a:rPr>
              <a:t>Can lead to underfitting</a:t>
            </a:r>
          </a:p>
          <a:p>
            <a:pPr marL="731543" lvl="1" indent="-243848">
              <a:defRPr sz="2020" cap="none" spc="0">
                <a:solidFill>
                  <a:schemeClr val="tx1"/>
                </a:solidFill>
                <a:latin typeface="+mn-lt"/>
              </a:defRPr>
            </a:pPr>
            <a:r>
              <a:rPr lang="en-US" sz="2020" cap="none" spc="0">
                <a:solidFill>
                  <a:schemeClr val="tx1"/>
                </a:solidFill>
                <a:latin typeface="+mn-lt"/>
              </a:rPr>
              <a:t>When C is large, the street more narrow so fewer points are involved in making the decision boundary </a:t>
            </a:r>
          </a:p>
          <a:p>
            <a:pPr marL="1219238" lvl="2" indent="-243848">
              <a:defRPr sz="1807" cap="none" spc="0">
                <a:solidFill>
                  <a:schemeClr val="tx1"/>
                </a:solidFill>
                <a:latin typeface="+mn-lt"/>
              </a:defRPr>
            </a:pPr>
            <a:r>
              <a:rPr lang="en-US" sz="1807" cap="none" spc="0">
                <a:solidFill>
                  <a:schemeClr val="tx1"/>
                </a:solidFill>
                <a:latin typeface="+mn-lt"/>
              </a:rPr>
              <a:t>Can lead to overfitting</a:t>
            </a:r>
          </a:p>
        </p:txBody>
      </p:sp>
      <p:sp>
        <p:nvSpPr>
          <p:cNvPr id="231" name="Support Vector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Vectors</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Non-linearly separable data"/>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data</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36" name="Now what happens if the classes aren’t linearly separable"/>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Now what happens if the classes aren’t linearly separable</a:t>
            </a:r>
          </a:p>
        </p:txBody>
      </p:sp>
      <p:pic>
        <p:nvPicPr>
          <p:cNvPr id="237"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0" name="One possibility is to add polynomials terms to a linear model (e.g. logistic regression)"/>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One possibility is to add polynomials terms to a linear model (e.g. logistic regression)</a:t>
            </a:r>
          </a:p>
        </p:txBody>
      </p:sp>
      <p:pic>
        <p:nvPicPr>
          <p:cNvPr id="241"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4" name="This is the decision boundary of a logistic regression model after adding 4th order polynomials to the feature matrix"/>
          <p:cNvSpPr txBox="1">
            <a:spLocks noGrp="1"/>
          </p:cNvSpPr>
          <p:nvPr>
            <p:ph type="body" sz="quarter" idx="4294967295"/>
          </p:nvPr>
        </p:nvSpPr>
        <p:spPr>
          <a:xfrm>
            <a:off x="747345" y="3160167"/>
            <a:ext cx="11403503" cy="134179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This is the decision boundary of a logistic regression model after adding 4th order polynomials to the feature matrix</a:t>
            </a:r>
          </a:p>
        </p:txBody>
      </p:sp>
      <p:pic>
        <p:nvPicPr>
          <p:cNvPr id="245" name="pasted-image.tiff" descr="pasted-image.tiff"/>
          <p:cNvPicPr>
            <a:picLocks noChangeAspect="1"/>
          </p:cNvPicPr>
          <p:nvPr/>
        </p:nvPicPr>
        <p:blipFill>
          <a:blip r:embed="rId2"/>
          <a:stretch>
            <a:fillRect/>
          </a:stretch>
        </p:blipFill>
        <p:spPr>
          <a:xfrm>
            <a:off x="3893619" y="4438848"/>
            <a:ext cx="5217563" cy="4041511"/>
          </a:xfrm>
          <a:prstGeom prst="rect">
            <a:avLst/>
          </a:prstGeom>
          <a:ln w="12700">
            <a:miter lim="400000"/>
          </a:ln>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47" name="Here we can visualize how adding higher dimensions can create linear separability…"/>
              <p:cNvSpPr txBox="1">
                <a:spLocks noGrp="1"/>
              </p:cNvSpPr>
              <p:nvPr>
                <p:ph type="body" idx="1"/>
              </p:nvPr>
            </p:nvSpPr>
            <p:spPr>
              <a:xfrm>
                <a:off x="747345" y="3010882"/>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Here we can visualize how adding higher dimensions can create linear separability </a:t>
                </a:r>
              </a:p>
              <a:p>
                <a:pPr lvl="1">
                  <a:defRPr sz="2020" cap="none" spc="0">
                    <a:solidFill>
                      <a:schemeClr val="tx1"/>
                    </a:solidFill>
                    <a:latin typeface="+mn-lt"/>
                  </a:defRPr>
                </a:pPr>
                <a:r>
                  <a:rPr lang="en-US" sz="2020" cap="none" spc="0">
                    <a:solidFill>
                      <a:schemeClr val="tx1"/>
                    </a:solidFill>
                    <a:latin typeface="+mn-lt"/>
                  </a:rPr>
                  <a:t>In 1-dimension the data is not linearly separable </a:t>
                </a:r>
              </a:p>
              <a:p>
                <a:pPr lvl="1">
                  <a:defRPr sz="2020" cap="none" spc="0">
                    <a:solidFill>
                      <a:schemeClr val="tx1"/>
                    </a:solidFill>
                    <a:latin typeface="+mn-lt"/>
                  </a:defRPr>
                </a:pPr>
                <a:r>
                  <a:rPr lang="en-US" sz="2020" cap="none" spc="0">
                    <a:solidFill>
                      <a:schemeClr val="tx1"/>
                    </a:solidFill>
                    <a:latin typeface="+mn-lt"/>
                  </a:rPr>
                  <a:t>After applying the transformation </a:t>
                </a:r>
                <a14:m>
                  <m:oMath xmlns:m="http://schemas.openxmlformats.org/officeDocument/2006/math">
                    <m:r>
                      <a:rPr sz="2020" i="1" cap="none" spc="0">
                        <a:solidFill>
                          <a:schemeClr val="tx1"/>
                        </a:solidFill>
                        <a:latin typeface="Cambria Math"/>
                      </a:rPr>
                      <m:t>𝜙</m:t>
                    </m:r>
                    <m:r>
                      <a:rPr sz="2020" i="1" cap="none" spc="0">
                        <a:solidFill>
                          <a:schemeClr val="tx1"/>
                        </a:solidFill>
                        <a:latin typeface="Cambria Math"/>
                      </a:rPr>
                      <m:t>(</m:t>
                    </m:r>
                    <m:r>
                      <a:rPr sz="2020" i="1" cap="none" spc="0">
                        <a:solidFill>
                          <a:schemeClr val="tx1"/>
                        </a:solidFill>
                        <a:latin typeface="Cambria Math"/>
                      </a:rPr>
                      <m:t>𝑥</m:t>
                    </m:r>
                    <m:r>
                      <a:rPr sz="2020" i="1" cap="none" spc="0">
                        <a:solidFill>
                          <a:schemeClr val="tx1"/>
                        </a:solidFill>
                        <a:latin typeface="Cambria Math"/>
                      </a:rPr>
                      <m:t>)=</m:t>
                    </m:r>
                    <m:sSup>
                      <m:sSupPr>
                        <m:ctrlPr>
                          <a:rPr sz="2020" i="1" cap="none" spc="0">
                            <a:solidFill>
                              <a:schemeClr val="tx1"/>
                            </a:solidFill>
                            <a:latin typeface="Cambria Math"/>
                          </a:rPr>
                        </m:ctrlPr>
                      </m:sSupPr>
                      <m:e>
                        <m:r>
                          <a:rPr sz="2020" i="1" cap="none" spc="0">
                            <a:solidFill>
                              <a:schemeClr val="tx1"/>
                            </a:solidFill>
                            <a:latin typeface="Cambria Math"/>
                          </a:rPr>
                          <m:t>𝑥</m:t>
                        </m:r>
                      </m:e>
                      <m:sup>
                        <m:r>
                          <a:rPr sz="2020" i="1" cap="none" spc="0">
                            <a:solidFill>
                              <a:schemeClr val="tx1"/>
                            </a:solidFill>
                            <a:latin typeface="Cambria Math"/>
                          </a:rPr>
                          <m:t>2</m:t>
                        </m:r>
                      </m:sup>
                    </m:sSup>
                  </m:oMath>
                </a14:m>
                <a:r>
                  <a:rPr lang="en-US" sz="2020" cap="none" spc="0">
                    <a:solidFill>
                      <a:schemeClr val="tx1"/>
                    </a:solidFill>
                    <a:latin typeface="+mn-lt"/>
                  </a:rPr>
                  <a:t> we have linear separation</a:t>
                </a:r>
              </a:p>
            </p:txBody>
          </p:sp>
        </mc:Choice>
        <mc:Fallback xmlns="">
          <p:sp>
            <p:nvSpPr>
              <p:cNvPr id="247" name="Here we can visualize how adding higher dimensions can create linear separability…"/>
              <p:cNvSpPr txBox="1">
                <a:spLocks noGrp="1" noRot="1" noChangeAspect="1" noMove="1" noResize="1" noEditPoints="1" noAdjustHandles="1" noChangeArrowheads="1" noChangeShapeType="1" noTextEdit="1"/>
              </p:cNvSpPr>
              <p:nvPr>
                <p:ph type="body" idx="1"/>
              </p:nvPr>
            </p:nvSpPr>
            <p:spPr>
              <a:xfrm>
                <a:off x="747345" y="3010882"/>
                <a:ext cx="11403503" cy="5317814"/>
              </a:xfrm>
              <a:prstGeom prst="rect">
                <a:avLst/>
              </a:prstGeom>
              <a:blipFill>
                <a:blip r:embed="rId2"/>
                <a:stretch>
                  <a:fillRect l="-642" t="-688"/>
                </a:stretch>
              </a:blipFill>
            </p:spPr>
            <p:txBody>
              <a:bodyPr/>
              <a:lstStyle/>
              <a:p>
                <a:r>
                  <a:rPr lang="en-US">
                    <a:noFill/>
                  </a:rPr>
                  <a:t> </a:t>
                </a:r>
              </a:p>
            </p:txBody>
          </p:sp>
        </mc:Fallback>
      </mc:AlternateContent>
      <p:sp>
        <p:nvSpPr>
          <p:cNvPr id="248" name="Examp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Examples</a:t>
            </a:r>
          </a:p>
        </p:txBody>
      </p:sp>
      <p:pic>
        <p:nvPicPr>
          <p:cNvPr id="249" name="pasted-image.tiff" descr="pasted-image.tiff"/>
          <p:cNvPicPr>
            <a:picLocks noChangeAspect="1"/>
          </p:cNvPicPr>
          <p:nvPr/>
        </p:nvPicPr>
        <p:blipFill>
          <a:blip r:embed="rId3"/>
          <a:stretch>
            <a:fillRect/>
          </a:stretch>
        </p:blipFill>
        <p:spPr>
          <a:xfrm>
            <a:off x="2993238" y="6100802"/>
            <a:ext cx="7018325" cy="2421941"/>
          </a:xfrm>
          <a:prstGeom prst="rect">
            <a:avLst/>
          </a:prstGeom>
          <a:ln w="12700">
            <a:miter lim="400000"/>
          </a:ln>
        </p:spPr>
      </p:pic>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Another Examp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Another Example</a:t>
            </a:r>
          </a:p>
        </p:txBody>
      </p:sp>
      <p:pic>
        <p:nvPicPr>
          <p:cNvPr id="252" name="pasted-image.tiff" descr="pasted-image.tiff"/>
          <p:cNvPicPr>
            <a:picLocks noChangeAspect="1"/>
          </p:cNvPicPr>
          <p:nvPr/>
        </p:nvPicPr>
        <p:blipFill>
          <a:blip r:embed="rId2"/>
          <a:stretch>
            <a:fillRect/>
          </a:stretch>
        </p:blipFill>
        <p:spPr>
          <a:xfrm>
            <a:off x="2176035" y="3960517"/>
            <a:ext cx="8652730" cy="4084520"/>
          </a:xfrm>
          <a:prstGeom prst="rect">
            <a:avLst/>
          </a:prstGeom>
          <a:ln w="12700">
            <a:miter lim="400000"/>
          </a:ln>
        </p:spPr>
      </p:pic>
      <p:sp>
        <p:nvSpPr>
          <p:cNvPr id="253" name="Another Example"/>
          <p:cNvSpPr txBox="1"/>
          <p:nvPr/>
        </p:nvSpPr>
        <p:spPr>
          <a:xfrm>
            <a:off x="419526" y="3392549"/>
            <a:ext cx="2881170" cy="40660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Another Example</a:t>
            </a: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While mapping to higher-dimensional space can create linearly separable dat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While mapping to higher-dimensional space can create linearly separable data…</a:t>
            </a:r>
          </a:p>
          <a:p>
            <a:pPr>
              <a:defRPr sz="2233" cap="none" spc="0">
                <a:solidFill>
                  <a:schemeClr val="tx1"/>
                </a:solidFill>
                <a:latin typeface="+mn-lt"/>
              </a:defRPr>
            </a:pPr>
            <a:r>
              <a:rPr lang="en-US" sz="2233" cap="none" spc="0">
                <a:solidFill>
                  <a:schemeClr val="tx1"/>
                </a:solidFill>
                <a:latin typeface="+mn-lt"/>
              </a:rPr>
              <a:t>…It can be computationally expensive to directly compute the transformation</a:t>
            </a:r>
          </a:p>
          <a:p>
            <a:pPr lvl="1">
              <a:defRPr sz="2020" cap="none" spc="0">
                <a:solidFill>
                  <a:schemeClr val="tx1"/>
                </a:solidFill>
                <a:latin typeface="+mn-lt"/>
              </a:defRPr>
            </a:pPr>
            <a:r>
              <a:rPr lang="en-US" sz="2020" cap="none" spc="0">
                <a:solidFill>
                  <a:schemeClr val="tx1"/>
                </a:solidFill>
                <a:latin typeface="+mn-lt"/>
              </a:rPr>
              <a:t>E.g., polynomial space gets really big really fast, especially with lots of features</a:t>
            </a:r>
          </a:p>
          <a:p>
            <a:pPr>
              <a:defRPr sz="2233" cap="none" spc="0">
                <a:solidFill>
                  <a:schemeClr val="tx1"/>
                </a:solidFill>
                <a:latin typeface="+mn-lt"/>
              </a:defRPr>
            </a:pPr>
            <a:r>
              <a:rPr lang="en-US" sz="2233" cap="none" spc="0">
                <a:solidFill>
                  <a:schemeClr val="tx1"/>
                </a:solidFill>
                <a:latin typeface="+mn-lt"/>
              </a:rPr>
              <a:t>…It is also hard to determine how many higher-dimensions to include</a:t>
            </a:r>
          </a:p>
          <a:p>
            <a:pPr>
              <a:defRPr sz="2233" cap="none" spc="0">
                <a:solidFill>
                  <a:schemeClr val="tx1"/>
                </a:solidFill>
                <a:latin typeface="+mn-lt"/>
              </a:defRPr>
            </a:pPr>
            <a:r>
              <a:rPr lang="en-US" sz="2233" cap="none" spc="0">
                <a:solidFill>
                  <a:schemeClr val="tx1"/>
                </a:solidFill>
                <a:latin typeface="+mn-lt"/>
              </a:rPr>
              <a:t>This is where SVMs and the </a:t>
            </a:r>
            <a:r>
              <a:rPr lang="en-US" sz="2233" b="1" cap="none" spc="0">
                <a:solidFill>
                  <a:schemeClr val="tx1"/>
                </a:solidFill>
                <a:latin typeface="+mn-lt"/>
              </a:rPr>
              <a:t>Kernel Trick</a:t>
            </a:r>
            <a:r>
              <a:rPr lang="en-US" sz="2233" cap="none" spc="0">
                <a:solidFill>
                  <a:schemeClr val="tx1"/>
                </a:solidFill>
                <a:latin typeface="+mn-lt"/>
              </a:rPr>
              <a:t> come to the rescue</a:t>
            </a:r>
          </a:p>
        </p:txBody>
      </p:sp>
      <p:sp>
        <p:nvSpPr>
          <p:cNvPr id="256" name="A solution and a proble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 solution and a problem </a:t>
            </a: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The main idea behind SVMachines is to…"/>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main idea behind SV</a:t>
            </a:r>
            <a:r>
              <a:rPr lang="en-US" sz="2233" i="1" cap="none" spc="0">
                <a:solidFill>
                  <a:schemeClr val="tx1"/>
                </a:solidFill>
                <a:latin typeface="+mn-lt"/>
              </a:rPr>
              <a:t>Machines </a:t>
            </a:r>
            <a:r>
              <a:rPr lang="en-US" sz="2233" cap="none" spc="0">
                <a:solidFill>
                  <a:schemeClr val="tx1"/>
                </a:solidFill>
                <a:latin typeface="+mn-lt"/>
              </a:rPr>
              <a:t>is to </a:t>
            </a:r>
          </a:p>
          <a:p>
            <a:pPr lvl="1">
              <a:defRPr sz="2020" cap="none" spc="0">
                <a:solidFill>
                  <a:schemeClr val="tx1"/>
                </a:solidFill>
                <a:latin typeface="+mn-lt"/>
              </a:defRPr>
            </a:pPr>
            <a:r>
              <a:rPr lang="en-US" sz="2020" cap="none" spc="0">
                <a:solidFill>
                  <a:schemeClr val="tx1"/>
                </a:solidFill>
                <a:latin typeface="+mn-lt"/>
              </a:rPr>
              <a:t>create linear separation by expanding the feature space</a:t>
            </a:r>
          </a:p>
          <a:p>
            <a:pPr lvl="1">
              <a:defRPr sz="2020" cap="none" spc="0">
                <a:solidFill>
                  <a:schemeClr val="tx1"/>
                </a:solidFill>
                <a:latin typeface="+mn-lt"/>
              </a:defRPr>
            </a:pPr>
            <a:r>
              <a:rPr lang="en-US" sz="2020" cap="none" spc="0">
                <a:solidFill>
                  <a:schemeClr val="tx1"/>
                </a:solidFill>
                <a:latin typeface="+mn-lt"/>
              </a:rPr>
              <a:t>but in a specific way using </a:t>
            </a:r>
            <a:r>
              <a:rPr lang="en-US" sz="2020" b="1" cap="none" spc="0">
                <a:solidFill>
                  <a:schemeClr val="tx1"/>
                </a:solidFill>
                <a:latin typeface="+mn-lt"/>
              </a:rPr>
              <a:t>kernels</a:t>
            </a:r>
            <a:r>
              <a:rPr lang="en-US" sz="2020" cap="none" spc="0">
                <a:solidFill>
                  <a:schemeClr val="tx1"/>
                </a:solidFill>
                <a:latin typeface="+mn-lt"/>
              </a:rPr>
              <a:t> </a:t>
            </a:r>
            <a:r>
              <a:rPr lang="en-US" sz="2020" i="1" cap="none" spc="0">
                <a:solidFill>
                  <a:schemeClr val="tx1"/>
                </a:solidFill>
                <a:latin typeface="+mn-lt"/>
              </a:rPr>
              <a:t> </a:t>
            </a:r>
            <a:br>
              <a:rPr lang="en-US" sz="2020" i="1" cap="none" spc="0">
                <a:solidFill>
                  <a:schemeClr val="accent1"/>
                </a:solidFill>
                <a:latin typeface="+mn-lt"/>
              </a:rPr>
            </a:br>
            <a:r>
              <a:rPr lang="en-US" sz="2020" i="1" cap="none" spc="0">
                <a:solidFill>
                  <a:schemeClr val="tx1"/>
                </a:solidFill>
                <a:latin typeface="+mn-lt"/>
              </a:rPr>
              <a:t>- a computationally efficient trick for expanding the feature space</a:t>
            </a:r>
          </a:p>
          <a:p>
            <a:pPr marL="731543" lvl="1" indent="-243848">
              <a:defRPr sz="2020" cap="none" spc="0">
                <a:solidFill>
                  <a:schemeClr val="tx1"/>
                </a:solidFill>
                <a:latin typeface="+mn-lt"/>
              </a:defRPr>
            </a:pPr>
            <a:r>
              <a:rPr lang="en-US" sz="2020" cap="none" spc="0">
                <a:solidFill>
                  <a:schemeClr val="tx1"/>
                </a:solidFill>
                <a:latin typeface="+mn-lt"/>
              </a:rPr>
              <a:t>this is called the </a:t>
            </a:r>
            <a:r>
              <a:rPr lang="en-US" sz="2020" b="1" cap="none" spc="0">
                <a:solidFill>
                  <a:schemeClr val="tx1"/>
                </a:solidFill>
                <a:latin typeface="+mn-lt"/>
              </a:rPr>
              <a:t>kernel trick</a:t>
            </a:r>
            <a:r>
              <a:rPr lang="en-US" sz="2020" cap="none" spc="0">
                <a:solidFill>
                  <a:schemeClr val="tx1"/>
                </a:solidFill>
                <a:latin typeface="+mn-lt"/>
              </a:rPr>
              <a:t> </a:t>
            </a:r>
          </a:p>
        </p:txBody>
      </p:sp>
      <p:sp>
        <p:nvSpPr>
          <p:cNvPr id="261" name="Support Vector Machi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3" name="Given two vectors in n-dimensional space:    and…"/>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Given two vectors in n-dimensional space:</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a:rPr sz="2233" i="1" cap="none" spc="0">
                        <a:solidFill>
                          <a:schemeClr val="tx1"/>
                        </a:solidFill>
                        <a:latin typeface="Cambria Math"/>
                      </a:rPr>
                      <m:t>𝐚</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1</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2</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𝑛</m:t>
                        </m:r>
                      </m:sub>
                    </m:sSub>
                    <m:r>
                      <a:rPr sz="2233" i="1" cap="none" spc="0">
                        <a:solidFill>
                          <a:schemeClr val="tx1"/>
                        </a:solidFill>
                        <a:latin typeface="Cambria Math"/>
                      </a:rPr>
                      <m:t>)</m:t>
                    </m:r>
                  </m:oMath>
                </a14:m>
                <a:r>
                  <a:rPr lang="en-US" sz="2233" cap="none" spc="0">
                    <a:solidFill>
                      <a:schemeClr val="tx1"/>
                    </a:solidFill>
                    <a:latin typeface="+mn-lt"/>
                  </a:rPr>
                  <a:t> and </a:t>
                </a:r>
                <a14:m>
                  <m:oMath xmlns:m="http://schemas.openxmlformats.org/officeDocument/2006/math">
                    <m:r>
                      <a:rPr sz="2233" i="1" cap="none" spc="0">
                        <a:solidFill>
                          <a:schemeClr val="tx1"/>
                        </a:solidFill>
                        <a:latin typeface="Cambria Math"/>
                      </a:rPr>
                      <m:t>𝐛</m:t>
                    </m:r>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1</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2</m:t>
                        </m:r>
                      </m:sub>
                    </m:sSub>
                    <m:r>
                      <a:rPr sz="2233" i="1" cap="none" spc="0">
                        <a:solidFill>
                          <a:schemeClr val="tx1"/>
                        </a:solidFill>
                        <a:latin typeface="Cambria Math"/>
                      </a:rPr>
                      <m:t>,…,</m:t>
                    </m:r>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𝑛</m:t>
                        </m:r>
                      </m:sub>
                    </m:sSub>
                    <m:r>
                      <a:rPr sz="2233" i="1" cap="none" spc="0">
                        <a:solidFill>
                          <a:schemeClr val="tx1"/>
                        </a:solidFill>
                        <a:latin typeface="Cambria Math"/>
                      </a:rPr>
                      <m:t>)</m:t>
                    </m:r>
                  </m:oMath>
                </a14:m>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The dot product between </a:t>
                </a:r>
                <a14:m>
                  <m:oMath xmlns:m="http://schemas.openxmlformats.org/officeDocument/2006/math">
                    <m:r>
                      <a:rPr sz="2233" i="1" cap="none" spc="0">
                        <a:solidFill>
                          <a:schemeClr val="tx1"/>
                        </a:solidFill>
                        <a:latin typeface="Cambria Math"/>
                      </a:rPr>
                      <m:t>𝐚</m:t>
                    </m:r>
                  </m:oMath>
                </a14:m>
                <a:r>
                  <a:rPr lang="en-US" sz="2233" cap="none" spc="0">
                    <a:solidFill>
                      <a:schemeClr val="tx1"/>
                    </a:solidFill>
                    <a:latin typeface="+mn-lt"/>
                  </a:rPr>
                  <a:t> and </a:t>
                </a:r>
                <a14:m>
                  <m:oMath xmlns:m="http://schemas.openxmlformats.org/officeDocument/2006/math">
                    <m:r>
                      <a:rPr sz="2233" i="1" cap="none" spc="0">
                        <a:solidFill>
                          <a:schemeClr val="tx1"/>
                        </a:solidFill>
                        <a:latin typeface="Cambria Math"/>
                      </a:rPr>
                      <m:t>𝐛</m:t>
                    </m:r>
                  </m:oMath>
                </a14:m>
                <a:r>
                  <a:rPr lang="en-US" sz="2233" cap="none" spc="0">
                    <a:solidFill>
                      <a:schemeClr val="tx1"/>
                    </a:solidFill>
                    <a:latin typeface="+mn-lt"/>
                  </a:rPr>
                  <a:t> is </a:t>
                </a:r>
                <a:br>
                  <a:rPr lang="en-US" sz="2233" cap="none" spc="0">
                    <a:solidFill>
                      <a:schemeClr val="tx1"/>
                    </a:solidFill>
                    <a:latin typeface="+mn-lt"/>
                  </a:rPr>
                </a:br>
                <a:br>
                  <a:rPr lang="en-US" sz="2233" cap="none" spc="0">
                    <a:solidFill>
                      <a:schemeClr val="tx1"/>
                    </a:solidFill>
                    <a:latin typeface="+mn-lt"/>
                  </a:rPr>
                </a:br>
                <a14:m>
                  <m:oMath xmlns:m="http://schemas.openxmlformats.org/officeDocument/2006/math">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limUpp>
                      <m:limUppPr>
                        <m:ctrlPr>
                          <a:rPr sz="2233" i="1" cap="none" spc="0">
                            <a:solidFill>
                              <a:schemeClr val="tx1"/>
                            </a:solidFill>
                            <a:latin typeface="Cambria Math"/>
                          </a:rPr>
                        </m:ctrlPr>
                      </m:limUppPr>
                      <m:e>
                        <m:limLow>
                          <m:limLowPr>
                            <m:ctrlPr>
                              <a:rPr sz="2233" i="1" cap="none" spc="0">
                                <a:solidFill>
                                  <a:schemeClr val="tx1"/>
                                </a:solidFill>
                                <a:latin typeface="Cambria Math"/>
                              </a:rPr>
                            </m:ctrlPr>
                          </m:limLowPr>
                          <m:e>
                            <m:r>
                              <a:rPr sz="2233" i="1" cap="none" spc="0">
                                <a:solidFill>
                                  <a:schemeClr val="tx1"/>
                                </a:solidFill>
                                <a:latin typeface="Cambria Math"/>
                              </a:rPr>
                              <m:t>∑</m:t>
                            </m:r>
                          </m:e>
                          <m:lim>
                            <m:r>
                              <a:rPr sz="2233" i="1" cap="none" spc="0">
                                <a:solidFill>
                                  <a:schemeClr val="tx1"/>
                                </a:solidFill>
                                <a:latin typeface="Cambria Math"/>
                              </a:rPr>
                              <m:t>𝑖</m:t>
                            </m:r>
                            <m:r>
                              <a:rPr sz="2233" i="1" cap="none" spc="0">
                                <a:solidFill>
                                  <a:schemeClr val="tx1"/>
                                </a:solidFill>
                                <a:latin typeface="Cambria Math"/>
                              </a:rPr>
                              <m:t>=1</m:t>
                            </m:r>
                          </m:lim>
                        </m:limLow>
                      </m:e>
                      <m:lim>
                        <m:r>
                          <a:rPr sz="2233" i="1" cap="none" spc="0">
                            <a:solidFill>
                              <a:schemeClr val="tx1"/>
                            </a:solidFill>
                            <a:latin typeface="Cambria Math"/>
                          </a:rPr>
                          <m:t>𝑛</m:t>
                        </m:r>
                      </m:lim>
                    </m:limUpp>
                    <m:sSub>
                      <m:sSubPr>
                        <m:ctrlPr>
                          <a:rPr sz="2233" i="1" cap="none" spc="0">
                            <a:solidFill>
                              <a:schemeClr val="tx1"/>
                            </a:solidFill>
                            <a:latin typeface="Cambria Math"/>
                          </a:rPr>
                        </m:ctrlPr>
                      </m:sSubPr>
                      <m:e>
                        <m:r>
                          <a:rPr sz="2233" i="1" cap="none" spc="0">
                            <a:solidFill>
                              <a:schemeClr val="tx1"/>
                            </a:solidFill>
                            <a:latin typeface="Cambria Math"/>
                          </a:rPr>
                          <m:t>𝑎</m:t>
                        </m:r>
                      </m:e>
                      <m:sub>
                        <m:r>
                          <a:rPr sz="2233" i="1" cap="none" spc="0">
                            <a:solidFill>
                              <a:schemeClr val="tx1"/>
                            </a:solidFill>
                            <a:latin typeface="Cambria Math"/>
                          </a:rPr>
                          <m:t>𝑖</m:t>
                        </m:r>
                      </m:sub>
                    </m:sSub>
                    <m:sSub>
                      <m:sSubPr>
                        <m:ctrlPr>
                          <a:rPr sz="2233" i="1" cap="none" spc="0">
                            <a:solidFill>
                              <a:schemeClr val="tx1"/>
                            </a:solidFill>
                            <a:latin typeface="Cambria Math"/>
                          </a:rPr>
                        </m:ctrlPr>
                      </m:sSubPr>
                      <m:e>
                        <m:r>
                          <a:rPr sz="2233" i="1" cap="none" spc="0">
                            <a:solidFill>
                              <a:schemeClr val="tx1"/>
                            </a:solidFill>
                            <a:latin typeface="Cambria Math"/>
                          </a:rPr>
                          <m:t>𝑏</m:t>
                        </m:r>
                      </m:e>
                      <m:sub>
                        <m:r>
                          <a:rPr sz="2233" i="1" cap="none" spc="0">
                            <a:solidFill>
                              <a:schemeClr val="tx1"/>
                            </a:solidFill>
                            <a:latin typeface="Cambria Math"/>
                          </a:rPr>
                          <m:t>𝑖</m:t>
                        </m:r>
                      </m:sub>
                    </m:sSub>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oMath>
                </a14:m>
                <a:endParaRPr lang="en-US" sz="2233" cap="none" spc="0">
                  <a:solidFill>
                    <a:schemeClr val="tx1"/>
                  </a:solidFill>
                  <a:latin typeface="+mn-lt"/>
                </a:endParaRPr>
              </a:p>
            </p:txBody>
          </p:sp>
        </mc:Choice>
        <mc:Fallback xmlns="">
          <p:sp>
            <p:nvSpPr>
              <p:cNvPr id="263" name="Given two vectors in n-dimensional space:    and…"/>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a:stretch>
              </a:blipFill>
            </p:spPr>
            <p:txBody>
              <a:bodyPr/>
              <a:lstStyle/>
              <a:p>
                <a:r>
                  <a:rPr lang="en-US">
                    <a:noFill/>
                  </a:rPr>
                  <a:t> </a:t>
                </a:r>
              </a:p>
            </p:txBody>
          </p:sp>
        </mc:Fallback>
      </mc:AlternateContent>
      <p:sp>
        <p:nvSpPr>
          <p:cNvPr id="264" name="Dot Product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a:t>
            </a:r>
          </a:p>
        </p:txBody>
      </p:sp>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9" name="The dot product of the transformed vectors is equal square of the dot product of the original vector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14:m>
                  <m:oMath xmlns:m="http://schemas.openxmlformats.org/officeDocument/2006/math">
                    <m:r>
                      <a:rPr lang="ar-AE" sz="2233" i="1" cap="none" spc="0">
                        <a:solidFill>
                          <a:schemeClr val="tx1"/>
                        </a:solidFill>
                        <a:latin typeface="Cambria Math"/>
                      </a:rPr>
                      <m:t>𝜙</m:t>
                    </m:r>
                    <m:d>
                      <m:dPr>
                        <m:ctrlPr>
                          <a:rPr lang="ar-AE" sz="2233" b="0" i="1" cap="none" spc="0" smtClean="0">
                            <a:solidFill>
                              <a:schemeClr val="tx1"/>
                            </a:solidFill>
                            <a:latin typeface="Cambria Math"/>
                          </a:rPr>
                        </m:ctrlPr>
                      </m:dPr>
                      <m:e>
                        <m:sSub>
                          <m:sSubPr>
                            <m:ctrlPr>
                              <a:rPr lang="ar-AE" sz="2233" b="0" i="1" cap="none" spc="0" smtClean="0">
                                <a:solidFill>
                                  <a:schemeClr val="tx1"/>
                                </a:solidFill>
                                <a:latin typeface="Cambria Math"/>
                              </a:rPr>
                            </m:ctrlPr>
                          </m:sSubPr>
                          <m:e>
                            <m:r>
                              <a:rPr lang="ar-AE" sz="2233" b="0" i="1" cap="none" spc="0" smtClean="0">
                                <a:solidFill>
                                  <a:schemeClr val="tx1"/>
                                </a:solidFill>
                                <a:latin typeface="Cambria Math"/>
                              </a:rPr>
                              <m:t>𝑥</m:t>
                            </m:r>
                          </m:e>
                          <m:sub>
                            <m:r>
                              <a:rPr lang="ar-AE" sz="2233" b="0" i="1" cap="none" spc="0" smtClean="0">
                                <a:solidFill>
                                  <a:schemeClr val="tx1"/>
                                </a:solidFill>
                                <a:latin typeface="Cambria Math"/>
                              </a:rPr>
                              <m:t>𝑖</m:t>
                            </m:r>
                          </m:sub>
                        </m:sSub>
                      </m:e>
                    </m:d>
                  </m:oMath>
                </a14:m>
                <a:r>
                  <a:rPr lang="en-US" sz="2233" cap="none" spc="0">
                    <a:solidFill>
                      <a:schemeClr val="tx1"/>
                    </a:solidFill>
                    <a:latin typeface="+mn-lt"/>
                  </a:rPr>
                  <a:t>A feature map </a:t>
                </a:r>
                <a:r>
                  <a:rPr lang="el-GR" sz="2233" cap="none" spc="0">
                    <a:solidFill>
                      <a:schemeClr val="tx1"/>
                    </a:solidFill>
                    <a:latin typeface="+mn-lt"/>
                  </a:rPr>
                  <a:t>φ(</a:t>
                </a:r>
                <a:r>
                  <a:rPr lang="en-US" sz="2233" cap="none" spc="0">
                    <a:solidFill>
                      <a:schemeClr val="tx1"/>
                    </a:solidFill>
                    <a:latin typeface="+mn-lt"/>
                  </a:rPr>
                  <a:t>x) can make a nonlinear boundary linear in feature space.</a:t>
                </a:r>
              </a:p>
              <a:p>
                <a:pPr>
                  <a:defRPr sz="2233" cap="none" spc="0">
                    <a:solidFill>
                      <a:schemeClr val="tx1"/>
                    </a:solidFill>
                    <a:latin typeface="+mn-lt"/>
                  </a:defRPr>
                </a:pPr>
                <a:r>
                  <a:rPr lang="en-US" sz="2233" cap="none" spc="0">
                    <a:solidFill>
                      <a:schemeClr val="tx1"/>
                    </a:solidFill>
                    <a:latin typeface="+mn-lt"/>
                  </a:rPr>
                  <a:t>Explicitly constructing </a:t>
                </a:r>
                <a:r>
                  <a:rPr lang="el-GR" sz="2233" cap="none" spc="0">
                    <a:solidFill>
                      <a:schemeClr val="tx1"/>
                    </a:solidFill>
                    <a:latin typeface="+mn-lt"/>
                  </a:rPr>
                  <a:t>φ(</a:t>
                </a:r>
                <a:r>
                  <a:rPr lang="en-US" sz="2233" cap="none" spc="0">
                    <a:solidFill>
                      <a:schemeClr val="tx1"/>
                    </a:solidFill>
                    <a:latin typeface="+mn-lt"/>
                  </a:rPr>
                  <a:t>x) may require many features.</a:t>
                </a:r>
              </a:p>
              <a:p>
                <a:pPr>
                  <a:defRPr sz="2233" cap="none" spc="0">
                    <a:solidFill>
                      <a:schemeClr val="tx1"/>
                    </a:solidFill>
                    <a:latin typeface="+mn-lt"/>
                  </a:defRPr>
                </a:pPr>
                <a:r>
                  <a:rPr lang="en-US" sz="2233" cap="none" spc="0">
                    <a:solidFill>
                      <a:schemeClr val="tx1"/>
                    </a:solidFill>
                    <a:latin typeface="+mn-lt"/>
                  </a:rPr>
                  <a:t>The SVM dual, introduced next, uses training data only through pairwise dot products:</a:t>
                </a:r>
              </a:p>
              <a:p>
                <a:pPr>
                  <a:defRPr sz="2233" cap="none" spc="0">
                    <a:solidFill>
                      <a:schemeClr val="tx1"/>
                    </a:solidFill>
                    <a:latin typeface="+mn-lt"/>
                  </a:defRPr>
                </a:pPr>
                <a:r>
                  <a:rPr lang="en-US" sz="2233" cap="none" spc="0">
                    <a:solidFill>
                      <a:schemeClr val="tx1"/>
                    </a:solidFill>
                    <a:latin typeface="+mn-lt"/>
                  </a:rPr>
                  <a:t>xᵢᵀxⱼ in the original space
</a:t>
                </a:r>
                <a:r>
                  <a:rPr lang="el-GR" sz="2233" cap="none" spc="0">
                    <a:solidFill>
                      <a:schemeClr val="tx1"/>
                    </a:solidFill>
                    <a:latin typeface="+mn-lt"/>
                  </a:rPr>
                  <a:t>φ(</a:t>
                </a:r>
                <a:r>
                  <a:rPr lang="en-US" sz="2233" cap="none" spc="0">
                    <a:solidFill>
                      <a:schemeClr val="tx1"/>
                    </a:solidFill>
                    <a:latin typeface="+mn-lt"/>
                  </a:rPr>
                  <a:t>xᵢ)ᵀ</a:t>
                </a:r>
                <a:r>
                  <a:rPr lang="el-GR" sz="2233" cap="none" spc="0">
                    <a:solidFill>
                      <a:schemeClr val="tx1"/>
                    </a:solidFill>
                    <a:latin typeface="+mn-lt"/>
                  </a:rPr>
                  <a:t>φ(</a:t>
                </a:r>
                <a:r>
                  <a:rPr lang="en-US" sz="2233" cap="none" spc="0">
                    <a:solidFill>
                      <a:schemeClr val="tx1"/>
                    </a:solidFill>
                    <a:latin typeface="+mn-lt"/>
                  </a:rPr>
                  <a:t>xⱼ) in the transformed space</a:t>
                </a:r>
              </a:p>
              <a:p>
                <a:pPr>
                  <a:defRPr sz="2233" cap="none" spc="0">
                    <a:solidFill>
                      <a:schemeClr val="tx1"/>
                    </a:solidFill>
                    <a:latin typeface="+mn-lt"/>
                  </a:defRPr>
                </a:pPr>
                <a:r>
                  <a:rPr lang="en-US" sz="2233" cap="none" spc="0">
                    <a:solidFill>
                      <a:schemeClr val="tx1"/>
                    </a:solidFill>
                    <a:latin typeface="+mn-lt"/>
                  </a:rPr>
                  <a:t>A kernel computes the second quantity directly from xᵢ and xⱼ.</a:t>
                </a:r>
              </a:p>
            </p:txBody>
          </p:sp>
        </mc:Choice>
        <mc:Fallback xmlns="">
          <p:sp>
            <p:nvSpPr>
              <p:cNvPr id="269" name="The dot product of the transformed vectors is equal square of the dot product of the original vector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802"/>
                </a:stretch>
              </a:blipFill>
            </p:spPr>
            <p:txBody>
              <a:bodyPr/>
              <a:lstStyle/>
              <a:p>
                <a:r>
                  <a:rPr lang="en-US">
                    <a:noFill/>
                  </a:rPr>
                  <a:t> </a:t>
                </a:r>
              </a:p>
            </p:txBody>
          </p:sp>
        </mc:Fallback>
      </mc:AlternateContent>
      <p:sp>
        <p:nvSpPr>
          <p:cNvPr id="270" name="Results from previous slid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 in the Dual</a:t>
            </a:r>
          </a:p>
        </p:txBody>
      </p:sp>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6936B0CC-459C-C8C3-3A17-949AC8A8174D}"/>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In machine learning, a </a:t>
                </a:r>
                <a:r>
                  <a:rPr lang="en-US" sz="2233" b="1" cap="none" spc="0">
                    <a:solidFill>
                      <a:schemeClr val="tx1"/>
                    </a:solidFill>
                    <a:latin typeface="+mn-lt"/>
                  </a:rPr>
                  <a:t>kernel function</a:t>
                </a:r>
                <a:r>
                  <a:rPr lang="en-US" sz="2233" cap="none" spc="0">
                    <a:solidFill>
                      <a:schemeClr val="tx1"/>
                    </a:solidFill>
                    <a:latin typeface="+mn-lt"/>
                  </a:rPr>
                  <a:t>,</a:t>
                </a:r>
                <a:r>
                  <a:rPr lang="en-US" sz="2233" b="1" cap="none" spc="0">
                    <a:solidFill>
                      <a:schemeClr val="tx1"/>
                    </a:solidFill>
                    <a:latin typeface="+mn-lt"/>
                  </a:rPr>
                  <a:t> </a:t>
                </a:r>
                <a14:m>
                  <m:oMath xmlns:m="http://schemas.openxmlformats.org/officeDocument/2006/math">
                    <m:r>
                      <a:rPr lang="en-US" sz="2233" i="1" cap="none" spc="0" smtClean="0">
                        <a:solidFill>
                          <a:schemeClr val="accent1"/>
                        </a:solidFill>
                        <a:latin typeface="Cambria Math"/>
                      </a:rPr>
                      <m:t>𝐾</m:t>
                    </m:r>
                    <m:d>
                      <m:dPr>
                        <m:ctrlPr>
                          <a:rPr lang="en-US" sz="2233" b="0" i="1" cap="none" spc="0" smtClean="0">
                            <a:solidFill>
                              <a:schemeClr val="accent1"/>
                            </a:solidFill>
                            <a:latin typeface="Cambria Math"/>
                          </a:rPr>
                        </m:ctrlPr>
                      </m:dPr>
                      <m:e>
                        <m:sSub>
                          <m:sSubPr>
                            <m:ctrlPr>
                              <a:rPr lang="en-US" sz="2233" b="0" i="1" cap="none" spc="0" smtClean="0">
                                <a:solidFill>
                                  <a:schemeClr val="accent1"/>
                                </a:solidFill>
                                <a:latin typeface="Cambria Math"/>
                              </a:rPr>
                            </m:ctrlPr>
                          </m:sSubPr>
                          <m:e>
                            <m:r>
                              <a:rPr lang="en-US" sz="2233" b="0" i="1" cap="none" spc="0" smtClean="0">
                                <a:solidFill>
                                  <a:schemeClr val="accent1"/>
                                </a:solidFill>
                                <a:latin typeface="Cambria Math"/>
                              </a:rPr>
                              <m:t>𝑥</m:t>
                            </m:r>
                          </m:e>
                          <m:sub>
                            <m:r>
                              <a:rPr lang="en-US" sz="2233" b="0" i="1" cap="none" spc="0" smtClean="0">
                                <a:solidFill>
                                  <a:schemeClr val="accent1"/>
                                </a:solidFill>
                                <a:latin typeface="Cambria Math"/>
                              </a:rPr>
                              <m:t>𝑖</m:t>
                            </m:r>
                          </m:sub>
                        </m:sSub>
                        <m:r>
                          <a:rPr lang="en-US" sz="2233" i="1" cap="none" spc="0">
                            <a:solidFill>
                              <a:schemeClr val="accent1"/>
                            </a:solidFill>
                            <a:latin typeface="Cambria Math"/>
                          </a:rPr>
                          <m:t>,</m:t>
                        </m:r>
                        <m:sSub>
                          <m:sSubPr>
                            <m:ctrlPr>
                              <a:rPr lang="en-US" sz="2233" b="0" i="1" cap="none" spc="0" smtClean="0">
                                <a:solidFill>
                                  <a:schemeClr val="accent1"/>
                                </a:solidFill>
                                <a:latin typeface="Cambria Math"/>
                              </a:rPr>
                            </m:ctrlPr>
                          </m:sSubPr>
                          <m:e>
                            <m:r>
                              <a:rPr lang="en-US" sz="2233" b="0" i="1" cap="none" spc="0" smtClean="0">
                                <a:solidFill>
                                  <a:schemeClr val="accent1"/>
                                </a:solidFill>
                                <a:latin typeface="Cambria Math"/>
                              </a:rPr>
                              <m:t>𝑥</m:t>
                            </m:r>
                          </m:e>
                          <m:sub>
                            <m:r>
                              <a:rPr lang="en-US" sz="2233" b="0" i="1" cap="none" spc="0" smtClean="0">
                                <a:solidFill>
                                  <a:schemeClr val="accent1"/>
                                </a:solidFill>
                                <a:latin typeface="Cambria Math"/>
                              </a:rPr>
                              <m:t>𝑗</m:t>
                            </m:r>
                          </m:sub>
                        </m:sSub>
                      </m:e>
                    </m:d>
                  </m:oMath>
                </a14:m>
                <a:r>
                  <a:rPr lang="en-US" sz="2233" cap="none" spc="0">
                    <a:solidFill>
                      <a:schemeClr val="tx1"/>
                    </a:solidFill>
                    <a:latin typeface="+mn-lt"/>
                  </a:rPr>
                  <a:t>, is a function capable of computing the dot product between two transformed vectors based only on the original vectors </a:t>
                </a:r>
                <a:r>
                  <a:rPr lang="en-US" sz="2233" b="1" cap="none" spc="0">
                    <a:solidFill>
                      <a:schemeClr val="tx1"/>
                    </a:solidFill>
                    <a:latin typeface="+mn-lt"/>
                  </a:rPr>
                  <a:t>without having to compute the transformation </a:t>
                </a:r>
                <a14:m>
                  <m:oMath xmlns:m="http://schemas.openxmlformats.org/officeDocument/2006/math">
                    <m:r>
                      <a:rPr lang="en-US" sz="2233" i="1" cap="none" spc="0">
                        <a:solidFill>
                          <a:schemeClr val="tx1"/>
                        </a:solidFill>
                        <a:latin typeface="Cambria Math"/>
                      </a:rPr>
                      <m:t>𝜙</m:t>
                    </m:r>
                  </m:oMath>
                </a14:m>
                <a:br>
                  <a:rPr lang="en-US" sz="2233" b="1" cap="none" spc="0">
                    <a:solidFill>
                      <a:schemeClr val="tx1"/>
                    </a:solidFill>
                    <a:latin typeface="+mn-lt"/>
                  </a:rPr>
                </a:br>
                <a:br>
                  <a:rPr lang="en-US" sz="2233" cap="none" spc="0">
                    <a:solidFill>
                      <a:schemeClr val="tx1"/>
                    </a:solidFill>
                    <a:latin typeface="+mn-lt"/>
                  </a:rPr>
                </a:br>
                <a14:m>
                  <m:oMath xmlns:m="http://schemas.openxmlformats.org/officeDocument/2006/math">
                    <m:r>
                      <a:rPr lang="en-US" sz="2233" i="1" cap="none" spc="0">
                        <a:solidFill>
                          <a:schemeClr val="tx1"/>
                        </a:solidFill>
                        <a:latin typeface="Cambria Math"/>
                      </a:rPr>
                      <m:t>𝐾</m:t>
                    </m:r>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𝑖</m:t>
                        </m:r>
                      </m:sub>
                    </m:sSub>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𝑗</m:t>
                        </m:r>
                      </m:sub>
                    </m:sSub>
                    <m:r>
                      <a:rPr lang="en-US" sz="2233" i="1" cap="none" spc="0">
                        <a:solidFill>
                          <a:schemeClr val="tx1"/>
                        </a:solidFill>
                        <a:latin typeface="Cambria Math"/>
                      </a:rPr>
                      <m:t>)=</m:t>
                    </m:r>
                    <m:r>
                      <a:rPr lang="en-US" sz="2233" i="1" cap="none" spc="0">
                        <a:solidFill>
                          <a:schemeClr val="tx1"/>
                        </a:solidFill>
                        <a:latin typeface="Cambria Math"/>
                      </a:rPr>
                      <m:t>𝜙</m:t>
                    </m:r>
                    <m:r>
                      <a:rPr lang="en-US" sz="2233" i="1" cap="none" spc="0">
                        <a:solidFill>
                          <a:schemeClr val="tx1"/>
                        </a:solidFill>
                        <a:latin typeface="Cambria Math"/>
                      </a:rPr>
                      <m:t>(</m:t>
                    </m:r>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𝑖</m:t>
                        </m:r>
                      </m:sub>
                    </m:sSub>
                    <m:sSup>
                      <m:sSupPr>
                        <m:ctrlPr>
                          <a:rPr lang="ar-AE" sz="2233" i="1" cap="none" spc="0">
                            <a:solidFill>
                              <a:schemeClr val="tx1"/>
                            </a:solidFill>
                            <a:latin typeface="Cambria Math"/>
                          </a:rPr>
                        </m:ctrlPr>
                      </m:sSupPr>
                      <m:e>
                        <m:r>
                          <a:rPr lang="ar-AE" sz="2233" i="1" cap="none" spc="0">
                            <a:solidFill>
                              <a:schemeClr val="tx1"/>
                            </a:solidFill>
                            <a:latin typeface="Cambria Math"/>
                          </a:rPr>
                          <m:t>)</m:t>
                        </m:r>
                      </m:e>
                      <m:sup>
                        <m:r>
                          <a:rPr lang="ar-AE" sz="2233" i="1" cap="none" spc="0">
                            <a:solidFill>
                              <a:schemeClr val="tx1"/>
                            </a:solidFill>
                            <a:latin typeface="Cambria Math"/>
                          </a:rPr>
                          <m:t>⊤</m:t>
                        </m:r>
                      </m:sup>
                    </m:sSup>
                    <m:r>
                      <a:rPr lang="ar-AE" sz="2233" i="1" cap="none" spc="0">
                        <a:solidFill>
                          <a:schemeClr val="tx1"/>
                        </a:solidFill>
                        <a:latin typeface="Cambria Math"/>
                      </a:rPr>
                      <m:t>𝜙</m:t>
                    </m:r>
                    <m:d>
                      <m:dPr>
                        <m:ctrlPr>
                          <a:rPr lang="en-US" sz="2233" b="0" i="1" cap="none" spc="0" smtClean="0">
                            <a:solidFill>
                              <a:schemeClr val="tx1"/>
                            </a:solidFill>
                            <a:latin typeface="Cambria Math"/>
                          </a:rPr>
                        </m:ctrlPr>
                      </m:dPr>
                      <m:e>
                        <m:sSub>
                          <m:sSubPr>
                            <m:ctrlPr>
                              <a:rPr lang="en-US" sz="2233" b="0" i="1" cap="none" spc="0" smtClean="0">
                                <a:solidFill>
                                  <a:schemeClr val="tx1"/>
                                </a:solidFill>
                                <a:latin typeface="Cambria Math"/>
                              </a:rPr>
                            </m:ctrlPr>
                          </m:sSubPr>
                          <m:e>
                            <m:r>
                              <a:rPr lang="en-US" sz="2233" b="0" i="1" cap="none" spc="0" smtClean="0">
                                <a:solidFill>
                                  <a:schemeClr val="tx1"/>
                                </a:solidFill>
                                <a:latin typeface="Cambria Math"/>
                              </a:rPr>
                              <m:t>𝑥</m:t>
                            </m:r>
                          </m:e>
                          <m:sub>
                            <m:r>
                              <a:rPr lang="en-US" sz="2233" b="0" i="1" cap="none" spc="0" smtClean="0">
                                <a:solidFill>
                                  <a:schemeClr val="tx1"/>
                                </a:solidFill>
                                <a:latin typeface="Cambria Math"/>
                              </a:rPr>
                              <m:t>𝑗</m:t>
                            </m:r>
                          </m:sub>
                        </m:sSub>
                      </m:e>
                    </m:d>
                  </m:oMath>
                </a14:m>
                <a:br>
                  <a:rPr lang="en-US" sz="2233" cap="none" spc="0">
                    <a:solidFill>
                      <a:schemeClr val="tx1"/>
                    </a:solidFill>
                    <a:latin typeface="+mn-lt"/>
                  </a:rPr>
                </a:br>
                <a:endParaRPr lang="en-US" sz="2233"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It computes the dot product in feature space </a:t>
                </a:r>
                <a:r>
                  <a:rPr lang="en-US" sz="2233" b="1" cap="none" spc="0">
                    <a:solidFill>
                      <a:schemeClr val="tx1"/>
                    </a:solidFill>
                    <a:latin typeface="+mn-lt"/>
                  </a:rPr>
                  <a:t>without explicitly computing </a:t>
                </a:r>
                <a14:m>
                  <m:oMath xmlns:m="http://schemas.openxmlformats.org/officeDocument/2006/math">
                    <m:r>
                      <a:rPr lang="en-US" sz="2233" i="1" cap="none" spc="0">
                        <a:solidFill>
                          <a:schemeClr val="tx1"/>
                        </a:solidFill>
                        <a:latin typeface="Cambria Math"/>
                      </a:rPr>
                      <m:t>𝜙</m:t>
                    </m:r>
                  </m:oMath>
                </a14:m>
                <a:r>
                  <a:rPr lang="en-US" sz="2233" cap="none" spc="0">
                    <a:solidFill>
                      <a:schemeClr val="tx1"/>
                    </a:solidFill>
                    <a:latin typeface="+mn-lt"/>
                  </a:rPr>
                  <a:t>.</a:t>
                </a:r>
              </a:p>
              <a:p>
                <a:pPr>
                  <a:defRPr sz="2233" cap="none" spc="0">
                    <a:solidFill>
                      <a:schemeClr val="tx1"/>
                    </a:solidFill>
                    <a:latin typeface="+mn-lt"/>
                  </a:defRPr>
                </a:pPr>
                <a:r>
                  <a:rPr lang="en-US" sz="2233" cap="none" spc="0">
                    <a:solidFill>
                      <a:schemeClr val="tx1"/>
                    </a:solidFill>
                    <a:latin typeface="+mn-lt"/>
                  </a:rPr>
                  <a:t>This is the kernel trick.</a:t>
                </a:r>
              </a:p>
              <a:p>
                <a:pPr>
                  <a:defRPr sz="2233" cap="none" spc="0">
                    <a:solidFill>
                      <a:schemeClr val="tx1"/>
                    </a:solidFill>
                    <a:latin typeface="+mn-lt"/>
                  </a:defRPr>
                </a:pPr>
                <a:endParaRPr lang="en-US" sz="2233" cap="none" spc="0">
                  <a:solidFill>
                    <a:schemeClr val="tx1"/>
                  </a:solidFill>
                  <a:latin typeface="+mn-lt"/>
                </a:endParaRPr>
              </a:p>
            </p:txBody>
          </p:sp>
        </mc:Choice>
        <mc:Fallback xmlns="">
          <p:sp>
            <p:nvSpPr>
              <p:cNvPr id="2" name="Text Placeholder 1">
                <a:extLst>
                  <a:ext uri="{FF2B5EF4-FFF2-40B4-BE49-F238E27FC236}">
                    <a16:creationId xmlns:a16="http://schemas.microsoft.com/office/drawing/2014/main" id="{6936B0CC-459C-C8C3-3A17-949AC8A8174D}"/>
                  </a:ext>
                </a:extLst>
              </p:cNvPr>
              <p:cNvSpPr>
                <a:spLocks noGrp="1" noRot="1" noChangeAspect="1" noMove="1" noResize="1" noEditPoints="1" noAdjustHandles="1" noChangeArrowheads="1" noChangeShapeType="1" noTextEdit="1"/>
              </p:cNvSpPr>
              <p:nvPr>
                <p:ph type="body" idx="1"/>
              </p:nvPr>
            </p:nvSpPr>
            <p:spPr>
              <a:xfrm>
                <a:off x="747345" y="3160167"/>
                <a:ext cx="11403503" cy="5317814"/>
              </a:xfrm>
              <a:blipFill>
                <a:blip r:embed="rId2"/>
                <a:stretch>
                  <a:fillRect l="-642"/>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05BD891F-1BF0-C4FD-BFD4-CDBC9DC3A15C}"/>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Kernel Trick</a:t>
            </a:r>
          </a:p>
        </p:txBody>
      </p:sp>
    </p:spTree>
    <p:extLst>
      <p:ext uri="{BB962C8B-B14F-4D97-AF65-F5344CB8AC3E}">
        <p14:creationId xmlns:p14="http://schemas.microsoft.com/office/powerpoint/2010/main" val="3429124396"/>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The previous example uses the 2nd order polynomial kerne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dirty="0">
                <a:solidFill>
                  <a:schemeClr val="tx1"/>
                </a:solidFill>
                <a:latin typeface="+mn-lt"/>
              </a:rPr>
              <a:t>Linear: K(a, b) = </a:t>
            </a:r>
            <a:r>
              <a:rPr lang="en-US" sz="2233" cap="none" spc="0" dirty="0" err="1">
                <a:solidFill>
                  <a:schemeClr val="tx1"/>
                </a:solidFill>
                <a:latin typeface="+mn-lt"/>
              </a:rPr>
              <a:t>aᵀb</a:t>
            </a:r>
            <a:r>
              <a:rPr lang="en-US" sz="2233" cap="none" spc="0" dirty="0">
                <a:solidFill>
                  <a:schemeClr val="tx1"/>
                </a:solidFill>
                <a:latin typeface="+mn-lt"/>
              </a:rPr>
              <a:t>
A straight hyperplane in the original feature space.</a:t>
            </a:r>
          </a:p>
          <a:p>
            <a:pPr>
              <a:defRPr sz="2233" cap="none" spc="0">
                <a:solidFill>
                  <a:schemeClr val="tx1"/>
                </a:solidFill>
                <a:latin typeface="+mn-lt"/>
              </a:defRPr>
            </a:pPr>
            <a:r>
              <a:rPr lang="en-US" sz="2233" cap="none" spc="0" dirty="0">
                <a:solidFill>
                  <a:schemeClr val="tx1"/>
                </a:solidFill>
                <a:latin typeface="+mn-lt"/>
              </a:rPr>
              <a:t>Polynomial: K(a, b) = (</a:t>
            </a:r>
            <a:r>
              <a:rPr lang="el-GR" sz="2233" cap="none" spc="0" dirty="0">
                <a:solidFill>
                  <a:schemeClr val="tx1"/>
                </a:solidFill>
                <a:latin typeface="+mn-lt"/>
              </a:rPr>
              <a:t>γ</a:t>
            </a:r>
            <a:r>
              <a:rPr lang="en-US" sz="2233" cap="none" spc="0" dirty="0" err="1">
                <a:solidFill>
                  <a:schemeClr val="tx1"/>
                </a:solidFill>
                <a:latin typeface="+mn-lt"/>
              </a:rPr>
              <a:t>aᵀb</a:t>
            </a:r>
            <a:r>
              <a:rPr lang="en-US" sz="2233" cap="none" spc="0" dirty="0">
                <a:solidFill>
                  <a:schemeClr val="tx1"/>
                </a:solidFill>
                <a:latin typeface="+mn-lt"/>
              </a:rPr>
              <a:t> + r)ᵈ
Adds feature interactions. Larger degree d permits more complex global boundaries.</a:t>
            </a:r>
          </a:p>
          <a:p>
            <a:pPr>
              <a:defRPr sz="2233" cap="none" spc="0">
                <a:solidFill>
                  <a:schemeClr val="tx1"/>
                </a:solidFill>
                <a:latin typeface="+mn-lt"/>
              </a:defRPr>
            </a:pPr>
            <a:r>
              <a:rPr lang="en-US" sz="2233" cap="none" spc="0" dirty="0">
                <a:solidFill>
                  <a:schemeClr val="tx1"/>
                </a:solidFill>
                <a:latin typeface="+mn-lt"/>
              </a:rPr>
              <a:t>Gaussian RBF: K(a, b) = exp(−</a:t>
            </a:r>
            <a:r>
              <a:rPr lang="el-GR" sz="2233" cap="none" spc="0" dirty="0">
                <a:solidFill>
                  <a:schemeClr val="tx1"/>
                </a:solidFill>
                <a:latin typeface="+mn-lt"/>
              </a:rPr>
              <a:t>γ‖</a:t>
            </a:r>
            <a:r>
              <a:rPr lang="en-US" sz="2233" cap="none" spc="0" dirty="0">
                <a:solidFill>
                  <a:schemeClr val="tx1"/>
                </a:solidFill>
                <a:latin typeface="+mn-lt"/>
              </a:rPr>
              <a:t>a − b‖²)
Nearby points have greater similarity. Larger </a:t>
            </a:r>
            <a:r>
              <a:rPr lang="el-GR" sz="2233" cap="none" spc="0" dirty="0">
                <a:solidFill>
                  <a:schemeClr val="tx1"/>
                </a:solidFill>
                <a:latin typeface="+mn-lt"/>
              </a:rPr>
              <a:t>γ </a:t>
            </a:r>
            <a:r>
              <a:rPr lang="en-US" sz="2233" cap="none" spc="0" dirty="0">
                <a:solidFill>
                  <a:schemeClr val="tx1"/>
                </a:solidFill>
                <a:latin typeface="+mn-lt"/>
              </a:rPr>
              <a:t>makes each point’s influence more local.</a:t>
            </a:r>
          </a:p>
          <a:p>
            <a:pPr>
              <a:defRPr sz="2233" cap="none" spc="0">
                <a:solidFill>
                  <a:schemeClr val="tx1"/>
                </a:solidFill>
                <a:latin typeface="+mn-lt"/>
              </a:defRPr>
            </a:pPr>
            <a:r>
              <a:rPr lang="en-US" sz="2233" cap="none" spc="0" dirty="0">
                <a:solidFill>
                  <a:schemeClr val="tx1"/>
                </a:solidFill>
                <a:latin typeface="+mn-lt"/>
              </a:rPr>
              <a:t>The kernel changes pairwise similarities. C still sets the penalty for margin violations.</a:t>
            </a:r>
          </a:p>
          <a:p>
            <a:pPr>
              <a:defRPr sz="2233" cap="none" spc="0">
                <a:solidFill>
                  <a:schemeClr val="tx1"/>
                </a:solidFill>
                <a:latin typeface="+mn-lt"/>
              </a:defRPr>
            </a:pPr>
            <a:r>
              <a:rPr lang="en-US" sz="2233" cap="none" spc="0" dirty="0">
                <a:solidFill>
                  <a:schemeClr val="tx1"/>
                </a:solidFill>
                <a:latin typeface="+mn-lt"/>
              </a:rPr>
              <a:t>Scale features first. Tune C and kernel parameters together using validation data.</a:t>
            </a:r>
          </a:p>
        </p:txBody>
      </p:sp>
      <p:sp>
        <p:nvSpPr>
          <p:cNvPr id="273" name="Common Kernel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Common Kernels</a:t>
            </a:r>
          </a:p>
        </p:txBody>
      </p:sp>
    </p:spTree>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5" name="Primal vs Dual Proble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primal chooses the hyperplane parameters w and b, plus slack values ξᵢ.</a:t>
            </a:r>
          </a:p>
          <a:p>
            <a:pPr>
              <a:defRPr sz="2233" cap="none" spc="0">
                <a:solidFill>
                  <a:schemeClr val="tx1"/>
                </a:solidFill>
                <a:latin typeface="+mn-lt"/>
              </a:defRPr>
            </a:pPr>
            <a:r>
              <a:rPr lang="en-US" sz="2233" cap="none" spc="0">
                <a:solidFill>
                  <a:schemeClr val="tx1"/>
                </a:solidFill>
                <a:latin typeface="+mn-lt"/>
              </a:rPr>
              <a:t>The dual chooses one nonnegative weight αᵢ per training observation. Each weight belongs to that point’s margin constraint.</a:t>
            </a:r>
          </a:p>
          <a:p>
            <a:pPr>
              <a:defRPr sz="2233" cap="none" spc="0">
                <a:solidFill>
                  <a:schemeClr val="tx1"/>
                </a:solidFill>
                <a:latin typeface="+mn-lt"/>
              </a:defRPr>
            </a:pPr>
            <a:r>
              <a:rPr lang="en-US" sz="2233" cap="none" spc="0">
                <a:solidFill>
                  <a:schemeClr val="tx1"/>
                </a:solidFill>
                <a:latin typeface="+mn-lt"/>
              </a:rPr>
              <a:t>The optimization conditions connect the two views:
w = ∑ᵢ αᵢyᵢφ(xᵢ)</a:t>
            </a:r>
          </a:p>
          <a:p>
            <a:pPr>
              <a:defRPr sz="2233" cap="none" spc="0">
                <a:solidFill>
                  <a:schemeClr val="tx1"/>
                </a:solidFill>
                <a:latin typeface="+mn-lt"/>
              </a:defRPr>
            </a:pPr>
            <a:r>
              <a:rPr lang="en-US" sz="2233" cap="none" spc="0">
                <a:solidFill>
                  <a:schemeClr val="tx1"/>
                </a:solidFill>
                <a:latin typeface="+mn-lt"/>
              </a:rPr>
              <a:t>The dual therefore builds the normal vector from weighted training observations in feature space.</a:t>
            </a:r>
          </a:p>
          <a:p>
            <a:pPr>
              <a:defRPr sz="2233" cap="none" spc="0">
                <a:solidFill>
                  <a:schemeClr val="tx1"/>
                </a:solidFill>
                <a:latin typeface="+mn-lt"/>
              </a:defRPr>
            </a:pPr>
            <a:r>
              <a:rPr lang="en-US" sz="2233" cap="none" spc="0">
                <a:solidFill>
                  <a:schemeClr val="tx1"/>
                </a:solidFill>
                <a:latin typeface="+mn-lt"/>
              </a:rPr>
              <a:t>For soft-margin SVM with C &gt; 0, strong duality gives the same optimal objective value. Neither formulation is always faster.</a:t>
            </a:r>
          </a:p>
        </p:txBody>
      </p:sp>
      <p:sp>
        <p:nvSpPr>
          <p:cNvPr id="276" name="So how does this all fit i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Primal and Dual: The Idea</a:t>
            </a:r>
          </a:p>
        </p:txBody>
      </p:sp>
    </p:spTree>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9" name="If you’ve never taken an optimization class, the concept of primal vs dual can be a little confusing…"/>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Choose </a:t>
            </a:r>
            <a:r>
              <a:rPr lang="el-GR" sz="2233" cap="none" spc="0">
                <a:solidFill>
                  <a:schemeClr val="tx1"/>
                </a:solidFill>
                <a:latin typeface="+mn-lt"/>
              </a:rPr>
              <a:t>α₁, …, α</a:t>
            </a:r>
            <a:r>
              <a:rPr lang="en-US" sz="2233" cap="none" spc="0">
                <a:solidFill>
                  <a:schemeClr val="tx1"/>
                </a:solidFill>
                <a:latin typeface="+mn-lt"/>
              </a:rPr>
              <a:t>ₙ to maximize</a:t>
            </a:r>
          </a:p>
          <a:p>
            <a:pPr>
              <a:defRPr sz="2233" cap="none" spc="0">
                <a:solidFill>
                  <a:schemeClr val="tx1"/>
                </a:solidFill>
                <a:latin typeface="+mn-lt"/>
              </a:defRPr>
            </a:pPr>
            <a:r>
              <a:rPr lang="en-US" sz="2233" cap="none" spc="0">
                <a:solidFill>
                  <a:schemeClr val="tx1"/>
                </a:solidFill>
                <a:latin typeface="+mn-lt"/>
              </a:rPr>
              <a:t>∑ᵢ </a:t>
            </a:r>
            <a:r>
              <a:rPr lang="el-GR" sz="2233" cap="none" spc="0">
                <a:solidFill>
                  <a:schemeClr val="tx1"/>
                </a:solidFill>
                <a:latin typeface="+mn-lt"/>
              </a:rPr>
              <a:t>α</a:t>
            </a:r>
            <a:r>
              <a:rPr lang="en-US" sz="2233" cap="none" spc="0">
                <a:solidFill>
                  <a:schemeClr val="tx1"/>
                </a:solidFill>
                <a:latin typeface="+mn-lt"/>
              </a:rPr>
              <a:t>ᵢ − ½ ∑ᵢ ∑ⱼ </a:t>
            </a:r>
            <a:r>
              <a:rPr lang="el-GR" sz="2233" cap="none" spc="0">
                <a:solidFill>
                  <a:schemeClr val="tx1"/>
                </a:solidFill>
                <a:latin typeface="+mn-lt"/>
              </a:rPr>
              <a:t>α</a:t>
            </a:r>
            <a:r>
              <a:rPr lang="en-US" sz="2233" cap="none" spc="0">
                <a:solidFill>
                  <a:schemeClr val="tx1"/>
                </a:solidFill>
                <a:latin typeface="+mn-lt"/>
              </a:rPr>
              <a:t>ᵢ</a:t>
            </a:r>
            <a:r>
              <a:rPr lang="el-GR" sz="2233" cap="none" spc="0">
                <a:solidFill>
                  <a:schemeClr val="tx1"/>
                </a:solidFill>
                <a:latin typeface="+mn-lt"/>
              </a:rPr>
              <a:t>α</a:t>
            </a:r>
            <a:r>
              <a:rPr lang="en-US" sz="2233" cap="none" spc="0">
                <a:solidFill>
                  <a:schemeClr val="tx1"/>
                </a:solidFill>
                <a:latin typeface="+mn-lt"/>
              </a:rPr>
              <a:t>ⱼyᵢyⱼ K(xᵢ, xⱼ)</a:t>
            </a:r>
          </a:p>
          <a:p>
            <a:pPr>
              <a:defRPr sz="2233" cap="none" spc="0">
                <a:solidFill>
                  <a:schemeClr val="tx1"/>
                </a:solidFill>
                <a:latin typeface="+mn-lt"/>
              </a:defRPr>
            </a:pPr>
            <a:r>
              <a:rPr lang="en-US" sz="2233" cap="none" spc="0">
                <a:solidFill>
                  <a:schemeClr val="tx1"/>
                </a:solidFill>
                <a:latin typeface="+mn-lt"/>
              </a:rPr>
              <a:t>Subject to:   0 ≤ </a:t>
            </a:r>
            <a:r>
              <a:rPr lang="el-GR" sz="2233" cap="none" spc="0">
                <a:solidFill>
                  <a:schemeClr val="tx1"/>
                </a:solidFill>
                <a:latin typeface="+mn-lt"/>
              </a:rPr>
              <a:t>α</a:t>
            </a:r>
            <a:r>
              <a:rPr lang="en-US" sz="2233" cap="none" spc="0">
                <a:solidFill>
                  <a:schemeClr val="tx1"/>
                </a:solidFill>
                <a:latin typeface="+mn-lt"/>
              </a:rPr>
              <a:t>ᵢ ≤ C for every i
and             ∑ᵢ </a:t>
            </a:r>
            <a:r>
              <a:rPr lang="el-GR" sz="2233" cap="none" spc="0">
                <a:solidFill>
                  <a:schemeClr val="tx1"/>
                </a:solidFill>
                <a:latin typeface="+mn-lt"/>
              </a:rPr>
              <a:t>α</a:t>
            </a:r>
            <a:r>
              <a:rPr lang="en-US" sz="2233" cap="none" spc="0">
                <a:solidFill>
                  <a:schemeClr val="tx1"/>
                </a:solidFill>
                <a:latin typeface="+mn-lt"/>
              </a:rPr>
              <a:t>ᵢyᵢ = 0</a:t>
            </a:r>
          </a:p>
          <a:p>
            <a:pPr>
              <a:defRPr sz="2233" cap="none" spc="0">
                <a:solidFill>
                  <a:schemeClr val="tx1"/>
                </a:solidFill>
                <a:latin typeface="+mn-lt"/>
              </a:defRPr>
            </a:pPr>
            <a:r>
              <a:rPr lang="en-US" sz="2233" cap="none" spc="0">
                <a:solidFill>
                  <a:schemeClr val="tx1"/>
                </a:solidFill>
                <a:latin typeface="+mn-lt"/>
              </a:rPr>
              <a:t>K(xᵢ, xⱼ) = </a:t>
            </a:r>
            <a:r>
              <a:rPr lang="el-GR" sz="2233" cap="none" spc="0">
                <a:solidFill>
                  <a:schemeClr val="tx1"/>
                </a:solidFill>
                <a:latin typeface="+mn-lt"/>
              </a:rPr>
              <a:t>φ(</a:t>
            </a:r>
            <a:r>
              <a:rPr lang="en-US" sz="2233" cap="none" spc="0">
                <a:solidFill>
                  <a:schemeClr val="tx1"/>
                </a:solidFill>
                <a:latin typeface="+mn-lt"/>
              </a:rPr>
              <a:t>xᵢ)ᵀ</a:t>
            </a:r>
            <a:r>
              <a:rPr lang="el-GR" sz="2233" cap="none" spc="0">
                <a:solidFill>
                  <a:schemeClr val="tx1"/>
                </a:solidFill>
                <a:latin typeface="+mn-lt"/>
              </a:rPr>
              <a:t>φ(</a:t>
            </a:r>
            <a:r>
              <a:rPr lang="en-US" sz="2233" cap="none" spc="0">
                <a:solidFill>
                  <a:schemeClr val="tx1"/>
                </a:solidFill>
                <a:latin typeface="+mn-lt"/>
              </a:rPr>
              <a:t>xⱼ). For a linear SVM, K(xᵢ, xⱼ) = xᵢᵀxⱼ.</a:t>
            </a:r>
          </a:p>
          <a:p>
            <a:pPr>
              <a:defRPr sz="2233" cap="none" spc="0">
                <a:solidFill>
                  <a:schemeClr val="tx1"/>
                </a:solidFill>
                <a:latin typeface="+mn-lt"/>
              </a:defRPr>
            </a:pPr>
            <a:r>
              <a:rPr lang="en-US" sz="2233" cap="none" spc="0">
                <a:solidFill>
                  <a:schemeClr val="tx1"/>
                </a:solidFill>
                <a:latin typeface="+mn-lt"/>
              </a:rPr>
              <a:t>The first term rewards weight on active constraints. The quadratic term equals ½‖w‖² for the implied w.</a:t>
            </a:r>
          </a:p>
        </p:txBody>
      </p:sp>
      <p:sp>
        <p:nvSpPr>
          <p:cNvPr id="290" name="Math is coo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SVM Dual Problem</a:t>
            </a: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αᵢ = 0: the observation contributes no term to the prediction. Points strictly beyond the margin have zero weight.</a:t>
            </a:r>
          </a:p>
          <a:p>
            <a:pPr>
              <a:defRPr sz="2233" cap="none" spc="0">
                <a:solidFill>
                  <a:schemeClr val="tx1"/>
                </a:solidFill>
                <a:latin typeface="+mn-lt"/>
              </a:defRPr>
            </a:pPr>
            <a:r>
              <a:rPr lang="en-US" sz="2233" cap="none" spc="0">
                <a:solidFill>
                  <a:schemeClr val="tx1"/>
                </a:solidFill>
                <a:latin typeface="+mn-lt"/>
              </a:rPr>
              <a:t>0 &lt; αᵢ &lt; C: the observation lies exactly on its margin edge. It is a support vector.</a:t>
            </a:r>
          </a:p>
          <a:p>
            <a:pPr>
              <a:defRPr sz="2233" cap="none" spc="0">
                <a:solidFill>
                  <a:schemeClr val="tx1"/>
                </a:solidFill>
                <a:latin typeface="+mn-lt"/>
              </a:defRPr>
            </a:pPr>
            <a:r>
              <a:rPr lang="en-US" sz="2233" cap="none" spc="0">
                <a:solidFill>
                  <a:schemeClr val="tx1"/>
                </a:solidFill>
                <a:latin typeface="+mn-lt"/>
              </a:rPr>
              <a:t>αᵢ = C: the observation lies on or inside its margin edge. It may be correctly classified or misclassified.</a:t>
            </a:r>
          </a:p>
          <a:p>
            <a:pPr>
              <a:defRPr sz="2233" cap="none" spc="0">
                <a:solidFill>
                  <a:schemeClr val="tx1"/>
                </a:solidFill>
                <a:latin typeface="+mn-lt"/>
              </a:defRPr>
            </a:pPr>
            <a:r>
              <a:rPr lang="en-US" sz="2233" cap="none" spc="0">
                <a:solidFill>
                  <a:schemeClr val="tx1"/>
                </a:solidFill>
                <a:latin typeface="+mn-lt"/>
              </a:rPr>
              <a:t>Example: yᵢ = +1 and f(xᵢ) = 0.4 give ξᵢ = 0.6 and αᵢ = C. The point violates the margin, but its label is correct.</a:t>
            </a:r>
          </a:p>
          <a:p>
            <a:pPr>
              <a:defRPr sz="2233" cap="none" spc="0">
                <a:solidFill>
                  <a:schemeClr val="tx1"/>
                </a:solidFill>
                <a:latin typeface="+mn-lt"/>
              </a:defRPr>
            </a:pPr>
            <a:r>
              <a:rPr lang="en-US" sz="2233" cap="none" spc="0">
                <a:solidFill>
                  <a:schemeClr val="tx1"/>
                </a:solidFill>
                <a:latin typeface="+mn-lt"/>
              </a:rPr>
              <a:t>Only observations with αᵢ &gt; 0 appear in the fitted decision function.</a:t>
            </a:r>
          </a:p>
        </p:txBody>
      </p:sp>
      <p:sp>
        <p:nvSpPr>
          <p:cNvPr id="3" name="Title 2"/>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Interpreting Dual Weights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92" name="A kernel function replaces the dot product in the SVM objective functio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Training: compute K(xᵢ, xⱼ) for training pairs, then solve the dual for α and recover b.</a:t>
            </a:r>
          </a:p>
          <a:p>
            <a:pPr>
              <a:defRPr sz="2233" cap="none" spc="0">
                <a:solidFill>
                  <a:schemeClr val="tx1"/>
                </a:solidFill>
                <a:latin typeface="+mn-lt"/>
              </a:defRPr>
            </a:pPr>
            <a:r>
              <a:rPr lang="en-US" sz="2233" cap="none" spc="0">
                <a:solidFill>
                  <a:schemeClr val="tx1"/>
                </a:solidFill>
                <a:latin typeface="+mn-lt"/>
              </a:rPr>
              <a:t>Prediction: compare a new point x with the support vectors:</a:t>
            </a:r>
          </a:p>
          <a:p>
            <a:pPr>
              <a:defRPr sz="2233" cap="none" spc="0">
                <a:solidFill>
                  <a:schemeClr val="tx1"/>
                </a:solidFill>
                <a:latin typeface="+mn-lt"/>
              </a:defRPr>
            </a:pPr>
            <a:r>
              <a:rPr lang="en-US" sz="2233" cap="none" spc="0">
                <a:solidFill>
                  <a:schemeClr val="tx1"/>
                </a:solidFill>
                <a:latin typeface="+mn-lt"/>
              </a:rPr>
              <a:t>f(x) = ∑ᵢ αᵢyᵢ K(xᵢ, x) + b
Predict +1 if f(x) &gt; 0 and −1 if f(x) &lt; 0.</a:t>
            </a:r>
          </a:p>
          <a:p>
            <a:pPr>
              <a:defRPr sz="2233" cap="none" spc="0">
                <a:solidFill>
                  <a:schemeClr val="tx1"/>
                </a:solidFill>
                <a:latin typeface="+mn-lt"/>
              </a:defRPr>
            </a:pPr>
            <a:r>
              <a:rPr lang="en-US" sz="2233" cap="none" spc="0">
                <a:solidFill>
                  <a:schemeClr val="tx1"/>
                </a:solidFill>
                <a:latin typeface="+mn-lt"/>
              </a:rPr>
              <a:t>A linear kernel gives f(x) = wᵀx + b. Other kernels can produce a curved boundary in the original space.</a:t>
            </a:r>
          </a:p>
          <a:p>
            <a:pPr>
              <a:defRPr sz="2233" cap="none" spc="0">
                <a:solidFill>
                  <a:schemeClr val="tx1"/>
                </a:solidFill>
                <a:latin typeface="+mn-lt"/>
              </a:defRPr>
            </a:pPr>
            <a:r>
              <a:rPr lang="en-US" sz="2233" cap="none" spc="0">
                <a:solidFill>
                  <a:schemeClr val="tx1"/>
                </a:solidFill>
                <a:latin typeface="+mn-lt"/>
              </a:rPr>
              <a:t>We use the same kernel in training and prediction. We never need to construct φ(x) explicitly.</a:t>
            </a:r>
          </a:p>
        </p:txBody>
      </p:sp>
      <p:sp>
        <p:nvSpPr>
          <p:cNvPr id="293" name="Summary of the Kernel Trick in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Kernel Training and Prediction</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97" name="The Gaussian RBF kernel is very popular and is the default for the SVC and SVR functions in sklearn"/>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dirty="0">
                    <a:solidFill>
                      <a:schemeClr val="tx1"/>
                    </a:solidFill>
                    <a:latin typeface="+mn-lt"/>
                  </a:rPr>
                  <a:t>The Gaussian RBF kernel is very popular and is the default for the </a:t>
                </a:r>
                <a:r>
                  <a:rPr lang="en-US" sz="2233" b="1" cap="none" spc="0" dirty="0">
                    <a:solidFill>
                      <a:schemeClr val="tx1"/>
                    </a:solidFill>
                    <a:latin typeface="Courier New"/>
                  </a:rPr>
                  <a:t>SVC</a:t>
                </a:r>
                <a:r>
                  <a:rPr lang="en-US" sz="2233" cap="none" spc="0" dirty="0">
                    <a:solidFill>
                      <a:schemeClr val="tx1"/>
                    </a:solidFill>
                    <a:latin typeface="+mn-lt"/>
                  </a:rPr>
                  <a:t> and </a:t>
                </a:r>
                <a:r>
                  <a:rPr lang="en-US" sz="2233" b="1" cap="none" spc="0" dirty="0">
                    <a:solidFill>
                      <a:schemeClr val="tx1"/>
                    </a:solidFill>
                    <a:latin typeface="Courier New"/>
                  </a:rPr>
                  <a:t>SVR</a:t>
                </a:r>
                <a:r>
                  <a:rPr lang="en-US" sz="2233" cap="none" spc="0" dirty="0">
                    <a:solidFill>
                      <a:schemeClr val="tx1"/>
                    </a:solidFill>
                    <a:latin typeface="+mn-lt"/>
                  </a:rPr>
                  <a:t> functions in </a:t>
                </a:r>
                <a:r>
                  <a:rPr lang="en-US" sz="2233" cap="none" spc="0" dirty="0" err="1">
                    <a:solidFill>
                      <a:schemeClr val="tx1"/>
                    </a:solidFill>
                    <a:latin typeface="+mn-lt"/>
                  </a:rPr>
                  <a:t>sklearn</a:t>
                </a:r>
                <a:endParaRPr lang="en-US" sz="2233" cap="none" spc="0" dirty="0">
                  <a:solidFill>
                    <a:schemeClr val="tx1"/>
                  </a:solidFill>
                  <a:latin typeface="+mn-lt"/>
                </a:endParaRPr>
              </a:p>
              <a:p>
                <a:pPr>
                  <a:defRPr sz="2233" cap="none" spc="0">
                    <a:solidFill>
                      <a:schemeClr val="tx1"/>
                    </a:solidFill>
                    <a:latin typeface="+mn-lt"/>
                  </a:defRPr>
                </a:pPr>
                <a14:m>
                  <m:oMath xmlns:m="http://schemas.openxmlformats.org/officeDocument/2006/math">
                    <m:r>
                      <a:rPr sz="2233" i="1" cap="none" spc="0">
                        <a:solidFill>
                          <a:schemeClr val="tx1"/>
                        </a:solidFill>
                        <a:latin typeface="Cambria Math"/>
                      </a:rPr>
                      <m:t>𝐾</m:t>
                    </m:r>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m:t>
                    </m:r>
                    <m:r>
                      <a:rPr sz="2233" i="1" cap="none" spc="0">
                        <a:solidFill>
                          <a:schemeClr val="tx1"/>
                        </a:solidFill>
                        <a:latin typeface="Cambria Math"/>
                      </a:rPr>
                      <m:t>𝛾</m:t>
                    </m:r>
                    <m:r>
                      <a:rPr sz="2233" i="1" cap="none" spc="0">
                        <a:solidFill>
                          <a:schemeClr val="tx1"/>
                        </a:solidFill>
                        <a:latin typeface="Cambria Math"/>
                      </a:rPr>
                      <m:t>(||</m:t>
                    </m:r>
                    <m:r>
                      <a:rPr sz="2233" i="1" cap="none" spc="0">
                        <a:solidFill>
                          <a:schemeClr val="tx1"/>
                        </a:solidFill>
                        <a:latin typeface="Cambria Math"/>
                      </a:rPr>
                      <m:t>𝐚</m:t>
                    </m:r>
                    <m:r>
                      <a:rPr sz="2233" i="1" cap="none" spc="0">
                        <a:solidFill>
                          <a:schemeClr val="tx1"/>
                        </a:solidFill>
                        <a:latin typeface="Cambria Math"/>
                      </a:rPr>
                      <m:t>−</m:t>
                    </m:r>
                    <m:r>
                      <a:rPr sz="2233" i="1" cap="none" spc="0">
                        <a:solidFill>
                          <a:schemeClr val="tx1"/>
                        </a:solidFill>
                        <a:latin typeface="Cambria Math"/>
                      </a:rPr>
                      <m:t>𝐛</m:t>
                    </m:r>
                    <m:r>
                      <a:rPr sz="2233" i="1" cap="none" spc="0">
                        <a:solidFill>
                          <a:schemeClr val="tx1"/>
                        </a:solidFill>
                        <a:latin typeface="Cambria Math"/>
                      </a:rPr>
                      <m:t>|</m:t>
                    </m:r>
                    <m:sSup>
                      <m:sSupPr>
                        <m:ctrlPr>
                          <a:rPr sz="2233" i="1" cap="none" spc="0">
                            <a:solidFill>
                              <a:schemeClr val="tx1"/>
                            </a:solidFill>
                            <a:latin typeface="Cambria Math"/>
                          </a:rPr>
                        </m:ctrlPr>
                      </m:sSupPr>
                      <m:e>
                        <m:r>
                          <a:rPr sz="2233" i="1" cap="none" spc="0">
                            <a:solidFill>
                              <a:schemeClr val="tx1"/>
                            </a:solidFill>
                            <a:latin typeface="Cambria Math"/>
                          </a:rPr>
                          <m:t>|</m:t>
                        </m:r>
                      </m:e>
                      <m:sup>
                        <m:r>
                          <a:rPr sz="2233" i="1" cap="none" spc="0">
                            <a:solidFill>
                              <a:schemeClr val="tx1"/>
                            </a:solidFill>
                            <a:latin typeface="Cambria Math"/>
                          </a:rPr>
                          <m:t>2</m:t>
                        </m:r>
                      </m:sup>
                    </m:sSup>
                    <m:r>
                      <a:rPr sz="2233" i="1" cap="none" spc="0">
                        <a:solidFill>
                          <a:schemeClr val="tx1"/>
                        </a:solidFill>
                        <a:latin typeface="Cambria Math"/>
                      </a:rPr>
                      <m:t>)</m:t>
                    </m:r>
                  </m:oMath>
                </a14:m>
                <a:endParaRPr lang="en-US" sz="2233" cap="none" spc="0" dirty="0">
                  <a:solidFill>
                    <a:schemeClr val="tx1"/>
                  </a:solidFill>
                  <a:latin typeface="+mn-lt"/>
                </a:endParaRPr>
              </a:p>
            </p:txBody>
          </p:sp>
        </mc:Choice>
        <mc:Fallback xmlns="">
          <p:sp>
            <p:nvSpPr>
              <p:cNvPr id="297" name="The Gaussian RBF kernel is very popular and is the default for the SVC and SVR functions in sklearn"/>
              <p:cNvSpPr txBox="1">
                <a:spLocks noGrp="1" noRot="1" noChangeAspect="1" noMove="1" noResize="1" noEditPoints="1" noAdjustHandles="1" noChangeArrowheads="1" noChangeShapeType="1" noTextEdit="1"/>
              </p:cNvSpPr>
              <p:nvPr>
                <p:ph type="body" idx="1"/>
              </p:nvPr>
            </p:nvSpPr>
            <p:spPr>
              <a:xfrm>
                <a:off x="747345" y="3225578"/>
                <a:ext cx="11403503" cy="5131133"/>
              </a:xfrm>
              <a:prstGeom prst="rect">
                <a:avLst/>
              </a:prstGeom>
              <a:blipFill>
                <a:blip r:embed="rId2"/>
                <a:stretch>
                  <a:fillRect l="-642" t="-713" r="-214"/>
                </a:stretch>
              </a:blipFill>
            </p:spPr>
            <p:txBody>
              <a:bodyPr/>
              <a:lstStyle/>
              <a:p>
                <a:r>
                  <a:rPr lang="en-US">
                    <a:noFill/>
                  </a:rPr>
                  <a:t> </a:t>
                </a:r>
              </a:p>
            </p:txBody>
          </p:sp>
        </mc:Fallback>
      </mc:AlternateContent>
      <p:sp>
        <p:nvSpPr>
          <p:cNvPr id="29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the RBF Kernel</a:t>
            </a: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07" name="The   parameter is sort of the inverse standard deviation of the Gaussian used to compute the similarity feature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The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parameter is sort of the inverse standard deviation of the Gaussian used to compute the similarity features</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decreases, the standard deviation gets larger and it is easier to have a non-negligible distance from the landmark</a:t>
                </a:r>
              </a:p>
              <a:p>
                <a:pPr lvl="1">
                  <a:defRPr sz="2020" cap="none" spc="0">
                    <a:solidFill>
                      <a:schemeClr val="tx1"/>
                    </a:solidFill>
                    <a:latin typeface="+mn-lt"/>
                  </a:defRPr>
                </a:pPr>
                <a:r>
                  <a:rPr lang="en-US" sz="2020" cap="none" spc="0">
                    <a:solidFill>
                      <a:schemeClr val="tx1"/>
                    </a:solidFill>
                    <a:latin typeface="+mn-lt"/>
                  </a:rPr>
                  <a:t>Small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smooth more and can lead to underfitting </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increases, the standard deviations get smaller and it is many of the distances from the landmark will be very close to zero</a:t>
                </a:r>
              </a:p>
              <a:p>
                <a:pPr lvl="1">
                  <a:defRPr sz="2020" cap="none" spc="0">
                    <a:solidFill>
                      <a:schemeClr val="tx1"/>
                    </a:solidFill>
                    <a:latin typeface="+mn-lt"/>
                  </a:defRPr>
                </a:pPr>
                <a:r>
                  <a:rPr lang="en-US" sz="2020" cap="none" spc="0">
                    <a:solidFill>
                      <a:schemeClr val="tx1"/>
                    </a:solidFill>
                    <a:latin typeface="+mn-lt"/>
                  </a:rPr>
                  <a:t>Large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capture small variations and can lead to overfitting </a:t>
                </a:r>
              </a:p>
            </p:txBody>
          </p:sp>
        </mc:Choice>
        <mc:Fallback xmlns="">
          <p:sp>
            <p:nvSpPr>
              <p:cNvPr id="307" name="The   parameter is sort of the inverse standard deviation of the Gaussian used to compute the similarity feature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r="-214"/>
                </a:stretch>
              </a:blipFill>
            </p:spPr>
            <p:txBody>
              <a:bodyPr/>
              <a:lstStyle/>
              <a:p>
                <a:r>
                  <a:rPr lang="en-US">
                    <a:noFill/>
                  </a:rPr>
                  <a:t> </a:t>
                </a:r>
              </a:p>
            </p:txBody>
          </p:sp>
        </mc:Fallback>
      </mc:AlternateContent>
      <p:sp>
        <p:nvSpPr>
          <p:cNvPr id="30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0" name="Main idea…"/>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Main idea</a:t>
            </a:r>
          </a:p>
          <a:p>
            <a:pPr lvl="1">
              <a:defRPr sz="2020" cap="none" spc="0">
                <a:solidFill>
                  <a:schemeClr val="tx1"/>
                </a:solidFill>
                <a:latin typeface="+mn-lt"/>
              </a:defRPr>
            </a:pPr>
            <a:r>
              <a:rPr lang="en-US" sz="2020" cap="none" spc="0">
                <a:solidFill>
                  <a:schemeClr val="tx1"/>
                </a:solidFill>
                <a:latin typeface="+mn-lt"/>
              </a:rPr>
              <a:t>Rather than add polynomial features, we can also add “similarity” features </a:t>
            </a:r>
          </a:p>
          <a:p>
            <a:pPr lvl="1">
              <a:defRPr sz="2020" cap="none" spc="0">
                <a:solidFill>
                  <a:schemeClr val="tx1"/>
                </a:solidFill>
                <a:latin typeface="+mn-lt"/>
              </a:defRPr>
            </a:pPr>
            <a:r>
              <a:rPr lang="en-US" sz="2020" cap="none" spc="0">
                <a:solidFill>
                  <a:schemeClr val="tx1"/>
                </a:solidFill>
                <a:latin typeface="+mn-lt"/>
              </a:rPr>
              <a:t>The “similarity” features will also transform to a higher dimension</a:t>
            </a:r>
          </a:p>
          <a:p>
            <a:pPr lvl="2">
              <a:defRPr sz="1807" cap="none" spc="0">
                <a:solidFill>
                  <a:schemeClr val="tx1"/>
                </a:solidFill>
                <a:latin typeface="+mn-lt"/>
              </a:defRPr>
            </a:pPr>
            <a:r>
              <a:rPr lang="en-US" sz="1807" cap="none" spc="0">
                <a:solidFill>
                  <a:schemeClr val="tx1"/>
                </a:solidFill>
                <a:latin typeface="+mn-lt"/>
              </a:rPr>
              <a:t>Similarity features represent the similarity between two or more data points</a:t>
            </a:r>
          </a:p>
          <a:p>
            <a:pPr lvl="2">
              <a:defRPr sz="1807" cap="none" spc="0">
                <a:solidFill>
                  <a:schemeClr val="tx1"/>
                </a:solidFill>
                <a:latin typeface="+mn-lt"/>
              </a:defRPr>
            </a:pPr>
            <a:r>
              <a:rPr lang="en-US" sz="1807" cap="none" spc="0">
                <a:solidFill>
                  <a:schemeClr val="tx1"/>
                </a:solidFill>
                <a:latin typeface="+mn-lt"/>
              </a:rPr>
              <a:t>For example we can add features based on the RBF similarity function from several arbitrary landmarks </a:t>
            </a:r>
          </a:p>
          <a:p>
            <a:pPr lvl="2">
              <a:defRPr sz="1807" cap="none" spc="0">
                <a:solidFill>
                  <a:schemeClr val="tx1"/>
                </a:solidFill>
                <a:latin typeface="+mn-lt"/>
              </a:defRPr>
            </a:pPr>
            <a:r>
              <a:rPr lang="en-US" sz="1807" cap="none" spc="0">
                <a:solidFill>
                  <a:schemeClr val="tx1"/>
                </a:solidFill>
                <a:latin typeface="+mn-lt"/>
              </a:rPr>
              <a:t>RBF kernel corresponds to infinite-dimensional space</a:t>
            </a:r>
          </a:p>
        </p:txBody>
      </p:sp>
      <p:sp>
        <p:nvSpPr>
          <p:cNvPr id="301"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03" name="Example where original features space is 1-dimensional (just  )…"/>
              <p:cNvSpPr txBox="1">
                <a:spLocks noGrp="1"/>
              </p:cNvSpPr>
              <p:nvPr>
                <p:ph type="body" sz="half" idx="1"/>
              </p:nvPr>
            </p:nvSpPr>
            <p:spPr>
              <a:xfrm>
                <a:off x="747345" y="5956516"/>
                <a:ext cx="11403503" cy="267560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marL="243848" indent="-243848">
                  <a:defRPr sz="2233" cap="none" spc="0">
                    <a:solidFill>
                      <a:schemeClr val="tx1"/>
                    </a:solidFill>
                    <a:latin typeface="+mn-lt"/>
                  </a:defRPr>
                </a:pPr>
                <a:r>
                  <a:rPr lang="en-US" sz="2233" cap="none" spc="0" dirty="0">
                    <a:solidFill>
                      <a:schemeClr val="tx1"/>
                    </a:solidFill>
                    <a:latin typeface="+mn-lt"/>
                  </a:rPr>
                  <a:t>Example where original features space is 1-dimensional (just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dirty="0">
                    <a:solidFill>
                      <a:schemeClr val="tx1"/>
                    </a:solidFill>
                    <a:latin typeface="+mn-lt"/>
                  </a:rPr>
                  <a:t>)</a:t>
                </a:r>
              </a:p>
              <a:p>
                <a:pPr marL="243848" indent="-243848">
                  <a:defRPr sz="2233" cap="none" spc="0">
                    <a:solidFill>
                      <a:schemeClr val="tx1"/>
                    </a:solidFill>
                    <a:latin typeface="+mn-lt"/>
                  </a:defRPr>
                </a:pPr>
                <a:r>
                  <a:rPr lang="en-US" sz="2233" cap="none" spc="0" dirty="0">
                    <a:solidFill>
                      <a:schemeClr val="tx1"/>
                    </a:solidFill>
                    <a:latin typeface="+mn-lt"/>
                  </a:rPr>
                  <a:t>Let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2</m:t>
                        </m:r>
                      </m:sub>
                    </m:sSub>
                  </m:oMath>
                </a14:m>
                <a:r>
                  <a:rPr lang="en-US" sz="2233" cap="none" spc="0" dirty="0">
                    <a:solidFill>
                      <a:schemeClr val="tx1"/>
                    </a:solidFill>
                    <a:latin typeface="+mn-lt"/>
                  </a:rPr>
                  <a:t> be the similarity of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dirty="0">
                    <a:solidFill>
                      <a:schemeClr val="tx1"/>
                    </a:solidFill>
                    <a:latin typeface="+mn-lt"/>
                  </a:rPr>
                  <a:t> to landmark 1 and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3</m:t>
                        </m:r>
                      </m:sub>
                    </m:sSub>
                  </m:oMath>
                </a14:m>
                <a:r>
                  <a:rPr lang="en-US" sz="2233" cap="none" spc="0" dirty="0">
                    <a:solidFill>
                      <a:schemeClr val="tx1"/>
                    </a:solidFill>
                    <a:latin typeface="+mn-lt"/>
                  </a:rPr>
                  <a:t> be the similarity of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oMath>
                </a14:m>
                <a:r>
                  <a:rPr lang="en-US" sz="2233" cap="none" spc="0" dirty="0">
                    <a:solidFill>
                      <a:schemeClr val="tx1"/>
                    </a:solidFill>
                    <a:latin typeface="+mn-lt"/>
                  </a:rPr>
                  <a:t> to landmark 2</a:t>
                </a:r>
              </a:p>
              <a:p>
                <a:pPr marL="243848" indent="-243848">
                  <a:defRPr sz="2233" cap="none" spc="0">
                    <a:solidFill>
                      <a:schemeClr val="tx1"/>
                    </a:solidFill>
                    <a:latin typeface="+mn-lt"/>
                  </a:defRPr>
                </a:pPr>
                <a:r>
                  <a:rPr lang="en-US" sz="2233" cap="none" spc="0" dirty="0">
                    <a:solidFill>
                      <a:schemeClr val="tx1"/>
                    </a:solidFill>
                    <a:latin typeface="+mn-lt"/>
                  </a:rPr>
                  <a:t>For example, if </a:t>
                </a:r>
                <a14:m>
                  <m:oMath xmlns:m="http://schemas.openxmlformats.org/officeDocument/2006/math">
                    <m:r>
                      <a:rPr sz="2233" i="1" cap="none" spc="0">
                        <a:solidFill>
                          <a:schemeClr val="tx1"/>
                        </a:solidFill>
                        <a:latin typeface="Cambria Math"/>
                      </a:rPr>
                      <m:t>𝛾</m:t>
                    </m:r>
                    <m:r>
                      <a:rPr sz="2233" i="1" cap="none" spc="0">
                        <a:solidFill>
                          <a:schemeClr val="tx1"/>
                        </a:solidFill>
                        <a:latin typeface="Cambria Math"/>
                      </a:rPr>
                      <m:t>=0.3</m:t>
                    </m:r>
                  </m:oMath>
                </a14:m>
                <a:r>
                  <a:rPr lang="en-US" sz="2233" cap="none" spc="0" dirty="0">
                    <a:solidFill>
                      <a:schemeClr val="tx1"/>
                    </a:solidFill>
                    <a:latin typeface="+mn-lt"/>
                  </a:rPr>
                  <a:t>, for </a:t>
                </a: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1</m:t>
                        </m:r>
                      </m:sub>
                    </m:sSub>
                    <m:r>
                      <a:rPr sz="2233" i="1" cap="none" spc="0">
                        <a:solidFill>
                          <a:schemeClr val="tx1"/>
                        </a:solidFill>
                        <a:latin typeface="Cambria Math"/>
                      </a:rPr>
                      <m:t>=−1</m:t>
                    </m:r>
                  </m:oMath>
                </a14:m>
                <a:br>
                  <a:rPr lang="en-US" dirty="0"/>
                </a:b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2</m:t>
                        </m:r>
                      </m:sub>
                    </m:sSub>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(−0.3∗</m:t>
                    </m:r>
                    <m:sSup>
                      <m:sSupPr>
                        <m:ctrlPr>
                          <a:rPr sz="2233" i="1" cap="none" spc="0">
                            <a:solidFill>
                              <a:schemeClr val="tx1"/>
                            </a:solidFill>
                            <a:latin typeface="Cambria Math"/>
                          </a:rPr>
                        </m:ctrlPr>
                      </m:sSupPr>
                      <m:e>
                        <m:r>
                          <a:rPr sz="2233" i="1" cap="none" spc="0">
                            <a:solidFill>
                              <a:schemeClr val="tx1"/>
                            </a:solidFill>
                            <a:latin typeface="Cambria Math"/>
                          </a:rPr>
                          <m:t>1</m:t>
                        </m:r>
                      </m:e>
                      <m:sup>
                        <m:r>
                          <a:rPr sz="2233" i="1" cap="none" spc="0">
                            <a:solidFill>
                              <a:schemeClr val="tx1"/>
                            </a:solidFill>
                            <a:latin typeface="Cambria Math"/>
                          </a:rPr>
                          <m:t>2</m:t>
                        </m:r>
                      </m:sup>
                    </m:sSup>
                    <m:r>
                      <a:rPr sz="2233" i="1" cap="none" spc="0">
                        <a:solidFill>
                          <a:schemeClr val="tx1"/>
                        </a:solidFill>
                        <a:latin typeface="Cambria Math"/>
                      </a:rPr>
                      <m:t>)≈0.74</m:t>
                    </m:r>
                  </m:oMath>
                </a14:m>
                <a:br>
                  <a:rPr lang="en-US" sz="2233" i="1" cap="none" spc="0" dirty="0">
                    <a:solidFill>
                      <a:schemeClr val="tx1"/>
                    </a:solidFill>
                    <a:latin typeface="Cambria Math"/>
                  </a:rPr>
                </a:br>
                <a14:m>
                  <m:oMath xmlns:m="http://schemas.openxmlformats.org/officeDocument/2006/math">
                    <m:sSub>
                      <m:sSubPr>
                        <m:ctrlPr>
                          <a:rPr sz="2233" i="1" cap="none" spc="0">
                            <a:solidFill>
                              <a:schemeClr val="tx1"/>
                            </a:solidFill>
                            <a:latin typeface="Cambria Math"/>
                          </a:rPr>
                        </m:ctrlPr>
                      </m:sSubPr>
                      <m:e>
                        <m:r>
                          <a:rPr sz="2233" i="1" cap="none" spc="0">
                            <a:solidFill>
                              <a:schemeClr val="tx1"/>
                            </a:solidFill>
                            <a:latin typeface="Cambria Math"/>
                          </a:rPr>
                          <m:t>𝑥</m:t>
                        </m:r>
                      </m:e>
                      <m:sub>
                        <m:r>
                          <a:rPr sz="2233" i="1" cap="none" spc="0">
                            <a:solidFill>
                              <a:schemeClr val="tx1"/>
                            </a:solidFill>
                            <a:latin typeface="Cambria Math"/>
                          </a:rPr>
                          <m:t>3</m:t>
                        </m:r>
                      </m:sub>
                    </m:sSub>
                    <m:r>
                      <a:rPr sz="2233" i="1" cap="none" spc="0">
                        <a:solidFill>
                          <a:schemeClr val="tx1"/>
                        </a:solidFill>
                        <a:latin typeface="Cambria Math"/>
                      </a:rPr>
                      <m:t>=</m:t>
                    </m:r>
                    <m:r>
                      <m:rPr>
                        <m:sty m:val="p"/>
                      </m:rPr>
                      <a:rPr sz="2233" i="1" cap="none" spc="0">
                        <a:solidFill>
                          <a:schemeClr val="tx1"/>
                        </a:solidFill>
                        <a:latin typeface="Cambria Math"/>
                      </a:rPr>
                      <m:t>exp</m:t>
                    </m:r>
                    <m:r>
                      <a:rPr sz="2233" i="1" cap="none" spc="0">
                        <a:solidFill>
                          <a:schemeClr val="tx1"/>
                        </a:solidFill>
                        <a:latin typeface="Cambria Math"/>
                      </a:rPr>
                      <m:t>(−0.3∗(−2</m:t>
                    </m:r>
                    <m:sSup>
                      <m:sSupPr>
                        <m:ctrlPr>
                          <a:rPr sz="2233" i="1" cap="none" spc="0">
                            <a:solidFill>
                              <a:schemeClr val="tx1"/>
                            </a:solidFill>
                            <a:latin typeface="Cambria Math"/>
                          </a:rPr>
                        </m:ctrlPr>
                      </m:sSupPr>
                      <m:e>
                        <m:r>
                          <a:rPr sz="2233" i="1" cap="none" spc="0">
                            <a:solidFill>
                              <a:schemeClr val="tx1"/>
                            </a:solidFill>
                            <a:latin typeface="Cambria Math"/>
                          </a:rPr>
                          <m:t>)</m:t>
                        </m:r>
                      </m:e>
                      <m:sup>
                        <m:r>
                          <a:rPr sz="2233" i="1" cap="none" spc="0">
                            <a:solidFill>
                              <a:schemeClr val="tx1"/>
                            </a:solidFill>
                            <a:latin typeface="Cambria Math"/>
                          </a:rPr>
                          <m:t>2</m:t>
                        </m:r>
                      </m:sup>
                    </m:sSup>
                    <m:r>
                      <a:rPr sz="2233" i="1" cap="none" spc="0">
                        <a:solidFill>
                          <a:schemeClr val="tx1"/>
                        </a:solidFill>
                        <a:latin typeface="Cambria Math"/>
                      </a:rPr>
                      <m:t>)≈0.30</m:t>
                    </m:r>
                  </m:oMath>
                </a14:m>
                <a:endParaRPr lang="en-US" sz="2233" cap="none" spc="0" dirty="0">
                  <a:solidFill>
                    <a:schemeClr val="tx1"/>
                  </a:solidFill>
                  <a:latin typeface="+mn-lt"/>
                </a:endParaRPr>
              </a:p>
            </p:txBody>
          </p:sp>
        </mc:Choice>
        <mc:Fallback xmlns="">
          <p:sp>
            <p:nvSpPr>
              <p:cNvPr id="303" name="Example where original features space is 1-dimensional (just  )…"/>
              <p:cNvSpPr txBox="1">
                <a:spLocks noGrp="1" noRot="1" noChangeAspect="1" noMove="1" noResize="1" noEditPoints="1" noAdjustHandles="1" noChangeArrowheads="1" noChangeShapeType="1" noTextEdit="1"/>
              </p:cNvSpPr>
              <p:nvPr>
                <p:ph type="body" sz="half" idx="1"/>
              </p:nvPr>
            </p:nvSpPr>
            <p:spPr>
              <a:xfrm>
                <a:off x="747345" y="5956516"/>
                <a:ext cx="11403503" cy="2675604"/>
              </a:xfrm>
              <a:prstGeom prst="rect">
                <a:avLst/>
              </a:prstGeom>
              <a:blipFill>
                <a:blip r:embed="rId3"/>
                <a:stretch>
                  <a:fillRect l="-642" t="-1367"/>
                </a:stretch>
              </a:blipFill>
            </p:spPr>
            <p:txBody>
              <a:bodyPr/>
              <a:lstStyle/>
              <a:p>
                <a:r>
                  <a:rPr lang="en-US">
                    <a:noFill/>
                  </a:rPr>
                  <a:t> </a:t>
                </a:r>
              </a:p>
            </p:txBody>
          </p:sp>
        </mc:Fallback>
      </mc:AlternateContent>
      <p:sp>
        <p:nvSpPr>
          <p:cNvPr id="304" name="Example of Similarity Featur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Example of RBF Features</a:t>
            </a:r>
          </a:p>
        </p:txBody>
      </p:sp>
      <p:pic>
        <p:nvPicPr>
          <p:cNvPr id="305" name="pasted-image.png" descr="pasted-image.png"/>
          <p:cNvPicPr>
            <a:picLocks noChangeAspect="1"/>
          </p:cNvPicPr>
          <p:nvPr/>
        </p:nvPicPr>
        <p:blipFill>
          <a:blip r:embed="rId4"/>
          <a:stretch>
            <a:fillRect/>
          </a:stretch>
        </p:blipFill>
        <p:spPr>
          <a:xfrm>
            <a:off x="2698038" y="2977695"/>
            <a:ext cx="8007259" cy="2941295"/>
          </a:xfrm>
          <a:prstGeom prst="rect">
            <a:avLst/>
          </a:prstGeom>
          <a:ln w="12700">
            <a:miter lim="400000"/>
          </a:ln>
        </p:spPr>
      </p:pic>
    </p:spTree>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10" name="Comparing"/>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Comparing </a:t>
                </a:r>
                <a14:m>
                  <m:oMath xmlns:m="http://schemas.openxmlformats.org/officeDocument/2006/math">
                    <m:r>
                      <a:rPr sz="4267" b="0" i="1" cap="none" spc="32">
                        <a:solidFill>
                          <a:schemeClr val="tx1"/>
                        </a:solidFill>
                        <a:latin typeface="Cambria Math"/>
                      </a:rPr>
                      <m:t>𝛾</m:t>
                    </m:r>
                  </m:oMath>
                </a14:m>
                <a:endParaRPr lang="en-US" sz="4267" b="0" cap="all" spc="32">
                  <a:solidFill>
                    <a:schemeClr val="tx1"/>
                  </a:solidFill>
                  <a:latin typeface="+mj-lt"/>
                </a:endParaRPr>
              </a:p>
            </p:txBody>
          </p:sp>
        </mc:Choice>
        <mc:Fallback xmlns="">
          <p:sp>
            <p:nvSpPr>
              <p:cNvPr id="310" name="Comparing"/>
              <p:cNvSpPr txBox="1">
                <a:spLocks noGrp="1" noRot="1" noChangeAspect="1" noMove="1" noResize="1" noEditPoints="1" noAdjustHandles="1" noChangeArrowheads="1" noChangeShapeType="1" noTextEdit="1"/>
              </p:cNvSpPr>
              <p:nvPr>
                <p:ph type="title"/>
              </p:nvPr>
            </p:nvSpPr>
            <p:spPr>
              <a:xfrm>
                <a:off x="747345" y="1300480"/>
                <a:ext cx="11404016" cy="1859686"/>
              </a:xfrm>
              <a:prstGeom prst="rect">
                <a:avLst/>
              </a:prstGeom>
              <a:blipFill>
                <a:blip r:embed="rId2"/>
                <a:stretch>
                  <a:fillRect l="-2086" t="-6557"/>
                </a:stretch>
              </a:blipFill>
            </p:spPr>
            <p:txBody>
              <a:bodyPr/>
              <a:lstStyle/>
              <a:p>
                <a:r>
                  <a:rPr lang="en-US">
                    <a:noFill/>
                  </a:rPr>
                  <a:t> </a:t>
                </a:r>
              </a:p>
            </p:txBody>
          </p:sp>
        </mc:Fallback>
      </mc:AlternateContent>
      <p:pic>
        <p:nvPicPr>
          <p:cNvPr id="311" name="pasted-image.tiff" descr="pasted-image.tiff"/>
          <p:cNvPicPr>
            <a:picLocks noChangeAspect="1"/>
          </p:cNvPicPr>
          <p:nvPr/>
        </p:nvPicPr>
        <p:blipFill>
          <a:blip r:embed="rId3"/>
          <a:stretch>
            <a:fillRect/>
          </a:stretch>
        </p:blipFill>
        <p:spPr>
          <a:xfrm>
            <a:off x="1654920" y="3063917"/>
            <a:ext cx="3511878" cy="2720292"/>
          </a:xfrm>
          <a:prstGeom prst="rect">
            <a:avLst/>
          </a:prstGeom>
          <a:ln w="12700">
            <a:miter lim="400000"/>
          </a:ln>
        </p:spPr>
      </p:pic>
      <p:pic>
        <p:nvPicPr>
          <p:cNvPr id="312" name="pasted-image.tiff" descr="pasted-image.tiff"/>
          <p:cNvPicPr>
            <a:picLocks noChangeAspect="1"/>
          </p:cNvPicPr>
          <p:nvPr/>
        </p:nvPicPr>
        <p:blipFill>
          <a:blip r:embed="rId4"/>
          <a:stretch>
            <a:fillRect/>
          </a:stretch>
        </p:blipFill>
        <p:spPr>
          <a:xfrm>
            <a:off x="1654920" y="5809840"/>
            <a:ext cx="3511879" cy="2720292"/>
          </a:xfrm>
          <a:prstGeom prst="rect">
            <a:avLst/>
          </a:prstGeom>
          <a:ln w="12700">
            <a:miter lim="400000"/>
          </a:ln>
        </p:spPr>
      </p:pic>
      <p:pic>
        <p:nvPicPr>
          <p:cNvPr id="313" name="pasted-image.tiff" descr="pasted-image.tiff"/>
          <p:cNvPicPr>
            <a:picLocks noChangeAspect="1"/>
          </p:cNvPicPr>
          <p:nvPr/>
        </p:nvPicPr>
        <p:blipFill>
          <a:blip r:embed="rId5"/>
          <a:stretch>
            <a:fillRect/>
          </a:stretch>
        </p:blipFill>
        <p:spPr>
          <a:xfrm>
            <a:off x="7122331" y="3998195"/>
            <a:ext cx="3511878" cy="2720292"/>
          </a:xfrm>
          <a:prstGeom prst="rect">
            <a:avLst/>
          </a:prstGeom>
          <a:ln w="12700">
            <a:miter lim="400000"/>
          </a:ln>
        </p:spPr>
      </p:pic>
      <mc:AlternateContent xmlns:mc="http://schemas.openxmlformats.org/markup-compatibility/2006" xmlns:a14="http://schemas.microsoft.com/office/drawing/2010/main">
        <mc:Choice Requires="a14">
          <p:sp>
            <p:nvSpPr>
              <p:cNvPr id="314" name="Text"/>
              <p:cNvSpPr txBox="1"/>
              <p:nvPr/>
            </p:nvSpPr>
            <p:spPr>
              <a:xfrm>
                <a:off x="2518399" y="3010882"/>
                <a:ext cx="1402230"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=0.1</m:t>
                      </m:r>
                    </m:oMath>
                  </m:oMathPara>
                </a14:m>
                <a:endParaRPr sz="2133" cap="none" spc="0">
                  <a:solidFill>
                    <a:schemeClr val="tx1"/>
                  </a:solidFill>
                  <a:latin typeface="+mn-lt"/>
                </a:endParaRPr>
              </a:p>
            </p:txBody>
          </p:sp>
        </mc:Choice>
        <mc:Fallback xmlns="">
          <p:sp>
            <p:nvSpPr>
              <p:cNvPr id="314" name="Text"/>
              <p:cNvSpPr txBox="1">
                <a:spLocks noRot="1" noChangeAspect="1" noMove="1" noResize="1" noEditPoints="1" noAdjustHandles="1" noChangeArrowheads="1" noChangeShapeType="1" noTextEdit="1"/>
              </p:cNvSpPr>
              <p:nvPr/>
            </p:nvSpPr>
            <p:spPr>
              <a:xfrm>
                <a:off x="2518399" y="3010882"/>
                <a:ext cx="1402230" cy="440392"/>
              </a:xfrm>
              <a:prstGeom prst="rect">
                <a:avLst/>
              </a:prstGeom>
              <a:blipFill>
                <a:blip r:embed="rId6"/>
                <a:stretch>
                  <a:fillRect b="-1389"/>
                </a:stretch>
              </a:blipFill>
              <a:ln w="12700">
                <a:miter lim="400000"/>
              </a:ln>
              <a:extLst>
                <a:ext uri="{C572A759-6A51-4108-AA02-DFA0A04FC94B}">
                  <ma14:wrappingTextBoxFlag xmlns:a14="http://schemas.microsoft.com/office/drawing/2010/main" xmlns="" xmlns:m="http://schemas.openxmlformats.org/officeDocument/2006/math" xmlns:ma14="http://schemas.microsoft.com/office/mac/drawingml/2011/main" val="1"/>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5" name="Text"/>
              <p:cNvSpPr txBox="1"/>
              <p:nvPr/>
            </p:nvSpPr>
            <p:spPr>
              <a:xfrm>
                <a:off x="2518399" y="5756624"/>
                <a:ext cx="1402230"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=0.5</m:t>
                      </m:r>
                    </m:oMath>
                  </m:oMathPara>
                </a14:m>
                <a:endParaRPr sz="2133" cap="none" spc="0">
                  <a:solidFill>
                    <a:schemeClr val="tx1"/>
                  </a:solidFill>
                  <a:latin typeface="+mn-lt"/>
                </a:endParaRPr>
              </a:p>
            </p:txBody>
          </p:sp>
        </mc:Choice>
        <mc:Fallback xmlns="">
          <p:sp>
            <p:nvSpPr>
              <p:cNvPr id="315" name="Text"/>
              <p:cNvSpPr txBox="1">
                <a:spLocks noRot="1" noChangeAspect="1" noMove="1" noResize="1" noEditPoints="1" noAdjustHandles="1" noChangeArrowheads="1" noChangeShapeType="1" noTextEdit="1"/>
              </p:cNvSpPr>
              <p:nvPr/>
            </p:nvSpPr>
            <p:spPr>
              <a:xfrm>
                <a:off x="2518399" y="5756624"/>
                <a:ext cx="1402230" cy="440392"/>
              </a:xfrm>
              <a:prstGeom prst="rect">
                <a:avLst/>
              </a:prstGeom>
              <a:blipFill>
                <a:blip r:embed="rId7"/>
                <a:stretch>
                  <a:fillRect b="-1370"/>
                </a:stretch>
              </a:blipFill>
              <a:ln w="12700">
                <a:miter lim="400000"/>
              </a:ln>
              <a:extLst>
                <a:ext uri="{C572A759-6A51-4108-AA02-DFA0A04FC94B}">
                  <ma14:wrappingTextBoxFlag xmlns:a14="http://schemas.microsoft.com/office/drawing/2010/main" xmlns="" xmlns:m="http://schemas.openxmlformats.org/officeDocument/2006/math" xmlns:ma14="http://schemas.microsoft.com/office/mac/drawingml/2011/main" val="1"/>
                </a:ext>
              </a:ex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6" name="Text"/>
              <p:cNvSpPr txBox="1"/>
              <p:nvPr/>
            </p:nvSpPr>
            <p:spPr>
              <a:xfrm>
                <a:off x="8291753" y="3858136"/>
                <a:ext cx="1402231"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=5</m:t>
                      </m:r>
                    </m:oMath>
                  </m:oMathPara>
                </a14:m>
                <a:endParaRPr sz="2133" cap="none" spc="0">
                  <a:solidFill>
                    <a:schemeClr val="tx1"/>
                  </a:solidFill>
                  <a:latin typeface="+mn-lt"/>
                </a:endParaRPr>
              </a:p>
            </p:txBody>
          </p:sp>
        </mc:Choice>
        <mc:Fallback xmlns="">
          <p:sp>
            <p:nvSpPr>
              <p:cNvPr id="316" name="Text"/>
              <p:cNvSpPr txBox="1">
                <a:spLocks noRot="1" noChangeAspect="1" noMove="1" noResize="1" noEditPoints="1" noAdjustHandles="1" noChangeArrowheads="1" noChangeShapeType="1" noTextEdit="1"/>
              </p:cNvSpPr>
              <p:nvPr/>
            </p:nvSpPr>
            <p:spPr>
              <a:xfrm>
                <a:off x="8291753" y="3858136"/>
                <a:ext cx="1402231" cy="440392"/>
              </a:xfrm>
              <a:prstGeom prst="rect">
                <a:avLst/>
              </a:prstGeom>
              <a:blipFill>
                <a:blip r:embed="rId8"/>
                <a:stretch>
                  <a:fillRect b="-1389"/>
                </a:stretch>
              </a:blipFill>
              <a:ln w="12700">
                <a:miter lim="400000"/>
              </a:ln>
              <a:extLst>
                <a:ext uri="{C572A759-6A51-4108-AA02-DFA0A04FC94B}">
                  <ma14:wrappingTextBoxFlag xmlns:a14="http://schemas.microsoft.com/office/drawing/2010/main" xmlns="" xmlns:m="http://schemas.openxmlformats.org/officeDocument/2006/math" xmlns:ma14="http://schemas.microsoft.com/office/mac/drawingml/2011/main" val="1"/>
                </a:ext>
              </a:extLst>
            </p:spPr>
            <p:txBody>
              <a:bodyPr/>
              <a:lstStyle/>
              <a:p>
                <a:r>
                  <a:rPr lang="en-US">
                    <a:noFill/>
                  </a:rPr>
                  <a:t> </a:t>
                </a:r>
              </a:p>
            </p:txBody>
          </p:sp>
        </mc:Fallback>
      </mc:AlternateContent>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18" name="This is a very popular kernel and is the default for the SVC function in sklear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This is a very popular kernel and is the default for the </a:t>
                </a:r>
                <a:r>
                  <a:rPr lang="en-US" sz="2233" b="1" cap="none" spc="0">
                    <a:solidFill>
                      <a:schemeClr val="tx1"/>
                    </a:solidFill>
                    <a:latin typeface="Courier New"/>
                  </a:rPr>
                  <a:t>SVC</a:t>
                </a:r>
                <a:r>
                  <a:rPr lang="en-US" sz="2233" cap="none" spc="0">
                    <a:solidFill>
                      <a:schemeClr val="tx1"/>
                    </a:solidFill>
                    <a:latin typeface="+mn-lt"/>
                  </a:rPr>
                  <a:t> function in sklearn</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decreases, the standard deviation gets larger and it is easier to have a non-negligible distance from the landmark</a:t>
                </a:r>
              </a:p>
              <a:p>
                <a:pPr lvl="1">
                  <a:defRPr sz="2020" cap="none" spc="0">
                    <a:solidFill>
                      <a:schemeClr val="tx1"/>
                    </a:solidFill>
                    <a:latin typeface="+mn-lt"/>
                  </a:defRPr>
                </a:pPr>
                <a:r>
                  <a:rPr lang="en-US" sz="2020" cap="none" spc="0">
                    <a:solidFill>
                      <a:schemeClr val="tx1"/>
                    </a:solidFill>
                    <a:latin typeface="+mn-lt"/>
                  </a:rPr>
                  <a:t>Small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smooth more and can lead to underfitting </a:t>
                </a:r>
              </a:p>
              <a:p>
                <a:pPr>
                  <a:defRPr sz="2233" cap="none" spc="0">
                    <a:solidFill>
                      <a:schemeClr val="tx1"/>
                    </a:solidFill>
                    <a:latin typeface="+mn-lt"/>
                  </a:defRPr>
                </a:pPr>
                <a:r>
                  <a:rPr lang="en-US" sz="2233" cap="none" spc="0">
                    <a:solidFill>
                      <a:schemeClr val="tx1"/>
                    </a:solidFill>
                    <a:latin typeface="+mn-lt"/>
                  </a:rPr>
                  <a:t>As </a:t>
                </a:r>
                <a14:m>
                  <m:oMath xmlns:m="http://schemas.openxmlformats.org/officeDocument/2006/math">
                    <m:r>
                      <a:rPr sz="2233" i="1" cap="none" spc="0">
                        <a:solidFill>
                          <a:schemeClr val="tx1"/>
                        </a:solidFill>
                        <a:latin typeface="Cambria Math"/>
                      </a:rPr>
                      <m:t>𝛾</m:t>
                    </m:r>
                  </m:oMath>
                </a14:m>
                <a:r>
                  <a:rPr lang="en-US" sz="2233" cap="none" spc="0">
                    <a:solidFill>
                      <a:schemeClr val="tx1"/>
                    </a:solidFill>
                    <a:latin typeface="+mn-lt"/>
                  </a:rPr>
                  <a:t> increases, the standard deviations get smaller and it is many of the distances from the landmark will be very close to zero</a:t>
                </a:r>
              </a:p>
              <a:p>
                <a:pPr lvl="1">
                  <a:defRPr sz="2020" cap="none" spc="0">
                    <a:solidFill>
                      <a:schemeClr val="tx1"/>
                    </a:solidFill>
                    <a:latin typeface="+mn-lt"/>
                  </a:defRPr>
                </a:pPr>
                <a:r>
                  <a:rPr lang="en-US" sz="2020" cap="none" spc="0">
                    <a:solidFill>
                      <a:schemeClr val="tx1"/>
                    </a:solidFill>
                    <a:latin typeface="+mn-lt"/>
                  </a:rPr>
                  <a:t>Large </a:t>
                </a:r>
                <a14:m>
                  <m:oMath xmlns:m="http://schemas.openxmlformats.org/officeDocument/2006/math">
                    <m:r>
                      <a:rPr sz="2020" i="1" cap="none" spc="0">
                        <a:solidFill>
                          <a:schemeClr val="tx1"/>
                        </a:solidFill>
                        <a:latin typeface="Cambria Math"/>
                      </a:rPr>
                      <m:t>𝛾</m:t>
                    </m:r>
                  </m:oMath>
                </a14:m>
                <a:r>
                  <a:rPr lang="en-US" sz="2020" cap="none" spc="0">
                    <a:solidFill>
                      <a:schemeClr val="tx1"/>
                    </a:solidFill>
                    <a:latin typeface="+mn-lt"/>
                  </a:rPr>
                  <a:t> will capture small variations and can lead to overfitting </a:t>
                </a:r>
              </a:p>
            </p:txBody>
          </p:sp>
        </mc:Choice>
        <mc:Fallback xmlns="">
          <p:sp>
            <p:nvSpPr>
              <p:cNvPr id="318" name="This is a very popular kernel and is the default for the SVC function in sklearn…"/>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642" t="-687" r="-214"/>
                </a:stretch>
              </a:blipFill>
            </p:spPr>
            <p:txBody>
              <a:bodyPr/>
              <a:lstStyle/>
              <a:p>
                <a:r>
                  <a:rPr lang="en-US">
                    <a:noFill/>
                  </a:rPr>
                  <a:t> </a:t>
                </a:r>
              </a:p>
            </p:txBody>
          </p:sp>
        </mc:Fallback>
      </mc:AlternateContent>
      <p:sp>
        <p:nvSpPr>
          <p:cNvPr id="319" name="Gaussian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SVM Regression"/>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06EE20-5D3F-F096-6FBC-D077FCC190E0}"/>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dirty="0">
                <a:solidFill>
                  <a:schemeClr val="tx1"/>
                </a:solidFill>
                <a:latin typeface="+mn-lt"/>
              </a:rPr>
              <a:t>For regression, predict a numeric response:
f(x) = </a:t>
            </a:r>
            <a:r>
              <a:rPr lang="en-US" sz="2233" cap="none" spc="0" dirty="0" err="1">
                <a:solidFill>
                  <a:schemeClr val="tx1"/>
                </a:solidFill>
                <a:latin typeface="+mn-lt"/>
              </a:rPr>
              <a:t>wᵀx</a:t>
            </a:r>
            <a:r>
              <a:rPr lang="en-US" sz="2233" cap="none" spc="0" dirty="0">
                <a:solidFill>
                  <a:schemeClr val="tx1"/>
                </a:solidFill>
                <a:latin typeface="+mn-lt"/>
              </a:rPr>
              <a:t> + b</a:t>
            </a:r>
          </a:p>
          <a:p>
            <a:pPr>
              <a:defRPr sz="2233" cap="none" spc="0">
                <a:solidFill>
                  <a:schemeClr val="tx1"/>
                </a:solidFill>
                <a:latin typeface="+mn-lt"/>
              </a:defRPr>
            </a:pPr>
            <a:r>
              <a:rPr lang="en-US" sz="2233" cap="none" spc="0" dirty="0">
                <a:solidFill>
                  <a:schemeClr val="tx1"/>
                </a:solidFill>
                <a:latin typeface="+mn-lt"/>
              </a:rPr>
              <a:t>The </a:t>
            </a:r>
            <a:r>
              <a:rPr lang="el-GR" sz="2233" cap="none" spc="0" dirty="0">
                <a:solidFill>
                  <a:schemeClr val="tx1"/>
                </a:solidFill>
                <a:latin typeface="+mn-lt"/>
              </a:rPr>
              <a:t>ε-</a:t>
            </a:r>
            <a:r>
              <a:rPr lang="en-US" sz="2233" cap="none" spc="0" dirty="0">
                <a:solidFill>
                  <a:schemeClr val="tx1"/>
                </a:solidFill>
                <a:latin typeface="+mn-lt"/>
              </a:rPr>
              <a:t>tube contains points with |yᵢ − f(xᵢ)| ≤ </a:t>
            </a:r>
            <a:r>
              <a:rPr lang="el-GR" sz="2233" cap="none" spc="0" dirty="0">
                <a:solidFill>
                  <a:schemeClr val="tx1"/>
                </a:solidFill>
                <a:latin typeface="+mn-lt"/>
              </a:rPr>
              <a:t>ε. </a:t>
            </a:r>
            <a:r>
              <a:rPr lang="en-US" sz="2233" cap="none" spc="0" dirty="0">
                <a:solidFill>
                  <a:schemeClr val="tx1"/>
                </a:solidFill>
                <a:latin typeface="+mn-lt"/>
              </a:rPr>
              <a:t>Its vertical width is 2</a:t>
            </a:r>
            <a:r>
              <a:rPr lang="el-GR" sz="2233" cap="none" spc="0" dirty="0">
                <a:solidFill>
                  <a:schemeClr val="tx1"/>
                </a:solidFill>
                <a:latin typeface="+mn-lt"/>
              </a:rPr>
              <a:t>ε </a:t>
            </a:r>
            <a:r>
              <a:rPr lang="en-US" sz="2233" cap="none" spc="0" dirty="0">
                <a:solidFill>
                  <a:schemeClr val="tx1"/>
                </a:solidFill>
                <a:latin typeface="+mn-lt"/>
              </a:rPr>
              <a:t>in response units.</a:t>
            </a:r>
          </a:p>
          <a:p>
            <a:pPr>
              <a:defRPr sz="2233" cap="none" spc="0">
                <a:solidFill>
                  <a:schemeClr val="tx1"/>
                </a:solidFill>
                <a:latin typeface="+mn-lt"/>
              </a:defRPr>
            </a:pPr>
            <a:r>
              <a:rPr lang="en-US" sz="2233" cap="none" spc="0" dirty="0">
                <a:solidFill>
                  <a:schemeClr val="tx1"/>
                </a:solidFill>
                <a:latin typeface="+mn-lt"/>
              </a:rPr>
              <a:t>The loss is L</a:t>
            </a:r>
            <a:r>
              <a:rPr lang="el-GR" sz="2233" cap="none" spc="0" dirty="0">
                <a:solidFill>
                  <a:schemeClr val="tx1"/>
                </a:solidFill>
                <a:latin typeface="+mn-lt"/>
              </a:rPr>
              <a:t>ε(</a:t>
            </a:r>
            <a:r>
              <a:rPr lang="en-US" sz="2233" cap="none" spc="0" dirty="0">
                <a:solidFill>
                  <a:schemeClr val="tx1"/>
                </a:solidFill>
                <a:latin typeface="+mn-lt"/>
              </a:rPr>
              <a:t>yᵢ, f(xᵢ)) = max(0, |yᵢ − f(xᵢ)| − </a:t>
            </a:r>
            <a:r>
              <a:rPr lang="el-GR" sz="2233" cap="none" spc="0" dirty="0">
                <a:solidFill>
                  <a:schemeClr val="tx1"/>
                </a:solidFill>
                <a:latin typeface="+mn-lt"/>
              </a:rPr>
              <a:t>ε). </a:t>
            </a:r>
            <a:r>
              <a:rPr lang="en-US" sz="2233" cap="none" spc="0" dirty="0">
                <a:solidFill>
                  <a:schemeClr val="tx1"/>
                </a:solidFill>
                <a:latin typeface="+mn-lt"/>
              </a:rPr>
              <a:t>Errors inside the tube incur zero loss.</a:t>
            </a:r>
          </a:p>
          <a:p>
            <a:pPr>
              <a:defRPr sz="2233" cap="none" spc="0">
                <a:solidFill>
                  <a:schemeClr val="tx1"/>
                </a:solidFill>
                <a:latin typeface="+mn-lt"/>
              </a:defRPr>
            </a:pPr>
            <a:r>
              <a:rPr lang="en-US" sz="2233" cap="none" spc="0" dirty="0">
                <a:solidFill>
                  <a:schemeClr val="tx1"/>
                </a:solidFill>
                <a:latin typeface="+mn-lt"/>
              </a:rPr>
              <a:t>Example: if </a:t>
            </a:r>
            <a:r>
              <a:rPr lang="el-GR" sz="2233" cap="none" spc="0" dirty="0">
                <a:solidFill>
                  <a:schemeClr val="tx1"/>
                </a:solidFill>
                <a:latin typeface="+mn-lt"/>
              </a:rPr>
              <a:t>ε = 0.5 </a:t>
            </a:r>
            <a:r>
              <a:rPr lang="en-US" sz="2233" cap="none" spc="0" dirty="0">
                <a:solidFill>
                  <a:schemeClr val="tx1"/>
                </a:solidFill>
                <a:latin typeface="+mn-lt"/>
              </a:rPr>
              <a:t>and the absolute error is 0.8, the loss is 0.3. An absolute error of 0.2 gives zero loss.</a:t>
            </a:r>
          </a:p>
          <a:p>
            <a:pPr>
              <a:defRPr sz="2233" cap="none" spc="0">
                <a:solidFill>
                  <a:schemeClr val="tx1"/>
                </a:solidFill>
                <a:latin typeface="+mn-lt"/>
              </a:defRPr>
            </a:pPr>
            <a:r>
              <a:rPr lang="en-US" sz="2233" cap="none" spc="0" dirty="0">
                <a:solidFill>
                  <a:schemeClr val="tx1"/>
                </a:solidFill>
                <a:latin typeface="+mn-lt"/>
              </a:rPr>
              <a:t>Classification penalizes a margin shortfall. SVR penalizes the amount by which a residual exceeds </a:t>
            </a:r>
            <a:r>
              <a:rPr lang="el-GR" sz="2233" cap="none" spc="0" dirty="0">
                <a:solidFill>
                  <a:schemeClr val="tx1"/>
                </a:solidFill>
                <a:latin typeface="+mn-lt"/>
              </a:rPr>
              <a:t>ε.</a:t>
            </a:r>
          </a:p>
        </p:txBody>
      </p:sp>
      <p:sp>
        <p:nvSpPr>
          <p:cNvPr id="3" name="Title 2">
            <a:extLst>
              <a:ext uri="{FF2B5EF4-FFF2-40B4-BE49-F238E27FC236}">
                <a16:creationId xmlns:a16="http://schemas.microsoft.com/office/drawing/2014/main" id="{AB7469D2-8F0D-4834-D5A1-29B4C892328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and </a:t>
            </a:r>
            <a:r>
              <a:rPr lang="el-GR" sz="4267" b="0" cap="all" spc="32">
                <a:solidFill>
                  <a:schemeClr val="tx1"/>
                </a:solidFill>
                <a:latin typeface="+mj-lt"/>
              </a:rPr>
              <a:t>ε-</a:t>
            </a:r>
            <a:r>
              <a:rPr lang="en-US" sz="4267" b="0" cap="all" spc="32">
                <a:solidFill>
                  <a:schemeClr val="tx1"/>
                </a:solidFill>
                <a:latin typeface="+mj-lt"/>
              </a:rPr>
              <a:t>Insensitive Loss</a:t>
            </a:r>
          </a:p>
        </p:txBody>
      </p:sp>
    </p:spTree>
    <p:extLst>
      <p:ext uri="{BB962C8B-B14F-4D97-AF65-F5344CB8AC3E}">
        <p14:creationId xmlns:p14="http://schemas.microsoft.com/office/powerpoint/2010/main" val="1178738824"/>
      </p:ext>
    </p:extLst>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64FB03-85C2-7348-8B2C-632559AEAC3D}"/>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SVR Optimization</a:t>
            </a:r>
          </a:p>
        </p:txBody>
      </p:sp>
      <p:pic>
        <p:nvPicPr>
          <p:cNvPr id="5" name="Picture 4">
            <a:extLst>
              <a:ext uri="{FF2B5EF4-FFF2-40B4-BE49-F238E27FC236}">
                <a16:creationId xmlns:a16="http://schemas.microsoft.com/office/drawing/2014/main" id="{F4F4F9A3-1533-2011-046F-CED035E8458E}"/>
              </a:ext>
            </a:extLst>
          </p:cNvPr>
          <p:cNvPicPr>
            <a:picLocks noChangeAspect="1"/>
          </p:cNvPicPr>
          <p:nvPr/>
        </p:nvPicPr>
        <p:blipFill>
          <a:blip r:embed="rId3"/>
          <a:stretch>
            <a:fillRect/>
          </a:stretch>
        </p:blipFill>
        <p:spPr>
          <a:xfrm>
            <a:off x="2513059" y="3626527"/>
            <a:ext cx="7769591" cy="3642886"/>
          </a:xfrm>
          <a:prstGeom prst="rect">
            <a:avLst/>
          </a:prstGeom>
        </p:spPr>
      </p:pic>
      <p:sp>
        <p:nvSpPr>
          <p:cNvPr id="6" name="TextBox 5"/>
          <p:cNvSpPr txBox="1"/>
          <p:nvPr/>
        </p:nvSpPr>
        <p:spPr>
          <a:xfrm>
            <a:off x="744002" y="7452875"/>
            <a:ext cx="11399510" cy="859170"/>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dirty="0">
                <a:solidFill>
                  <a:schemeClr val="tx1"/>
                </a:solidFill>
                <a:latin typeface="+mn-lt"/>
              </a:rPr>
              <a:t>ξᵢ and ξᵢ* measure excess above and below the ε-tube.</a:t>
            </a:r>
            <a:br>
              <a:rPr dirty="0"/>
            </a:br>
            <a:r>
              <a:rPr lang="en-US" sz="2233" cap="none" spc="0" dirty="0">
                <a:solidFill>
                  <a:schemeClr val="tx1"/>
                </a:solidFill>
                <a:latin typeface="+mn-lt"/>
              </a:rPr>
              <a:t>C penalizes excess residual size, rather than counting outliers.</a:t>
            </a:r>
          </a:p>
        </p:txBody>
      </p:sp>
    </p:spTree>
    <p:extLst>
      <p:ext uri="{BB962C8B-B14F-4D97-AF65-F5344CB8AC3E}">
        <p14:creationId xmlns:p14="http://schemas.microsoft.com/office/powerpoint/2010/main" val="1376051194"/>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 name="SVMs can be used for regression tasks as wel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Here, instead of finding the widest possible road, we want to fit as many observations on the street while limiting the number of points off the street</a:t>
            </a:r>
          </a:p>
        </p:txBody>
      </p:sp>
      <p:sp>
        <p:nvSpPr>
          <p:cNvPr id="324"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pic>
        <p:nvPicPr>
          <p:cNvPr id="325" name="pasted-image.png" descr="pasted-image.png"/>
          <p:cNvPicPr>
            <a:picLocks noChangeAspect="1"/>
          </p:cNvPicPr>
          <p:nvPr/>
        </p:nvPicPr>
        <p:blipFill>
          <a:blip r:embed="rId2"/>
          <a:stretch>
            <a:fillRect/>
          </a:stretch>
        </p:blipFill>
        <p:spPr>
          <a:xfrm>
            <a:off x="2259584" y="4423180"/>
            <a:ext cx="8485632" cy="3597555"/>
          </a:xfrm>
          <a:prstGeom prst="rect">
            <a:avLst/>
          </a:prstGeom>
          <a:ln w="12700">
            <a:miter lim="400000"/>
          </a:ln>
        </p:spPr>
      </p:pic>
    </p:spTree>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27" name="Here, the support vectors are the instances off the street because they are the only points that effect the model’s predict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dirty="0">
                    <a:solidFill>
                      <a:schemeClr val="tx1"/>
                    </a:solidFill>
                    <a:latin typeface="+mn-lt"/>
                  </a:rPr>
                  <a:t>SVR support vectors lie on or outside the ε-tube. Their nonzero dual weights contribute to the predictions.</a:t>
                </a:r>
              </a:p>
              <a:p>
                <a:pPr>
                  <a:defRPr sz="2233" cap="none" spc="0">
                    <a:solidFill>
                      <a:schemeClr val="tx1"/>
                    </a:solidFill>
                    <a:latin typeface="+mn-lt"/>
                  </a:defRPr>
                </a:pPr>
                <a:r>
                  <a:rPr lang="en-US" sz="2233" cap="none" spc="0" dirty="0">
                    <a:solidFill>
                      <a:schemeClr val="tx1"/>
                    </a:solidFill>
                    <a:latin typeface="+mn-lt"/>
                  </a:rPr>
                  <a:t>If more points are added inside the margin, predictions don’t change (this is referred to as being </a:t>
                </a:r>
                <a14:m>
                  <m:oMath xmlns:m="http://schemas.openxmlformats.org/officeDocument/2006/math">
                    <m:r>
                      <a:rPr sz="2233" i="1" cap="none" spc="0">
                        <a:solidFill>
                          <a:schemeClr val="tx1"/>
                        </a:solidFill>
                        <a:latin typeface="Cambria Math"/>
                      </a:rPr>
                      <m:t>𝜖</m:t>
                    </m:r>
                  </m:oMath>
                </a14:m>
                <a:r>
                  <a:rPr lang="en-US" sz="2233" cap="none" spc="0" dirty="0">
                    <a:solidFill>
                      <a:schemeClr val="tx1"/>
                    </a:solidFill>
                    <a:latin typeface="+mn-lt"/>
                  </a:rPr>
                  <a:t>-insensitive)</a:t>
                </a:r>
              </a:p>
            </p:txBody>
          </p:sp>
        </mc:Choice>
        <mc:Fallback xmlns="">
          <p:sp>
            <p:nvSpPr>
              <p:cNvPr id="327" name="Here, the support vectors are the instances off the street because they are the only points that effect the model’s predict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802"/>
                </a:stretch>
              </a:blipFill>
            </p:spPr>
            <p:txBody>
              <a:bodyPr/>
              <a:lstStyle/>
              <a:p>
                <a:r>
                  <a:rPr lang="en-US">
                    <a:noFill/>
                  </a:rPr>
                  <a:t> </a:t>
                </a:r>
              </a:p>
            </p:txBody>
          </p:sp>
        </mc:Fallback>
      </mc:AlternateContent>
      <p:sp>
        <p:nvSpPr>
          <p:cNvPr id="328"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FB2BBA-6312-74B4-8D14-5C78EC5934BF}"/>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Linear SVR predicts the number f(x) = wᵀx + b. There is no sign threshold.</a:t>
            </a:r>
          </a:p>
          <a:p>
            <a:pPr>
              <a:defRPr sz="2233" cap="none" spc="0">
                <a:solidFill>
                  <a:schemeClr val="tx1"/>
                </a:solidFill>
                <a:latin typeface="+mn-lt"/>
              </a:defRPr>
            </a:pPr>
            <a:r>
              <a:rPr lang="en-US" sz="2233" cap="none" spc="0">
                <a:solidFill>
                  <a:schemeClr val="tx1"/>
                </a:solidFill>
                <a:latin typeface="+mn-lt"/>
              </a:rPr>
              <a:t>Kernel SVR uses the same kernel in fitting and prediction. Each support vector contributes a signed amount.</a:t>
            </a:r>
          </a:p>
          <a:p>
            <a:pPr>
              <a:defRPr sz="2233" cap="none" spc="0">
                <a:solidFill>
                  <a:schemeClr val="tx1"/>
                </a:solidFill>
                <a:latin typeface="+mn-lt"/>
              </a:defRPr>
            </a:pPr>
            <a:r>
              <a:rPr lang="en-US" sz="2233" cap="none" spc="0">
                <a:solidFill>
                  <a:schemeClr val="tx1"/>
                </a:solidFill>
                <a:latin typeface="+mn-lt"/>
              </a:rPr>
              <a:t>The two multipliers αᵢ and αᵢ* correspond to the two sides of the ε-tube. Their difference is the prediction weight.</a:t>
            </a:r>
          </a:p>
        </p:txBody>
      </p:sp>
      <p:sp>
        <p:nvSpPr>
          <p:cNvPr id="3" name="Title 2">
            <a:extLst>
              <a:ext uri="{FF2B5EF4-FFF2-40B4-BE49-F238E27FC236}">
                <a16:creationId xmlns:a16="http://schemas.microsoft.com/office/drawing/2014/main" id="{D7083C4F-4206-13B6-2F7C-0205FD5CBB97}"/>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Predictions</a:t>
            </a:r>
          </a:p>
        </p:txBody>
      </p:sp>
      <p:pic>
        <p:nvPicPr>
          <p:cNvPr id="5" name="Picture 4">
            <a:extLst>
              <a:ext uri="{FF2B5EF4-FFF2-40B4-BE49-F238E27FC236}">
                <a16:creationId xmlns:a16="http://schemas.microsoft.com/office/drawing/2014/main" id="{47850E2D-74DF-694C-D5B6-64D85B186050}"/>
              </a:ext>
            </a:extLst>
          </p:cNvPr>
          <p:cNvPicPr>
            <a:picLocks noChangeAspect="1"/>
          </p:cNvPicPr>
          <p:nvPr/>
        </p:nvPicPr>
        <p:blipFill>
          <a:blip r:embed="rId3"/>
          <a:stretch>
            <a:fillRect/>
          </a:stretch>
        </p:blipFill>
        <p:spPr>
          <a:xfrm>
            <a:off x="4068138" y="6543974"/>
            <a:ext cx="3714743" cy="725438"/>
          </a:xfrm>
          <a:prstGeom prst="rect">
            <a:avLst/>
          </a:prstGeom>
        </p:spPr>
      </p:pic>
      <p:sp>
        <p:nvSpPr>
          <p:cNvPr id="6" name="TextBox 5"/>
          <p:cNvSpPr txBox="1"/>
          <p:nvPr/>
        </p:nvSpPr>
        <p:spPr>
          <a:xfrm>
            <a:off x="744002" y="7548338"/>
            <a:ext cx="11399510" cy="604601"/>
          </a:xfrm>
          <a:prstGeom prst="rect">
            <a:avLst/>
          </a:prstGeom>
          <a:noFill/>
        </p:spPr>
        <p:txBody>
          <a:bodyPr wrap="square" lIns="91440" tIns="45720" rIns="91440" bIns="45720">
            <a:noAutofit/>
          </a:bodyPr>
          <a:lstStyle>
            <a:defPPr>
              <a:defRPr lang="en-US"/>
            </a:defPPr>
            <a:lvl1pPr marL="0" algn="l" defTabSz="975390" rtl="0" eaLnBrk="1" latinLnBrk="0" hangingPunct="1">
              <a:defRPr sz="2020" kern="1200">
                <a:solidFill>
                  <a:schemeClr val="tx1"/>
                </a:solidFill>
                <a:latin typeface="+mn-lt"/>
                <a:ea typeface="+mn-ea"/>
                <a:cs typeface="+mn-cs"/>
              </a:defRPr>
            </a:lvl1pPr>
            <a:lvl2pPr marL="487695" algn="l" defTabSz="975390" rtl="0" eaLnBrk="1" latinLnBrk="0" hangingPunct="1">
              <a:defRPr sz="2020" kern="1200">
                <a:solidFill>
                  <a:schemeClr val="tx1"/>
                </a:solidFill>
                <a:latin typeface="+mn-lt"/>
                <a:ea typeface="+mn-ea"/>
                <a:cs typeface="+mn-cs"/>
              </a:defRPr>
            </a:lvl2pPr>
            <a:lvl3pPr marL="975390" algn="l" defTabSz="975390" rtl="0" eaLnBrk="1" latinLnBrk="0" hangingPunct="1">
              <a:defRPr sz="2020" kern="1200">
                <a:solidFill>
                  <a:schemeClr val="tx1"/>
                </a:solidFill>
                <a:latin typeface="+mn-lt"/>
                <a:ea typeface="+mn-ea"/>
                <a:cs typeface="+mn-cs"/>
              </a:defRPr>
            </a:lvl3pPr>
            <a:lvl4pPr marL="1463086" algn="l" defTabSz="975390" rtl="0" eaLnBrk="1" latinLnBrk="0" hangingPunct="1">
              <a:defRPr sz="2020" kern="1200">
                <a:solidFill>
                  <a:schemeClr val="tx1"/>
                </a:solidFill>
                <a:latin typeface="+mn-lt"/>
                <a:ea typeface="+mn-ea"/>
                <a:cs typeface="+mn-cs"/>
              </a:defRPr>
            </a:lvl4pPr>
            <a:lvl5pPr marL="1950781" algn="l" defTabSz="975390" rtl="0" eaLnBrk="1" latinLnBrk="0" hangingPunct="1">
              <a:defRPr sz="2020" kern="1200">
                <a:solidFill>
                  <a:schemeClr val="tx1"/>
                </a:solidFill>
                <a:latin typeface="+mn-lt"/>
                <a:ea typeface="+mn-ea"/>
                <a:cs typeface="+mn-cs"/>
              </a:defRPr>
            </a:lvl5pPr>
            <a:lvl6pPr marL="2438476" algn="l" defTabSz="975390" rtl="0" eaLnBrk="1" latinLnBrk="0" hangingPunct="1">
              <a:defRPr sz="2020" kern="1200">
                <a:solidFill>
                  <a:schemeClr val="tx1"/>
                </a:solidFill>
                <a:latin typeface="+mn-lt"/>
                <a:ea typeface="+mn-ea"/>
                <a:cs typeface="+mn-cs"/>
              </a:defRPr>
            </a:lvl6pPr>
            <a:lvl7pPr marL="2926171" algn="l" defTabSz="975390" rtl="0" eaLnBrk="1" latinLnBrk="0" hangingPunct="1">
              <a:defRPr sz="2020" kern="1200">
                <a:solidFill>
                  <a:schemeClr val="tx1"/>
                </a:solidFill>
                <a:latin typeface="+mn-lt"/>
                <a:ea typeface="+mn-ea"/>
                <a:cs typeface="+mn-cs"/>
              </a:defRPr>
            </a:lvl7pPr>
            <a:lvl8pPr marL="3413867" algn="l" defTabSz="975390" rtl="0" eaLnBrk="1" latinLnBrk="0" hangingPunct="1">
              <a:defRPr sz="2020" kern="1200">
                <a:solidFill>
                  <a:schemeClr val="tx1"/>
                </a:solidFill>
                <a:latin typeface="+mn-lt"/>
                <a:ea typeface="+mn-ea"/>
                <a:cs typeface="+mn-cs"/>
              </a:defRPr>
            </a:lvl8pPr>
            <a:lvl9pPr marL="3901562" algn="l" defTabSz="975390" rtl="0" eaLnBrk="1" latinLnBrk="0" hangingPunct="1">
              <a:defRPr sz="2020" kern="1200">
                <a:solidFill>
                  <a:schemeClr val="tx1"/>
                </a:solidFill>
                <a:latin typeface="+mn-lt"/>
                <a:ea typeface="+mn-ea"/>
                <a:cs typeface="+mn-cs"/>
              </a:defRPr>
            </a:lvl9pPr>
          </a:lstStyle>
          <a:p>
            <a:pPr>
              <a:buNone/>
              <a:defRPr sz="2233" cap="none" spc="0">
                <a:solidFill>
                  <a:schemeClr val="tx1"/>
                </a:solidFill>
                <a:latin typeface="+mn-lt"/>
              </a:defRPr>
            </a:pPr>
            <a:r>
              <a:rPr lang="en-US" sz="2233" cap="none" spc="0">
                <a:solidFill>
                  <a:schemeClr val="tx1"/>
                </a:solidFill>
                <a:latin typeface="+mn-lt"/>
              </a:rPr>
              <a:t>Only nonzero differences contribute. The output stays in response units.</a:t>
            </a:r>
          </a:p>
        </p:txBody>
      </p:sp>
    </p:spTree>
    <p:extLst>
      <p:ext uri="{BB962C8B-B14F-4D97-AF65-F5344CB8AC3E}">
        <p14:creationId xmlns:p14="http://schemas.microsoft.com/office/powerpoint/2010/main" val="1576684952"/>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1" name="SVMs are a very different way of creating a classifier than other methods that we’ve looked at…"/>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2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20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8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5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2020" kern="1200">
                    <a:solidFill>
                      <a:schemeClr val="tx1"/>
                    </a:solidFill>
                    <a:latin typeface="+mn-lt"/>
                    <a:ea typeface="+mn-ea"/>
                    <a:cs typeface="+mn-cs"/>
                  </a:defRPr>
                </a:lvl9pPr>
              </a:lstStyle>
              <a:p>
                <a:pPr>
                  <a:defRPr sz="2233" cap="none" spc="0">
                    <a:solidFill>
                      <a:schemeClr val="tx1"/>
                    </a:solidFill>
                    <a:latin typeface="+mn-lt"/>
                  </a:defRPr>
                </a:pPr>
                <a:r>
                  <a:rPr lang="en-US" sz="2233" cap="none" spc="0">
                    <a:solidFill>
                      <a:schemeClr val="tx1"/>
                    </a:solidFill>
                    <a:latin typeface="+mn-lt"/>
                  </a:rPr>
                  <a:t>SVMs are a very different way of creating a classifier than other methods that we’ve looked at</a:t>
                </a:r>
              </a:p>
              <a:p>
                <a:pPr lvl="1">
                  <a:defRPr sz="2020" cap="none" spc="0">
                    <a:solidFill>
                      <a:schemeClr val="tx1"/>
                    </a:solidFill>
                    <a:latin typeface="+mn-lt"/>
                  </a:defRPr>
                </a:pPr>
                <a:r>
                  <a:rPr lang="en-US" sz="2020" cap="none" spc="0">
                    <a:solidFill>
                      <a:schemeClr val="tx1"/>
                    </a:solidFill>
                    <a:latin typeface="+mn-lt"/>
                  </a:rPr>
                  <a:t>No notion of finding </a:t>
                </a:r>
                <a14:m>
                  <m:oMath xmlns:m="http://schemas.openxmlformats.org/officeDocument/2006/math">
                    <m:r>
                      <a:rPr sz="2020" i="1" cap="none" spc="0">
                        <a:solidFill>
                          <a:schemeClr val="tx1"/>
                        </a:solidFill>
                        <a:latin typeface="Cambria Math"/>
                      </a:rPr>
                      <m:t>𝑃</m:t>
                    </m:r>
                    <m:r>
                      <a:rPr sz="2020" i="1" cap="none" spc="0">
                        <a:solidFill>
                          <a:schemeClr val="tx1"/>
                        </a:solidFill>
                        <a:latin typeface="Cambria Math"/>
                      </a:rPr>
                      <m:t>(</m:t>
                    </m:r>
                    <m:sSub>
                      <m:sSubPr>
                        <m:ctrlPr>
                          <a:rPr sz="2020" i="1" cap="none" spc="0">
                            <a:solidFill>
                              <a:schemeClr val="tx1"/>
                            </a:solidFill>
                            <a:latin typeface="Cambria Math"/>
                          </a:rPr>
                        </m:ctrlPr>
                      </m:sSubPr>
                      <m:e>
                        <m:r>
                          <a:rPr sz="2020" i="1" cap="none" spc="0">
                            <a:solidFill>
                              <a:schemeClr val="tx1"/>
                            </a:solidFill>
                            <a:latin typeface="Cambria Math"/>
                          </a:rPr>
                          <m:t>𝑦</m:t>
                        </m:r>
                      </m:e>
                      <m:sub>
                        <m:r>
                          <a:rPr sz="2020" i="1" cap="none" spc="0">
                            <a:solidFill>
                              <a:schemeClr val="tx1"/>
                            </a:solidFill>
                            <a:latin typeface="Cambria Math"/>
                          </a:rPr>
                          <m:t>𝑖</m:t>
                        </m:r>
                      </m:sub>
                    </m:sSub>
                    <m:r>
                      <a:rPr sz="2020" i="1" cap="none" spc="0">
                        <a:solidFill>
                          <a:schemeClr val="tx1"/>
                        </a:solidFill>
                        <a:latin typeface="Cambria Math"/>
                      </a:rPr>
                      <m:t>|</m:t>
                    </m:r>
                    <m:sSub>
                      <m:sSubPr>
                        <m:ctrlPr>
                          <a:rPr sz="2020" i="1" cap="none" spc="0">
                            <a:solidFill>
                              <a:schemeClr val="tx1"/>
                            </a:solidFill>
                            <a:latin typeface="Cambria Math"/>
                          </a:rPr>
                        </m:ctrlPr>
                      </m:sSubPr>
                      <m:e>
                        <m:r>
                          <a:rPr sz="2020" i="1" cap="none" spc="0">
                            <a:solidFill>
                              <a:schemeClr val="tx1"/>
                            </a:solidFill>
                            <a:latin typeface="Cambria Math"/>
                          </a:rPr>
                          <m:t>𝑋</m:t>
                        </m:r>
                      </m:e>
                      <m:sub>
                        <m:r>
                          <a:rPr sz="2020" i="1" cap="none" spc="0">
                            <a:solidFill>
                              <a:schemeClr val="tx1"/>
                            </a:solidFill>
                            <a:latin typeface="Cambria Math"/>
                          </a:rPr>
                          <m:t>𝑖</m:t>
                        </m:r>
                      </m:sub>
                    </m:sSub>
                    <m:r>
                      <a:rPr sz="2020" i="1" cap="none" spc="0">
                        <a:solidFill>
                          <a:schemeClr val="tx1"/>
                        </a:solidFill>
                        <a:latin typeface="Cambria Math"/>
                      </a:rPr>
                      <m:t>)</m:t>
                    </m:r>
                  </m:oMath>
                </a14:m>
                <a:endParaRPr lang="en-US" sz="2020" cap="none" spc="0">
                  <a:solidFill>
                    <a:schemeClr val="tx1"/>
                  </a:solidFill>
                  <a:latin typeface="+mn-lt"/>
                </a:endParaRPr>
              </a:p>
              <a:p>
                <a:pPr>
                  <a:defRPr sz="2233" cap="none" spc="0">
                    <a:solidFill>
                      <a:schemeClr val="tx1"/>
                    </a:solidFill>
                    <a:latin typeface="+mn-lt"/>
                  </a:defRPr>
                </a:pPr>
                <a:r>
                  <a:rPr lang="en-US" sz="2233" cap="none" spc="0">
                    <a:solidFill>
                      <a:schemeClr val="tx1"/>
                    </a:solidFill>
                    <a:latin typeface="+mn-lt"/>
                  </a:rPr>
                  <a:t>Only binary classifier </a:t>
                </a:r>
              </a:p>
              <a:p>
                <a:pPr lvl="1">
                  <a:defRPr sz="2020" cap="none" spc="0">
                    <a:solidFill>
                      <a:schemeClr val="tx1"/>
                    </a:solidFill>
                    <a:latin typeface="+mn-lt"/>
                  </a:defRPr>
                </a:pPr>
                <a:r>
                  <a:rPr lang="en-US" sz="2020" cap="none" spc="0">
                    <a:solidFill>
                      <a:schemeClr val="tx1"/>
                    </a:solidFill>
                    <a:latin typeface="+mn-lt"/>
                  </a:rPr>
                  <a:t>Can be extended to multiclass problems using one-versus-one or one-versus-all strategies </a:t>
                </a:r>
              </a:p>
              <a:p>
                <a:pPr>
                  <a:defRPr sz="2233" cap="none" spc="0">
                    <a:solidFill>
                      <a:schemeClr val="tx1"/>
                    </a:solidFill>
                    <a:latin typeface="+mn-lt"/>
                  </a:defRPr>
                </a:pPr>
                <a:r>
                  <a:rPr lang="en-US" sz="2233" cap="none" spc="0">
                    <a:solidFill>
                      <a:schemeClr val="tx1"/>
                    </a:solidFill>
                    <a:latin typeface="+mn-lt"/>
                  </a:rPr>
                  <a:t>Pretty slow for large datasets </a:t>
                </a:r>
              </a:p>
            </p:txBody>
          </p:sp>
        </mc:Choice>
        <mc:Fallback xmlns="">
          <p:sp>
            <p:nvSpPr>
              <p:cNvPr id="331" name="SVMs are a very different way of creating a classifier than other methods that we’ve looked at…"/>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642" t="-687" r="-856"/>
                </a:stretch>
              </a:blipFill>
            </p:spPr>
            <p:txBody>
              <a:bodyPr/>
              <a:lstStyle/>
              <a:p>
                <a:r>
                  <a:rPr lang="en-US">
                    <a:noFill/>
                  </a:rPr>
                  <a:t> </a:t>
                </a:r>
              </a:p>
            </p:txBody>
          </p:sp>
        </mc:Fallback>
      </mc:AlternateContent>
      <p:sp>
        <p:nvSpPr>
          <p:cNvPr id="332" name="Summary"/>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Summary</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6336</Words>
  <Application>Microsoft Office PowerPoint</Application>
  <PresentationFormat>Custom</PresentationFormat>
  <Paragraphs>438</Paragraphs>
  <Slides>53</Slides>
  <Notes>23</Notes>
  <HiddenSlides>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Arial</vt:lpstr>
      <vt:lpstr>Calisto MT</vt:lpstr>
      <vt:lpstr>Cambria Math</vt:lpstr>
      <vt:lpstr>Courier New</vt:lpstr>
      <vt:lpstr>Helvetica Neue</vt:lpstr>
      <vt:lpstr>Univers Condensed</vt:lpstr>
      <vt:lpstr>ChronicleVTI</vt:lpstr>
      <vt:lpstr>Support Vector Machines</vt:lpstr>
      <vt:lpstr>Introduction to SVM</vt:lpstr>
      <vt:lpstr>Hyperplanes</vt:lpstr>
      <vt:lpstr>PowerPoint Presentation</vt:lpstr>
      <vt:lpstr>SVM: choosing a separating boundary</vt:lpstr>
      <vt:lpstr>Maximal Margin Classifier </vt:lpstr>
      <vt:lpstr>Perfect separation and its extensions</vt:lpstr>
      <vt:lpstr>Vectors, length, and unit directions</vt:lpstr>
      <vt:lpstr>Dot products</vt:lpstr>
      <vt:lpstr>Projections</vt:lpstr>
      <vt:lpstr>Distance to a separating hyperplane</vt:lpstr>
      <vt:lpstr>Margins</vt:lpstr>
      <vt:lpstr>Labels, scale, and the SVM objective</vt:lpstr>
      <vt:lpstr>SVM Optimization Problem</vt:lpstr>
      <vt:lpstr>Hinge Loss</vt:lpstr>
      <vt:lpstr>Hinge Loss</vt:lpstr>
      <vt:lpstr>PowerPoint Presentation</vt:lpstr>
      <vt:lpstr>Potential problems </vt:lpstr>
      <vt:lpstr>Soft Margin SVM</vt:lpstr>
      <vt:lpstr>Potential problems </vt:lpstr>
      <vt:lpstr>Support Vector Classifier  (Soft margin) </vt:lpstr>
      <vt:lpstr>Slack Variables</vt:lpstr>
      <vt:lpstr>Optimization w/ Slack Variables</vt:lpstr>
      <vt:lpstr>Support Vectors</vt:lpstr>
      <vt:lpstr>Non-linearly separable data</vt:lpstr>
      <vt:lpstr>Non-linearly Separable </vt:lpstr>
      <vt:lpstr>Non-linearly Separable </vt:lpstr>
      <vt:lpstr>Non-linearly Separable </vt:lpstr>
      <vt:lpstr>Examples</vt:lpstr>
      <vt:lpstr>Another Example</vt:lpstr>
      <vt:lpstr>A solution and a problem </vt:lpstr>
      <vt:lpstr>Support Vector Machines</vt:lpstr>
      <vt:lpstr>Dot Products</vt:lpstr>
      <vt:lpstr>Dot Products in the Dual</vt:lpstr>
      <vt:lpstr>The Kernel Trick</vt:lpstr>
      <vt:lpstr>Common Kernels</vt:lpstr>
      <vt:lpstr>Primal and Dual: The Idea</vt:lpstr>
      <vt:lpstr>The SVM Dual Problem</vt:lpstr>
      <vt:lpstr>Interpreting Dual Weights</vt:lpstr>
      <vt:lpstr>Kernel Training and Prediction</vt:lpstr>
      <vt:lpstr>the RBF Kernel</vt:lpstr>
      <vt:lpstr>More about the RBF Kernel</vt:lpstr>
      <vt:lpstr>More about the RBF Kernel</vt:lpstr>
      <vt:lpstr>Example of RBF Features</vt:lpstr>
      <vt:lpstr>Comparing γ</vt:lpstr>
      <vt:lpstr>Gaussian RBF Kernel</vt:lpstr>
      <vt:lpstr>SVM Regression</vt:lpstr>
      <vt:lpstr>SVR and ε-Insensitive Loss</vt:lpstr>
      <vt:lpstr>SVR Optimization</vt:lpstr>
      <vt:lpstr>SVM Regression</vt:lpstr>
      <vt:lpstr>SVM Regression</vt:lpstr>
      <vt:lpstr>SVR Predictions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Jake Rhodes</dc:creator>
  <cp:lastModifiedBy>Jake Rhodes</cp:lastModifiedBy>
  <cp:revision>42</cp:revision>
  <dcterms:modified xsi:type="dcterms:W3CDTF">2026-10-27T21:26:57Z</dcterms:modified>
</cp:coreProperties>
</file>