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0"/>
  </p:notesMasterIdLst>
  <p:sldIdLst>
    <p:sldId id="256" r:id="rId2"/>
    <p:sldId id="307" r:id="rId3"/>
    <p:sldId id="274" r:id="rId4"/>
    <p:sldId id="275" r:id="rId5"/>
    <p:sldId id="276" r:id="rId6"/>
    <p:sldId id="277" r:id="rId7"/>
    <p:sldId id="278" r:id="rId8"/>
    <p:sldId id="280" r:id="rId9"/>
    <p:sldId id="312" r:id="rId10"/>
    <p:sldId id="281" r:id="rId11"/>
    <p:sldId id="306" r:id="rId12"/>
    <p:sldId id="285" r:id="rId13"/>
    <p:sldId id="288" r:id="rId14"/>
    <p:sldId id="287" r:id="rId15"/>
    <p:sldId id="310" r:id="rId16"/>
    <p:sldId id="309" r:id="rId17"/>
    <p:sldId id="311" r:id="rId18"/>
    <p:sldId id="30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63805" autoAdjust="0"/>
  </p:normalViewPr>
  <p:slideViewPr>
    <p:cSldViewPr snapToGrid="0">
      <p:cViewPr>
        <p:scale>
          <a:sx n="75" d="100"/>
          <a:sy n="75" d="100"/>
        </p:scale>
        <p:origin x="-7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points:</a:t>
            </a:r>
          </a:p>
          <a:p>
            <a:r>
              <a:rPr lang="en-US"/>
              <a:t>Start with the three-panel figure</a:t>
            </a:r>
            <a:r>
              <a:rPr lang="en-US" dirty="0"/>
              <a:t>: </a:t>
            </a:r>
            <a:r>
              <a:rPr lang="en-US"/>
              <a:t>same data</a:t>
            </a:r>
            <a:r>
              <a:rPr lang="en-US" dirty="0"/>
              <a:t>, </a:t>
            </a:r>
            <a:r>
              <a:rPr lang="en-US"/>
              <a:t>three model complexities.</a:t>
            </a:r>
          </a:p>
          <a:p>
            <a:r>
              <a:rPr lang="en-US"/>
              <a:t>Underfit </a:t>
            </a:r>
            <a:r>
              <a:rPr lang="en-US" dirty="0"/>
              <a:t>(</a:t>
            </a:r>
            <a:r>
              <a:rPr lang="en-US"/>
              <a:t>degree 1): the model is too rigid — high bias</a:t>
            </a:r>
            <a:r>
              <a:rPr lang="en-US" dirty="0"/>
              <a:t>, </a:t>
            </a:r>
            <a:r>
              <a:rPr lang="en-US"/>
              <a:t>misses the curvature.</a:t>
            </a:r>
          </a:p>
          <a:p>
            <a:r>
              <a:rPr lang="en-US" dirty="0"/>
              <a:t>Good fit (degree</a:t>
            </a:r>
            <a:r>
              <a:rPr lang="en-US"/>
              <a:t> 4</a:t>
            </a:r>
            <a:r>
              <a:rPr lang="en-US" dirty="0"/>
              <a:t>): </a:t>
            </a:r>
            <a:r>
              <a:rPr lang="en-US"/>
              <a:t>captures the signal without chasing noise.</a:t>
            </a:r>
          </a:p>
          <a:p>
            <a:r>
              <a:rPr lang="en-US"/>
              <a:t>Overfit </a:t>
            </a:r>
            <a:r>
              <a:rPr lang="en-US" dirty="0"/>
              <a:t>(degree</a:t>
            </a:r>
            <a:r>
              <a:rPr lang="en-US"/>
              <a:t> 18): passes near every point but will generalize terribly to new data.</a:t>
            </a:r>
          </a:p>
          <a:p>
            <a:r>
              <a:rPr lang="en-US"/>
              <a:t>Ask the class: which model has the lowest training error? </a:t>
            </a:r>
            <a:r>
              <a:rPr lang="en-US" dirty="0"/>
              <a:t>(</a:t>
            </a:r>
            <a:r>
              <a:rPr lang="en-US"/>
              <a:t>The overfit one.) That is exactly why training error alone is a bad model-selection criterion.</a:t>
            </a:r>
          </a:p>
          <a:p>
            <a:r>
              <a:rPr lang="en-US"/>
              <a:t>Bridge: regularization gives us a dial between these extremes without having to guess the right polynomial </a:t>
            </a:r>
            <a:r>
              <a:rPr lang="en-US" dirty="0"/>
              <a:t>degree</a:t>
            </a:r>
            <a:r>
              <a:rPr lang="en-US"/>
              <a:t>.</a:t>
            </a:r>
          </a:p>
          <a:p>
            <a:r>
              <a:rPr lang="en-US" dirty="0"/>
              <a:t>(</a:t>
            </a:r>
            <a:r>
              <a:rPr lang="en-US"/>
              <a:t>Figure generated with a short matplotlib script; source available in the course repo.)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6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74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544287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54844" y="2214563"/>
            <a:ext cx="10882313" cy="2277070"/>
          </a:xfrm>
          <a:prstGeom prst="rect">
            <a:avLst/>
          </a:prstGeom>
        </p:spPr>
        <p:txBody>
          <a:bodyPr anchor="ctr"/>
          <a:lstStyle>
            <a:lvl1pPr marL="0" indent="0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1pPr>
            <a:lvl2pPr marL="0" indent="223234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2pPr>
            <a:lvl3pPr marL="0" indent="446469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3pPr>
            <a:lvl4pPr marL="0" indent="669703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4pPr>
            <a:lvl5pPr marL="0" indent="892937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941272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www.vizuaranewsletter.com/p/if-regularization-is-easy-can-you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desmos.com/3d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CB01E9-3FDC-7F85-46FE-0E1D01694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Regularization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CE7558-C426-566B-43AD-8D5ECF06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regularization?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3133B-3218-0D6D-54B8-49C105287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1594843"/>
            <a:ext cx="10691265" cy="3739896"/>
          </a:xfrm>
        </p:spPr>
        <p:txBody>
          <a:bodyPr/>
          <a:lstStyle/>
          <a:p>
            <a:r>
              <a:rPr lang="en-US" dirty="0"/>
              <a:t>Recall: Fit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E19C4-DAA6-52B4-6FED-66025041B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29" y="2179324"/>
            <a:ext cx="10114208" cy="363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2145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Regularization</a:t>
            </a:r>
          </a:p>
        </p:txBody>
      </p:sp>
      <p:sp>
        <p:nvSpPr>
          <p:cNvPr id="241" name="We said that adding constraints to model is a way to simplify the model to help prevent overfitt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/>
              <a:t>Regularization</a:t>
            </a:r>
            <a:r>
              <a:rPr lang="en-US"/>
              <a:t>: techniques that constrain a model to reduce overfitting and improve generalization</a:t>
            </a:r>
          </a:p>
          <a:p>
            <a:r>
              <a:rPr lang="en-US"/>
              <a:t>Two broad families:</a:t>
            </a:r>
          </a:p>
          <a:p>
            <a:pPr lvl="1"/>
            <a:r>
              <a:rPr lang="en-US" b="1"/>
              <a:t>Explicit</a:t>
            </a:r>
            <a:r>
              <a:rPr lang="en-US"/>
              <a:t>  – add a penalty term directly to the loss function</a:t>
            </a:r>
          </a:p>
          <a:p>
            <a:pPr lvl="1"/>
            <a:r>
              <a:rPr lang="en-US" b="1"/>
              <a:t>Implicit</a:t>
            </a:r>
            <a:r>
              <a:rPr lang="en-US"/>
              <a:t>  – constrain the model through the algorithm or training process</a:t>
            </a:r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Explici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Explicit Regularization</a:t>
            </a:r>
          </a:p>
        </p:txBody>
      </p:sp>
      <p:sp>
        <p:nvSpPr>
          <p:cNvPr id="245" name="Intentionally and directly add a regularization term to the loss fun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Intentionally and directly add a regularization term to the loss function</a:t>
            </a:r>
          </a:p>
          <a:p>
            <a:r>
              <a:rPr dirty="0"/>
              <a:t>Explicitly modify the optimization objective</a:t>
            </a:r>
          </a:p>
          <a:p>
            <a:r>
              <a:rPr dirty="0"/>
              <a:t>Examples (not exhaustive, but these are the most common):</a:t>
            </a:r>
          </a:p>
          <a:p>
            <a:pPr lvl="3"/>
            <a:r>
              <a:rPr dirty="0"/>
              <a:t>L1 Regularization (Lasso)</a:t>
            </a:r>
          </a:p>
          <a:p>
            <a:pPr lvl="3"/>
            <a:r>
              <a:rPr dirty="0"/>
              <a:t>L2 Regularization (Ridge)</a:t>
            </a:r>
          </a:p>
          <a:p>
            <a:pPr lvl="3"/>
            <a:r>
              <a:rPr dirty="0"/>
              <a:t>Elastic Net (combine L1 and L2 regularization)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Implici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Implicit Regularization</a:t>
            </a:r>
          </a:p>
        </p:txBody>
      </p:sp>
      <p:sp>
        <p:nvSpPr>
          <p:cNvPr id="249" name="Any regularization method that does not explicitly modify the cost or objective function…"/>
          <p:cNvSpPr txBox="1">
            <a:spLocks noGrp="1"/>
          </p:cNvSpPr>
          <p:nvPr>
            <p:ph type="body" idx="1"/>
          </p:nvPr>
        </p:nvSpPr>
        <p:spPr>
          <a:xfrm>
            <a:off x="2015133" y="1579968"/>
            <a:ext cx="8161734" cy="50498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Any regularization method that does not explicitly modify the cost or objective function </a:t>
            </a:r>
          </a:p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Can be a byproduct of an algorithm, the learning process, or other choices made in training</a:t>
            </a:r>
          </a:p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Examples (not exhaustive):</a:t>
            </a:r>
          </a:p>
          <a:p>
            <a:pPr marL="617769" lvl="2" indent="-207018" defTabSz="163570">
              <a:defRPr sz="2576"/>
            </a:pPr>
            <a:r>
              <a:rPr sz="1800" dirty="0"/>
              <a:t>Early stopping (in gradient-based optimization, stop training before convergence is reached)</a:t>
            </a:r>
            <a:endParaRPr lang="en-US" sz="1800" dirty="0"/>
          </a:p>
          <a:p>
            <a:pPr marL="617769" lvl="2" indent="-207018" defTabSz="163570">
              <a:defRPr sz="2576"/>
            </a:pPr>
            <a:r>
              <a:rPr lang="en-US" sz="1800" dirty="0"/>
              <a:t>Dropout (randomly ignoring some parts of a neural network)</a:t>
            </a:r>
          </a:p>
          <a:p>
            <a:pPr marL="617769" lvl="2" indent="-207018" defTabSz="163570">
              <a:defRPr sz="2576"/>
            </a:pPr>
            <a:r>
              <a:rPr lang="en-US" sz="1800" dirty="0"/>
              <a:t>Pruning (simplifying a grown decision tree)</a:t>
            </a:r>
            <a:endParaRPr sz="1800" dirty="0"/>
          </a:p>
          <a:p>
            <a:pPr marL="617769" lvl="2" indent="-207018" defTabSz="163570">
              <a:defRPr sz="2576"/>
            </a:pPr>
            <a:r>
              <a:rPr sz="1800" dirty="0"/>
              <a:t>Data augmentation (adding synthetic data to increase the sample size)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Example of Explicit Regularization in Linear Regression"/>
          <p:cNvSpPr txBox="1">
            <a:spLocks noGrp="1"/>
          </p:cNvSpPr>
          <p:nvPr>
            <p:ph type="body" sz="half" idx="1"/>
          </p:nvPr>
        </p:nvSpPr>
        <p:spPr>
          <a:xfrm>
            <a:off x="2015133" y="1625238"/>
            <a:ext cx="8161734" cy="2866395"/>
          </a:xfrm>
          <a:prstGeom prst="rect">
            <a:avLst/>
          </a:prstGeom>
        </p:spPr>
        <p:txBody>
          <a:bodyPr/>
          <a:lstStyle/>
          <a:p>
            <a:r>
              <a:t>Example of Explicit Regularization in Linear Regression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gularized Cost 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Least Squares: The Baseline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Least squares cost function: finds the 𝛽's that minimize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Least squares cost function: finds the 𝛽's that minimize</a:t>
                </a:r>
                <a:endParaRPr lang="en-US" dirty="0"/>
              </a:p>
              <a:p>
                <a:pPr marL="0" indent="0">
                  <a:buNone/>
                </a:pPr>
                <a:r>
                  <a:rPr dirty="0"/>
                  <a:t>                       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54" name="Least squares cost function: finds the 𝛽's that minimiz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627" t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65" name="Least squares cost function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2" y="2135152"/>
                <a:ext cx="9066321" cy="423267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Least squares cost function </a:t>
                </a:r>
                <a:endParaRPr lang="en-US"/>
              </a:p>
              <a:p>
                <a:pPr marL="0" indent="0">
                  <a:buNone/>
                </a:pPr>
                <a:r>
                  <a:t>                   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/>
              </a:p>
              <a:p>
                <a:r>
                  <a:rPr b="1" u="sng">
                    <a:latin typeface="Graphik"/>
                    <a:ea typeface="Graphik"/>
                    <a:cs typeface="Graphik"/>
                    <a:sym typeface="Graphik"/>
                  </a:rPr>
                  <a:t>Lasso</a:t>
                </a:r>
                <a:r>
                  <a:t> linear regression cost function </a:t>
                </a:r>
                <a:br>
                  <a:rPr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d>
                      <m:dPr>
                        <m:begChr m:val="|"/>
                        <m:endChr m:val="|"/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,</a:t>
                </a:r>
                <a:r>
                  <a:t> </a:t>
                </a:r>
                <a:r>
                  <a:rPr lang="en-US"/>
                  <a:t>        </a:t>
                </a:r>
                <a:r>
                  <a:t>(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t>)</a:t>
                </a:r>
                <a:endParaRPr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65" name="Least squares cost functio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2" y="2135152"/>
                <a:ext cx="9066321" cy="4232673"/>
              </a:xfrm>
              <a:prstGeom prst="rect">
                <a:avLst/>
              </a:prstGeom>
              <a:blipFill>
                <a:blip r:embed="rId2"/>
                <a:stretch>
                  <a:fillRect l="-605" t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6" name="Tries to fit the data well (find  s that move the prediction close to the observed data)"/>
              <p:cNvSpPr txBox="1"/>
              <p:nvPr/>
            </p:nvSpPr>
            <p:spPr>
              <a:xfrm>
                <a:off x="4207796" y="5352314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941751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/>
                  <a:t>Tries to fit the data well</a:t>
                </a:r>
                <a:br>
                  <a:rPr sz="1266"/>
                </a:br>
                <a:r>
                  <a:rPr sz="1617"/>
                  <a:t>(find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94165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/>
                  <a:t>s that move the prediction close to the observed data)</a:t>
                </a:r>
              </a:p>
            </p:txBody>
          </p:sp>
        </mc:Choice>
        <mc:Fallback>
          <p:sp>
            <p:nvSpPr>
              <p:cNvPr id="266" name="Tries to fit the data well (find  s that move the prediction close to the observed data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796" y="5352314"/>
                <a:ext cx="2960401" cy="764633"/>
              </a:xfrm>
              <a:prstGeom prst="rect">
                <a:avLst/>
              </a:prstGeom>
              <a:blipFill>
                <a:blip r:embed="rId3"/>
                <a:stretch>
                  <a:fillRect l="-3086" t="-800" r="-206" b="-12000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7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060323" y="5167447"/>
            <a:ext cx="2795135" cy="101029"/>
          </a:xfrm>
          <a:prstGeom prst="rect">
            <a:avLst/>
          </a:prstGeom>
        </p:spPr>
      </p:pic>
      <p:pic>
        <p:nvPicPr>
          <p:cNvPr id="269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922917" y="5098753"/>
            <a:ext cx="1010290" cy="101029"/>
          </a:xfrm>
          <a:prstGeom prst="rect">
            <a:avLst/>
          </a:prstGeom>
        </p:spPr>
      </p:pic>
      <p:pic>
        <p:nvPicPr>
          <p:cNvPr id="271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551399" y="4795265"/>
            <a:ext cx="336763" cy="1010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Constrains the model (pushes  s to be close to or exactly equal to 0)"/>
              <p:cNvSpPr txBox="1"/>
              <p:nvPr/>
            </p:nvSpPr>
            <p:spPr>
              <a:xfrm>
                <a:off x="7895188" y="5280848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005493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/>
                  <a:t>Constrains the model</a:t>
                </a:r>
                <a:br>
                  <a:rPr sz="1266"/>
                </a:br>
                <a:r>
                  <a:rPr sz="1617"/>
                  <a:t>(pushes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/>
                  <a:t>s to be close to or exactly equal to 0)</a:t>
                </a:r>
              </a:p>
            </p:txBody>
          </p:sp>
        </mc:Choice>
        <mc:Fallback>
          <p:sp>
            <p:nvSpPr>
              <p:cNvPr id="273" name="Constrains the model (pushes  s to be close to or exactly equal to 0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188" y="5280848"/>
                <a:ext cx="2960401" cy="764633"/>
              </a:xfrm>
              <a:prstGeom prst="rect">
                <a:avLst/>
              </a:prstGeom>
              <a:blipFill>
                <a:blip r:embed="rId7"/>
                <a:stretch>
                  <a:fillRect l="-3086" t="-794" b="-11905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Tuning parameter that controls relative impact of two criteria"/>
          <p:cNvSpPr txBox="1"/>
          <p:nvPr/>
        </p:nvSpPr>
        <p:spPr>
          <a:xfrm>
            <a:off x="7861802" y="2698942"/>
            <a:ext cx="3520735" cy="4617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4F8F00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lvl1pPr>
          </a:lstStyle>
          <a:p>
            <a:r>
              <a:rPr sz="1266"/>
              <a:t>Tuning parameter that controls relative impact of two criteria</a:t>
            </a:r>
          </a:p>
        </p:txBody>
      </p:sp>
      <p:pic>
        <p:nvPicPr>
          <p:cNvPr id="275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6013359">
            <a:off x="7238047" y="3721661"/>
            <a:ext cx="1314283" cy="2413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7" name="What happens if   or  ?"/>
              <p:cNvSpPr txBox="1"/>
              <p:nvPr/>
            </p:nvSpPr>
            <p:spPr>
              <a:xfrm>
                <a:off x="8242587" y="3598867"/>
                <a:ext cx="2838867" cy="56983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 sz="2300">
                    <a:solidFill>
                      <a:srgbClr val="FF9300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617"/>
                  <a:t>What happens if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617"/>
                  <a:t> or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≈∞</m:t>
                    </m:r>
                  </m:oMath>
                </a14:m>
                <a:r>
                  <a:rPr sz="1617"/>
                  <a:t>?</a:t>
                </a:r>
              </a:p>
            </p:txBody>
          </p:sp>
        </mc:Choice>
        <mc:Fallback>
          <p:sp>
            <p:nvSpPr>
              <p:cNvPr id="277" name="What happens if   or  ?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587" y="3598867"/>
                <a:ext cx="2838867" cy="569836"/>
              </a:xfrm>
              <a:prstGeom prst="rect">
                <a:avLst/>
              </a:prstGeom>
              <a:blipFill>
                <a:blip r:embed="rId9"/>
                <a:stretch>
                  <a:fillRect l="-3219" t="-4255" b="-15957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A577BF1-D405-2A0E-2465-72842BF4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44" y="847178"/>
            <a:ext cx="10359033" cy="568363"/>
          </a:xfrm>
        </p:spPr>
        <p:txBody>
          <a:bodyPr>
            <a:normAutofit fontScale="90000"/>
          </a:bodyPr>
          <a:lstStyle/>
          <a:p>
            <a:r>
              <a:rPr lang="en-US"/>
              <a:t>L1 Penalty: LASSO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animBg="1"/>
      <p:bldP spid="273" grpId="0" animBg="1"/>
      <p:bldP spid="27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LASSO Regularization Path</a:t>
            </a:r>
          </a:p>
        </p:txBody>
      </p:sp>
      <p:pic>
        <p:nvPicPr>
          <p:cNvPr id="3" name="Lasso regularization path plot" descr="Coefficient paths for 10 standardized predictors as the LASSO penalty alpha increases; coefficients shrink and reach exactly zero one by on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500" y="1450000"/>
            <a:ext cx="7269000" cy="420000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2296000" y="5700000"/>
            <a:ext cx="7600000" cy="4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n-US" sz="1200" i="1" dirty="0"/>
              <a:t>Each curve is one predictor: as α grows, coefficients shrink and drop to exactly 0 — LASSO’s built-in variable selection.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gularized Cost Functions"/>
          <p:cNvSpPr txBox="1">
            <a:spLocks noGrp="1"/>
          </p:cNvSpPr>
          <p:nvPr>
            <p:ph type="title"/>
          </p:nvPr>
        </p:nvSpPr>
        <p:spPr>
          <a:xfrm>
            <a:off x="750367" y="826603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lang="en-US"/>
              <a:t>ℓ1 vs ℓ2 Penalties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1" name="Lasso linear regression cost function    (where  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3" y="2134195"/>
                <a:ext cx="9762339" cy="4232672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b="1" u="sng">
                    <a:latin typeface="Graphik"/>
                    <a:ea typeface="Graphik"/>
                    <a:cs typeface="Graphik"/>
                    <a:sym typeface="Graphik"/>
                  </a:rPr>
                  <a:t>Lasso</a:t>
                </a:r>
                <a:r>
                  <a:t> linear regression cost function </a:t>
                </a:r>
                <a:br>
                  <a:rPr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d>
                      <m:dPr>
                        <m:begChr m:val="|"/>
                        <m:endChr m:val="|"/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,  </a:t>
                </a:r>
                <a:r>
                  <a:t> (where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t>)</a:t>
                </a:r>
              </a:p>
              <a:p>
                <a:r>
                  <a:rPr b="1" u="sng">
                    <a:latin typeface="Graphik"/>
                    <a:ea typeface="Graphik"/>
                    <a:cs typeface="Graphik"/>
                    <a:sym typeface="Graphik"/>
                  </a:rPr>
                  <a:t>Ridge</a:t>
                </a:r>
                <a:r>
                  <a:t> linear regression cost function </a:t>
                </a:r>
                <a:br>
                  <a:rPr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𝑟𝑖𝑑𝑔𝑒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391" b="0" i="1" smtClean="0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t> (where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t>)</a:t>
                </a:r>
                <a:endParaRPr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281" name="Lasso linear regression cost function    (where  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3" y="2134195"/>
                <a:ext cx="9762339" cy="4232672"/>
              </a:xfrm>
              <a:prstGeom prst="rect">
                <a:avLst/>
              </a:prstGeom>
              <a:blipFill>
                <a:blip r:embed="rId2"/>
                <a:stretch>
                  <a:fillRect l="-562" t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ℓ1 penalty"/>
          <p:cNvSpPr txBox="1"/>
          <p:nvPr/>
        </p:nvSpPr>
        <p:spPr>
          <a:xfrm>
            <a:off x="750366" y="2134195"/>
            <a:ext cx="1186223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3000">
                <a:solidFill>
                  <a:srgbClr val="FF7E79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pPr>
            <a:r>
              <a:rPr sz="2109"/>
              <a:t>ℓ</a:t>
            </a:r>
            <a:r>
              <a:rPr sz="2109" baseline="-5999"/>
              <a:t>1</a:t>
            </a:r>
            <a:r>
              <a:rPr sz="2109"/>
              <a:t> penalty</a:t>
            </a:r>
          </a:p>
        </p:txBody>
      </p:sp>
      <p:sp>
        <p:nvSpPr>
          <p:cNvPr id="283" name="ℓ2 penalty"/>
          <p:cNvSpPr txBox="1"/>
          <p:nvPr/>
        </p:nvSpPr>
        <p:spPr>
          <a:xfrm>
            <a:off x="750367" y="3611607"/>
            <a:ext cx="1186223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3000">
                <a:solidFill>
                  <a:srgbClr val="FF7E79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pPr>
            <a:r>
              <a:rPr sz="2109"/>
              <a:t>ℓ</a:t>
            </a:r>
            <a:r>
              <a:rPr sz="2109" baseline="-5999"/>
              <a:t>2</a:t>
            </a:r>
            <a:r>
              <a:rPr sz="2109"/>
              <a:t> penalty</a:t>
            </a:r>
          </a:p>
        </p:txBody>
      </p:sp>
      <p:pic>
        <p:nvPicPr>
          <p:cNvPr id="4" name="Line Line" descr="Line Line">
            <a:extLst>
              <a:ext uri="{FF2B5EF4-FFF2-40B4-BE49-F238E27FC236}">
                <a16:creationId xmlns:a16="http://schemas.microsoft.com/office/drawing/2014/main" id="{8CA19CC4-1DF1-B29F-C692-48823B16B34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51" y="4990915"/>
            <a:ext cx="1010290" cy="1010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strains the model (pushes  s to be close to but NOT exactly equal to 0)">
                <a:extLst>
                  <a:ext uri="{FF2B5EF4-FFF2-40B4-BE49-F238E27FC236}">
                    <a16:creationId xmlns:a16="http://schemas.microsoft.com/office/drawing/2014/main" id="{29A72916-10DE-D9D2-562F-007E4E434EE5}"/>
                  </a:ext>
                </a:extLst>
              </p:cNvPr>
              <p:cNvSpPr txBox="1"/>
              <p:nvPr/>
            </p:nvSpPr>
            <p:spPr>
              <a:xfrm>
                <a:off x="7478163" y="5266764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005493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/>
                  <a:t>Constrains the model</a:t>
                </a:r>
                <a:br>
                  <a:rPr sz="1266"/>
                </a:br>
                <a:r>
                  <a:rPr sz="1617"/>
                  <a:t>(pushes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/>
                  <a:t>s to be close to but NOT exactly equal to 0)</a:t>
                </a:r>
              </a:p>
            </p:txBody>
          </p:sp>
        </mc:Choice>
        <mc:Fallback>
          <p:sp>
            <p:nvSpPr>
              <p:cNvPr id="5" name="Constrains the model (pushes  s to be close to but NOT exactly equal to 0)">
                <a:extLst>
                  <a:ext uri="{FF2B5EF4-FFF2-40B4-BE49-F238E27FC236}">
                    <a16:creationId xmlns:a16="http://schemas.microsoft.com/office/drawing/2014/main" id="{29A72916-10DE-D9D2-562F-007E4E434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163" y="5266764"/>
                <a:ext cx="2960401" cy="764633"/>
              </a:xfrm>
              <a:prstGeom prst="rect">
                <a:avLst/>
              </a:prstGeom>
              <a:blipFill>
                <a:blip r:embed="rId4"/>
                <a:stretch>
                  <a:fillRect l="-3093" t="-800" r="-2268" b="-12000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E3F5-AAC1-C4F7-6770-D6539E5A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gularized Cost Functions">
            <a:extLst>
              <a:ext uri="{FF2B5EF4-FFF2-40B4-BE49-F238E27FC236}">
                <a16:creationId xmlns:a16="http://schemas.microsoft.com/office/drawing/2014/main" id="{249133E2-A269-A81E-36EE-FCAD17A83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0367" y="826603"/>
            <a:ext cx="10691265" cy="82296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Lasso v. Ridge Visualization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367C0-EFEF-E012-6B5F-58614163E46C}"/>
              </a:ext>
            </a:extLst>
          </p:cNvPr>
          <p:cNvSpPr txBox="1"/>
          <p:nvPr/>
        </p:nvSpPr>
        <p:spPr>
          <a:xfrm>
            <a:off x="1750264" y="6035040"/>
            <a:ext cx="77271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https://www.vizuaranewsletter.com/p/if-regularization-is-easy-can-you</a:t>
            </a:r>
            <a:r>
              <a:rPr lang="en-US" dirty="0"/>
              <a:t>: This is a great source for an intuitive description!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D02CD21-EE01-2E2D-50D3-D831A0A7E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91640"/>
            <a:ext cx="4142232" cy="420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B088A4-CDA1-B0FB-CCBD-CA764CB4E9E2}"/>
              </a:ext>
            </a:extLst>
          </p:cNvPr>
          <p:cNvSpPr txBox="1"/>
          <p:nvPr/>
        </p:nvSpPr>
        <p:spPr>
          <a:xfrm>
            <a:off x="8393502" y="1920240"/>
            <a:ext cx="311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explore this further in </a:t>
            </a:r>
            <a:r>
              <a:rPr lang="en-US" b="1" dirty="0"/>
              <a:t>Desmos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https://www.desmos.com/3d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20095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idge vs Lass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Ridge vs Lasso</a:t>
            </a:r>
          </a:p>
        </p:txBody>
      </p:sp>
      <p:graphicFrame>
        <p:nvGraphicFramePr>
          <p:cNvPr id="302" name="Lasso vs Ridge comparison" descr="Table comparing Lasso and Ridge regression on coefficients, variable selection, correlated features, and when each performs best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5588"/>
              </p:ext>
            </p:extLst>
          </p:nvPr>
        </p:nvGraphicFramePr>
        <p:xfrm>
          <a:off x="927053" y="1738685"/>
          <a:ext cx="10337894" cy="310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8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r>
                        <a:rPr lang="en-US" sz="1600" b="1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Lasso (ℓ1)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Ridge (ℓ2)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lang="en-US" sz="1500" b="1"/>
                        <a:t>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Can be driven to exactly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Shrink toward 0, never exactly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r>
                        <a:rPr lang="en-US" sz="1500" b="1"/>
                        <a:t>Variable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Built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None — keeps every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r>
                        <a:rPr lang="en-US" sz="1500" b="1" dirty="0"/>
                        <a:t>Correlated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Picks one somewhat arbitrarily; estimates unstable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Spreads weight across them; estimates 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r>
                        <a:rPr lang="en-US" sz="1500" b="1"/>
                        <a:t>Performs best 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Many features contribute little to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Many features contribute, and are correlated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0" name="Takeaway note"/>
          <p:cNvSpPr txBox="1"/>
          <p:nvPr/>
        </p:nvSpPr>
        <p:spPr>
          <a:xfrm>
            <a:off x="927053" y="5500000"/>
            <a:ext cx="10337894" cy="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600" b="1"/>
              <a:t>Neither method universally dominates </a:t>
            </a:r>
            <a:r>
              <a:rPr lang="en-US" sz="1600"/>
              <a:t>— the right choice depends on how many features actually matter.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Choosing the Tuning Parameter</a:t>
            </a:r>
            <a:endParaRPr dirty="0"/>
          </a:p>
        </p:txBody>
      </p:sp>
      <p:sp>
        <p:nvSpPr>
          <p:cNvPr id="315" name="We’ve just looked at Lasso, Ridge, and Elastic net (explicit regularization) in the context of linear regres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l-GR"/>
              <a:t>α </a:t>
            </a:r>
            <a:r>
              <a:rPr lang="en-US"/>
              <a:t>controls the bias–variance tradeoff</a:t>
            </a:r>
          </a:p>
          <a:p>
            <a:r>
              <a:rPr lang="el-GR"/>
              <a:t>α → 0: </a:t>
            </a:r>
            <a:r>
              <a:rPr lang="en-US"/>
              <a:t>back to ordinary least squares (low bias, high variance)</a:t>
            </a:r>
          </a:p>
          <a:p>
            <a:r>
              <a:rPr lang="el-GR"/>
              <a:t>α → ∞: </a:t>
            </a:r>
            <a:r>
              <a:rPr lang="en-US"/>
              <a:t>all coefficients shrink toward 0 (high bias, low variance)</a:t>
            </a:r>
          </a:p>
          <a:p>
            <a:r>
              <a:rPr lang="en-US"/>
              <a:t>Choose </a:t>
            </a:r>
            <a:r>
              <a:rPr lang="el-GR"/>
              <a:t>α </a:t>
            </a:r>
            <a:r>
              <a:rPr lang="en-US"/>
              <a:t>by k-fold cross-validation: fit over </a:t>
            </a:r>
            <a:r>
              <a:rPr lang="en-US" dirty="0"/>
              <a:t>a </a:t>
            </a:r>
            <a:r>
              <a:rPr lang="en-US"/>
              <a:t>grid </a:t>
            </a:r>
            <a:r>
              <a:rPr lang="en-US" dirty="0"/>
              <a:t>of </a:t>
            </a:r>
            <a:r>
              <a:rPr lang="el-GR"/>
              <a:t>α </a:t>
            </a:r>
            <a:r>
              <a:rPr lang="en-US"/>
              <a:t>values</a:t>
            </a:r>
            <a:r>
              <a:rPr lang="en-US" dirty="0"/>
              <a:t>, </a:t>
            </a:r>
            <a:r>
              <a:rPr lang="en-US"/>
              <a:t>pick the one minimizing CV error</a:t>
            </a:r>
            <a:endParaRPr lang="en-US" dirty="0"/>
          </a:p>
          <a:p>
            <a:r>
              <a:rPr lang="en-US"/>
              <a:t>The regularization path plots coefficients against </a:t>
            </a:r>
            <a:r>
              <a:rPr lang="el-GR"/>
              <a:t>α — </a:t>
            </a:r>
            <a:r>
              <a:rPr lang="en-US"/>
              <a:t>useful for seeing which features survive</a:t>
            </a:r>
          </a:p>
          <a:p>
            <a:r>
              <a:rPr lang="en-US"/>
              <a:t>Always standardize predictors first</a:t>
            </a:r>
            <a:r>
              <a:rPr lang="en-US" dirty="0"/>
              <a:t>: </a:t>
            </a:r>
            <a:r>
              <a:rPr lang="en-US"/>
              <a:t>penalties are not scale-invariant</a:t>
            </a:r>
            <a:r>
              <a:rPr lang="en-US" dirty="0"/>
              <a:t>, </a:t>
            </a:r>
            <a:r>
              <a:rPr lang="en-US"/>
              <a:t>so units change </a:t>
            </a:r>
            <a:r>
              <a:rPr lang="en-US" dirty="0"/>
              <a:t>the </a:t>
            </a:r>
            <a:r>
              <a:rPr lang="en-US"/>
              <a:t>answer</a:t>
            </a:r>
          </a:p>
          <a:p>
            <a:r>
              <a:rPr lang="en-US"/>
              <a:t>The intercept β₀ is not penalized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Elastic-Ne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Elastic-Net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Combination of Ridge and Lasso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3" y="1772319"/>
                <a:ext cx="8161734" cy="478796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214305" indent="-214305" defTabSz="170682">
                  <a:spcBef>
                    <a:spcPts val="500"/>
                  </a:spcBef>
                  <a:defRPr sz="2688"/>
                </a:pPr>
                <a:r>
                  <a:rPr sz="1800" dirty="0"/>
                  <a:t>Combination of Ridge and Lasso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The idea is </a:t>
                </a:r>
                <a:r>
                  <a:rPr lang="en-US" sz="1800" dirty="0"/>
                  <a:t>to</a:t>
                </a:r>
                <a:r>
                  <a:rPr sz="1800" dirty="0"/>
                  <a:t> capitalize on the strengths of both methods</a:t>
                </a:r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800" dirty="0"/>
                  <a:t>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sz="1800" dirty="0"/>
                  <a:t>), elastic net becomes Ridge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800" dirty="0"/>
                  <a:t>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sz="1800" dirty="0"/>
                  <a:t>), elastic net becomes Lasso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both are 0, we’re back to vanilla least squares</a:t>
                </a:r>
              </a:p>
            </p:txBody>
          </p:sp>
        </mc:Choice>
        <mc:Fallback xmlns="">
          <p:sp>
            <p:nvSpPr>
              <p:cNvPr id="310" name="Combination of Ridge and Lasso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3" y="1772319"/>
                <a:ext cx="8161734" cy="4787968"/>
              </a:xfrm>
              <a:prstGeom prst="rect">
                <a:avLst/>
              </a:prstGeom>
              <a:blipFill>
                <a:blip r:embed="rId2"/>
                <a:stretch>
                  <a:fillRect l="-523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equation.pdf"/>
              <p:cNvSpPr txBox="1"/>
              <p:nvPr/>
            </p:nvSpPr>
            <p:spPr>
              <a:xfrm>
                <a:off x="2015133" y="2477008"/>
                <a:ext cx="8659615" cy="9519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𝑒𝑛</m:t>
                          </m:r>
                        </m:sub>
                      </m:sSub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sSup>
                        <m:sSu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limUpp>
                                <m:limUpp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limLow>
                                    <m:limLowPr>
                                      <m:ctrlP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</m:e>
                                    <m:lim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lim>
                                  </m:limLow>
                                </m:e>
                                <m:lim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lim>
                              </m:limUpp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lim>
                      </m:limUpp>
                      <m:d>
                        <m:dPr>
                          <m:begChr m:val="|"/>
                          <m:endChr m:val="|"/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lim>
                      </m:limUpp>
                      <m:sSup>
                        <m:sSu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531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1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133" y="2477008"/>
                <a:ext cx="8659615" cy="9519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In Practice: Fitting Regularized Models</a:t>
            </a:r>
            <a:endParaRPr/>
          </a:p>
        </p:txBody>
      </p:sp>
      <p:sp>
        <p:nvSpPr>
          <p:cNvPr id="315" name="We’ve just looked at Lasso, Ridge, and Elastic net (explicit regularization) in the context of linear regres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1800" dirty="0"/>
              <a:t>Python — scikit-learn</a:t>
            </a:r>
          </a:p>
          <a:p>
            <a:r>
              <a:rPr lang="en-US" dirty="0" err="1"/>
              <a:t>make_pipeline</a:t>
            </a:r>
            <a:r>
              <a:rPr lang="en-US" dirty="0"/>
              <a:t>(</a:t>
            </a:r>
            <a:r>
              <a:rPr lang="en-US" dirty="0" err="1"/>
              <a:t>StandardScaler</a:t>
            </a:r>
            <a:r>
              <a:rPr lang="en-US" dirty="0"/>
              <a:t>(), </a:t>
            </a:r>
            <a:r>
              <a:rPr lang="en-US" dirty="0" err="1"/>
              <a:t>LassoCV</a:t>
            </a:r>
            <a:r>
              <a:rPr lang="en-US" dirty="0"/>
              <a:t>(cv=10)).fit(X, y)</a:t>
            </a:r>
          </a:p>
          <a:p>
            <a:r>
              <a:rPr lang="en-US" sz="1800" dirty="0"/>
              <a:t>R — </a:t>
            </a:r>
            <a:r>
              <a:rPr lang="en-US" sz="1800" dirty="0" err="1"/>
              <a:t>glmnet</a:t>
            </a:r>
            <a:endParaRPr lang="en-US" sz="1800" dirty="0"/>
          </a:p>
          <a:p>
            <a:r>
              <a:rPr lang="en-US" dirty="0" err="1"/>
              <a:t>cv.glmnet</a:t>
            </a:r>
            <a:r>
              <a:rPr lang="en-US" dirty="0"/>
              <a:t>(X, y, alpha = 1)</a:t>
            </a:r>
          </a:p>
          <a:p>
            <a:r>
              <a:rPr lang="en-US" sz="1800" dirty="0"/>
              <a:t>alpha: 1 = Lasso, 0 = Ridge, between = Elastic Net</a:t>
            </a:r>
          </a:p>
          <a:p>
            <a:r>
              <a:rPr lang="en-US" sz="1800" dirty="0"/>
              <a:t>Penalty-weight conventions differ between packages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08529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Regularization</a:t>
            </a:r>
            <a:r>
              <a:rPr lang="en-US"/>
              <a:t> Generally</a:t>
            </a:r>
            <a:r>
              <a:t> </a:t>
            </a:r>
          </a:p>
        </p:txBody>
      </p:sp>
      <p:sp>
        <p:nvSpPr>
          <p:cNvPr id="315" name="We’ve just looked at Lasso, Ridge, and Elastic net (explicit regularization) in the context of linear regres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Regularization is a general idea, not a linear-regression trick</a:t>
            </a:r>
          </a:p>
          <a:p>
            <a:r>
              <a:rPr lang="en-US"/>
              <a:t>Used in logistic regression, neural networks, decision trees, and more</a:t>
            </a:r>
          </a:p>
          <a:p>
            <a:r>
              <a:rPr lang="en-US"/>
              <a:t>Implicit forms need no penalty term: early stopping, dropout, pruning</a:t>
            </a:r>
          </a:p>
          <a:p>
            <a:r>
              <a:rPr lang="en-US"/>
              <a:t>Applies to weights, complexity, or the training process itself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34065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Regularized Models in scikit-learn</a:t>
            </a:r>
            <a:endParaRPr/>
          </a:p>
        </p:txBody>
      </p:sp>
      <p:sp>
        <p:nvSpPr>
          <p:cNvPr id="315" name="We’ve just looked at Lasso, Ridge, and Elastic net (explicit regularization) in the context of linear regres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By default: LogisticRegression, SVC</a:t>
            </a:r>
            <a:r>
              <a:rPr lang="en-US"/>
              <a:t>, MLP</a:t>
            </a:r>
            <a:endParaRPr lang="en-US" dirty="0"/>
          </a:p>
          <a:p>
            <a:r>
              <a:rPr lang="en-US" dirty="0"/>
              <a:t>By design: Ridge, Lasso, </a:t>
            </a:r>
            <a:r>
              <a:rPr lang="en-US" dirty="0" err="1"/>
              <a:t>ElasticNet</a:t>
            </a:r>
            <a:endParaRPr lang="en-US" dirty="0"/>
          </a:p>
          <a:p>
            <a:r>
              <a:rPr lang="en-US" dirty="0"/>
              <a:t>By complexity: tree pruning, boosting, early stopping</a:t>
            </a:r>
          </a:p>
          <a:p>
            <a:r>
              <a:rPr lang="en-US" dirty="0"/>
              <a:t>No penalty: </a:t>
            </a:r>
            <a:r>
              <a:rPr lang="en-US" dirty="0" err="1"/>
              <a:t>LinearRegression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642007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Key Takeaways</a:t>
            </a:r>
            <a:endParaRPr/>
          </a:p>
        </p:txBody>
      </p:sp>
      <p:sp>
        <p:nvSpPr>
          <p:cNvPr id="315" name="We’ve just looked at Lasso, Ridge, and Elastic net (explicit regularization) in the context of linear regres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Regularization is the dial that controls model complexity</a:t>
            </a:r>
          </a:p>
          <a:p>
            <a:r>
              <a:rPr lang="en-US"/>
              <a:t>Lasso: sparse coefficients, built-in variable selection</a:t>
            </a:r>
          </a:p>
          <a:p>
            <a:r>
              <a:rPr lang="en-US"/>
              <a:t>Ridge: stable shrinkage, handles correlated features</a:t>
            </a:r>
          </a:p>
          <a:p>
            <a:r>
              <a:rPr lang="en-US"/>
              <a:t>Elastic Net: the middle ground</a:t>
            </a:r>
          </a:p>
          <a:p>
            <a:r>
              <a:rPr lang="en-US"/>
              <a:t>Standardize first, then tune </a:t>
            </a:r>
            <a:r>
              <a:rPr lang="el-GR"/>
              <a:t>α </a:t>
            </a:r>
            <a:r>
              <a:rPr lang="en-US"/>
              <a:t>by cross-validation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27192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1024</Words>
  <Application>Microsoft Office PowerPoint</Application>
  <PresentationFormat>Widescreen</PresentationFormat>
  <Paragraphs>114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Calisto MT</vt:lpstr>
      <vt:lpstr>Cambria Math</vt:lpstr>
      <vt:lpstr>Graphik</vt:lpstr>
      <vt:lpstr>Univers Condensed</vt:lpstr>
      <vt:lpstr>ChronicleVTI</vt:lpstr>
      <vt:lpstr>Regularization</vt:lpstr>
      <vt:lpstr>Why do we need regularization?</vt:lpstr>
      <vt:lpstr>Regularization</vt:lpstr>
      <vt:lpstr>Explicit Regularization</vt:lpstr>
      <vt:lpstr>Implicit Regularization</vt:lpstr>
      <vt:lpstr>PowerPoint Presentation</vt:lpstr>
      <vt:lpstr>Least Squares: The Baseline</vt:lpstr>
      <vt:lpstr>L1 Penalty: LASSO</vt:lpstr>
      <vt:lpstr>The LASSO Regularization Path</vt:lpstr>
      <vt:lpstr>ℓ1 vs ℓ2 Penalties</vt:lpstr>
      <vt:lpstr>Lasso v. Ridge Visualization</vt:lpstr>
      <vt:lpstr>Ridge vs Lasso</vt:lpstr>
      <vt:lpstr>Choosing the Tuning Parameter</vt:lpstr>
      <vt:lpstr>Elastic-Net Regularization</vt:lpstr>
      <vt:lpstr>In Practice: Fitting Regularized Models</vt:lpstr>
      <vt:lpstr>Regularization Generally </vt:lpstr>
      <vt:lpstr>Regularized Models in scikit-learn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30</cp:revision>
  <dcterms:created xsi:type="dcterms:W3CDTF">2025-10-28T15:32:43Z</dcterms:created>
  <dcterms:modified xsi:type="dcterms:W3CDTF">2026-09-24T21:56:49Z</dcterms:modified>
</cp:coreProperties>
</file>