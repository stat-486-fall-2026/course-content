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6"/>
  </p:notesMasterIdLst>
  <p:sldIdLst>
    <p:sldId id="256" r:id="rId2"/>
    <p:sldId id="299" r:id="rId3"/>
    <p:sldId id="300" r:id="rId4"/>
    <p:sldId id="303" r:id="rId5"/>
    <p:sldId id="304" r:id="rId6"/>
    <p:sldId id="305" r:id="rId7"/>
    <p:sldId id="306" r:id="rId8"/>
    <p:sldId id="307" r:id="rId9"/>
    <p:sldId id="308" r:id="rId10"/>
    <p:sldId id="323" r:id="rId11"/>
    <p:sldId id="310" r:id="rId12"/>
    <p:sldId id="312" r:id="rId13"/>
    <p:sldId id="324" r:id="rId14"/>
    <p:sldId id="325" r:id="rId15"/>
    <p:sldId id="313" r:id="rId16"/>
    <p:sldId id="315" r:id="rId17"/>
    <p:sldId id="314" r:id="rId18"/>
    <p:sldId id="316" r:id="rId19"/>
    <p:sldId id="317" r:id="rId20"/>
    <p:sldId id="318" r:id="rId21"/>
    <p:sldId id="319" r:id="rId22"/>
    <p:sldId id="320" r:id="rId23"/>
    <p:sldId id="321" r:id="rId24"/>
    <p:sldId id="32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100" y="3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544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LaTeX: (y_i-\hat{y}_i)^2</a:t>
            </a:r>
          </a:p>
          <a:p>
            <a:r>
              <a:t>LaTeX: \left|y_i-\hat{y}_i\right|^2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Classification is a supervised learning method with a categorical response y. Models predict a class or class probabilities given features.</a:t>
            </a:r>
          </a:p>
          <a:p>
            <a:r>
              <a:rPr lang="en-US"/>
              <a:t>Accuracy counts correct predictions; error rate counts incorrect predictions on the same set of n cases. Their sum is 1. Both treat errors equally and can obscure poor minority-class performance when classes are imbalanced.</a:t>
            </a:r>
          </a:p>
          <a:p>
            <a:r>
              <a:rPr lang="en-US"/>
              <a:t>LaTeX: \mathrm{Accuracy}=\frac{\mathrm{Correct\ predictions}}{\mathrm{Total\ predictions}}=1-\mathrm{Error\ rate}</a:t>
            </a:r>
            <a:endParaRPr/>
          </a:p>
          <a:p>
            <a:r>
              <a:t>LaTeX: \</a:t>
            </a:r>
            <a:r>
              <a:rPr lang="en-US"/>
              <a:t>mathrm</a:t>
            </a:r>
            <a:r>
              <a:t>{</a:t>
            </a:r>
            <a:r>
              <a:rPr lang="en-US"/>
              <a:t>Error\ rate</a:t>
            </a:r>
            <a:r>
              <a:t>}=\frac{1}{n}\sum_{i=1}^{n}1\{y_i\ne\hat{y}_i\}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High precision is most important when </a:t>
            </a:r>
            <a:r>
              <a:rPr lang="en-US" b="1"/>
              <a:t>false positives are costly, harmful, or difficult to reverse</a:t>
            </a:r>
            <a:r>
              <a:rPr lang="en-US"/>
              <a:t>, even if some true cases are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58974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High recall is most important when </a:t>
            </a:r>
            <a:r>
              <a:rPr lang="en-US" b="1"/>
              <a:t>missing true positives is costly or dangerous</a:t>
            </a:r>
            <a:r>
              <a:rPr lang="en-US"/>
              <a:t>, and false positives can be tolerated or corrected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F0E3D6-3C77-45F1-B7E2-5B66F3D24A7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294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4322175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196703"/>
            <a:ext cx="10882313" cy="2321719"/>
          </a:xfrm>
          <a:prstGeom prst="rect">
            <a:avLst/>
          </a:prstGeom>
        </p:spPr>
        <p:txBody>
          <a:bodyPr anchor="ctr"/>
          <a:lstStyle>
            <a:lvl1pPr defTabSz="250022">
              <a:defRPr sz="5906" spc="-59"/>
            </a:lvl1pPr>
          </a:lstStyle>
          <a:p>
            <a:r>
              <a:t>Section Title</a:t>
            </a:r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044930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scikit-learn.org/stable/api/sklearn.metrics.html" TargetMode="Externa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A67C21-567A-C926-3F40-F6A0BFFE63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612349FF-7742-42ED-ADF3-238B5DDD17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307" y="4237318"/>
            <a:ext cx="12188952" cy="2620682"/>
          </a:xfrm>
          <a:prstGeom prst="rect">
            <a:avLst/>
          </a:prstGeom>
          <a:gradFill>
            <a:gsLst>
              <a:gs pos="42000">
                <a:srgbClr val="000000">
                  <a:alpha val="14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31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5158" y="5528235"/>
            <a:ext cx="10696574" cy="770964"/>
          </a:xfrm>
        </p:spPr>
        <p:txBody>
          <a:bodyPr anchor="b">
            <a:normAutofit/>
          </a:bodyPr>
          <a:lstStyle/>
          <a:p>
            <a:r>
              <a:rPr lang="en-US" sz="4000">
                <a:solidFill>
                  <a:srgbClr val="FFFFFF"/>
                </a:solidFill>
              </a:rPr>
              <a:t>Classification Metrics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1A06C2-C984-559B-6247-4CE552425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9681" y="4392705"/>
            <a:ext cx="5795251" cy="1063813"/>
          </a:xfrm>
        </p:spPr>
        <p:txBody>
          <a:bodyPr anchor="b">
            <a:normAutofit/>
          </a:bodyPr>
          <a:lstStyle/>
          <a:p>
            <a:endParaRPr lang="en-US" sz="18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Regression vs Classification (Review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31140">
              <a:defRPr sz="5460" spc="-54"/>
            </a:lvl1pPr>
          </a:lstStyle>
          <a:p>
            <a:r>
              <a:rPr sz="4000" dirty="0"/>
              <a:t>Regression vs Classification (Review)</a:t>
            </a:r>
          </a:p>
        </p:txBody>
      </p:sp>
      <p:sp>
        <p:nvSpPr>
          <p:cNvPr id="403" name="Regression and Classification are both supervised learning methods…"/>
          <p:cNvSpPr txBox="1">
            <a:spLocks noGrp="1"/>
          </p:cNvSpPr>
          <p:nvPr>
            <p:ph type="body" idx="1"/>
          </p:nvPr>
        </p:nvSpPr>
        <p:spPr>
          <a:xfrm>
            <a:off x="700634" y="2221992"/>
            <a:ext cx="10691265" cy="3739896"/>
          </a:xfrm>
          <a:prstGeom prst="rect">
            <a:avLst/>
          </a:prstGeom>
        </p:spPr>
        <p:txBody>
          <a:bodyPr/>
          <a:lstStyle/>
          <a:p>
            <a:r>
              <a:rPr dirty="0"/>
              <a:t>Regression and Classification are both supervised learning methods</a:t>
            </a:r>
          </a:p>
          <a:p>
            <a:r>
              <a:rPr dirty="0"/>
              <a:t>Regression</a:t>
            </a:r>
          </a:p>
          <a:p>
            <a:pPr lvl="1"/>
            <a:r>
              <a:rPr dirty="0"/>
              <a:t>The target or response variable (y) is numeric </a:t>
            </a:r>
          </a:p>
          <a:p>
            <a:pPr lvl="1"/>
            <a:r>
              <a:rPr dirty="0"/>
              <a:t>Model predicts the </a:t>
            </a:r>
            <a:r>
              <a:rPr i="1" dirty="0">
                <a:latin typeface="Graphik"/>
                <a:ea typeface="Graphik"/>
                <a:cs typeface="Graphik"/>
                <a:sym typeface="Graphik"/>
              </a:rPr>
              <a:t>value</a:t>
            </a:r>
            <a:r>
              <a:rPr dirty="0"/>
              <a:t> of y</a:t>
            </a:r>
          </a:p>
          <a:p>
            <a:pPr lvl="1"/>
            <a:r>
              <a:rPr dirty="0"/>
              <a:t>Prediction accuracy is measured by how close the predicted value is to the truth</a:t>
            </a:r>
            <a:r>
              <a:rPr lang="en-US" dirty="0"/>
              <a:t>, such as</a:t>
            </a:r>
          </a:p>
          <a:p>
            <a:pPr marL="3200400" lvl="7" indent="0">
              <a:buNone/>
            </a:pPr>
            <a:endParaRPr lang="en-US" dirty="0"/>
          </a:p>
          <a:p>
            <a:pPr marL="3200400" lvl="7" indent="0">
              <a:buNone/>
            </a:pPr>
            <a:r>
              <a:rPr sz="4200" dirty="0"/>
              <a:t>or</a:t>
            </a:r>
            <a:endParaRPr sz="4200" dirty="0">
              <a:solidFill>
                <a:srgbClr val="53585F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LaTeX equation" descr="(y_i-\hat{y}_i)^2"/>
              <p:cNvSpPr txBox="1"/>
              <p:nvPr/>
            </p:nvSpPr>
            <p:spPr>
              <a:xfrm>
                <a:off x="1898230" y="4502127"/>
                <a:ext cx="1919147" cy="65273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320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sz="320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sz="320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3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LaTeX equation" descr="(y_i-\hat{y}_i)^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8230" y="4502127"/>
                <a:ext cx="1919147" cy="6527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 equation" descr="\left|y_i-\hat{y}_i\right|^2"/>
              <p:cNvSpPr txBox="1"/>
              <p:nvPr/>
            </p:nvSpPr>
            <p:spPr>
              <a:xfrm>
                <a:off x="5014973" y="4461835"/>
                <a:ext cx="1919147" cy="69302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sz="3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sz="320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sz="3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sz="320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sz="320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sz="32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sz="32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LaTeX equation" descr="\left|y_i-\hat{y}_i\right|^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973" y="4461835"/>
                <a:ext cx="1919147" cy="69302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Regression vs Classification (Review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/>
          </a:bodyPr>
          <a:lstStyle>
            <a:lvl1pPr defTabSz="231140">
              <a:defRPr sz="5460" spc="-54"/>
            </a:lvl1pPr>
          </a:lstStyle>
          <a:p>
            <a:r>
              <a:rPr lang="en-US" sz="4000"/>
              <a:t>Accuracy and error rate</a:t>
            </a:r>
            <a:endParaRPr sz="4000" dirty="0"/>
          </a:p>
        </p:txBody>
      </p:sp>
      <p:sp>
        <p:nvSpPr>
          <p:cNvPr id="407" name="Regression and Classification are both supervised learning methods…"/>
          <p:cNvSpPr txBox="1">
            <a:spLocks noGrp="1"/>
          </p:cNvSpPr>
          <p:nvPr>
            <p:ph type="body" idx="1"/>
          </p:nvPr>
        </p:nvSpPr>
        <p:spPr>
          <a:xfrm>
            <a:off x="700430" y="1847088"/>
            <a:ext cx="10691164" cy="548640"/>
          </a:xfrm>
          <a:prstGeom prst="rect">
            <a:avLst/>
          </a:prstGeom>
        </p:spPr>
        <p:txBody>
          <a:bodyPr wrap="square"/>
          <a:lstStyle/>
          <a:p>
            <a:r>
              <a:rPr dirty="0"/>
              <a:t>Classification predicts </a:t>
            </a:r>
            <a:r>
              <a:rPr lang="en-US"/>
              <a:t>categorical outcomes </a:t>
            </a:r>
            <a:r>
              <a:rPr dirty="0"/>
              <a:t>or class</a:t>
            </a:r>
            <a:r>
              <a:rPr lang="en-US"/>
              <a:t> probabilities.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LaTeX equation" descr="\mathbf{ErrorRate}=\frac{1}{n}\sum_{i=1}^{n}1\{y_i\ne\hat{y}_i\}"/>
              <p:cNvSpPr txBox="1"/>
              <p:nvPr/>
            </p:nvSpPr>
            <p:spPr>
              <a:xfrm>
                <a:off x="2237536" y="2304150"/>
                <a:ext cx="7616952" cy="1092222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ar-AE" sz="2600">
                          <a:solidFill>
                            <a:srgbClr val="000000"/>
                          </a:solidFill>
                          <a:latin typeface="Cambria Math"/>
                        </a:rPr>
                        <m:t>𝐄𝐫𝐫𝐨𝐫𝐑𝐚𝐭𝐞</m:t>
                      </m:r>
                      <m:r>
                        <a:rPr lang="ar-AE" sz="2600">
                          <a:solidFill>
                            <a:srgbClr val="000000"/>
                          </a:solidFill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</m:ctrlPr>
                        </m:fPr>
                        <m:num>
                          <m: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ctrlP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</m:ctrlPr>
                        </m:naryPr>
                        <m:sub>
                          <m: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𝑖</m:t>
                          </m:r>
                          <m: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𝑛</m:t>
                          </m:r>
                        </m:sup>
                        <m:e>
                          <m:r>
                            <a:rPr lang="ar-AE" sz="2600">
                              <a:solidFill>
                                <a:srgbClr val="000000"/>
                              </a:solidFill>
                              <a:latin typeface="Cambria Math"/>
                            </a:rPr>
                            <m:t>1</m:t>
                          </m:r>
                          <m:d>
                            <m:dPr>
                              <m:begChr m:val="{"/>
                              <m:endChr m:val="}"/>
                              <m:ctrlPr>
                                <a:rPr lang="ar-AE" sz="2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ar-AE" sz="26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ar-AE" sz="26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ar-AE" sz="26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ar-AE" sz="2600">
                                  <a:solidFill>
                                    <a:srgbClr val="000000"/>
                                  </a:solidFill>
                                  <a:latin typeface="Cambria Math"/>
                                </a:rPr>
                                <m:t>≠</m:t>
                              </m:r>
                              <m:sSub>
                                <m:sSubPr>
                                  <m:ctrlPr>
                                    <a:rPr lang="ar-AE" sz="2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ar-AE" sz="260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ar-AE" sz="2600">
                                          <a:solidFill>
                                            <a:srgbClr val="000000"/>
                                          </a:solidFill>
                                          <a:latin typeface="Cambria Math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ar-AE" sz="2600">
                                      <a:solidFill>
                                        <a:srgbClr val="000000"/>
                                      </a:solidFill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5" name="LaTeX equation" descr="\mathbf{ErrorRate}=\frac{1}{n}\sum_{i=1}^{n}1\{y_i\ne\hat{y}_i\}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7536" y="2304150"/>
                <a:ext cx="7616952" cy="109222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3" name="Accuracy and error rate equation"/>
              <p:cNvSpPr txBox="1"/>
              <p:nvPr/>
            </p:nvSpPr>
            <p:spPr>
              <a:xfrm>
                <a:off x="967434" y="3617076"/>
                <a:ext cx="10424160" cy="859018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square" lIns="0" tIns="0" rIns="0" bIns="0" anchor="ctr">
                <a:spAutoFit/>
              </a:bodyPr>
              <a:lstStyle/>
              <a:p>
                <a:pPr algn="ctr"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sz="270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Accuracy</m:t>
                      </m:r>
                      <m:r>
                        <a:rPr lang="en-US" sz="27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7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sz="27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Correct predictions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sz="27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Total predictions</m:t>
                          </m:r>
                        </m:den>
                      </m:f>
                      <m:r>
                        <m:rPr>
                          <m:nor/>
                        </m:rPr>
                        <a:rPr lang="ar-AE" sz="27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= 1 − </m:t>
                      </m:r>
                      <m:r>
                        <m:rPr>
                          <m:nor/>
                        </m:rPr>
                        <a:rPr lang="en-US" sz="27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Error rate</m:t>
                      </m:r>
                    </m:oMath>
                  </m:oMathPara>
                </a14:m>
                <a:endParaRPr lang="en-US" sz="2672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13" name="Accuracy and error rate equation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7434" y="3617076"/>
                <a:ext cx="10424160" cy="85901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4" name="Metric limitations"/>
          <p:cNvSpPr txBox="1">
            <a:spLocks noGrp="1"/>
          </p:cNvSpPr>
          <p:nvPr>
            <p:ph type="body" idx="1"/>
          </p:nvPr>
        </p:nvSpPr>
        <p:spPr>
          <a:xfrm>
            <a:off x="700430" y="4617720"/>
            <a:ext cx="10691164" cy="1234440"/>
          </a:xfrm>
          <a:prstGeom prst="rect">
            <a:avLst/>
          </a:prstGeom>
        </p:spPr>
        <p:txBody>
          <a:bodyPr wrap="square"/>
          <a:lstStyle/>
          <a:p>
            <a:r>
              <a:t>Both metrics treat all errors equally, regardless of their cost.</a:t>
            </a:r>
          </a:p>
          <a:p>
            <a:r>
              <a:t>With class imbalance, predicting only the majority class can yield high accuracy.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Confusion Matri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Confusion Matrix</a:t>
            </a:r>
          </a:p>
        </p:txBody>
      </p:sp>
      <p:sp>
        <p:nvSpPr>
          <p:cNvPr id="420" name="True Positives TP"/>
          <p:cNvSpPr/>
          <p:nvPr/>
        </p:nvSpPr>
        <p:spPr>
          <a:xfrm>
            <a:off x="4399331" y="2777677"/>
            <a:ext cx="2121289" cy="1509118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True Positives</a:t>
            </a:r>
            <a:br>
              <a:rPr sz="2109"/>
            </a:br>
            <a:r>
              <a:rPr sz="2109">
                <a:solidFill>
                  <a:srgbClr val="00FA92"/>
                </a:solidFill>
              </a:rPr>
              <a:t>TP</a:t>
            </a:r>
          </a:p>
        </p:txBody>
      </p:sp>
      <p:sp>
        <p:nvSpPr>
          <p:cNvPr id="421" name="False Negatives FN"/>
          <p:cNvSpPr/>
          <p:nvPr/>
        </p:nvSpPr>
        <p:spPr>
          <a:xfrm>
            <a:off x="6578174" y="2777677"/>
            <a:ext cx="2121290" cy="1509118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False Negatives</a:t>
            </a:r>
            <a:br>
              <a:rPr sz="2109"/>
            </a:br>
            <a:r>
              <a:rPr sz="2109">
                <a:solidFill>
                  <a:srgbClr val="FF7E79"/>
                </a:solidFill>
              </a:rPr>
              <a:t>FN</a:t>
            </a:r>
          </a:p>
        </p:txBody>
      </p:sp>
      <p:sp>
        <p:nvSpPr>
          <p:cNvPr id="422" name="False Positives FP"/>
          <p:cNvSpPr/>
          <p:nvPr/>
        </p:nvSpPr>
        <p:spPr>
          <a:xfrm>
            <a:off x="4399331" y="4340372"/>
            <a:ext cx="2121289" cy="1509118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False Positives</a:t>
            </a:r>
            <a:br>
              <a:rPr sz="2109"/>
            </a:br>
            <a:r>
              <a:rPr sz="2109">
                <a:solidFill>
                  <a:srgbClr val="FF7E79"/>
                </a:solidFill>
              </a:rPr>
              <a:t>FP</a:t>
            </a:r>
          </a:p>
        </p:txBody>
      </p:sp>
      <p:sp>
        <p:nvSpPr>
          <p:cNvPr id="423" name="True Negatives TN"/>
          <p:cNvSpPr/>
          <p:nvPr/>
        </p:nvSpPr>
        <p:spPr>
          <a:xfrm>
            <a:off x="6578174" y="4340372"/>
            <a:ext cx="2121290" cy="1509118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True Negatives</a:t>
            </a:r>
            <a:br>
              <a:rPr sz="2109"/>
            </a:br>
            <a:r>
              <a:rPr sz="2109">
                <a:solidFill>
                  <a:srgbClr val="00FA92"/>
                </a:solidFill>
              </a:rPr>
              <a:t>TN</a:t>
            </a:r>
          </a:p>
        </p:txBody>
      </p:sp>
      <p:sp>
        <p:nvSpPr>
          <p:cNvPr id="424" name="Predicted Output"/>
          <p:cNvSpPr txBox="1"/>
          <p:nvPr/>
        </p:nvSpPr>
        <p:spPr>
          <a:xfrm>
            <a:off x="5425547" y="1964508"/>
            <a:ext cx="2641750" cy="48333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8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672"/>
              <a:t>Predicted Output</a:t>
            </a:r>
          </a:p>
        </p:txBody>
      </p:sp>
      <p:sp>
        <p:nvSpPr>
          <p:cNvPr id="425" name="True Values"/>
          <p:cNvSpPr txBox="1"/>
          <p:nvPr/>
        </p:nvSpPr>
        <p:spPr>
          <a:xfrm>
            <a:off x="2089912" y="3993780"/>
            <a:ext cx="1920399" cy="48333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8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672"/>
              <a:t>True Values</a:t>
            </a:r>
          </a:p>
        </p:txBody>
      </p:sp>
      <p:sp>
        <p:nvSpPr>
          <p:cNvPr id="426" name="Positive (PP)"/>
          <p:cNvSpPr txBox="1"/>
          <p:nvPr/>
        </p:nvSpPr>
        <p:spPr>
          <a:xfrm>
            <a:off x="4668359" y="2391797"/>
            <a:ext cx="1635064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Positive (PP)</a:t>
            </a:r>
          </a:p>
        </p:txBody>
      </p:sp>
      <p:sp>
        <p:nvSpPr>
          <p:cNvPr id="427" name="Negative (PN)"/>
          <p:cNvSpPr txBox="1"/>
          <p:nvPr/>
        </p:nvSpPr>
        <p:spPr>
          <a:xfrm>
            <a:off x="6780229" y="2391797"/>
            <a:ext cx="1771319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Negative (PN)</a:t>
            </a:r>
          </a:p>
        </p:txBody>
      </p:sp>
      <p:sp>
        <p:nvSpPr>
          <p:cNvPr id="428" name="Positive (P)"/>
          <p:cNvSpPr txBox="1"/>
          <p:nvPr/>
        </p:nvSpPr>
        <p:spPr>
          <a:xfrm rot="16200000">
            <a:off x="3422113" y="3333879"/>
            <a:ext cx="1453924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Positive (P)</a:t>
            </a:r>
          </a:p>
        </p:txBody>
      </p:sp>
      <p:sp>
        <p:nvSpPr>
          <p:cNvPr id="429" name="Negative (N)"/>
          <p:cNvSpPr txBox="1"/>
          <p:nvPr/>
        </p:nvSpPr>
        <p:spPr>
          <a:xfrm rot="16200000">
            <a:off x="3353984" y="4896575"/>
            <a:ext cx="1590180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Negative (N)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Preci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Precision</a:t>
            </a:r>
          </a:p>
        </p:txBody>
      </p:sp>
      <p:sp>
        <p:nvSpPr>
          <p:cNvPr id="433" name="True Positives TP"/>
          <p:cNvSpPr/>
          <p:nvPr/>
        </p:nvSpPr>
        <p:spPr>
          <a:xfrm>
            <a:off x="3516018" y="2232422"/>
            <a:ext cx="2121289" cy="1509117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True Positives</a:t>
            </a:r>
            <a:br>
              <a:rPr sz="2109"/>
            </a:br>
            <a:r>
              <a:rPr sz="2109">
                <a:solidFill>
                  <a:srgbClr val="00FA92"/>
                </a:solidFill>
              </a:rPr>
              <a:t>TP</a:t>
            </a:r>
          </a:p>
        </p:txBody>
      </p:sp>
      <p:sp>
        <p:nvSpPr>
          <p:cNvPr id="434" name="False Negatives FN"/>
          <p:cNvSpPr/>
          <p:nvPr/>
        </p:nvSpPr>
        <p:spPr>
          <a:xfrm>
            <a:off x="5694862" y="2232422"/>
            <a:ext cx="2121289" cy="1509117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False Negatives</a:t>
            </a:r>
            <a:br>
              <a:rPr sz="2109"/>
            </a:br>
            <a:r>
              <a:rPr sz="2109"/>
              <a:t>FN</a:t>
            </a:r>
          </a:p>
        </p:txBody>
      </p:sp>
      <p:sp>
        <p:nvSpPr>
          <p:cNvPr id="435" name="False Positives FP"/>
          <p:cNvSpPr/>
          <p:nvPr/>
        </p:nvSpPr>
        <p:spPr>
          <a:xfrm>
            <a:off x="3516018" y="3795117"/>
            <a:ext cx="2121289" cy="1509117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False Positives</a:t>
            </a:r>
            <a:br>
              <a:rPr sz="2109"/>
            </a:br>
            <a:r>
              <a:rPr sz="2109">
                <a:solidFill>
                  <a:srgbClr val="FF7E79"/>
                </a:solidFill>
              </a:rPr>
              <a:t>FP</a:t>
            </a:r>
          </a:p>
        </p:txBody>
      </p:sp>
      <p:sp>
        <p:nvSpPr>
          <p:cNvPr id="436" name="True Negatives TN"/>
          <p:cNvSpPr/>
          <p:nvPr/>
        </p:nvSpPr>
        <p:spPr>
          <a:xfrm>
            <a:off x="5695404" y="3795117"/>
            <a:ext cx="2121290" cy="1509117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True Negatives</a:t>
            </a:r>
            <a:br>
              <a:rPr sz="2109"/>
            </a:br>
            <a:r>
              <a:rPr sz="2109"/>
              <a:t>TN</a:t>
            </a:r>
          </a:p>
        </p:txBody>
      </p:sp>
      <p:sp>
        <p:nvSpPr>
          <p:cNvPr id="437" name="Predicted Output"/>
          <p:cNvSpPr txBox="1"/>
          <p:nvPr/>
        </p:nvSpPr>
        <p:spPr>
          <a:xfrm>
            <a:off x="4465898" y="1266305"/>
            <a:ext cx="2641750" cy="48333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8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672"/>
              <a:t>Predicted Output</a:t>
            </a:r>
          </a:p>
        </p:txBody>
      </p:sp>
      <p:sp>
        <p:nvSpPr>
          <p:cNvPr id="438" name="True Values"/>
          <p:cNvSpPr txBox="1"/>
          <p:nvPr/>
        </p:nvSpPr>
        <p:spPr>
          <a:xfrm>
            <a:off x="1703541" y="3242924"/>
            <a:ext cx="1130702" cy="894540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8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672"/>
              <a:t>True Values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9" name="equation.pdf"/>
              <p:cNvSpPr txBox="1"/>
              <p:nvPr/>
            </p:nvSpPr>
            <p:spPr>
              <a:xfrm>
                <a:off x="4185630" y="5357812"/>
                <a:ext cx="2922018" cy="6948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391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sz="2391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sz="2391">
                  <a:solidFill>
                    <a:srgbClr val="4F8F00"/>
                  </a:solidFill>
                </a:endParaRPr>
              </a:p>
            </p:txBody>
          </p:sp>
        </mc:Choice>
        <mc:Fallback>
          <p:sp>
            <p:nvSpPr>
              <p:cNvPr id="43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85630" y="5357812"/>
                <a:ext cx="2922018" cy="6948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0" name="Of those that are predicted to be positive, the percent that are actually positive…"/>
          <p:cNvSpPr txBox="1"/>
          <p:nvPr/>
        </p:nvSpPr>
        <p:spPr>
          <a:xfrm>
            <a:off x="7960507" y="3028966"/>
            <a:ext cx="2683015" cy="182530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266"/>
              <a:t>Of those that are </a:t>
            </a:r>
            <a:r>
              <a:rPr sz="1266" b="1"/>
              <a:t>predicted to be positive</a:t>
            </a:r>
            <a:r>
              <a:rPr sz="1266"/>
              <a:t>, the percent that are actually positive</a:t>
            </a:r>
            <a:endParaRPr lang="en-US"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266"/>
              <a:t>Describes how good the model is at predicting the positive class </a:t>
            </a:r>
            <a:endParaRPr lang="en-US"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266"/>
              <a:t>Also call </a:t>
            </a:r>
            <a:r>
              <a:rPr sz="1266" b="1">
                <a:latin typeface="Helvetica Neue"/>
                <a:ea typeface="Helvetica Neue"/>
                <a:cs typeface="Helvetica Neue"/>
                <a:sym typeface="Helvetica Neue"/>
              </a:rPr>
              <a:t>positive predictive value</a:t>
            </a:r>
          </a:p>
        </p:txBody>
      </p:sp>
      <p:sp>
        <p:nvSpPr>
          <p:cNvPr id="441" name="Positive (P)"/>
          <p:cNvSpPr txBox="1"/>
          <p:nvPr/>
        </p:nvSpPr>
        <p:spPr>
          <a:xfrm rot="16200000">
            <a:off x="2538257" y="2698813"/>
            <a:ext cx="1453924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Positive (P)</a:t>
            </a:r>
          </a:p>
        </p:txBody>
      </p:sp>
      <p:sp>
        <p:nvSpPr>
          <p:cNvPr id="442" name="Negative (N)"/>
          <p:cNvSpPr txBox="1"/>
          <p:nvPr/>
        </p:nvSpPr>
        <p:spPr>
          <a:xfrm rot="16200000">
            <a:off x="2470127" y="4351320"/>
            <a:ext cx="1590180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Negative (N)</a:t>
            </a:r>
          </a:p>
        </p:txBody>
      </p:sp>
      <p:sp>
        <p:nvSpPr>
          <p:cNvPr id="443" name="Positive (PP)"/>
          <p:cNvSpPr txBox="1"/>
          <p:nvPr/>
        </p:nvSpPr>
        <p:spPr>
          <a:xfrm>
            <a:off x="3717132" y="1787786"/>
            <a:ext cx="1635064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Positive (PP)</a:t>
            </a:r>
          </a:p>
        </p:txBody>
      </p:sp>
      <p:sp>
        <p:nvSpPr>
          <p:cNvPr id="444" name="Negative (PN)"/>
          <p:cNvSpPr txBox="1"/>
          <p:nvPr/>
        </p:nvSpPr>
        <p:spPr>
          <a:xfrm>
            <a:off x="5829002" y="1787786"/>
            <a:ext cx="1771319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Negative (PN)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2AC98D-0566-D212-790E-C48EA0A4B96C}"/>
              </a:ext>
            </a:extLst>
          </p:cNvPr>
          <p:cNvSpPr txBox="1"/>
          <p:nvPr/>
        </p:nvSpPr>
        <p:spPr>
          <a:xfrm>
            <a:off x="574480" y="6285881"/>
            <a:ext cx="10943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Under what conditions is high </a:t>
            </a:r>
            <a:r>
              <a:rPr lang="en-US" b="1"/>
              <a:t>precision</a:t>
            </a:r>
            <a:r>
              <a:rPr lang="en-US"/>
              <a:t> the most appropriate performance objective for a classification model?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0" grpId="0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eca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Recall</a:t>
            </a:r>
          </a:p>
        </p:txBody>
      </p:sp>
      <p:sp>
        <p:nvSpPr>
          <p:cNvPr id="448" name="True Positives TP"/>
          <p:cNvSpPr/>
          <p:nvPr/>
        </p:nvSpPr>
        <p:spPr>
          <a:xfrm>
            <a:off x="3516018" y="2232422"/>
            <a:ext cx="2121289" cy="1509117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True Positives</a:t>
            </a:r>
            <a:br>
              <a:rPr sz="2109"/>
            </a:br>
            <a:r>
              <a:rPr sz="2109">
                <a:solidFill>
                  <a:srgbClr val="00FA92"/>
                </a:solidFill>
              </a:rPr>
              <a:t>TP</a:t>
            </a:r>
          </a:p>
        </p:txBody>
      </p:sp>
      <p:sp>
        <p:nvSpPr>
          <p:cNvPr id="449" name="False Positives FP"/>
          <p:cNvSpPr/>
          <p:nvPr/>
        </p:nvSpPr>
        <p:spPr>
          <a:xfrm>
            <a:off x="3498159" y="3792536"/>
            <a:ext cx="2121289" cy="1509118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False Positives</a:t>
            </a:r>
            <a:br>
              <a:rPr sz="2109"/>
            </a:br>
            <a:r>
              <a:rPr sz="2109"/>
              <a:t>FP</a:t>
            </a:r>
          </a:p>
        </p:txBody>
      </p:sp>
      <p:sp>
        <p:nvSpPr>
          <p:cNvPr id="450" name="False Negatives FN"/>
          <p:cNvSpPr/>
          <p:nvPr/>
        </p:nvSpPr>
        <p:spPr>
          <a:xfrm>
            <a:off x="5695404" y="2232422"/>
            <a:ext cx="2121290" cy="1509117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80000"/>
                    </a:srgbClr>
                  </a:outerShdw>
                </a:effectLst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False Negatives</a:t>
            </a:r>
            <a:br>
              <a:rPr sz="2109"/>
            </a:br>
            <a:r>
              <a:rPr sz="2109">
                <a:solidFill>
                  <a:srgbClr val="FF7E79"/>
                </a:solidFill>
              </a:rPr>
              <a:t>FN</a:t>
            </a:r>
          </a:p>
        </p:txBody>
      </p:sp>
      <p:sp>
        <p:nvSpPr>
          <p:cNvPr id="451" name="True Negatives TN"/>
          <p:cNvSpPr/>
          <p:nvPr/>
        </p:nvSpPr>
        <p:spPr>
          <a:xfrm>
            <a:off x="5695404" y="3795117"/>
            <a:ext cx="2121290" cy="1509117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/>
          <a:p>
            <a:pPr algn="ctr" defTabSz="580409"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2109"/>
              <a:t>True Negatives</a:t>
            </a:r>
            <a:br>
              <a:rPr sz="2109"/>
            </a:br>
            <a:r>
              <a:rPr sz="2109"/>
              <a:t>TN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2" name="equation.pdf"/>
              <p:cNvSpPr txBox="1"/>
              <p:nvPr/>
            </p:nvSpPr>
            <p:spPr>
              <a:xfrm>
                <a:off x="4208141" y="5438337"/>
                <a:ext cx="2506520" cy="6948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391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sz="2391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sz="2391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sz="2391">
                  <a:solidFill>
                    <a:srgbClr val="4F8F00"/>
                  </a:solidFill>
                </a:endParaRPr>
              </a:p>
            </p:txBody>
          </p:sp>
        </mc:Choice>
        <mc:Fallback>
          <p:sp>
            <p:nvSpPr>
              <p:cNvPr id="45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8141" y="5438337"/>
                <a:ext cx="2506520" cy="6948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3" name="Of those that are actually positive, the percent that are predicted to be positive…"/>
          <p:cNvSpPr txBox="1"/>
          <p:nvPr/>
        </p:nvSpPr>
        <p:spPr>
          <a:xfrm>
            <a:off x="7964088" y="2777541"/>
            <a:ext cx="2683014" cy="182530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266"/>
              <a:t>Of those that are </a:t>
            </a:r>
            <a:r>
              <a:rPr sz="1266" b="1"/>
              <a:t>actually positive</a:t>
            </a:r>
            <a:r>
              <a:rPr sz="1266"/>
              <a:t>, the percent that are predicted to be positive</a:t>
            </a:r>
            <a:endParaRPr lang="en-US"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266"/>
              <a:t>The proportion of positives that are correctly identified </a:t>
            </a:r>
            <a:endParaRPr lang="en-US"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1266"/>
          </a:p>
          <a:p>
            <a:pPr marL="160729" indent="-160729">
              <a:buSzPct val="100000"/>
              <a:buChar char="•"/>
              <a:defRPr>
                <a:solidFill>
                  <a:srgbClr val="009193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1266"/>
              <a:t>Also called </a:t>
            </a:r>
            <a:r>
              <a:rPr sz="1266" b="1">
                <a:latin typeface="Helvetica Neue"/>
                <a:ea typeface="Helvetica Neue"/>
                <a:cs typeface="Helvetica Neue"/>
                <a:sym typeface="Helvetica Neue"/>
              </a:rPr>
              <a:t>sensitivity</a:t>
            </a:r>
            <a:r>
              <a:rPr sz="1266"/>
              <a:t> or </a:t>
            </a:r>
            <a:br>
              <a:rPr sz="1266"/>
            </a:br>
            <a:r>
              <a:rPr sz="1266" b="1">
                <a:latin typeface="Helvetica Neue"/>
                <a:ea typeface="Helvetica Neue"/>
                <a:cs typeface="Helvetica Neue"/>
                <a:sym typeface="Helvetica Neue"/>
              </a:rPr>
              <a:t>true positive rate</a:t>
            </a:r>
          </a:p>
        </p:txBody>
      </p:sp>
      <p:sp>
        <p:nvSpPr>
          <p:cNvPr id="454" name="Predicted Output"/>
          <p:cNvSpPr txBox="1"/>
          <p:nvPr/>
        </p:nvSpPr>
        <p:spPr>
          <a:xfrm>
            <a:off x="4465898" y="1266305"/>
            <a:ext cx="2641750" cy="48333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8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672"/>
              <a:t>Predicted Output</a:t>
            </a:r>
          </a:p>
        </p:txBody>
      </p:sp>
      <p:sp>
        <p:nvSpPr>
          <p:cNvPr id="455" name="True Values"/>
          <p:cNvSpPr txBox="1"/>
          <p:nvPr/>
        </p:nvSpPr>
        <p:spPr>
          <a:xfrm>
            <a:off x="1703541" y="3242924"/>
            <a:ext cx="1130702" cy="894540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8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672"/>
              <a:t>True Values</a:t>
            </a:r>
          </a:p>
        </p:txBody>
      </p:sp>
      <p:sp>
        <p:nvSpPr>
          <p:cNvPr id="456" name="Positive (P)"/>
          <p:cNvSpPr txBox="1"/>
          <p:nvPr/>
        </p:nvSpPr>
        <p:spPr>
          <a:xfrm rot="16200000">
            <a:off x="2538257" y="2698813"/>
            <a:ext cx="1453924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Positive (P)</a:t>
            </a:r>
          </a:p>
        </p:txBody>
      </p:sp>
      <p:sp>
        <p:nvSpPr>
          <p:cNvPr id="457" name="Negative (N)"/>
          <p:cNvSpPr txBox="1"/>
          <p:nvPr/>
        </p:nvSpPr>
        <p:spPr>
          <a:xfrm rot="16200000">
            <a:off x="2470127" y="4351320"/>
            <a:ext cx="1590180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Negative (N)</a:t>
            </a:r>
          </a:p>
        </p:txBody>
      </p:sp>
      <p:sp>
        <p:nvSpPr>
          <p:cNvPr id="458" name="Positive (PP)"/>
          <p:cNvSpPr txBox="1"/>
          <p:nvPr/>
        </p:nvSpPr>
        <p:spPr>
          <a:xfrm>
            <a:off x="3717132" y="1787786"/>
            <a:ext cx="1635064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Positive (PP)</a:t>
            </a:r>
          </a:p>
        </p:txBody>
      </p:sp>
      <p:sp>
        <p:nvSpPr>
          <p:cNvPr id="459" name="Negative (PN)"/>
          <p:cNvSpPr txBox="1"/>
          <p:nvPr/>
        </p:nvSpPr>
        <p:spPr>
          <a:xfrm>
            <a:off x="5829002" y="1787786"/>
            <a:ext cx="1771319" cy="396712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30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Negative (PN)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A9D6DB-E281-10E7-D80E-D8A607D5E640}"/>
              </a:ext>
            </a:extLst>
          </p:cNvPr>
          <p:cNvSpPr txBox="1"/>
          <p:nvPr/>
        </p:nvSpPr>
        <p:spPr>
          <a:xfrm>
            <a:off x="574480" y="6285881"/>
            <a:ext cx="10592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Under what conditions is high </a:t>
            </a:r>
            <a:r>
              <a:rPr lang="en-US" b="1"/>
              <a:t>recall</a:t>
            </a:r>
            <a:r>
              <a:rPr lang="en-US"/>
              <a:t> the most appropriate performance objective for a classification model?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3" grpId="0" animBg="1" advAuto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F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F1</a:t>
            </a:r>
            <a:r>
              <a:rPr lang="en-US" dirty="0"/>
              <a:t> Score</a:t>
            </a:r>
            <a:endParaRPr dirty="0"/>
          </a:p>
        </p:txBody>
      </p:sp>
      <p:sp>
        <p:nvSpPr>
          <p:cNvPr id="463" name="The precision &amp; recall are often combined into one metric called F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The precision &amp; recall are often combined into one metric called F</a:t>
            </a:r>
            <a:r>
              <a:rPr baseline="-5999" dirty="0"/>
              <a:t>1</a:t>
            </a:r>
          </a:p>
          <a:p>
            <a:r>
              <a:rPr dirty="0"/>
              <a:t>F</a:t>
            </a:r>
            <a:r>
              <a:rPr baseline="-5999" dirty="0"/>
              <a:t>1</a:t>
            </a:r>
            <a:r>
              <a:rPr dirty="0"/>
              <a:t> is the </a:t>
            </a:r>
            <a:r>
              <a:rPr b="1" dirty="0"/>
              <a:t>harmonic mean</a:t>
            </a:r>
            <a:r>
              <a:rPr dirty="0"/>
              <a:t> of the precision and recall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4" name="equation.pdf"/>
              <p:cNvSpPr txBox="1"/>
              <p:nvPr/>
            </p:nvSpPr>
            <p:spPr>
              <a:xfrm>
                <a:off x="1630186" y="3612478"/>
                <a:ext cx="8832161" cy="1442254"/>
              </a:xfrm>
              <a:prstGeom prst="rect">
                <a:avLst/>
              </a:prstGeom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sz="3164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f>
                            <m:fPr>
                              <m:ctrlP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𝑝𝑟𝑒𝑐𝑖𝑠𝑖𝑜𝑛</m:t>
                              </m:r>
                            </m:den>
                          </m:f>
                          <m: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𝑟𝑒𝑐𝑎𝑙𝑙</m:t>
                              </m:r>
                            </m:den>
                          </m:f>
                        </m:den>
                      </m:f>
                      <m:r>
                        <a:rPr sz="3164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d>
                        <m:dPr>
                          <m:ctrlPr>
                            <a:rPr sz="3164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𝑝𝑟𝑒𝑐𝑖𝑠𝑖𝑜𝑛</m:t>
                              </m:r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𝑟𝑒𝑐𝑎𝑙𝑙</m:t>
                              </m:r>
                            </m:num>
                            <m:den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𝑝𝑟𝑒𝑐𝑖𝑠𝑖𝑜𝑛</m:t>
                              </m:r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sz="3164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𝑟𝑒𝑐𝑎𝑙𝑙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sz="3164">
                  <a:solidFill>
                    <a:srgbClr val="4F8F00"/>
                  </a:solidFill>
                </a:endParaRPr>
              </a:p>
            </p:txBody>
          </p:sp>
        </mc:Choice>
        <mc:Fallback xmlns="">
          <p:sp>
            <p:nvSpPr>
              <p:cNvPr id="464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0186" y="3612478"/>
                <a:ext cx="8832161" cy="14422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5" name="The  F1 score favors classifiers with similar precision and recall scores"/>
          <p:cNvSpPr txBox="1"/>
          <p:nvPr/>
        </p:nvSpPr>
        <p:spPr>
          <a:xfrm>
            <a:off x="1952587" y="5054732"/>
            <a:ext cx="7804547" cy="146460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normAutofit/>
          </a:bodyPr>
          <a:lstStyle/>
          <a:p>
            <a:pPr marL="223234" indent="-223234">
              <a:buClr>
                <a:srgbClr val="009193"/>
              </a:buClr>
              <a:buSzPct val="100000"/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000"/>
              <a:t>The  F</a:t>
            </a:r>
            <a:r>
              <a:rPr sz="2000" baseline="-5999"/>
              <a:t>1 </a:t>
            </a:r>
            <a:r>
              <a:rPr sz="2000"/>
              <a:t>score favors classifiers with similar precision and recall scores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F𝛽 Sco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F</a:t>
            </a:r>
            <a:r>
              <a:rPr baseline="-5999" dirty="0"/>
              <a:t>𝛽</a:t>
            </a:r>
            <a:r>
              <a:rPr dirty="0"/>
              <a:t> Score</a:t>
            </a:r>
          </a:p>
        </p:txBody>
      </p:sp>
      <p:sp>
        <p:nvSpPr>
          <p:cNvPr id="469" name="The F1 score can be generalized to give more weight to either the precision or recall"/>
          <p:cNvSpPr txBox="1">
            <a:spLocks noGrp="1"/>
          </p:cNvSpPr>
          <p:nvPr>
            <p:ph type="body" idx="1"/>
          </p:nvPr>
        </p:nvSpPr>
        <p:spPr>
          <a:xfrm>
            <a:off x="700634" y="1852763"/>
            <a:ext cx="10691265" cy="3739896"/>
          </a:xfrm>
          <a:prstGeom prst="rect">
            <a:avLst/>
          </a:prstGeom>
        </p:spPr>
        <p:txBody>
          <a:bodyPr/>
          <a:lstStyle/>
          <a:p>
            <a:r>
              <a:rPr dirty="0"/>
              <a:t>The F</a:t>
            </a:r>
            <a:r>
              <a:rPr baseline="-5999" dirty="0"/>
              <a:t>1</a:t>
            </a:r>
            <a:r>
              <a:rPr dirty="0"/>
              <a:t> score can be generalized to give more weight to either the precision or recall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0" name="equation.pdf"/>
              <p:cNvSpPr txBox="1"/>
              <p:nvPr/>
            </p:nvSpPr>
            <p:spPr>
              <a:xfrm>
                <a:off x="2421234" y="2912755"/>
                <a:ext cx="6266331" cy="923843"/>
              </a:xfrm>
              <a:prstGeom prst="rect">
                <a:avLst/>
              </a:prstGeom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sub>
                      </m:sSub>
                      <m:r>
                        <a:rPr sz="2672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=(1+</m:t>
                      </m:r>
                      <m:sSup>
                        <m:sSupPr>
                          <m:ctrlP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p>
                          <m: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sz="2672" i="1">
                          <a:solidFill>
                            <a:srgbClr val="4E8F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sz="2672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𝑝𝑟𝑒𝑐𝑖𝑠𝑖𝑜𝑛</m:t>
                              </m:r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𝑟𝑒𝑐𝑎𝑙𝑙</m:t>
                              </m:r>
                            </m:num>
                            <m:den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p>
                                <m:sSupPr>
                                  <m:ctrlPr>
                                    <a:rPr sz="2672" i="1">
                                      <a:solidFill>
                                        <a:srgbClr val="4E8F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672" i="1">
                                      <a:solidFill>
                                        <a:srgbClr val="4E8F00"/>
                                      </a:solidFill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p>
                                  <m:r>
                                    <a:rPr sz="2672" i="1">
                                      <a:solidFill>
                                        <a:srgbClr val="4E8F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⋅</m:t>
                              </m:r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𝑝𝑟𝑒𝑐𝑖𝑠𝑖𝑜𝑛</m:t>
                              </m:r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)+</m:t>
                              </m:r>
                              <m:r>
                                <a:rPr sz="2672" i="1">
                                  <a:solidFill>
                                    <a:srgbClr val="4E8F00"/>
                                  </a:solidFill>
                                  <a:latin typeface="Cambria Math" panose="02040503050406030204" pitchFamily="18" charset="0"/>
                                </a:rPr>
                                <m:t>𝑟𝑒𝑐𝑎𝑙𝑙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sz="2672" dirty="0">
                  <a:solidFill>
                    <a:srgbClr val="4F8F00"/>
                  </a:solidFill>
                </a:endParaRPr>
              </a:p>
            </p:txBody>
          </p:sp>
        </mc:Choice>
        <mc:Fallback xmlns="">
          <p:sp>
            <p:nvSpPr>
              <p:cNvPr id="470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1234" y="2912755"/>
                <a:ext cx="6266331" cy="9238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71" name="0 &lt; 𝛽 &lt; 1 ⟹ More weight given to the precision       𝛽 &gt; 1 ⟹ More weight given to the recall…"/>
          <p:cNvSpPr txBox="1"/>
          <p:nvPr/>
        </p:nvSpPr>
        <p:spPr>
          <a:xfrm>
            <a:off x="1711281" y="4706841"/>
            <a:ext cx="8669969" cy="117589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>
              <a:defRPr sz="3400">
                <a:solidFill>
                  <a:srgbClr val="424242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2391"/>
              <a:t>0 &lt; 𝛽 &lt; 1 </a:t>
            </a:r>
            <a:r>
              <a:rPr sz="2391">
                <a:latin typeface="Gill Sans"/>
                <a:ea typeface="Gill Sans"/>
                <a:cs typeface="Gill Sans"/>
                <a:sym typeface="Gill Sans"/>
              </a:rPr>
              <a:t>⟹ </a:t>
            </a:r>
            <a:r>
              <a:rPr sz="2391"/>
              <a:t>More weight given to the precision</a:t>
            </a:r>
            <a:br>
              <a:rPr sz="2391"/>
            </a:br>
            <a:r>
              <a:rPr sz="2391"/>
              <a:t>      𝛽 &gt; 1 </a:t>
            </a:r>
            <a:r>
              <a:rPr sz="2391">
                <a:latin typeface="Gill Sans"/>
                <a:ea typeface="Gill Sans"/>
                <a:cs typeface="Gill Sans"/>
                <a:sym typeface="Gill Sans"/>
              </a:rPr>
              <a:t>⟹</a:t>
            </a:r>
            <a:r>
              <a:rPr sz="2391"/>
              <a:t> More weight given to the recall</a:t>
            </a:r>
          </a:p>
          <a:p>
            <a:pPr>
              <a:defRPr sz="3400">
                <a:solidFill>
                  <a:srgbClr val="424242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r>
              <a:rPr sz="2391"/>
              <a:t>      𝛽 = 1 </a:t>
            </a:r>
            <a:r>
              <a:rPr sz="2391">
                <a:latin typeface="Gill Sans"/>
                <a:ea typeface="Gill Sans"/>
                <a:cs typeface="Gill Sans"/>
                <a:sym typeface="Gill Sans"/>
              </a:rPr>
              <a:t>⟹ </a:t>
            </a:r>
            <a:r>
              <a:rPr sz="2250"/>
              <a:t>Equal weight given to precision and recall (F</a:t>
            </a:r>
            <a:r>
              <a:rPr sz="2250" baseline="-5999"/>
              <a:t>1</a:t>
            </a:r>
            <a:r>
              <a:rPr sz="2250"/>
              <a:t>)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Other Measures"/>
          <p:cNvSpPr txBox="1">
            <a:spLocks noGrp="1"/>
          </p:cNvSpPr>
          <p:nvPr>
            <p:ph type="title"/>
          </p:nvPr>
        </p:nvSpPr>
        <p:spPr>
          <a:xfrm>
            <a:off x="855238" y="77288"/>
            <a:ext cx="10691265" cy="1307592"/>
          </a:xfrm>
          <a:prstGeom prst="rect">
            <a:avLst/>
          </a:prstGeom>
        </p:spPr>
        <p:txBody>
          <a:bodyPr/>
          <a:lstStyle/>
          <a:p>
            <a:r>
              <a:rPr dirty="0"/>
              <a:t>Other Measures</a:t>
            </a:r>
          </a:p>
        </p:txBody>
      </p:sp>
      <p:sp>
        <p:nvSpPr>
          <p:cNvPr id="474" name="TP"/>
          <p:cNvSpPr/>
          <p:nvPr/>
        </p:nvSpPr>
        <p:spPr>
          <a:xfrm>
            <a:off x="1791136" y="2084070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 b="1">
                <a:solidFill>
                  <a:srgbClr val="00FA9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TP</a:t>
            </a:r>
          </a:p>
        </p:txBody>
      </p:sp>
      <p:sp>
        <p:nvSpPr>
          <p:cNvPr id="475" name="FN"/>
          <p:cNvSpPr/>
          <p:nvPr/>
        </p:nvSpPr>
        <p:spPr>
          <a:xfrm>
            <a:off x="2447289" y="2084070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FN</a:t>
            </a:r>
          </a:p>
        </p:txBody>
      </p:sp>
      <p:sp>
        <p:nvSpPr>
          <p:cNvPr id="476" name="FP"/>
          <p:cNvSpPr/>
          <p:nvPr/>
        </p:nvSpPr>
        <p:spPr>
          <a:xfrm>
            <a:off x="1791136" y="2735937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FP</a:t>
            </a:r>
          </a:p>
        </p:txBody>
      </p:sp>
      <p:sp>
        <p:nvSpPr>
          <p:cNvPr id="477" name="TN"/>
          <p:cNvSpPr/>
          <p:nvPr/>
        </p:nvSpPr>
        <p:spPr>
          <a:xfrm>
            <a:off x="2447289" y="2735937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TN</a:t>
            </a:r>
          </a:p>
        </p:txBody>
      </p:sp>
      <p:sp>
        <p:nvSpPr>
          <p:cNvPr id="478" name="Recall / Sensitivity / True Positive Rate"/>
          <p:cNvSpPr txBox="1"/>
          <p:nvPr/>
        </p:nvSpPr>
        <p:spPr>
          <a:xfrm>
            <a:off x="1449699" y="1080258"/>
            <a:ext cx="2053080" cy="56457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2200">
                <a:solidFill>
                  <a:srgbClr val="94175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1600"/>
              <a:t>Recall / Sensitivity / True Positive Rate</a:t>
            </a:r>
          </a:p>
        </p:txBody>
      </p:sp>
      <p:sp>
        <p:nvSpPr>
          <p:cNvPr id="479" name="Precision /  Positive Predictive Rate"/>
          <p:cNvSpPr txBox="1"/>
          <p:nvPr/>
        </p:nvSpPr>
        <p:spPr>
          <a:xfrm>
            <a:off x="6780751" y="1083471"/>
            <a:ext cx="2710891" cy="56457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35719" tIns="35719" rIns="35719" bIns="35719" anchor="ctr">
            <a:spAutoFit/>
          </a:bodyPr>
          <a:lstStyle/>
          <a:p>
            <a:pPr>
              <a:defRPr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600"/>
              <a:t>Precision / </a:t>
            </a:r>
            <a:br>
              <a:rPr sz="1600"/>
            </a:br>
            <a:r>
              <a:rPr sz="1600"/>
              <a:t>Positive Predictive </a:t>
            </a:r>
            <a:r>
              <a:rPr lang="en-US" sz="1600"/>
              <a:t>Value</a:t>
            </a:r>
            <a:r>
              <a:rPr sz="1600"/>
              <a:t> </a:t>
            </a:r>
          </a:p>
        </p:txBody>
      </p:sp>
      <p:sp>
        <p:nvSpPr>
          <p:cNvPr id="480" name="Specificity /  True Negative Rate"/>
          <p:cNvSpPr txBox="1"/>
          <p:nvPr/>
        </p:nvSpPr>
        <p:spPr>
          <a:xfrm>
            <a:off x="6871756" y="3757943"/>
            <a:ext cx="1843080" cy="56457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/>
          <a:p>
            <a:pPr>
              <a:defRPr sz="2100">
                <a:solidFill>
                  <a:srgbClr val="FF93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600"/>
              <a:t>Specificity / </a:t>
            </a:r>
            <a:br>
              <a:rPr sz="1600"/>
            </a:br>
            <a:r>
              <a:rPr sz="1600"/>
              <a:t>True Negative Rate</a:t>
            </a:r>
          </a:p>
        </p:txBody>
      </p:sp>
      <p:sp>
        <p:nvSpPr>
          <p:cNvPr id="481" name="FN"/>
          <p:cNvSpPr/>
          <p:nvPr/>
        </p:nvSpPr>
        <p:spPr>
          <a:xfrm>
            <a:off x="2478481" y="4934059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FN</a:t>
            </a:r>
          </a:p>
        </p:txBody>
      </p:sp>
      <p:sp>
        <p:nvSpPr>
          <p:cNvPr id="482" name="TP"/>
          <p:cNvSpPr/>
          <p:nvPr/>
        </p:nvSpPr>
        <p:spPr>
          <a:xfrm>
            <a:off x="7091571" y="1992352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 b="1">
                <a:solidFill>
                  <a:srgbClr val="00FA9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TP</a:t>
            </a:r>
          </a:p>
        </p:txBody>
      </p:sp>
      <p:sp>
        <p:nvSpPr>
          <p:cNvPr id="483" name="FP"/>
          <p:cNvSpPr/>
          <p:nvPr/>
        </p:nvSpPr>
        <p:spPr>
          <a:xfrm>
            <a:off x="7091571" y="2644219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FP</a:t>
            </a:r>
          </a:p>
        </p:txBody>
      </p:sp>
      <p:sp>
        <p:nvSpPr>
          <p:cNvPr id="484" name="FP"/>
          <p:cNvSpPr/>
          <p:nvPr/>
        </p:nvSpPr>
        <p:spPr>
          <a:xfrm>
            <a:off x="7049003" y="5557611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FP</a:t>
            </a:r>
          </a:p>
        </p:txBody>
      </p:sp>
      <p:sp>
        <p:nvSpPr>
          <p:cNvPr id="485" name="TN"/>
          <p:cNvSpPr/>
          <p:nvPr/>
        </p:nvSpPr>
        <p:spPr>
          <a:xfrm>
            <a:off x="7705156" y="5557611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 b="1">
                <a:solidFill>
                  <a:srgbClr val="00FA9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TN</a:t>
            </a:r>
          </a:p>
        </p:txBody>
      </p:sp>
      <p:sp>
        <p:nvSpPr>
          <p:cNvPr id="486" name="Negative Predictive Value"/>
          <p:cNvSpPr txBox="1"/>
          <p:nvPr/>
        </p:nvSpPr>
        <p:spPr>
          <a:xfrm>
            <a:off x="1271033" y="4075838"/>
            <a:ext cx="3164389" cy="31835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1600"/>
              <a:t>Negative Predictive Value </a:t>
            </a:r>
          </a:p>
        </p:txBody>
      </p:sp>
      <p:sp>
        <p:nvSpPr>
          <p:cNvPr id="487" name="TN"/>
          <p:cNvSpPr/>
          <p:nvPr/>
        </p:nvSpPr>
        <p:spPr>
          <a:xfrm>
            <a:off x="2478481" y="5584397"/>
            <a:ext cx="625079" cy="625079"/>
          </a:xfrm>
          <a:prstGeom prst="rect">
            <a:avLst/>
          </a:prstGeom>
          <a:solidFill>
            <a:srgbClr val="009193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 b="1">
                <a:solidFill>
                  <a:srgbClr val="00FA9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pPr>
              <a:defRPr>
                <a:solidFill>
                  <a:srgbClr val="FFFFFF"/>
                </a:solidFill>
              </a:defRPr>
            </a:pPr>
            <a:r>
              <a:rPr sz="2109"/>
              <a:t>TN</a:t>
            </a:r>
          </a:p>
        </p:txBody>
      </p:sp>
      <p:sp>
        <p:nvSpPr>
          <p:cNvPr id="488" name="FN"/>
          <p:cNvSpPr/>
          <p:nvPr/>
        </p:nvSpPr>
        <p:spPr>
          <a:xfrm>
            <a:off x="7747724" y="1992352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FN</a:t>
            </a:r>
          </a:p>
        </p:txBody>
      </p:sp>
      <p:sp>
        <p:nvSpPr>
          <p:cNvPr id="489" name="TN"/>
          <p:cNvSpPr/>
          <p:nvPr/>
        </p:nvSpPr>
        <p:spPr>
          <a:xfrm>
            <a:off x="7747724" y="2644219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TN</a:t>
            </a:r>
          </a:p>
        </p:txBody>
      </p:sp>
      <p:sp>
        <p:nvSpPr>
          <p:cNvPr id="490" name="TP"/>
          <p:cNvSpPr/>
          <p:nvPr/>
        </p:nvSpPr>
        <p:spPr>
          <a:xfrm>
            <a:off x="7055797" y="4893707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TP</a:t>
            </a:r>
          </a:p>
        </p:txBody>
      </p:sp>
      <p:sp>
        <p:nvSpPr>
          <p:cNvPr id="491" name="FN"/>
          <p:cNvSpPr/>
          <p:nvPr/>
        </p:nvSpPr>
        <p:spPr>
          <a:xfrm>
            <a:off x="7711950" y="4893707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FN</a:t>
            </a:r>
          </a:p>
        </p:txBody>
      </p:sp>
      <p:sp>
        <p:nvSpPr>
          <p:cNvPr id="492" name="TP"/>
          <p:cNvSpPr/>
          <p:nvPr/>
        </p:nvSpPr>
        <p:spPr>
          <a:xfrm>
            <a:off x="1813288" y="4934322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TP</a:t>
            </a:r>
          </a:p>
        </p:txBody>
      </p:sp>
      <p:sp>
        <p:nvSpPr>
          <p:cNvPr id="493" name="FP"/>
          <p:cNvSpPr/>
          <p:nvPr/>
        </p:nvSpPr>
        <p:spPr>
          <a:xfrm>
            <a:off x="1813288" y="5586189"/>
            <a:ext cx="625079" cy="625079"/>
          </a:xfrm>
          <a:prstGeom prst="rect">
            <a:avLst/>
          </a:prstGeom>
          <a:solidFill>
            <a:srgbClr val="FFFFFF"/>
          </a:solidFill>
          <a:ln w="3175">
            <a:miter lim="400000"/>
          </a:ln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/>
          <a:lstStyle>
            <a:lvl1pPr algn="ctr" defTabSz="825500">
              <a:spcBef>
                <a:spcPts val="0"/>
              </a:spcBef>
              <a:defRPr sz="3000">
                <a:ln w="12700" cap="flat">
                  <a:solidFill>
                    <a:srgbClr val="EBEBEB"/>
                  </a:solidFill>
                  <a:prstDash val="solid"/>
                  <a:miter lim="400000"/>
                </a:ln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2109"/>
              <a:t>FP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94" name="equation.pdf"/>
              <p:cNvSpPr txBox="1"/>
              <p:nvPr/>
            </p:nvSpPr>
            <p:spPr>
              <a:xfrm>
                <a:off x="3201099" y="2269887"/>
                <a:ext cx="876009" cy="4900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sz="1687" i="1">
                              <a:solidFill>
                                <a:srgbClr val="94165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87" i="1">
                              <a:solidFill>
                                <a:srgbClr val="94165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sz="1687" i="1">
                              <a:solidFill>
                                <a:srgbClr val="941651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sz="1687" i="1">
                              <a:solidFill>
                                <a:srgbClr val="94165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sz="1687" i="1">
                              <a:solidFill>
                                <a:srgbClr val="941651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sz="1687">
                  <a:solidFill>
                    <a:srgbClr val="941751"/>
                  </a:solidFill>
                </a:endParaRPr>
              </a:p>
            </p:txBody>
          </p:sp>
        </mc:Choice>
        <mc:Fallback xmlns="">
          <p:sp>
            <p:nvSpPr>
              <p:cNvPr id="494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1099" y="2269887"/>
                <a:ext cx="876009" cy="49000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5" name="equation.pdf"/>
              <p:cNvSpPr txBox="1"/>
              <p:nvPr/>
            </p:nvSpPr>
            <p:spPr>
              <a:xfrm>
                <a:off x="8658201" y="2029141"/>
                <a:ext cx="851965" cy="4900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sz="1687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87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</m:num>
                        <m:den>
                          <m:r>
                            <a:rPr sz="1687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  <m:t>𝑇𝑃</m:t>
                          </m:r>
                          <m:r>
                            <a:rPr sz="1687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sz="1687" i="1">
                              <a:solidFill>
                                <a:srgbClr val="005392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sz="1687">
                  <a:solidFill>
                    <a:srgbClr val="005493"/>
                  </a:solidFill>
                </a:endParaRPr>
              </a:p>
            </p:txBody>
          </p:sp>
        </mc:Choice>
        <mc:Fallback xmlns="">
          <p:sp>
            <p:nvSpPr>
              <p:cNvPr id="495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8201" y="2029141"/>
                <a:ext cx="851965" cy="4900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6" name="equation.pdf"/>
              <p:cNvSpPr txBox="1"/>
              <p:nvPr/>
            </p:nvSpPr>
            <p:spPr>
              <a:xfrm>
                <a:off x="3267865" y="5016213"/>
                <a:ext cx="900055" cy="4900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sz="1687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87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sz="1687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sz="1687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sz="1687" i="1">
                              <a:solidFill>
                                <a:srgbClr val="4E8F00"/>
                              </a:solidFill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sz="1687">
                  <a:solidFill>
                    <a:srgbClr val="4F8F00"/>
                  </a:solidFill>
                </a:endParaRPr>
              </a:p>
            </p:txBody>
          </p:sp>
        </mc:Choice>
        <mc:Fallback xmlns="">
          <p:sp>
            <p:nvSpPr>
              <p:cNvPr id="496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7865" y="5016213"/>
                <a:ext cx="900055" cy="4900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7" name="equation.pdf"/>
              <p:cNvSpPr txBox="1"/>
              <p:nvPr/>
            </p:nvSpPr>
            <p:spPr>
              <a:xfrm>
                <a:off x="8615633" y="5013152"/>
                <a:ext cx="876009" cy="490006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sz="1687" i="1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sz="1687" i="1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</m:num>
                        <m:den>
                          <m:r>
                            <a:rPr sz="1687" i="1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</a:rPr>
                            <m:t>𝑇𝑁</m:t>
                          </m:r>
                          <m:r>
                            <a:rPr sz="1687" i="1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sz="1687" i="1">
                              <a:solidFill>
                                <a:srgbClr val="FF9300"/>
                              </a:solidFill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sz="1687">
                  <a:solidFill>
                    <a:srgbClr val="FF9300"/>
                  </a:solidFill>
                </a:endParaRPr>
              </a:p>
            </p:txBody>
          </p:sp>
        </mc:Choice>
        <mc:Fallback xmlns="">
          <p:sp>
            <p:nvSpPr>
              <p:cNvPr id="497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5633" y="5013152"/>
                <a:ext cx="876009" cy="4900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8" name="Predicted Output"/>
          <p:cNvSpPr txBox="1"/>
          <p:nvPr/>
        </p:nvSpPr>
        <p:spPr>
          <a:xfrm>
            <a:off x="1882375" y="1684843"/>
            <a:ext cx="102111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Predicted Output</a:t>
            </a:r>
          </a:p>
        </p:txBody>
      </p:sp>
      <p:sp>
        <p:nvSpPr>
          <p:cNvPr id="499" name="True Values"/>
          <p:cNvSpPr txBox="1"/>
          <p:nvPr/>
        </p:nvSpPr>
        <p:spPr>
          <a:xfrm>
            <a:off x="1022526" y="2435668"/>
            <a:ext cx="497014" cy="37503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True Values</a:t>
            </a:r>
          </a:p>
        </p:txBody>
      </p:sp>
      <p:sp>
        <p:nvSpPr>
          <p:cNvPr id="500" name="Positive (P)"/>
          <p:cNvSpPr txBox="1"/>
          <p:nvPr/>
        </p:nvSpPr>
        <p:spPr>
          <a:xfrm rot="16200000">
            <a:off x="1297749" y="2248788"/>
            <a:ext cx="71654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(P)</a:t>
            </a:r>
          </a:p>
        </p:txBody>
      </p:sp>
      <p:sp>
        <p:nvSpPr>
          <p:cNvPr id="501" name="Negative (N)"/>
          <p:cNvSpPr txBox="1"/>
          <p:nvPr/>
        </p:nvSpPr>
        <p:spPr>
          <a:xfrm rot="16200000">
            <a:off x="1265688" y="3002248"/>
            <a:ext cx="78066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(N)</a:t>
            </a:r>
          </a:p>
        </p:txBody>
      </p:sp>
      <p:sp>
        <p:nvSpPr>
          <p:cNvPr id="502" name="Positive (PP)"/>
          <p:cNvSpPr txBox="1"/>
          <p:nvPr/>
        </p:nvSpPr>
        <p:spPr>
          <a:xfrm>
            <a:off x="1588752" y="1837080"/>
            <a:ext cx="801502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(PP)</a:t>
            </a:r>
          </a:p>
        </p:txBody>
      </p:sp>
      <p:sp>
        <p:nvSpPr>
          <p:cNvPr id="503" name="Negative (PN)"/>
          <p:cNvSpPr txBox="1"/>
          <p:nvPr/>
        </p:nvSpPr>
        <p:spPr>
          <a:xfrm>
            <a:off x="2365865" y="1847487"/>
            <a:ext cx="86562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(PN)</a:t>
            </a:r>
          </a:p>
        </p:txBody>
      </p:sp>
      <p:sp>
        <p:nvSpPr>
          <p:cNvPr id="504" name="Predicted Output"/>
          <p:cNvSpPr txBox="1"/>
          <p:nvPr/>
        </p:nvSpPr>
        <p:spPr>
          <a:xfrm>
            <a:off x="7186434" y="1595475"/>
            <a:ext cx="102111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Predicted Output</a:t>
            </a:r>
          </a:p>
        </p:txBody>
      </p:sp>
      <p:sp>
        <p:nvSpPr>
          <p:cNvPr id="505" name="True Values"/>
          <p:cNvSpPr txBox="1"/>
          <p:nvPr/>
        </p:nvSpPr>
        <p:spPr>
          <a:xfrm>
            <a:off x="6326584" y="2346300"/>
            <a:ext cx="497014" cy="37503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True Values</a:t>
            </a:r>
          </a:p>
        </p:txBody>
      </p:sp>
      <p:sp>
        <p:nvSpPr>
          <p:cNvPr id="506" name="Positive (P)"/>
          <p:cNvSpPr txBox="1"/>
          <p:nvPr/>
        </p:nvSpPr>
        <p:spPr>
          <a:xfrm rot="16200000">
            <a:off x="6601808" y="2159420"/>
            <a:ext cx="71654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(P)</a:t>
            </a:r>
          </a:p>
        </p:txBody>
      </p:sp>
      <p:sp>
        <p:nvSpPr>
          <p:cNvPr id="507" name="Negative (N)"/>
          <p:cNvSpPr txBox="1"/>
          <p:nvPr/>
        </p:nvSpPr>
        <p:spPr>
          <a:xfrm rot="16200000">
            <a:off x="6569747" y="2912881"/>
            <a:ext cx="78066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(N)</a:t>
            </a:r>
          </a:p>
        </p:txBody>
      </p:sp>
      <p:sp>
        <p:nvSpPr>
          <p:cNvPr id="508" name="Positive (PP)"/>
          <p:cNvSpPr txBox="1"/>
          <p:nvPr/>
        </p:nvSpPr>
        <p:spPr>
          <a:xfrm>
            <a:off x="6892810" y="1747712"/>
            <a:ext cx="801502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(PP)</a:t>
            </a:r>
          </a:p>
        </p:txBody>
      </p:sp>
      <p:sp>
        <p:nvSpPr>
          <p:cNvPr id="509" name="Negative (PN)"/>
          <p:cNvSpPr txBox="1"/>
          <p:nvPr/>
        </p:nvSpPr>
        <p:spPr>
          <a:xfrm>
            <a:off x="7713544" y="1747712"/>
            <a:ext cx="86562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(PN)</a:t>
            </a:r>
          </a:p>
        </p:txBody>
      </p:sp>
      <p:sp>
        <p:nvSpPr>
          <p:cNvPr id="510" name="Predicted Output"/>
          <p:cNvSpPr txBox="1"/>
          <p:nvPr/>
        </p:nvSpPr>
        <p:spPr>
          <a:xfrm>
            <a:off x="1891900" y="4469026"/>
            <a:ext cx="102111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Predicted Output</a:t>
            </a:r>
          </a:p>
        </p:txBody>
      </p:sp>
      <p:sp>
        <p:nvSpPr>
          <p:cNvPr id="511" name="True Values"/>
          <p:cNvSpPr txBox="1"/>
          <p:nvPr/>
        </p:nvSpPr>
        <p:spPr>
          <a:xfrm>
            <a:off x="1032051" y="5253675"/>
            <a:ext cx="497014" cy="37503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True Values</a:t>
            </a:r>
          </a:p>
        </p:txBody>
      </p:sp>
      <p:sp>
        <p:nvSpPr>
          <p:cNvPr id="512" name="Positive (P)"/>
          <p:cNvSpPr txBox="1"/>
          <p:nvPr/>
        </p:nvSpPr>
        <p:spPr>
          <a:xfrm rot="16200000">
            <a:off x="1307274" y="5066796"/>
            <a:ext cx="71654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(P)</a:t>
            </a:r>
          </a:p>
        </p:txBody>
      </p:sp>
      <p:sp>
        <p:nvSpPr>
          <p:cNvPr id="513" name="Negative (N)"/>
          <p:cNvSpPr txBox="1"/>
          <p:nvPr/>
        </p:nvSpPr>
        <p:spPr>
          <a:xfrm rot="16200000">
            <a:off x="1284739" y="5820256"/>
            <a:ext cx="78066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(N)</a:t>
            </a:r>
          </a:p>
        </p:txBody>
      </p:sp>
      <p:sp>
        <p:nvSpPr>
          <p:cNvPr id="514" name="Positive (PP)"/>
          <p:cNvSpPr txBox="1"/>
          <p:nvPr/>
        </p:nvSpPr>
        <p:spPr>
          <a:xfrm>
            <a:off x="1598277" y="4655087"/>
            <a:ext cx="801502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(PP)</a:t>
            </a:r>
          </a:p>
        </p:txBody>
      </p:sp>
      <p:sp>
        <p:nvSpPr>
          <p:cNvPr id="515" name="Negative (PN)"/>
          <p:cNvSpPr txBox="1"/>
          <p:nvPr/>
        </p:nvSpPr>
        <p:spPr>
          <a:xfrm>
            <a:off x="2375390" y="4665495"/>
            <a:ext cx="86562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(PN)</a:t>
            </a:r>
          </a:p>
        </p:txBody>
      </p:sp>
      <p:sp>
        <p:nvSpPr>
          <p:cNvPr id="516" name="Predicted Output"/>
          <p:cNvSpPr txBox="1"/>
          <p:nvPr/>
        </p:nvSpPr>
        <p:spPr>
          <a:xfrm>
            <a:off x="7134410" y="4356914"/>
            <a:ext cx="102111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Predicted Output</a:t>
            </a:r>
          </a:p>
        </p:txBody>
      </p:sp>
      <p:sp>
        <p:nvSpPr>
          <p:cNvPr id="517" name="True Values"/>
          <p:cNvSpPr txBox="1"/>
          <p:nvPr/>
        </p:nvSpPr>
        <p:spPr>
          <a:xfrm>
            <a:off x="6274560" y="5250614"/>
            <a:ext cx="497014" cy="37503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True Values</a:t>
            </a:r>
          </a:p>
        </p:txBody>
      </p:sp>
      <p:sp>
        <p:nvSpPr>
          <p:cNvPr id="518" name="Positive (P)"/>
          <p:cNvSpPr txBox="1"/>
          <p:nvPr/>
        </p:nvSpPr>
        <p:spPr>
          <a:xfrm rot="16200000">
            <a:off x="6549784" y="5063735"/>
            <a:ext cx="71654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(P)</a:t>
            </a:r>
          </a:p>
        </p:txBody>
      </p:sp>
      <p:sp>
        <p:nvSpPr>
          <p:cNvPr id="519" name="Negative (N)"/>
          <p:cNvSpPr txBox="1"/>
          <p:nvPr/>
        </p:nvSpPr>
        <p:spPr>
          <a:xfrm rot="16200000">
            <a:off x="6517724" y="5817195"/>
            <a:ext cx="78066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(N)</a:t>
            </a:r>
          </a:p>
        </p:txBody>
      </p:sp>
      <p:sp>
        <p:nvSpPr>
          <p:cNvPr id="520" name="Positive (PP)"/>
          <p:cNvSpPr txBox="1"/>
          <p:nvPr/>
        </p:nvSpPr>
        <p:spPr>
          <a:xfrm>
            <a:off x="6840787" y="4652026"/>
            <a:ext cx="801502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Positive (PP)</a:t>
            </a:r>
          </a:p>
        </p:txBody>
      </p:sp>
      <p:sp>
        <p:nvSpPr>
          <p:cNvPr id="521" name="Negative (PN)"/>
          <p:cNvSpPr txBox="1"/>
          <p:nvPr/>
        </p:nvSpPr>
        <p:spPr>
          <a:xfrm>
            <a:off x="7617900" y="4662434"/>
            <a:ext cx="865623" cy="223587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>
            <a:lvl1pPr>
              <a:defRPr sz="1400">
                <a:solidFill>
                  <a:srgbClr val="42424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rPr sz="984"/>
              <a:t>Negative (PN)</a:t>
            </a:r>
          </a:p>
        </p:txBody>
      </p:sp>
      <p:grpSp>
        <p:nvGrpSpPr>
          <p:cNvPr id="2" name="Group">
            <a:extLst>
              <a:ext uri="{FF2B5EF4-FFF2-40B4-BE49-F238E27FC236}">
                <a16:creationId xmlns:a16="http://schemas.microsoft.com/office/drawing/2014/main" id="{4E5FBC4C-5DE1-9E0D-B3C7-AAD63E0C586F}"/>
              </a:ext>
            </a:extLst>
          </p:cNvPr>
          <p:cNvGrpSpPr/>
          <p:nvPr/>
        </p:nvGrpSpPr>
        <p:grpSpPr>
          <a:xfrm>
            <a:off x="4458711" y="1751538"/>
            <a:ext cx="1829965" cy="609165"/>
            <a:chOff x="-21282" y="79029"/>
            <a:chExt cx="2602615" cy="866368"/>
          </a:xfrm>
        </p:grpSpPr>
        <p:pic>
          <p:nvPicPr>
            <p:cNvPr id="3" name="Line Line" descr="Line Line">
              <a:extLst>
                <a:ext uri="{FF2B5EF4-FFF2-40B4-BE49-F238E27FC236}">
                  <a16:creationId xmlns:a16="http://schemas.microsoft.com/office/drawing/2014/main" id="{A0F4A8CA-2402-1C63-3358-85364B82B3FE}"/>
                </a:ext>
              </a:extLst>
            </p:cNvPr>
            <p:cNvPicPr>
              <a:picLocks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282" y="486841"/>
              <a:ext cx="2602615" cy="458556"/>
            </a:xfrm>
            <a:prstGeom prst="rect">
              <a:avLst/>
            </a:prstGeom>
            <a:effectLst/>
          </p:spPr>
        </p:pic>
        <p:sp>
          <p:nvSpPr>
            <p:cNvPr id="4" name="F1">
              <a:extLst>
                <a:ext uri="{FF2B5EF4-FFF2-40B4-BE49-F238E27FC236}">
                  <a16:creationId xmlns:a16="http://schemas.microsoft.com/office/drawing/2014/main" id="{9A5DBCF4-4210-8CC1-EF9F-3AE506986677}"/>
                </a:ext>
              </a:extLst>
            </p:cNvPr>
            <p:cNvSpPr txBox="1"/>
            <p:nvPr/>
          </p:nvSpPr>
          <p:spPr>
            <a:xfrm>
              <a:off x="1280025" y="79029"/>
              <a:ext cx="440007" cy="610355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pPr>
                <a:defRPr sz="3300">
                  <a:solidFill>
                    <a:srgbClr val="009193"/>
                  </a:solidFill>
                  <a:latin typeface="Noteworthy Light"/>
                  <a:ea typeface="Noteworthy Light"/>
                  <a:cs typeface="Noteworthy Light"/>
                  <a:sym typeface="Noteworthy Light"/>
                </a:defRPr>
              </a:pPr>
              <a:r>
                <a:rPr sz="2320"/>
                <a:t>F</a:t>
              </a:r>
              <a:r>
                <a:rPr sz="2320" baseline="-5999"/>
                <a:t>1</a:t>
              </a:r>
            </a:p>
          </p:txBody>
        </p:sp>
      </p:grpSp>
      <p:grpSp>
        <p:nvGrpSpPr>
          <p:cNvPr id="5" name="Group">
            <a:extLst>
              <a:ext uri="{FF2B5EF4-FFF2-40B4-BE49-F238E27FC236}">
                <a16:creationId xmlns:a16="http://schemas.microsoft.com/office/drawing/2014/main" id="{776D1503-AD0E-5D61-9CF0-4160CAD1A5B0}"/>
              </a:ext>
            </a:extLst>
          </p:cNvPr>
          <p:cNvGrpSpPr/>
          <p:nvPr/>
        </p:nvGrpSpPr>
        <p:grpSpPr>
          <a:xfrm>
            <a:off x="5233296" y="1951703"/>
            <a:ext cx="1030075" cy="3520494"/>
            <a:chOff x="1466005" y="-650014"/>
            <a:chExt cx="1464998" cy="5006924"/>
          </a:xfrm>
        </p:grpSpPr>
        <p:pic>
          <p:nvPicPr>
            <p:cNvPr id="6" name="Line Line" descr="Line Line">
              <a:extLst>
                <a:ext uri="{FF2B5EF4-FFF2-40B4-BE49-F238E27FC236}">
                  <a16:creationId xmlns:a16="http://schemas.microsoft.com/office/drawing/2014/main" id="{CEDF20D0-BB6D-D742-9C29-0656DC7C724C}"/>
                </a:ext>
              </a:extLst>
            </p:cNvPr>
            <p:cNvPicPr>
              <a:picLocks/>
            </p:cNvPicPr>
            <p:nvPr/>
          </p:nvPicPr>
          <p:blipFill>
            <a:blip r:embed="rId7"/>
            <a:stretch>
              <a:fillRect/>
            </a:stretch>
          </p:blipFill>
          <p:spPr>
            <a:xfrm rot="2853116">
              <a:off x="-808179" y="1624170"/>
              <a:ext cx="5006924" cy="458555"/>
            </a:xfrm>
            <a:prstGeom prst="rect">
              <a:avLst/>
            </a:prstGeom>
            <a:effectLst/>
          </p:spPr>
        </p:pic>
        <p:sp>
          <p:nvSpPr>
            <p:cNvPr id="7" name="ROC Curve &amp; AUC">
              <a:extLst>
                <a:ext uri="{FF2B5EF4-FFF2-40B4-BE49-F238E27FC236}">
                  <a16:creationId xmlns:a16="http://schemas.microsoft.com/office/drawing/2014/main" id="{BF3D2932-1632-5FCD-813F-8E2597F5E2CC}"/>
                </a:ext>
              </a:extLst>
            </p:cNvPr>
            <p:cNvSpPr txBox="1"/>
            <p:nvPr/>
          </p:nvSpPr>
          <p:spPr>
            <a:xfrm rot="2816071">
              <a:off x="1410541" y="2084923"/>
              <a:ext cx="2045734" cy="995190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35719" tIns="35719" rIns="35719" bIns="35719" numCol="1" anchor="ctr">
              <a:spAutoFit/>
            </a:bodyPr>
            <a:lstStyle/>
            <a:p>
              <a:pPr>
                <a:defRPr sz="2900">
                  <a:solidFill>
                    <a:srgbClr val="009193"/>
                  </a:solidFill>
                  <a:latin typeface="Noteworthy Light"/>
                  <a:ea typeface="Noteworthy Light"/>
                  <a:cs typeface="Noteworthy Light"/>
                  <a:sym typeface="Noteworthy Light"/>
                </a:defRPr>
              </a:pPr>
              <a:r>
                <a:rPr sz="2039"/>
                <a:t>ROC Curve &amp;</a:t>
              </a:r>
              <a:br>
                <a:rPr sz="2039"/>
              </a:br>
              <a:r>
                <a:rPr sz="2039"/>
                <a:t>AUC</a:t>
              </a:r>
            </a:p>
          </p:txBody>
        </p:sp>
      </p:grp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OC Curve and AU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wrap="square"/>
          <a:lstStyle/>
          <a:p>
            <a:r>
              <a:t>Classification Thresholds</a:t>
            </a:r>
          </a:p>
        </p:txBody>
      </p:sp>
      <p:sp>
        <p:nvSpPr>
          <p:cNvPr id="584" name="ROC stands for Receiver Operating Curv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wrap="square">
            <a:normAutofit lnSpcReduction="10000"/>
          </a:bodyPr>
          <a:lstStyle/>
          <a:p>
            <a:pPr marL="196446" lvl="0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dirty="0"/>
              <a:t>A threshold converts a predicted probability or score into a class label.</a:t>
            </a:r>
          </a:p>
          <a:p>
            <a:pPr marL="394464" lvl="1" indent="-198018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lang="en-US" dirty="0"/>
              <a:t>Probability above </a:t>
            </a:r>
            <a:r>
              <a:rPr dirty="0"/>
              <a:t>the threshold</a:t>
            </a:r>
            <a:r>
              <a:rPr lang="en-US" dirty="0"/>
              <a:t>: positive</a:t>
            </a:r>
            <a:r>
              <a:rPr dirty="0"/>
              <a:t>. </a:t>
            </a:r>
            <a:r>
              <a:rPr lang="en-US" dirty="0"/>
              <a:t>At or below: </a:t>
            </a:r>
            <a:r>
              <a:rPr dirty="0"/>
              <a:t>negative.</a:t>
            </a:r>
          </a:p>
          <a:p>
            <a:pPr marL="196446" lvl="0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lang="en-US" dirty="0"/>
              <a:t>E</a:t>
            </a:r>
            <a:r>
              <a:rPr dirty="0"/>
              <a:t>xample: A spam filter assigns an email P(spam) = 0.65.</a:t>
            </a:r>
          </a:p>
          <a:p>
            <a:pPr marL="394464" lvl="1" indent="-198018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dirty="0"/>
              <a:t>Threshold 0.50: predict spam. Threshold 0.80: predict not spam.</a:t>
            </a:r>
          </a:p>
          <a:p>
            <a:pPr marL="196446" lvl="0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dirty="0"/>
              <a:t>Lower thresholds predict more positives, </a:t>
            </a:r>
            <a:r>
              <a:rPr lang="en-US" dirty="0"/>
              <a:t>with fewer </a:t>
            </a:r>
            <a:r>
              <a:rPr dirty="0"/>
              <a:t>misses but more false alarms.</a:t>
            </a:r>
          </a:p>
          <a:p>
            <a:pPr marL="196446" lvl="0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dirty="0"/>
              <a:t>ROC curves </a:t>
            </a:r>
            <a:r>
              <a:rPr lang="en-US" dirty="0"/>
              <a:t>compare </a:t>
            </a:r>
            <a:r>
              <a:rPr dirty="0"/>
              <a:t>true and false positive rates across thresholds.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ROC Curve and AU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ROC Curve and AUC</a:t>
            </a:r>
          </a:p>
        </p:txBody>
      </p:sp>
      <p:sp>
        <p:nvSpPr>
          <p:cNvPr id="584" name="ROC stands for Receiver Operating Curv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wrap="square">
            <a:normAutofit/>
          </a:bodyPr>
          <a:lstStyle/>
          <a:p>
            <a:pPr marL="196446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rPr lang="en-US"/>
              <a:t>A threshold converts a predicted probability or score into a class label.</a:t>
            </a:r>
          </a:p>
          <a:p>
            <a:pPr lvl="1">
              <a:spcBef>
                <a:spcPts val="0"/>
              </a:spcBef>
              <a:spcAft>
                <a:spcPts val="1400"/>
              </a:spcAft>
            </a:pPr>
            <a:r>
              <a:rPr lang="en-US"/>
              <a:t>Predict positive if </a:t>
            </a:r>
            <a:r>
              <a:rPr lang="en-US" i="1">
                <a:latin typeface="Graphik"/>
                <a:ea typeface="Graphik"/>
                <a:cs typeface="Graphik"/>
                <a:sym typeface="Graphik"/>
              </a:rPr>
              <a:t>P(y</a:t>
            </a:r>
            <a:r>
              <a:rPr lang="en-US" i="1" baseline="-5999">
                <a:latin typeface="Graphik"/>
                <a:ea typeface="Graphik"/>
                <a:cs typeface="Graphik"/>
                <a:sym typeface="Graphik"/>
              </a:rPr>
              <a:t>i </a:t>
            </a:r>
            <a:r>
              <a:rPr lang="en-US" i="1">
                <a:latin typeface="Graphik"/>
                <a:ea typeface="Graphik"/>
                <a:cs typeface="Graphik"/>
                <a:sym typeface="Graphik"/>
              </a:rPr>
              <a:t>= positive) &gt; p</a:t>
            </a:r>
            <a:r>
              <a:rPr lang="en-US"/>
              <a:t> (</a:t>
            </a:r>
            <a:r>
              <a:rPr lang="en-US" i="1">
                <a:latin typeface="Graphik"/>
                <a:ea typeface="Graphik"/>
                <a:cs typeface="Graphik"/>
                <a:sym typeface="Graphik"/>
              </a:rPr>
              <a:t>0 &lt; p &lt; 1)</a:t>
            </a:r>
          </a:p>
          <a:p>
            <a:pPr marL="196446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t>ROC </a:t>
            </a:r>
            <a:r>
              <a:rPr lang="en-US"/>
              <a:t>plots true positive rate vs. </a:t>
            </a:r>
            <a:r>
              <a:t>false positive </a:t>
            </a:r>
            <a:r>
              <a:rPr lang="en-US"/>
              <a:t>rate as the threshold varies.</a:t>
            </a:r>
          </a:p>
          <a:p>
            <a:pPr marL="394464" lvl="1" indent="-198018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t>True </a:t>
            </a:r>
            <a:r>
              <a:rPr lang="en-US"/>
              <a:t>positive rate = </a:t>
            </a:r>
            <a:r>
              <a:t>sensitivity</a:t>
            </a:r>
            <a:r>
              <a:rPr lang="en-US"/>
              <a:t>. </a:t>
            </a:r>
            <a:r>
              <a:t>False </a:t>
            </a:r>
            <a:r>
              <a:rPr lang="en-US"/>
              <a:t>positive rate = </a:t>
            </a:r>
            <a:r>
              <a:t>1 </a:t>
            </a:r>
            <a:r>
              <a:rPr lang="en-US"/>
              <a:t>− </a:t>
            </a:r>
            <a:r>
              <a:t>specificity</a:t>
            </a:r>
            <a:r>
              <a:rPr lang="en-US"/>
              <a:t>.</a:t>
            </a:r>
          </a:p>
          <a:p>
            <a:pPr marL="196446" indent="-196446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t>AUC (</a:t>
            </a:r>
            <a:r>
              <a:rPr lang="en-US"/>
              <a:t>area under </a:t>
            </a:r>
            <a:r>
              <a:t>the ROC curve</a:t>
            </a:r>
            <a:r>
              <a:rPr lang="en-US"/>
              <a:t>) summarizes performance.</a:t>
            </a:r>
          </a:p>
          <a:p>
            <a:pPr marL="590910" lvl="1" indent="-198018" defTabSz="156458">
              <a:spcBef>
                <a:spcPts val="0"/>
              </a:spcBef>
              <a:spcAft>
                <a:spcPts val="1400"/>
              </a:spcAft>
              <a:defRPr sz="2464"/>
            </a:pPr>
            <a:r>
              <a:t>AUC =</a:t>
            </a:r>
            <a:r>
              <a:rPr lang="en-US"/>
              <a:t> </a:t>
            </a:r>
            <a:r>
              <a:t>1</a:t>
            </a:r>
            <a:r>
              <a:rPr lang="en-US"/>
              <a:t>:</a:t>
            </a:r>
            <a:r>
              <a:t> perfect model</a:t>
            </a:r>
            <a:r>
              <a:rPr lang="en-US"/>
              <a:t>. </a:t>
            </a:r>
            <a:r>
              <a:t>AUC = 0.5</a:t>
            </a:r>
            <a:r>
              <a:rPr lang="en-US"/>
              <a:t>:</a:t>
            </a:r>
            <a:r>
              <a:t> random </a:t>
            </a:r>
            <a:r>
              <a:rPr lang="en-US"/>
              <a:t>performance.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Example ROC Curv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ROC Curve</a:t>
            </a:r>
          </a:p>
        </p:txBody>
      </p:sp>
      <p:pic>
        <p:nvPicPr>
          <p:cNvPr id="592" name="unknown.png" descr="unkn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159" y="1783080"/>
            <a:ext cx="4443721" cy="3200400"/>
          </a:xfrm>
          <a:prstGeom prst="rect">
            <a:avLst/>
          </a:prstGeom>
          <a:ln w="3175">
            <a:miter lim="400000"/>
          </a:ln>
        </p:spPr>
      </p:pic>
      <p:sp>
        <p:nvSpPr>
          <p:cNvPr id="593" name="How thresholds affect TPR and FPR"/>
          <p:cNvSpPr txBox="1">
            <a:spLocks noGrp="1"/>
          </p:cNvSpPr>
          <p:nvPr>
            <p:ph type="body" idx="1"/>
          </p:nvPr>
        </p:nvSpPr>
        <p:spPr>
          <a:xfrm>
            <a:off x="6812280" y="1993392"/>
            <a:ext cx="4526280" cy="4069080"/>
          </a:xfrm>
          <a:prstGeom prst="rect">
            <a:avLst/>
          </a:prstGeom>
        </p:spPr>
        <p:txBody>
          <a:bodyPr wrap="square">
            <a:normAutofit fontScale="92500" lnSpcReduction="10000"/>
          </a:bodyPr>
          <a:lstStyle/>
          <a:p>
            <a:pPr marL="196446" indent="-196446" defTabSz="156458">
              <a:lnSpc>
                <a:spcPct val="105000"/>
              </a:lnSpc>
              <a:spcBef>
                <a:spcPts val="0"/>
              </a:spcBef>
              <a:spcAft>
                <a:spcPts val="1700"/>
              </a:spcAft>
              <a:defRPr sz="2464"/>
            </a:pPr>
            <a:r>
              <a:rPr sz="2200" b="1"/>
              <a:t>Each point uses a threshold.</a:t>
            </a:r>
            <a:r>
              <a:rPr sz="2200"/>
              <a:t> Predict positive when the score exceeds it.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700"/>
              </a:spcAft>
            </a:pPr>
            <a:r>
              <a:rPr sz="2200" b="1"/>
              <a:t>Lower threshold:</a:t>
            </a:r>
            <a:r>
              <a:rPr sz="2200"/>
              <a:t> </a:t>
            </a:r>
            <a:r>
              <a:rPr lang="en-US" sz="2200"/>
              <a:t>More positives</a:t>
            </a:r>
            <a:r>
              <a:rPr sz="2200"/>
              <a:t>. TPR and FPR </a:t>
            </a:r>
            <a:r>
              <a:rPr lang="en-US" sz="2200"/>
              <a:t>cannot decrease. Move </a:t>
            </a:r>
            <a:r>
              <a:rPr sz="2200"/>
              <a:t>up/right toward (1, 1).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700"/>
              </a:spcAft>
            </a:pPr>
            <a:r>
              <a:rPr sz="2200" b="1"/>
              <a:t>Higher threshold:</a:t>
            </a:r>
            <a:r>
              <a:rPr sz="2200"/>
              <a:t> </a:t>
            </a:r>
            <a:r>
              <a:rPr lang="en-US" sz="2200"/>
              <a:t>Fewer positives</a:t>
            </a:r>
            <a:r>
              <a:rPr sz="2200"/>
              <a:t>. TPR and FPR </a:t>
            </a:r>
            <a:r>
              <a:rPr lang="en-US" sz="2200"/>
              <a:t>cannot increase. Move</a:t>
            </a:r>
            <a:r>
              <a:rPr sz="2200"/>
              <a:t> down/left toward (0, 0).</a:t>
            </a:r>
          </a:p>
          <a:p>
            <a:pPr marL="196446" indent="-196446" defTabSz="156458">
              <a:lnSpc>
                <a:spcPct val="105000"/>
              </a:lnSpc>
              <a:spcBef>
                <a:spcPts val="0"/>
              </a:spcBef>
              <a:spcAft>
                <a:spcPts val="1700"/>
              </a:spcAft>
              <a:defRPr sz="2464"/>
            </a:pPr>
            <a:r>
              <a:rPr lang="en-US" sz="2200" b="1"/>
              <a:t>Tradeoff:</a:t>
            </a:r>
            <a:r>
              <a:rPr lang="en-US" sz="2200"/>
              <a:t> Lower thresholds miss fewer positives but raise false alarms. Higher thresholds do the reverse.</a:t>
            </a:r>
          </a:p>
        </p:txBody>
      </p:sp>
      <p:sp>
        <p:nvSpPr>
          <p:cNvPr id="594" name="TextBox 593"/>
          <p:cNvSpPr txBox="1"/>
          <p:nvPr/>
        </p:nvSpPr>
        <p:spPr>
          <a:xfrm>
            <a:off x="731520" y="5074920"/>
            <a:ext cx="5715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sz="2000"/>
              <a:t>TPR = sensitivity. FPR = 1 − specificity.</a:t>
            </a:r>
          </a:p>
          <a:p>
            <a:pPr>
              <a:lnSpc>
                <a:spcPct val="100000"/>
              </a:lnSpc>
              <a:spcAft>
                <a:spcPts val="400"/>
              </a:spcAft>
              <a:buNone/>
            </a:pPr>
            <a:r>
              <a:rPr sz="2000"/>
              <a:t>AUC (area under the ROC curve) summarizes performance. 1 = perfect, 0.5 = random.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5C874-3179-27A7-3C51-8CDA32FA6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Example ROC Curve">
            <a:extLst>
              <a:ext uri="{FF2B5EF4-FFF2-40B4-BE49-F238E27FC236}">
                <a16:creationId xmlns:a16="http://schemas.microsoft.com/office/drawing/2014/main" id="{5F064997-FA39-43C4-B790-91661897D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Example ROC Curve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D189AC-0723-8E37-8665-DEF5ED3E4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2BD1A9-FCB3-0CB5-2058-9F285817DA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6241" y="2221992"/>
            <a:ext cx="5241628" cy="3958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527076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Example ROC Curve">
            <a:extLst>
              <a:ext uri="{FF2B5EF4-FFF2-40B4-BE49-F238E27FC236}">
                <a16:creationId xmlns:a16="http://schemas.microsoft.com/office/drawing/2014/main" id="{5F064997-FA39-43C4-B790-91661897D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Thresholds and ROC</a:t>
            </a:r>
          </a:p>
        </p:txBody>
      </p:sp>
      <p:sp>
        <p:nvSpPr>
          <p:cNvPr id="592" name="TextBox 591"/>
          <p:cNvSpPr txBox="1"/>
          <p:nvPr/>
        </p:nvSpPr>
        <p:spPr>
          <a:xfrm>
            <a:off x="804672" y="1691640"/>
            <a:ext cx="10515600" cy="6976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lang="en-US" sz="2100" b="0" dirty="0">
                <a:solidFill>
                  <a:srgbClr val="000000"/>
                </a:solidFill>
                <a:latin typeface="+mn-lt"/>
              </a:rPr>
              <a:t>Example: same ranking, different probabilities. Predict positive if P(+) &gt; t.</a:t>
            </a:r>
          </a:p>
          <a:p>
            <a:pPr>
              <a:spcAft>
                <a:spcPts val="400"/>
              </a:spcAft>
            </a:pPr>
            <a:r>
              <a:rPr lang="en-US" sz="2100" dirty="0">
                <a:solidFill>
                  <a:srgbClr val="000000"/>
                </a:solidFill>
              </a:rPr>
              <a:t>Compare and contrast these models.</a:t>
            </a:r>
            <a:endParaRPr lang="en-US" sz="2100" b="0" dirty="0">
              <a:solidFill>
                <a:srgbClr val="000000"/>
              </a:solidFill>
              <a:latin typeface="+mn-lt"/>
            </a:endParaRPr>
          </a:p>
        </p:txBody>
      </p:sp>
      <p:sp>
        <p:nvSpPr>
          <p:cNvPr id="593" name="TextBox 592"/>
          <p:cNvSpPr txBox="1"/>
          <p:nvPr/>
        </p:nvSpPr>
        <p:spPr>
          <a:xfrm>
            <a:off x="2061972" y="2792045"/>
            <a:ext cx="2971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BA6500"/>
                </a:solidFill>
                <a:latin typeface="+mn-lt"/>
              </a:rPr>
              <a:t>A. </a:t>
            </a:r>
            <a:r>
              <a:rPr lang="en-US" sz="2000" b="1">
                <a:solidFill>
                  <a:srgbClr val="BA6500"/>
                </a:solidFill>
                <a:latin typeface="+mn-lt"/>
              </a:rPr>
              <a:t>Scores near 0.5</a:t>
            </a:r>
            <a:endParaRPr sz="2000" b="1">
              <a:solidFill>
                <a:srgbClr val="BA6500"/>
              </a:solidFill>
              <a:latin typeface="+mn-lt"/>
            </a:endParaRPr>
          </a:p>
        </p:txBody>
      </p:sp>
      <p:sp>
        <p:nvSpPr>
          <p:cNvPr id="594" name="TextBox 593"/>
          <p:cNvSpPr txBox="1"/>
          <p:nvPr/>
        </p:nvSpPr>
        <p:spPr>
          <a:xfrm>
            <a:off x="5207508" y="2792045"/>
            <a:ext cx="29718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2000" b="1">
                <a:solidFill>
                  <a:srgbClr val="17659A"/>
                </a:solidFill>
                <a:latin typeface="+mn-lt"/>
              </a:rPr>
              <a:t>B. Nearly binary</a:t>
            </a:r>
          </a:p>
        </p:txBody>
      </p:sp>
      <p:graphicFrame>
        <p:nvGraphicFramePr>
          <p:cNvPr id="595" name="Table 5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43056"/>
              </p:ext>
            </p:extLst>
          </p:nvPr>
        </p:nvGraphicFramePr>
        <p:xfrm>
          <a:off x="2061972" y="3249245"/>
          <a:ext cx="2907791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000000"/>
                          </a:solidFill>
                          <a:latin typeface="+mn-lt"/>
                        </a:rPr>
                        <a:t>Case</a:t>
                      </a:r>
                    </a:p>
                  </a:txBody>
                  <a:tcPr marL="27432" marR="27432" marT="22860" marB="2286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000000"/>
                          </a:solidFill>
                          <a:latin typeface="+mn-lt"/>
                        </a:rPr>
                        <a:t>True class</a:t>
                      </a:r>
                    </a:p>
                  </a:txBody>
                  <a:tcPr marL="27432" marR="27432" marT="22860" marB="2286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000000"/>
                          </a:solidFill>
                          <a:latin typeface="+mn-lt"/>
                        </a:rPr>
                        <a:t>P(+)</a:t>
                      </a:r>
                    </a:p>
                  </a:txBody>
                  <a:tcPr marL="27432" marR="27432" marT="22860" marB="22860" anchor="ctr"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+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0" dirty="0">
                          <a:solidFill>
                            <a:srgbClr val="000000"/>
                          </a:solidFill>
                          <a:latin typeface="+mn-lt"/>
                        </a:rPr>
                        <a:t>0.52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2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+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0">
                          <a:solidFill>
                            <a:srgbClr val="000000"/>
                          </a:solidFill>
                          <a:latin typeface="+mn-lt"/>
                        </a:rPr>
                        <a:t>0.51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−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0">
                          <a:solidFill>
                            <a:srgbClr val="000000"/>
                          </a:solidFill>
                          <a:latin typeface="+mn-lt"/>
                        </a:rPr>
                        <a:t>0.49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844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4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−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900" b="0" dirty="0">
                          <a:solidFill>
                            <a:srgbClr val="000000"/>
                          </a:solidFill>
                          <a:latin typeface="+mn-lt"/>
                        </a:rPr>
                        <a:t>0.48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97" name="Table 5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210677"/>
              </p:ext>
            </p:extLst>
          </p:nvPr>
        </p:nvGraphicFramePr>
        <p:xfrm>
          <a:off x="5207508" y="3249245"/>
          <a:ext cx="2907791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332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000000"/>
                          </a:solidFill>
                          <a:latin typeface="+mn-lt"/>
                        </a:rPr>
                        <a:t>Case</a:t>
                      </a:r>
                    </a:p>
                  </a:txBody>
                  <a:tcPr marL="27432" marR="27432" marT="22860" marB="2286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000000"/>
                          </a:solidFill>
                          <a:latin typeface="+mn-lt"/>
                        </a:rPr>
                        <a:t>True class</a:t>
                      </a:r>
                    </a:p>
                  </a:txBody>
                  <a:tcPr marL="27432" marR="27432" marT="22860" marB="2286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000000"/>
                          </a:solidFill>
                          <a:latin typeface="+mn-lt"/>
                        </a:rPr>
                        <a:t>P(+)</a:t>
                      </a:r>
                    </a:p>
                  </a:txBody>
                  <a:tcPr marL="27432" marR="27432" marT="22860" marB="22860" anchor="ctr"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+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0.95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2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+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0.90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841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3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−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0.10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844"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  <a:latin typeface="+mn-lt"/>
                        </a:rPr>
                        <a:t>4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dirty="0">
                          <a:solidFill>
                            <a:srgbClr val="000000"/>
                          </a:solidFill>
                          <a:latin typeface="+mn-lt"/>
                        </a:rPr>
                        <a:t>−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dirty="0">
                          <a:solidFill>
                            <a:srgbClr val="000000"/>
                          </a:solidFill>
                          <a:latin typeface="+mn-lt"/>
                        </a:rPr>
                        <a:t>0.05</a:t>
                      </a:r>
                    </a:p>
                  </a:txBody>
                  <a:tcPr marL="27432" marR="27432" marT="22860" marB="228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Metrics in Scikit-Lear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Metrics in Scikit-Learn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.predict() vs .predict_proba(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>
            <a:normAutofit fontScale="90000"/>
          </a:bodyPr>
          <a:lstStyle/>
          <a:p>
            <a:pPr defTabSz="160729">
              <a:defRPr sz="5400" spc="-53"/>
            </a:pPr>
            <a:r>
              <a:rPr dirty="0">
                <a:latin typeface="Courier New"/>
                <a:ea typeface="Courier New"/>
                <a:cs typeface="Courier New"/>
                <a:sym typeface="Courier New"/>
              </a:rPr>
              <a:t>.predict()</a:t>
            </a:r>
            <a:r>
              <a:rPr dirty="0"/>
              <a:t> vs </a:t>
            </a:r>
            <a:r>
              <a:rPr dirty="0"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dirty="0" err="1">
                <a:latin typeface="Courier New"/>
                <a:ea typeface="Courier New"/>
                <a:cs typeface="Courier New"/>
                <a:sym typeface="Courier New"/>
              </a:rPr>
              <a:t>predict_proba</a:t>
            </a:r>
            <a:r>
              <a:rPr dirty="0">
                <a:latin typeface="Courier New"/>
                <a:ea typeface="Courier New"/>
                <a:cs typeface="Courier New"/>
                <a:sym typeface="Courier New"/>
              </a:rPr>
              <a:t>()</a:t>
            </a:r>
          </a:p>
        </p:txBody>
      </p:sp>
      <p:sp>
        <p:nvSpPr>
          <p:cNvPr id="602" name="For classification estimators, there are two ways to product prediction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85000" lnSpcReduction="20000"/>
          </a:bodyPr>
          <a:lstStyle/>
          <a:p>
            <a:pPr marL="221002" indent="-221002" defTabSz="176015">
              <a:spcBef>
                <a:spcPts val="2250"/>
              </a:spcBef>
              <a:defRPr sz="2772"/>
            </a:pPr>
            <a:r>
              <a:t>For classification estimators, there are two ways to product predictions</a:t>
            </a:r>
          </a:p>
          <a:p>
            <a:pPr marL="221002" indent="-221002" defTabSz="176015">
              <a:spcBef>
                <a:spcPts val="2250"/>
              </a:spcBef>
              <a:defRPr sz="2772"/>
            </a:pPr>
            <a:r>
              <a:rPr>
                <a:latin typeface="Courier New"/>
                <a:ea typeface="Courier New"/>
                <a:cs typeface="Courier New"/>
                <a:sym typeface="Courier New"/>
              </a:rPr>
              <a:t>.predict() </a:t>
            </a:r>
            <a:r>
              <a:t>will produce an 1D array with n rows with the class prediction</a:t>
            </a:r>
          </a:p>
          <a:p>
            <a:pPr marL="885775" lvl="3" indent="-222770" defTabSz="176015">
              <a:spcBef>
                <a:spcPts val="2250"/>
              </a:spcBef>
              <a:defRPr sz="2772"/>
            </a:pPr>
            <a:r>
              <a:t>Class with the highest probability </a:t>
            </a:r>
          </a:p>
          <a:p>
            <a:pPr marL="221002" indent="-221002" defTabSz="176015">
              <a:spcBef>
                <a:spcPts val="2250"/>
              </a:spcBef>
              <a:defRPr sz="2772"/>
            </a:pPr>
            <a:r>
              <a:t>.</a:t>
            </a:r>
            <a:r>
              <a:rPr>
                <a:latin typeface="Courier New"/>
                <a:ea typeface="Courier New"/>
                <a:cs typeface="Courier New"/>
                <a:sym typeface="Courier New"/>
              </a:rPr>
              <a:t>predict_proba() </a:t>
            </a:r>
            <a:r>
              <a:t>will produce a 2D array with n rows and n-class columns </a:t>
            </a:r>
          </a:p>
          <a:p>
            <a:pPr marL="885775" lvl="3" indent="-222770" defTabSz="176015">
              <a:spcBef>
                <a:spcPts val="2250"/>
              </a:spcBef>
              <a:defRPr sz="2772"/>
            </a:pPr>
            <a:r>
              <a:t>Each column is the probability of the row observation being in class 0 to n-class 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Function names"/>
          <p:cNvSpPr txBox="1">
            <a:spLocks noGrp="1"/>
          </p:cNvSpPr>
          <p:nvPr>
            <p:ph type="title"/>
          </p:nvPr>
        </p:nvSpPr>
        <p:spPr>
          <a:xfrm>
            <a:off x="767358" y="776403"/>
            <a:ext cx="8161734" cy="803673"/>
          </a:xfrm>
          <a:prstGeom prst="rect">
            <a:avLst/>
          </a:prstGeom>
        </p:spPr>
        <p:txBody>
          <a:bodyPr/>
          <a:lstStyle/>
          <a:p>
            <a:r>
              <a:rPr dirty="0"/>
              <a:t>Function names</a:t>
            </a:r>
          </a:p>
        </p:txBody>
      </p:sp>
      <p:sp>
        <p:nvSpPr>
          <p:cNvPr id="597" name="accuracy_score(y_true, y_pred)  (default for many functions)…"/>
          <p:cNvSpPr txBox="1">
            <a:spLocks noGrp="1"/>
          </p:cNvSpPr>
          <p:nvPr>
            <p:ph type="body" idx="1"/>
          </p:nvPr>
        </p:nvSpPr>
        <p:spPr>
          <a:xfrm>
            <a:off x="1757958" y="1580076"/>
            <a:ext cx="8161734" cy="4672878"/>
          </a:xfrm>
          <a:prstGeom prst="rect">
            <a:avLst/>
          </a:prstGeom>
        </p:spPr>
        <p:txBody>
          <a:bodyPr>
            <a:normAutofit fontScale="70000" lnSpcReduction="20000"/>
          </a:bodyPr>
          <a:lstStyle/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accuracy_score</a:t>
            </a:r>
            <a:r>
              <a:rPr dirty="0"/>
              <a:t>(</a:t>
            </a:r>
            <a:r>
              <a:rPr dirty="0" err="1"/>
              <a:t>y_true</a:t>
            </a:r>
            <a:r>
              <a:rPr dirty="0"/>
              <a:t>, </a:t>
            </a:r>
            <a:r>
              <a:rPr dirty="0" err="1"/>
              <a:t>y_pred</a:t>
            </a:r>
            <a:r>
              <a:rPr dirty="0"/>
              <a:t>) </a:t>
            </a:r>
            <a:br>
              <a:rPr dirty="0"/>
            </a:br>
            <a:r>
              <a:rPr dirty="0">
                <a:latin typeface="Graphik"/>
                <a:ea typeface="Graphik"/>
                <a:cs typeface="Graphik"/>
                <a:sym typeface="Graphik"/>
              </a:rPr>
              <a:t>(default for many functions)</a:t>
            </a:r>
          </a:p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classification_report</a:t>
            </a:r>
            <a:r>
              <a:rPr dirty="0"/>
              <a:t>(</a:t>
            </a:r>
            <a:r>
              <a:rPr dirty="0" err="1"/>
              <a:t>y_true</a:t>
            </a:r>
            <a:r>
              <a:rPr dirty="0"/>
              <a:t>, </a:t>
            </a:r>
            <a:r>
              <a:rPr dirty="0" err="1"/>
              <a:t>y_pred</a:t>
            </a:r>
            <a:r>
              <a:rPr dirty="0"/>
              <a:t>)</a:t>
            </a:r>
          </a:p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confusion_matrix</a:t>
            </a:r>
            <a:r>
              <a:rPr dirty="0"/>
              <a:t>(</a:t>
            </a:r>
            <a:r>
              <a:rPr dirty="0" err="1"/>
              <a:t>y_true</a:t>
            </a:r>
            <a:r>
              <a:rPr dirty="0"/>
              <a:t>, </a:t>
            </a:r>
            <a:r>
              <a:rPr dirty="0" err="1"/>
              <a:t>y_pred</a:t>
            </a:r>
            <a:r>
              <a:rPr dirty="0"/>
              <a:t>)</a:t>
            </a:r>
          </a:p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/>
              <a:t>f1_score(</a:t>
            </a:r>
            <a:r>
              <a:rPr dirty="0" err="1"/>
              <a:t>y_true</a:t>
            </a:r>
            <a:r>
              <a:rPr dirty="0"/>
              <a:t>, </a:t>
            </a:r>
            <a:r>
              <a:rPr dirty="0" err="1"/>
              <a:t>y_pred</a:t>
            </a:r>
            <a:r>
              <a:rPr dirty="0"/>
              <a:t>)</a:t>
            </a:r>
          </a:p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precision_score</a:t>
            </a:r>
            <a:r>
              <a:rPr dirty="0"/>
              <a:t>(</a:t>
            </a:r>
            <a:r>
              <a:rPr dirty="0" err="1"/>
              <a:t>y_true</a:t>
            </a:r>
            <a:r>
              <a:rPr dirty="0"/>
              <a:t>, </a:t>
            </a:r>
            <a:r>
              <a:rPr dirty="0" err="1"/>
              <a:t>y_pred</a:t>
            </a:r>
            <a:r>
              <a:rPr dirty="0"/>
              <a:t>)</a:t>
            </a:r>
          </a:p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recall_score</a:t>
            </a:r>
            <a:r>
              <a:rPr dirty="0"/>
              <a:t>(</a:t>
            </a:r>
            <a:r>
              <a:rPr dirty="0" err="1"/>
              <a:t>y_true</a:t>
            </a:r>
            <a:r>
              <a:rPr dirty="0"/>
              <a:t>, </a:t>
            </a:r>
            <a:r>
              <a:rPr dirty="0" err="1"/>
              <a:t>y_pred</a:t>
            </a:r>
            <a:r>
              <a:rPr dirty="0"/>
              <a:t>)</a:t>
            </a:r>
          </a:p>
          <a:p>
            <a:pPr marL="20091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/>
              <a:t>roc_auc_score</a:t>
            </a:r>
            <a:r>
              <a:rPr dirty="0"/>
              <a:t>(</a:t>
            </a:r>
            <a:r>
              <a:rPr dirty="0" err="1"/>
              <a:t>y_true</a:t>
            </a:r>
            <a:r>
              <a:rPr dirty="0"/>
              <a:t>, </a:t>
            </a:r>
            <a:r>
              <a:rPr b="1" dirty="0" err="1"/>
              <a:t>y_score</a:t>
            </a:r>
            <a:r>
              <a:rPr lang="en-US" b="1" dirty="0"/>
              <a:t>) </a:t>
            </a:r>
          </a:p>
          <a:p>
            <a:pPr marL="658111" lvl="1" indent="-200911" defTabSz="160014">
              <a:spcBef>
                <a:spcPts val="2039"/>
              </a:spcBef>
              <a:defRPr sz="2520"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lang="en-US" dirty="0">
                <a:latin typeface="Graphik"/>
              </a:rPr>
              <a:t>Note: The</a:t>
            </a:r>
            <a:r>
              <a:rPr lang="en-US" b="1" dirty="0">
                <a:latin typeface="Graphik"/>
              </a:rPr>
              <a:t> </a:t>
            </a:r>
            <a:r>
              <a:rPr lang="en-US" dirty="0">
                <a:latin typeface="Graphik"/>
                <a:sym typeface="Graphik"/>
              </a:rPr>
              <a:t>s</a:t>
            </a:r>
            <a:r>
              <a:rPr lang="en-US" dirty="0">
                <a:latin typeface="Graphik"/>
                <a:ea typeface="Graphik"/>
                <a:cs typeface="Graphik"/>
                <a:sym typeface="Graphik"/>
              </a:rPr>
              <a:t>econ</a:t>
            </a:r>
            <a:r>
              <a:rPr dirty="0">
                <a:latin typeface="Graphik"/>
                <a:ea typeface="Graphik"/>
                <a:cs typeface="Graphik"/>
                <a:sym typeface="Graphik"/>
              </a:rPr>
              <a:t>d argument must be a score (e.g. probability) and not a class prediction</a:t>
            </a:r>
            <a:br>
              <a:rPr dirty="0"/>
            </a:br>
            <a:endParaRPr dirty="0"/>
          </a:p>
        </p:txBody>
      </p:sp>
      <p:sp>
        <p:nvSpPr>
          <p:cNvPr id="598" name="https://scikit-learn.org/stable/api/sklearn.metrics.html#"/>
          <p:cNvSpPr txBox="1"/>
          <p:nvPr/>
        </p:nvSpPr>
        <p:spPr>
          <a:xfrm>
            <a:off x="2022259" y="1313143"/>
            <a:ext cx="4026616" cy="266933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266">
                <a:hlinkClick r:id="rId2"/>
              </a:rPr>
              <a:t>https://scikit-learn.org/stable/api/sklearn.metrics.html#</a:t>
            </a:r>
            <a:endParaRPr sz="1266"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Classification Repor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Classification Report</a:t>
            </a:r>
          </a:p>
        </p:txBody>
      </p:sp>
      <p:sp>
        <p:nvSpPr>
          <p:cNvPr id="605" name="This special function will show precision, recall, f1, and accuracy for all class (treat each class as positive class)"/>
          <p:cNvSpPr txBox="1">
            <a:spLocks noGrp="1"/>
          </p:cNvSpPr>
          <p:nvPr>
            <p:ph type="body" sz="quarter" idx="1"/>
          </p:nvPr>
        </p:nvSpPr>
        <p:spPr>
          <a:xfrm>
            <a:off x="2015133" y="1398985"/>
            <a:ext cx="8161734" cy="1033507"/>
          </a:xfrm>
          <a:prstGeom prst="rect">
            <a:avLst/>
          </a:prstGeom>
        </p:spPr>
        <p:txBody>
          <a:bodyPr/>
          <a:lstStyle/>
          <a:p>
            <a:r>
              <a:rPr dirty="0"/>
              <a:t>This special function will show precision, recall, f1, and accuracy for all class (treat each class as positive class) </a:t>
            </a:r>
          </a:p>
        </p:txBody>
      </p:sp>
      <p:pic>
        <p:nvPicPr>
          <p:cNvPr id="606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1737" y="2276886"/>
            <a:ext cx="4430613" cy="3666714"/>
          </a:xfrm>
          <a:prstGeom prst="rect">
            <a:avLst/>
          </a:prstGeom>
          <a:ln w="3175">
            <a:miter lim="400000"/>
          </a:ln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Multi-class Class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Multi-class Classification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Multi-class Strategi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Multi-class Strategies </a:t>
            </a:r>
          </a:p>
        </p:txBody>
      </p:sp>
      <p:sp>
        <p:nvSpPr>
          <p:cNvPr id="612" name="Some classifiers (e.g., Random Forest, Naive Bayes, KNN) are capable of handling multiple classes directly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285740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Some classifiers (e.g., Naive Bayes, KNN) are capable of handling multiple classes directly</a:t>
            </a:r>
          </a:p>
          <a:p>
            <a:pPr marL="285740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Other classifiers (e.g.,</a:t>
            </a:r>
            <a:r>
              <a:rPr lang="en-US" sz="2600" dirty="0"/>
              <a:t> </a:t>
            </a:r>
            <a:r>
              <a:rPr sz="2600" dirty="0"/>
              <a:t>logistic regression) are binary classifiers</a:t>
            </a:r>
          </a:p>
          <a:p>
            <a:pPr marL="285740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For binary classifiers, there are two strategies for extending to multiple classes:</a:t>
            </a:r>
          </a:p>
          <a:p>
            <a:pPr marL="857220" lvl="2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One-versus-all (</a:t>
            </a:r>
            <a:r>
              <a:rPr sz="2600" dirty="0" err="1"/>
              <a:t>OvA</a:t>
            </a:r>
            <a:r>
              <a:rPr sz="2600" dirty="0"/>
              <a:t>) </a:t>
            </a:r>
            <a:r>
              <a:rPr lang="en-US" sz="2600" dirty="0"/>
              <a:t>(sometimes called </a:t>
            </a:r>
            <a:r>
              <a:rPr sz="2600" dirty="0"/>
              <a:t>One-versus-rest (</a:t>
            </a:r>
            <a:r>
              <a:rPr sz="2600" dirty="0" err="1"/>
              <a:t>OvR</a:t>
            </a:r>
            <a:r>
              <a:rPr sz="2600" dirty="0"/>
              <a:t>)</a:t>
            </a:r>
            <a:r>
              <a:rPr lang="en-US" sz="2600" dirty="0"/>
              <a:t>)</a:t>
            </a:r>
            <a:endParaRPr sz="2600" dirty="0"/>
          </a:p>
          <a:p>
            <a:pPr marL="857220" lvl="2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One-versus-one (</a:t>
            </a:r>
            <a:r>
              <a:rPr sz="2600" dirty="0" err="1"/>
              <a:t>OvO</a:t>
            </a:r>
            <a:r>
              <a:rPr sz="2600" dirty="0"/>
              <a:t>)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One Versus All (OvA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One Versus All (OvA)</a:t>
            </a:r>
          </a:p>
        </p:txBody>
      </p:sp>
      <p:sp>
        <p:nvSpPr>
          <p:cNvPr id="616" name="For each class, train a model that classify that class versus all the rest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285740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For each class, train a model that classify that class versus all the rest:</a:t>
            </a:r>
          </a:p>
          <a:p>
            <a:pPr marL="857220" lvl="2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Classify </a:t>
            </a:r>
            <a:r>
              <a:rPr sz="2600" b="1" dirty="0"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r>
              <a:rPr sz="2600" dirty="0"/>
              <a:t> versus </a:t>
            </a:r>
            <a:r>
              <a:rPr sz="2600" b="1" dirty="0"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not 1</a:t>
            </a:r>
          </a:p>
          <a:p>
            <a:pPr marL="857220" lvl="2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Classify </a:t>
            </a:r>
            <a:r>
              <a:rPr sz="2600" b="1" dirty="0"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r>
              <a:rPr sz="2600" dirty="0"/>
              <a:t> versus </a:t>
            </a:r>
            <a:r>
              <a:rPr sz="2600" b="1" dirty="0"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not 2</a:t>
            </a:r>
          </a:p>
          <a:p>
            <a:pPr marL="857220" lvl="2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etc.</a:t>
            </a:r>
          </a:p>
          <a:p>
            <a:pPr marL="285740" indent="-285740">
              <a:buSzPct val="75000"/>
              <a:defRPr sz="340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sz="2600" dirty="0"/>
              <a:t>Classify a value into the classier whose classifier outputs the highest score</a:t>
            </a:r>
            <a:r>
              <a:rPr lang="en-US" sz="2600" dirty="0"/>
              <a:t> (e.g., predictive probabilities)</a:t>
            </a:r>
            <a:endParaRPr sz="2600" dirty="0"/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One Versus One (OvO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One Versus One (OvO)</a:t>
            </a:r>
          </a:p>
        </p:txBody>
      </p:sp>
      <p:sp>
        <p:nvSpPr>
          <p:cNvPr id="620" name="Train a binary classifier for every pair of classe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62500" lnSpcReduction="20000"/>
          </a:bodyPr>
          <a:lstStyle/>
          <a:p>
            <a:pPr marL="27145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Train a binary classifier for every pair of classes</a:t>
            </a:r>
          </a:p>
          <a:p>
            <a:pPr marL="814358" lvl="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r>
              <a:rPr dirty="0"/>
              <a:t> vs</a:t>
            </a:r>
            <a:r>
              <a:rPr b="1" dirty="0"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2</a:t>
            </a:r>
          </a:p>
          <a:p>
            <a:pPr marL="814358" lvl="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1</a:t>
            </a:r>
            <a:r>
              <a:rPr dirty="0"/>
              <a:t> vs</a:t>
            </a:r>
            <a:r>
              <a:rPr b="1" dirty="0"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3</a:t>
            </a:r>
          </a:p>
          <a:p>
            <a:pPr marL="814358" lvl="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2</a:t>
            </a:r>
            <a:r>
              <a:rPr dirty="0"/>
              <a:t> vs</a:t>
            </a:r>
            <a:r>
              <a:rPr b="1" dirty="0"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3</a:t>
            </a:r>
          </a:p>
          <a:p>
            <a:pPr marL="814358" lvl="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4F8F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4</a:t>
            </a:r>
            <a:r>
              <a:rPr dirty="0"/>
              <a:t> vs</a:t>
            </a:r>
            <a:r>
              <a:rPr b="1" dirty="0">
                <a:solidFill>
                  <a:srgbClr val="0054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5</a:t>
            </a:r>
          </a:p>
          <a:p>
            <a:pPr marL="814358" lvl="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/>
              <a:t>E</a:t>
            </a:r>
            <a:r>
              <a:t>tc</a:t>
            </a:r>
            <a:r>
              <a:rPr lang="en-US"/>
              <a:t>.</a:t>
            </a:r>
            <a:endParaRPr/>
          </a:p>
          <a:p>
            <a:pPr marL="271452" indent="-271452" defTabSz="168904">
              <a:spcBef>
                <a:spcPts val="2180"/>
              </a:spcBef>
              <a:buSzPct val="75000"/>
              <a:defRPr sz="3230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Classify value into the class that wins the most duels 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OvA Versus Ov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OvA Versus OvO</a:t>
            </a:r>
          </a:p>
        </p:txBody>
      </p:sp>
      <p:sp>
        <p:nvSpPr>
          <p:cNvPr id="624" name="Suppose there are q classe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pPr marL="262881" indent="-262881" defTabSz="163570">
              <a:spcBef>
                <a:spcPts val="2109"/>
              </a:spcBef>
              <a:buSzPct val="75000"/>
              <a:defRPr sz="3128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Suppose there are q classes</a:t>
            </a:r>
          </a:p>
          <a:p>
            <a:pPr marL="262881" indent="-262881" defTabSz="163570">
              <a:spcBef>
                <a:spcPts val="2109"/>
              </a:spcBef>
              <a:buSzPct val="75000"/>
              <a:defRPr sz="3128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 err="1"/>
              <a:t>OvO</a:t>
            </a:r>
            <a:r>
              <a:rPr dirty="0"/>
              <a:t> requires training q(q-1)/2 classifiers </a:t>
            </a:r>
          </a:p>
          <a:p>
            <a:pPr marL="788641" lvl="2" indent="-262881" defTabSz="163570">
              <a:spcBef>
                <a:spcPts val="2109"/>
              </a:spcBef>
              <a:buSzPct val="75000"/>
              <a:defRPr sz="3128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For the MNIST example this means 10(10-1)/2 = 45 classifiers</a:t>
            </a:r>
          </a:p>
          <a:p>
            <a:pPr marL="788641" lvl="2" indent="-262881" defTabSz="163570">
              <a:spcBef>
                <a:spcPts val="2109"/>
              </a:spcBef>
              <a:buSzPct val="75000"/>
              <a:defRPr sz="3128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However, each classifier needs only use a small subset of the data</a:t>
            </a:r>
          </a:p>
          <a:p>
            <a:pPr marL="262881" indent="-262881" defTabSz="163570">
              <a:spcBef>
                <a:spcPts val="2109"/>
              </a:spcBef>
              <a:buSzPct val="75000"/>
              <a:defRPr sz="3128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In general </a:t>
            </a:r>
            <a:r>
              <a:rPr dirty="0" err="1"/>
              <a:t>OvA</a:t>
            </a:r>
            <a:r>
              <a:rPr dirty="0"/>
              <a:t> is the preferred strategy</a:t>
            </a:r>
            <a:r>
              <a:rPr lang="en-US" dirty="0"/>
              <a:t> (only trains q classifiers)</a:t>
            </a:r>
          </a:p>
          <a:p>
            <a:pPr marL="262881" indent="-262881" defTabSz="163570">
              <a:spcBef>
                <a:spcPts val="2109"/>
              </a:spcBef>
              <a:buSzPct val="75000"/>
              <a:defRPr sz="3128"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B</a:t>
            </a:r>
            <a:r>
              <a:rPr dirty="0"/>
              <a:t>ut for classifiers that scale poorly with the size of the training set (e.g., SVM) </a:t>
            </a:r>
            <a:r>
              <a:rPr dirty="0" err="1"/>
              <a:t>OvO</a:t>
            </a:r>
            <a:r>
              <a:rPr dirty="0"/>
              <a:t> is preferred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Softmax func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 err="1"/>
              <a:t>Softmax</a:t>
            </a:r>
            <a:r>
              <a:rPr dirty="0"/>
              <a:t> function</a:t>
            </a:r>
          </a:p>
        </p:txBody>
      </p:sp>
      <p:sp>
        <p:nvSpPr>
          <p:cNvPr id="628" name="A mathematical function that converts a vector of real-valued scores into a probability distribution…"/>
          <p:cNvSpPr txBox="1">
            <a:spLocks noGrp="1"/>
          </p:cNvSpPr>
          <p:nvPr>
            <p:ph type="body" sz="half" idx="1"/>
          </p:nvPr>
        </p:nvSpPr>
        <p:spPr>
          <a:xfrm>
            <a:off x="704088" y="1828800"/>
            <a:ext cx="10689336" cy="2240280"/>
          </a:xfrm>
          <a:prstGeom prst="rect">
            <a:avLst/>
          </a:prstGeom>
        </p:spPr>
        <p:txBody>
          <a:bodyPr wrap="square"/>
          <a:lstStyle/>
          <a:p>
            <a:r>
              <a:rPr lang="en-US"/>
              <a:t>OvA and OvO combine binary classifiers to handle multiple classes.</a:t>
            </a:r>
          </a:p>
          <a:p>
            <a:r>
              <a:rPr lang="en-US"/>
              <a:t>Softmax supports another approach: extend logistic regression to predict all classes together.</a:t>
            </a:r>
          </a:p>
          <a:p>
            <a:r>
              <a:rPr lang="en-US"/>
              <a:t>It </a:t>
            </a:r>
            <a:r>
              <a:rPr dirty="0"/>
              <a:t>converts </a:t>
            </a:r>
            <a:r>
              <a:rPr lang="en-US"/>
              <a:t>one </a:t>
            </a:r>
            <a:r>
              <a:rPr dirty="0"/>
              <a:t>real-valued </a:t>
            </a:r>
            <a:r>
              <a:rPr lang="en-US"/>
              <a:t>score per class </a:t>
            </a:r>
            <a:r>
              <a:rPr dirty="0"/>
              <a:t>into a probability distribution</a:t>
            </a:r>
            <a:r>
              <a:rPr lang="en-US"/>
              <a:t>.</a:t>
            </a:r>
          </a:p>
          <a:p>
            <a:r>
              <a:rPr lang="en-US"/>
              <a:t>Softmax also serves </a:t>
            </a:r>
            <a:r>
              <a:rPr dirty="0"/>
              <a:t>as </a:t>
            </a:r>
            <a:r>
              <a:rPr lang="en-US"/>
              <a:t>the output function </a:t>
            </a:r>
            <a:r>
              <a:rPr dirty="0"/>
              <a:t>in multi-class </a:t>
            </a:r>
            <a:r>
              <a:rPr lang="en-US"/>
              <a:t>neural networks.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9" name="equation.pdf"/>
              <p:cNvSpPr txBox="1"/>
              <p:nvPr/>
            </p:nvSpPr>
            <p:spPr>
              <a:xfrm>
                <a:off x="4649120" y="4097315"/>
                <a:ext cx="2608278" cy="993092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sz="2812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sz="2812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sz="2812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812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sz="2812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812" i="1">
                          <a:solidFill>
                            <a:srgbClr val="52575F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sz="2812" i="1">
                              <a:solidFill>
                                <a:srgbClr val="52575F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sz="2812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sz="2812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sz="2812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sz="2812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sz="2812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limLoc m:val="subSup"/>
                              <m:ctrlPr>
                                <a:rPr sz="2812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sz="2812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sz="2812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sz="2812" i="1">
                                  <a:solidFill>
                                    <a:srgbClr val="52575F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sz="2812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sz="2812" i="1">
                                      <a:solidFill>
                                        <a:srgbClr val="52575F"/>
                                      </a:solidFill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sz="2812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sz="2812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sz="2812" i="1">
                                          <a:solidFill>
                                            <a:srgbClr val="52575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sz="2812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629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120" y="4097315"/>
                <a:ext cx="2608278" cy="99309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30" name="Probability of class"/>
              <p:cNvSpPr txBox="1"/>
              <p:nvPr/>
            </p:nvSpPr>
            <p:spPr>
              <a:xfrm>
                <a:off x="3037725" y="5512117"/>
                <a:ext cx="1915333" cy="440057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wrap="none" lIns="35719" tIns="35719" rIns="35719" bIns="35719" anchor="ctr">
                <a:spAutoFit/>
              </a:bodyPr>
              <a:lstStyle/>
              <a:p>
                <a:r>
                  <a:rPr sz="1500"/>
                  <a:t>Probability of class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sz="1266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630" name="Probability of class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7725" y="5512117"/>
                <a:ext cx="1915333" cy="440057"/>
              </a:xfrm>
              <a:prstGeom prst="rect">
                <a:avLst/>
              </a:prstGeom>
              <a:blipFill>
                <a:blip r:embed="rId3"/>
                <a:stretch>
                  <a:fillRect l="-4127" r="-317" b="-11111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31" name="Sum over all classes"/>
          <p:cNvSpPr txBox="1"/>
          <p:nvPr/>
        </p:nvSpPr>
        <p:spPr>
          <a:xfrm>
            <a:off x="6597694" y="5765033"/>
            <a:ext cx="1684628" cy="302968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r>
              <a:rPr sz="1500"/>
              <a:t>Sum over all classes</a:t>
            </a:r>
          </a:p>
        </p:txBody>
      </p:sp>
      <p:pic>
        <p:nvPicPr>
          <p:cNvPr id="632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 rot="17979901">
            <a:off x="4148146" y="5050271"/>
            <a:ext cx="832334" cy="234094"/>
          </a:xfrm>
          <a:prstGeom prst="rect">
            <a:avLst/>
          </a:prstGeom>
        </p:spPr>
      </p:pic>
      <p:pic>
        <p:nvPicPr>
          <p:cNvPr id="634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 rot="12343661">
            <a:off x="6338689" y="5348883"/>
            <a:ext cx="1213820" cy="23409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36" name="is a raw score for the class (for example the class logit)"/>
              <p:cNvSpPr txBox="1"/>
              <p:nvPr/>
            </p:nvSpPr>
            <p:spPr>
              <a:xfrm>
                <a:off x="8007989" y="3916651"/>
                <a:ext cx="2670449" cy="662297"/>
              </a:xfrm>
              <a:prstGeom prst="rect">
                <a:avLst/>
              </a:prstGeom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35719" tIns="35719" rIns="35719" bIns="35719" anchor="ctr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sz="1266"/>
                  <a:t> </a:t>
                </a:r>
                <a:r>
                  <a:rPr sz="1500"/>
                  <a:t>is a raw score for the class (for example the class logit)</a:t>
                </a:r>
                <a:endParaRPr sz="1500">
                  <a:solidFill>
                    <a:srgbClr val="53585F"/>
                  </a:solidFill>
                </a:endParaRPr>
              </a:p>
            </p:txBody>
          </p:sp>
        </mc:Choice>
        <mc:Fallback>
          <p:sp>
            <p:nvSpPr>
              <p:cNvPr id="636" name="is a raw score for the class (for example the class logit)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7989" y="3916651"/>
                <a:ext cx="2670449" cy="662297"/>
              </a:xfrm>
              <a:prstGeom prst="rect">
                <a:avLst/>
              </a:prstGeom>
              <a:blipFill>
                <a:blip r:embed="rId6"/>
                <a:stretch>
                  <a:fillRect l="-2968" b="-11009"/>
                </a:stretch>
              </a:blipFill>
              <a:ln w="3175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xmlns:a14="http://schemas.microsoft.com/office/drawing/2010/main" val="1"/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37" name="Line Line" descr="Line Line"/>
          <p:cNvPicPr>
            <a:picLocks/>
          </p:cNvPicPr>
          <p:nvPr/>
        </p:nvPicPr>
        <p:blipFill>
          <a:blip r:embed="rId7"/>
          <a:stretch>
            <a:fillRect/>
          </a:stretch>
        </p:blipFill>
        <p:spPr>
          <a:xfrm rot="10800000">
            <a:off x="6959347" y="4130751"/>
            <a:ext cx="927705" cy="23409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776</TotalTime>
  <Words>1663</Words>
  <Application>Microsoft Office PowerPoint</Application>
  <PresentationFormat>Widescreen</PresentationFormat>
  <Paragraphs>249</Paragraphs>
  <Slides>24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3" baseType="lpstr">
      <vt:lpstr>Arial</vt:lpstr>
      <vt:lpstr>Calisto MT</vt:lpstr>
      <vt:lpstr>Cambria Math</vt:lpstr>
      <vt:lpstr>Courier New</vt:lpstr>
      <vt:lpstr>Gill Sans</vt:lpstr>
      <vt:lpstr>Graphik</vt:lpstr>
      <vt:lpstr>Helvetica Neue</vt:lpstr>
      <vt:lpstr>Univers Condensed</vt:lpstr>
      <vt:lpstr>ChronicleVTI</vt:lpstr>
      <vt:lpstr>Classification Metrics</vt:lpstr>
      <vt:lpstr>Regression vs Classification (Review)</vt:lpstr>
      <vt:lpstr>Accuracy and error rate</vt:lpstr>
      <vt:lpstr>Confusion Matrix</vt:lpstr>
      <vt:lpstr>Precision</vt:lpstr>
      <vt:lpstr>Recall</vt:lpstr>
      <vt:lpstr>F1 Score</vt:lpstr>
      <vt:lpstr>F𝛽 Score</vt:lpstr>
      <vt:lpstr>Other Measures</vt:lpstr>
      <vt:lpstr>Classification Thresholds</vt:lpstr>
      <vt:lpstr>ROC Curve and AUC</vt:lpstr>
      <vt:lpstr>Example ROC Curve</vt:lpstr>
      <vt:lpstr>Example ROC Curve</vt:lpstr>
      <vt:lpstr>Thresholds and ROC</vt:lpstr>
      <vt:lpstr>Metrics in Scikit-Learn</vt:lpstr>
      <vt:lpstr>.predict() vs .predict_proba()</vt:lpstr>
      <vt:lpstr>Function names</vt:lpstr>
      <vt:lpstr>Classification Report</vt:lpstr>
      <vt:lpstr>Multi-class Classification</vt:lpstr>
      <vt:lpstr>Multi-class Strategies </vt:lpstr>
      <vt:lpstr>One Versus All (OvA)</vt:lpstr>
      <vt:lpstr>One Versus One (OvO)</vt:lpstr>
      <vt:lpstr>OvA Versus OvO</vt:lpstr>
      <vt:lpstr>Softmax function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27</cp:revision>
  <dcterms:created xsi:type="dcterms:W3CDTF">2025-10-28T15:32:43Z</dcterms:created>
  <dcterms:modified xsi:type="dcterms:W3CDTF">2026-10-08T19:17:17Z</dcterms:modified>
</cp:coreProperties>
</file>