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sldIdLst>
    <p:sldId id="256" r:id="rId2"/>
    <p:sldId id="299" r:id="rId3"/>
    <p:sldId id="300" r:id="rId4"/>
    <p:sldId id="303" r:id="rId5"/>
    <p:sldId id="304" r:id="rId6"/>
    <p:sldId id="305" r:id="rId7"/>
    <p:sldId id="306" r:id="rId8"/>
    <p:sldId id="307" r:id="rId9"/>
    <p:sldId id="308" r:id="rId10"/>
    <p:sldId id="310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89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LaTeX: (y_i-\hat{y}_i)^2</a:t>
            </a:r>
          </a:p>
          <a:p>
            <a:r>
              <a:t>LaTeX: \left|y_i-\hat{y}_i\right|^2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Classification is a supervised learning method with a categorical response y. Models predict a class or class probabilities given features.</a:t>
            </a:r>
          </a:p>
          <a:p>
            <a:r>
              <a:rPr lang="en-US"/>
              <a:t>Accuracy counts correct predictions; error rate counts incorrect predictions on the same set of n cases. Their sum is 1. Both treat errors equally and can obscure poor minority-class performance when classes are imbalanced.</a:t>
            </a:r>
          </a:p>
          <a:p>
            <a:r>
              <a:rPr lang="en-US"/>
              <a:t>LaTeX: \mathrm{Accuracy}=\frac{\mathrm{Correct\ predictions}}{\mathrm{Total\ predictions}}=1-\mathrm{Error\ rate}</a:t>
            </a:r>
            <a:endParaRPr/>
          </a:p>
          <a:p>
            <a:r>
              <a:t>LaTeX: \</a:t>
            </a:r>
            <a:r>
              <a:rPr lang="en-US"/>
              <a:t>mathrm</a:t>
            </a:r>
            <a:r>
              <a:t>{</a:t>
            </a:r>
            <a:r>
              <a:rPr lang="en-US"/>
              <a:t>Error\ rate</a:t>
            </a:r>
            <a:r>
              <a:t>}=\frac{1}{n}\sum_{i=1}^{n}1\{y_i\ne\hat{y}_i\}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 precision is most important when </a:t>
            </a:r>
            <a:r>
              <a:rPr lang="en-US" b="1"/>
              <a:t>false positives are costly, harmful, or difficult to reverse</a:t>
            </a:r>
            <a:r>
              <a:rPr lang="en-US"/>
              <a:t>, even if some true cases are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97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 recall is most important when </a:t>
            </a:r>
            <a:r>
              <a:rPr lang="en-US" b="1"/>
              <a:t>missing true positives is costly or dangerous</a:t>
            </a:r>
            <a:r>
              <a:rPr lang="en-US"/>
              <a:t>, and false positives can be tolerated or corrected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94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32217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54844" y="2196703"/>
            <a:ext cx="10882313" cy="2321719"/>
          </a:xfrm>
          <a:prstGeom prst="rect">
            <a:avLst/>
          </a:prstGeom>
        </p:spPr>
        <p:txBody>
          <a:bodyPr anchor="ctr"/>
          <a:lstStyle>
            <a:lvl1pPr defTabSz="250022">
              <a:defRPr sz="5906" spc="-59"/>
            </a:lvl1pPr>
          </a:lstStyle>
          <a:p>
            <a:r>
              <a:t>Section Title</a:t>
            </a:r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4493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api/sklearn.metrics.html" TargetMode="Externa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67C21-567A-C926-3F40-F6A0BFFE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Classification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gression vs Classification (Review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31140">
              <a:defRPr sz="5460" spc="-54"/>
            </a:lvl1pPr>
          </a:lstStyle>
          <a:p>
            <a:r>
              <a:rPr sz="4000" dirty="0"/>
              <a:t>Regression vs Classification (Review)</a:t>
            </a:r>
          </a:p>
        </p:txBody>
      </p:sp>
      <p:sp>
        <p:nvSpPr>
          <p:cNvPr id="403" name="Regression and Classification are both supervised learning methods…"/>
          <p:cNvSpPr txBox="1">
            <a:spLocks noGrp="1"/>
          </p:cNvSpPr>
          <p:nvPr>
            <p:ph type="body" idx="1"/>
          </p:nvPr>
        </p:nvSpPr>
        <p:spPr>
          <a:xfrm>
            <a:off x="700634" y="2221992"/>
            <a:ext cx="10691265" cy="3739896"/>
          </a:xfrm>
          <a:prstGeom prst="rect">
            <a:avLst/>
          </a:prstGeom>
        </p:spPr>
        <p:txBody>
          <a:bodyPr/>
          <a:lstStyle/>
          <a:p>
            <a:r>
              <a:rPr dirty="0"/>
              <a:t>Regression and Classification are both supervised learning methods</a:t>
            </a:r>
          </a:p>
          <a:p>
            <a:r>
              <a:rPr dirty="0"/>
              <a:t>Regression</a:t>
            </a:r>
          </a:p>
          <a:p>
            <a:pPr lvl="1"/>
            <a:r>
              <a:rPr dirty="0"/>
              <a:t>The target or response variable (y) is numeric </a:t>
            </a:r>
          </a:p>
          <a:p>
            <a:pPr lvl="1"/>
            <a:r>
              <a:rPr dirty="0"/>
              <a:t>Model predicts the </a:t>
            </a:r>
            <a:r>
              <a:rPr i="1" dirty="0">
                <a:latin typeface="Graphik"/>
                <a:ea typeface="Graphik"/>
                <a:cs typeface="Graphik"/>
                <a:sym typeface="Graphik"/>
              </a:rPr>
              <a:t>value</a:t>
            </a:r>
            <a:r>
              <a:rPr dirty="0"/>
              <a:t> of y</a:t>
            </a:r>
          </a:p>
          <a:p>
            <a:pPr lvl="1"/>
            <a:r>
              <a:rPr dirty="0"/>
              <a:t>Prediction accuracy is measured by how close the predicted value is to the truth</a:t>
            </a:r>
            <a:r>
              <a:rPr lang="en-US" dirty="0"/>
              <a:t>, such as</a:t>
            </a:r>
          </a:p>
          <a:p>
            <a:pPr marL="3200400" lvl="7" indent="0">
              <a:buNone/>
            </a:pPr>
            <a:endParaRPr lang="en-US" dirty="0"/>
          </a:p>
          <a:p>
            <a:pPr marL="3200400" lvl="7" indent="0">
              <a:buNone/>
            </a:pPr>
            <a:r>
              <a:rPr sz="4200" dirty="0"/>
              <a:t>or</a:t>
            </a:r>
            <a:endParaRPr sz="4200" dirty="0">
              <a:solidFill>
                <a:srgbClr val="53585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LaTeX equation" descr="(y_i-\hat{y}_i)^2"/>
              <p:cNvSpPr txBox="1"/>
              <p:nvPr/>
            </p:nvSpPr>
            <p:spPr>
              <a:xfrm>
                <a:off x="1898230" y="4502127"/>
                <a:ext cx="1919147" cy="6527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sz="3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sz="3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3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LaTeX equation" descr="(y_i-\hat{y}_i)^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230" y="4502127"/>
                <a:ext cx="1919147" cy="65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LaTeX equation" descr="\left|y_i-\hat{y}_i\right|^2"/>
              <p:cNvSpPr txBox="1"/>
              <p:nvPr/>
            </p:nvSpPr>
            <p:spPr>
              <a:xfrm>
                <a:off x="5014973" y="4461835"/>
                <a:ext cx="1919147" cy="693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sz="3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sz="3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3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LaTeX equation" descr="\left|y_i-\hat{y}_i\right|^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973" y="4461835"/>
                <a:ext cx="1919147" cy="6930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gression vs Classification (Review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31140">
              <a:defRPr sz="5460" spc="-54"/>
            </a:lvl1pPr>
          </a:lstStyle>
          <a:p>
            <a:r>
              <a:rPr lang="en-US" sz="4000"/>
              <a:t>Accuracy and error rate</a:t>
            </a:r>
            <a:endParaRPr sz="4000" dirty="0"/>
          </a:p>
        </p:txBody>
      </p:sp>
      <p:sp>
        <p:nvSpPr>
          <p:cNvPr id="407" name="Regression and Classification are both supervised learning methods…"/>
          <p:cNvSpPr txBox="1">
            <a:spLocks noGrp="1"/>
          </p:cNvSpPr>
          <p:nvPr>
            <p:ph type="body" idx="1"/>
          </p:nvPr>
        </p:nvSpPr>
        <p:spPr>
          <a:xfrm>
            <a:off x="700430" y="1847088"/>
            <a:ext cx="10691164" cy="548640"/>
          </a:xfrm>
          <a:prstGeom prst="rect">
            <a:avLst/>
          </a:prstGeom>
        </p:spPr>
        <p:txBody>
          <a:bodyPr wrap="square"/>
          <a:lstStyle/>
          <a:p>
            <a:r>
              <a:rPr dirty="0"/>
              <a:t>Classification predicts </a:t>
            </a:r>
            <a:r>
              <a:rPr lang="en-US"/>
              <a:t>categorical outcomes </a:t>
            </a:r>
            <a:r>
              <a:rPr dirty="0"/>
              <a:t>or class</a:t>
            </a:r>
            <a:r>
              <a:rPr lang="en-US"/>
              <a:t> probabilities.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LaTeX equation" descr="\mathbf{ErrorRate}=\frac{1}{n}\sum_{i=1}^{n}1\{y_i\ne\hat{y}_i\}"/>
              <p:cNvSpPr txBox="1"/>
              <p:nvPr/>
            </p:nvSpPr>
            <p:spPr>
              <a:xfrm>
                <a:off x="2237536" y="2304150"/>
                <a:ext cx="7616952" cy="109222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2600">
                          <a:solidFill>
                            <a:srgbClr val="000000"/>
                          </a:solidFill>
                          <a:latin typeface="Cambria Math"/>
                        </a:rPr>
                        <m:t>𝐄𝐫𝐫𝐨𝐫𝐑𝐚𝐭𝐞</m:t>
                      </m:r>
                      <m:r>
                        <a:rPr lang="ar-AE" sz="260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ar-AE" sz="2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6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ar-AE" sz="26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6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2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ar-AE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sz="26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26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26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LaTeX equation" descr="\mathbf{ErrorRate}=\frac{1}{n}\sum_{i=1}^{n}1\{y_i\ne\hat{y}_i\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536" y="2304150"/>
                <a:ext cx="7616952" cy="10922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Accuracy and error rate equation"/>
              <p:cNvSpPr txBox="1"/>
              <p:nvPr/>
            </p:nvSpPr>
            <p:spPr>
              <a:xfrm>
                <a:off x="967434" y="3617076"/>
                <a:ext cx="10424160" cy="85901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7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sz="27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7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7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Correct predictions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7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Total predictions</m:t>
                          </m:r>
                        </m:den>
                      </m:f>
                      <m:r>
                        <m:rPr>
                          <m:nor/>
                        </m:rPr>
                        <a:rPr lang="ar-AE" sz="27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1 − </m:t>
                      </m:r>
                      <m:r>
                        <m:rPr>
                          <m:nor/>
                        </m:rPr>
                        <a:rPr lang="en-US" sz="27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Error rate</m:t>
                      </m:r>
                    </m:oMath>
                  </m:oMathPara>
                </a14:m>
                <a:endParaRPr lang="en-US" sz="2672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3" name="Accuracy and error rate 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34" y="3617076"/>
                <a:ext cx="10424160" cy="8590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Metric limitations"/>
          <p:cNvSpPr txBox="1">
            <a:spLocks noGrp="1"/>
          </p:cNvSpPr>
          <p:nvPr>
            <p:ph type="body" idx="1"/>
          </p:nvPr>
        </p:nvSpPr>
        <p:spPr>
          <a:xfrm>
            <a:off x="700430" y="4617720"/>
            <a:ext cx="10691164" cy="1234440"/>
          </a:xfrm>
          <a:prstGeom prst="rect">
            <a:avLst/>
          </a:prstGeom>
        </p:spPr>
        <p:txBody>
          <a:bodyPr wrap="square"/>
          <a:lstStyle/>
          <a:p>
            <a:r>
              <a:t>Both metrics treat all errors equally, regardless of their cost.</a:t>
            </a:r>
          </a:p>
          <a:p>
            <a:r>
              <a:t>With class imbalance, predicting only the majority class can yield high accuracy.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onfusion Matri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Confusion Matrix</a:t>
            </a:r>
          </a:p>
        </p:txBody>
      </p:sp>
      <p:sp>
        <p:nvSpPr>
          <p:cNvPr id="420" name="True Positives TP"/>
          <p:cNvSpPr/>
          <p:nvPr/>
        </p:nvSpPr>
        <p:spPr>
          <a:xfrm>
            <a:off x="4399331" y="2777677"/>
            <a:ext cx="2121289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21" name="False Negatives FN"/>
          <p:cNvSpPr/>
          <p:nvPr/>
        </p:nvSpPr>
        <p:spPr>
          <a:xfrm>
            <a:off x="6578174" y="2777677"/>
            <a:ext cx="2121290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FN</a:t>
            </a:r>
          </a:p>
        </p:txBody>
      </p:sp>
      <p:sp>
        <p:nvSpPr>
          <p:cNvPr id="422" name="False Positives FP"/>
          <p:cNvSpPr/>
          <p:nvPr/>
        </p:nvSpPr>
        <p:spPr>
          <a:xfrm>
            <a:off x="4399331" y="4340372"/>
            <a:ext cx="2121289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FP</a:t>
            </a:r>
          </a:p>
        </p:txBody>
      </p:sp>
      <p:sp>
        <p:nvSpPr>
          <p:cNvPr id="423" name="True Negatives TN"/>
          <p:cNvSpPr/>
          <p:nvPr/>
        </p:nvSpPr>
        <p:spPr>
          <a:xfrm>
            <a:off x="6578174" y="4340372"/>
            <a:ext cx="2121290" cy="1509118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TN</a:t>
            </a:r>
          </a:p>
        </p:txBody>
      </p:sp>
      <p:sp>
        <p:nvSpPr>
          <p:cNvPr id="424" name="Predicted Output"/>
          <p:cNvSpPr txBox="1"/>
          <p:nvPr/>
        </p:nvSpPr>
        <p:spPr>
          <a:xfrm>
            <a:off x="5425547" y="1964508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25" name="True Values"/>
          <p:cNvSpPr txBox="1"/>
          <p:nvPr/>
        </p:nvSpPr>
        <p:spPr>
          <a:xfrm>
            <a:off x="2089912" y="3993780"/>
            <a:ext cx="1920399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p:sp>
        <p:nvSpPr>
          <p:cNvPr id="426" name="Positive (PP)"/>
          <p:cNvSpPr txBox="1"/>
          <p:nvPr/>
        </p:nvSpPr>
        <p:spPr>
          <a:xfrm>
            <a:off x="4668359" y="2391797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27" name="Negative (PN)"/>
          <p:cNvSpPr txBox="1"/>
          <p:nvPr/>
        </p:nvSpPr>
        <p:spPr>
          <a:xfrm>
            <a:off x="6780229" y="2391797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428" name="Positive (P)"/>
          <p:cNvSpPr txBox="1"/>
          <p:nvPr/>
        </p:nvSpPr>
        <p:spPr>
          <a:xfrm rot="16200000">
            <a:off x="3422113" y="3333879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29" name="Negative (N)"/>
          <p:cNvSpPr txBox="1"/>
          <p:nvPr/>
        </p:nvSpPr>
        <p:spPr>
          <a:xfrm rot="16200000">
            <a:off x="3353984" y="4896575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reci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Precision</a:t>
            </a:r>
          </a:p>
        </p:txBody>
      </p:sp>
      <p:sp>
        <p:nvSpPr>
          <p:cNvPr id="433" name="True Positives TP"/>
          <p:cNvSpPr/>
          <p:nvPr/>
        </p:nvSpPr>
        <p:spPr>
          <a:xfrm>
            <a:off x="3516018" y="2232422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34" name="False Negatives FN"/>
          <p:cNvSpPr/>
          <p:nvPr/>
        </p:nvSpPr>
        <p:spPr>
          <a:xfrm>
            <a:off x="5694862" y="2232422"/>
            <a:ext cx="2121289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/>
              <a:t>FN</a:t>
            </a:r>
          </a:p>
        </p:txBody>
      </p:sp>
      <p:sp>
        <p:nvSpPr>
          <p:cNvPr id="435" name="False Positives FP"/>
          <p:cNvSpPr/>
          <p:nvPr/>
        </p:nvSpPr>
        <p:spPr>
          <a:xfrm>
            <a:off x="3516018" y="3795117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FP</a:t>
            </a:r>
          </a:p>
        </p:txBody>
      </p:sp>
      <p:sp>
        <p:nvSpPr>
          <p:cNvPr id="436" name="True Negatives TN"/>
          <p:cNvSpPr/>
          <p:nvPr/>
        </p:nvSpPr>
        <p:spPr>
          <a:xfrm>
            <a:off x="5695404" y="3795117"/>
            <a:ext cx="2121290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/>
              <a:t>TN</a:t>
            </a:r>
          </a:p>
        </p:txBody>
      </p:sp>
      <p:sp>
        <p:nvSpPr>
          <p:cNvPr id="437" name="Predicted Output"/>
          <p:cNvSpPr txBox="1"/>
          <p:nvPr/>
        </p:nvSpPr>
        <p:spPr>
          <a:xfrm>
            <a:off x="4465898" y="1266305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38" name="True Values"/>
          <p:cNvSpPr txBox="1"/>
          <p:nvPr/>
        </p:nvSpPr>
        <p:spPr>
          <a:xfrm>
            <a:off x="1703541" y="3242924"/>
            <a:ext cx="1130702" cy="8945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9" name="equation.pdf"/>
              <p:cNvSpPr txBox="1"/>
              <p:nvPr/>
            </p:nvSpPr>
            <p:spPr>
              <a:xfrm>
                <a:off x="4185630" y="5357812"/>
                <a:ext cx="2922018" cy="6948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2391">
                  <a:solidFill>
                    <a:srgbClr val="4F8F00"/>
                  </a:solidFill>
                </a:endParaRPr>
              </a:p>
            </p:txBody>
          </p:sp>
        </mc:Choice>
        <mc:Fallback>
          <p:sp>
            <p:nvSpPr>
              <p:cNvPr id="43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630" y="5357812"/>
                <a:ext cx="2922018" cy="6948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Of those that are predicted to be positive, the percent that are actually positive…"/>
          <p:cNvSpPr txBox="1"/>
          <p:nvPr/>
        </p:nvSpPr>
        <p:spPr>
          <a:xfrm>
            <a:off x="7960507" y="3028966"/>
            <a:ext cx="2683015" cy="18253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Of those that are </a:t>
            </a:r>
            <a:r>
              <a:rPr sz="1266" b="1"/>
              <a:t>predicted to be positive</a:t>
            </a:r>
            <a:r>
              <a:rPr sz="1266"/>
              <a:t>, the percent that are actually positive</a:t>
            </a:r>
            <a:endParaRPr lang="en-US"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Describes how good the model is at predicting the positive class </a:t>
            </a:r>
            <a:endParaRPr lang="en-US"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Also call </a:t>
            </a:r>
            <a:r>
              <a:rPr sz="1266" b="1">
                <a:latin typeface="Helvetica Neue"/>
                <a:ea typeface="Helvetica Neue"/>
                <a:cs typeface="Helvetica Neue"/>
                <a:sym typeface="Helvetica Neue"/>
              </a:rPr>
              <a:t>positive predictive value</a:t>
            </a:r>
          </a:p>
        </p:txBody>
      </p:sp>
      <p:sp>
        <p:nvSpPr>
          <p:cNvPr id="441" name="Positive (P)"/>
          <p:cNvSpPr txBox="1"/>
          <p:nvPr/>
        </p:nvSpPr>
        <p:spPr>
          <a:xfrm rot="16200000">
            <a:off x="2538257" y="2698813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42" name="Negative (N)"/>
          <p:cNvSpPr txBox="1"/>
          <p:nvPr/>
        </p:nvSpPr>
        <p:spPr>
          <a:xfrm rot="16200000">
            <a:off x="2470127" y="4351320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  <p:sp>
        <p:nvSpPr>
          <p:cNvPr id="443" name="Positive (PP)"/>
          <p:cNvSpPr txBox="1"/>
          <p:nvPr/>
        </p:nvSpPr>
        <p:spPr>
          <a:xfrm>
            <a:off x="3717132" y="1787786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44" name="Negative (PN)"/>
          <p:cNvSpPr txBox="1"/>
          <p:nvPr/>
        </p:nvSpPr>
        <p:spPr>
          <a:xfrm>
            <a:off x="5829002" y="1787786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AC98D-0566-D212-790E-C48EA0A4B96C}"/>
              </a:ext>
            </a:extLst>
          </p:cNvPr>
          <p:cNvSpPr txBox="1"/>
          <p:nvPr/>
        </p:nvSpPr>
        <p:spPr>
          <a:xfrm>
            <a:off x="574480" y="6285881"/>
            <a:ext cx="10943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Under what conditions is high </a:t>
            </a:r>
            <a:r>
              <a:rPr lang="en-US" b="1"/>
              <a:t>precision</a:t>
            </a:r>
            <a:r>
              <a:rPr lang="en-US"/>
              <a:t> the most appropriate performance objective for a classification model?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a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Recall</a:t>
            </a:r>
          </a:p>
        </p:txBody>
      </p:sp>
      <p:sp>
        <p:nvSpPr>
          <p:cNvPr id="448" name="True Positives TP"/>
          <p:cNvSpPr/>
          <p:nvPr/>
        </p:nvSpPr>
        <p:spPr>
          <a:xfrm>
            <a:off x="3516018" y="2232422"/>
            <a:ext cx="2121289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Positives</a:t>
            </a:r>
            <a:br>
              <a:rPr sz="2109"/>
            </a:br>
            <a:r>
              <a:rPr sz="2109">
                <a:solidFill>
                  <a:srgbClr val="00FA92"/>
                </a:solidFill>
              </a:rPr>
              <a:t>TP</a:t>
            </a:r>
          </a:p>
        </p:txBody>
      </p:sp>
      <p:sp>
        <p:nvSpPr>
          <p:cNvPr id="449" name="False Positives FP"/>
          <p:cNvSpPr/>
          <p:nvPr/>
        </p:nvSpPr>
        <p:spPr>
          <a:xfrm>
            <a:off x="3498159" y="3792536"/>
            <a:ext cx="2121289" cy="1509118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Positives</a:t>
            </a:r>
            <a:br>
              <a:rPr sz="2109"/>
            </a:br>
            <a:r>
              <a:rPr sz="2109"/>
              <a:t>FP</a:t>
            </a:r>
          </a:p>
        </p:txBody>
      </p:sp>
      <p:sp>
        <p:nvSpPr>
          <p:cNvPr id="450" name="False Negatives FN"/>
          <p:cNvSpPr/>
          <p:nvPr/>
        </p:nvSpPr>
        <p:spPr>
          <a:xfrm>
            <a:off x="5695404" y="2232422"/>
            <a:ext cx="2121290" cy="1509117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80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False Negatives</a:t>
            </a:r>
            <a:br>
              <a:rPr sz="2109"/>
            </a:br>
            <a:r>
              <a:rPr sz="2109">
                <a:solidFill>
                  <a:srgbClr val="FF7E79"/>
                </a:solidFill>
              </a:rPr>
              <a:t>FN</a:t>
            </a:r>
          </a:p>
        </p:txBody>
      </p:sp>
      <p:sp>
        <p:nvSpPr>
          <p:cNvPr id="451" name="True Negatives TN"/>
          <p:cNvSpPr/>
          <p:nvPr/>
        </p:nvSpPr>
        <p:spPr>
          <a:xfrm>
            <a:off x="5695404" y="3795117"/>
            <a:ext cx="2121290" cy="1509117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580409"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109"/>
              <a:t>True Negatives</a:t>
            </a:r>
            <a:br>
              <a:rPr sz="2109"/>
            </a:br>
            <a:r>
              <a:rPr sz="2109"/>
              <a:t>TN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2" name="equation.pdf"/>
              <p:cNvSpPr txBox="1"/>
              <p:nvPr/>
            </p:nvSpPr>
            <p:spPr>
              <a:xfrm>
                <a:off x="4208141" y="5438337"/>
                <a:ext cx="2506520" cy="6948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sz="2391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391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2391">
                  <a:solidFill>
                    <a:srgbClr val="4F8F00"/>
                  </a:solidFill>
                </a:endParaRPr>
              </a:p>
            </p:txBody>
          </p:sp>
        </mc:Choice>
        <mc:Fallback>
          <p:sp>
            <p:nvSpPr>
              <p:cNvPr id="452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141" y="5438337"/>
                <a:ext cx="2506520" cy="6948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3" name="Of those that are actually positive, the percent that are predicted to be positive…"/>
          <p:cNvSpPr txBox="1"/>
          <p:nvPr/>
        </p:nvSpPr>
        <p:spPr>
          <a:xfrm>
            <a:off x="7964088" y="2777541"/>
            <a:ext cx="2683014" cy="18253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Of those that are </a:t>
            </a:r>
            <a:r>
              <a:rPr sz="1266" b="1"/>
              <a:t>actually positive</a:t>
            </a:r>
            <a:r>
              <a:rPr sz="1266"/>
              <a:t>, the percent that are predicted to be positive</a:t>
            </a:r>
            <a:endParaRPr lang="en-US"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The proportion of positives that are correctly identified </a:t>
            </a:r>
            <a:endParaRPr lang="en-US"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66"/>
          </a:p>
          <a:p>
            <a:pPr marL="160729" indent="-160729">
              <a:buSzPct val="100000"/>
              <a:buChar char="•"/>
              <a:defRPr>
                <a:solidFill>
                  <a:srgbClr val="0091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266"/>
              <a:t>Also called </a:t>
            </a:r>
            <a:r>
              <a:rPr sz="1266" b="1">
                <a:latin typeface="Helvetica Neue"/>
                <a:ea typeface="Helvetica Neue"/>
                <a:cs typeface="Helvetica Neue"/>
                <a:sym typeface="Helvetica Neue"/>
              </a:rPr>
              <a:t>sensitivity</a:t>
            </a:r>
            <a:r>
              <a:rPr sz="1266"/>
              <a:t> or </a:t>
            </a:r>
            <a:br>
              <a:rPr sz="1266"/>
            </a:br>
            <a:r>
              <a:rPr sz="1266" b="1">
                <a:latin typeface="Helvetica Neue"/>
                <a:ea typeface="Helvetica Neue"/>
                <a:cs typeface="Helvetica Neue"/>
                <a:sym typeface="Helvetica Neue"/>
              </a:rPr>
              <a:t>true positive rate</a:t>
            </a:r>
          </a:p>
        </p:txBody>
      </p:sp>
      <p:sp>
        <p:nvSpPr>
          <p:cNvPr id="454" name="Predicted Output"/>
          <p:cNvSpPr txBox="1"/>
          <p:nvPr/>
        </p:nvSpPr>
        <p:spPr>
          <a:xfrm>
            <a:off x="4465898" y="1266305"/>
            <a:ext cx="2641750" cy="4833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Predicted Output</a:t>
            </a:r>
          </a:p>
        </p:txBody>
      </p:sp>
      <p:sp>
        <p:nvSpPr>
          <p:cNvPr id="455" name="True Values"/>
          <p:cNvSpPr txBox="1"/>
          <p:nvPr/>
        </p:nvSpPr>
        <p:spPr>
          <a:xfrm>
            <a:off x="1703541" y="3242924"/>
            <a:ext cx="1130702" cy="89454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8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672"/>
              <a:t>True Values</a:t>
            </a:r>
          </a:p>
        </p:txBody>
      </p:sp>
      <p:sp>
        <p:nvSpPr>
          <p:cNvPr id="456" name="Positive (P)"/>
          <p:cNvSpPr txBox="1"/>
          <p:nvPr/>
        </p:nvSpPr>
        <p:spPr>
          <a:xfrm rot="16200000">
            <a:off x="2538257" y="2698813"/>
            <a:ext cx="145392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(P)</a:t>
            </a:r>
          </a:p>
        </p:txBody>
      </p:sp>
      <p:sp>
        <p:nvSpPr>
          <p:cNvPr id="457" name="Negative (N)"/>
          <p:cNvSpPr txBox="1"/>
          <p:nvPr/>
        </p:nvSpPr>
        <p:spPr>
          <a:xfrm rot="16200000">
            <a:off x="2470127" y="4351320"/>
            <a:ext cx="1590180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(N)</a:t>
            </a:r>
          </a:p>
        </p:txBody>
      </p:sp>
      <p:sp>
        <p:nvSpPr>
          <p:cNvPr id="458" name="Positive (PP)"/>
          <p:cNvSpPr txBox="1"/>
          <p:nvPr/>
        </p:nvSpPr>
        <p:spPr>
          <a:xfrm>
            <a:off x="3717132" y="1787786"/>
            <a:ext cx="1635064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Positive (PP)</a:t>
            </a:r>
          </a:p>
        </p:txBody>
      </p:sp>
      <p:sp>
        <p:nvSpPr>
          <p:cNvPr id="459" name="Negative (PN)"/>
          <p:cNvSpPr txBox="1"/>
          <p:nvPr/>
        </p:nvSpPr>
        <p:spPr>
          <a:xfrm>
            <a:off x="5829002" y="1787786"/>
            <a:ext cx="1771319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Negative (PN)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9D6DB-E281-10E7-D80E-D8A607D5E640}"/>
              </a:ext>
            </a:extLst>
          </p:cNvPr>
          <p:cNvSpPr txBox="1"/>
          <p:nvPr/>
        </p:nvSpPr>
        <p:spPr>
          <a:xfrm>
            <a:off x="574480" y="6285881"/>
            <a:ext cx="10592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Under what conditions is high </a:t>
            </a:r>
            <a:r>
              <a:rPr lang="en-US" b="1"/>
              <a:t>recall</a:t>
            </a:r>
            <a:r>
              <a:rPr lang="en-US"/>
              <a:t> the most appropriate performance objective for a classification model?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F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F1</a:t>
            </a:r>
            <a:r>
              <a:rPr lang="en-US" dirty="0"/>
              <a:t> Score</a:t>
            </a:r>
            <a:endParaRPr dirty="0"/>
          </a:p>
        </p:txBody>
      </p:sp>
      <p:sp>
        <p:nvSpPr>
          <p:cNvPr id="463" name="The precision &amp; recall are often combined into one metric called F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precision &amp; recall are often combined into one metric called F</a:t>
            </a:r>
            <a:r>
              <a:rPr baseline="-5999" dirty="0"/>
              <a:t>1</a:t>
            </a:r>
          </a:p>
          <a:p>
            <a:r>
              <a:rPr dirty="0"/>
              <a:t>F</a:t>
            </a:r>
            <a:r>
              <a:rPr baseline="-5999" dirty="0"/>
              <a:t>1</a:t>
            </a:r>
            <a:r>
              <a:rPr dirty="0"/>
              <a:t> is the </a:t>
            </a:r>
            <a:r>
              <a:rPr b="1" dirty="0"/>
              <a:t>harmonic mean</a:t>
            </a:r>
            <a:r>
              <a:rPr dirty="0"/>
              <a:t> of the precision and 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equation.pdf"/>
              <p:cNvSpPr txBox="1"/>
              <p:nvPr/>
            </p:nvSpPr>
            <p:spPr>
              <a:xfrm>
                <a:off x="1630186" y="3612478"/>
                <a:ext cx="8832161" cy="14422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164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</m:den>
                          </m:f>
                          <m: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den>
                      </m:f>
                      <m:r>
                        <a:rPr sz="3164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sz="3164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num>
                            <m:den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sz="3164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3164">
                  <a:solidFill>
                    <a:srgbClr val="4F8F00"/>
                  </a:solidFill>
                </a:endParaRPr>
              </a:p>
            </p:txBody>
          </p:sp>
        </mc:Choice>
        <mc:Fallback xmlns="">
          <p:sp>
            <p:nvSpPr>
              <p:cNvPr id="464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86" y="3612478"/>
                <a:ext cx="8832161" cy="1442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5" name="The  F1 score favors classifiers with similar precision and recall scores"/>
          <p:cNvSpPr txBox="1"/>
          <p:nvPr/>
        </p:nvSpPr>
        <p:spPr>
          <a:xfrm>
            <a:off x="1952587" y="5054732"/>
            <a:ext cx="7804547" cy="146460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normAutofit/>
          </a:bodyPr>
          <a:lstStyle/>
          <a:p>
            <a:pPr marL="223234" indent="-223234">
              <a:buClr>
                <a:srgbClr val="009193"/>
              </a:buClr>
              <a:buSzPct val="100000"/>
              <a:buChar char="‣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000"/>
              <a:t>The  F</a:t>
            </a:r>
            <a:r>
              <a:rPr sz="2000" baseline="-5999"/>
              <a:t>1 </a:t>
            </a:r>
            <a:r>
              <a:rPr sz="2000"/>
              <a:t>score favors classifiers with similar precision and recall scores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F𝛽 Sco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</a:t>
            </a:r>
            <a:r>
              <a:rPr baseline="-5999" dirty="0"/>
              <a:t>𝛽</a:t>
            </a:r>
            <a:r>
              <a:rPr dirty="0"/>
              <a:t> Score</a:t>
            </a:r>
          </a:p>
        </p:txBody>
      </p:sp>
      <p:sp>
        <p:nvSpPr>
          <p:cNvPr id="469" name="The F1 score can be generalized to give more weight to either the precision or recall"/>
          <p:cNvSpPr txBox="1">
            <a:spLocks noGrp="1"/>
          </p:cNvSpPr>
          <p:nvPr>
            <p:ph type="body" idx="1"/>
          </p:nvPr>
        </p:nvSpPr>
        <p:spPr>
          <a:xfrm>
            <a:off x="700634" y="1852763"/>
            <a:ext cx="10691265" cy="3739896"/>
          </a:xfrm>
          <a:prstGeom prst="rect">
            <a:avLst/>
          </a:prstGeom>
        </p:spPr>
        <p:txBody>
          <a:bodyPr/>
          <a:lstStyle/>
          <a:p>
            <a:r>
              <a:rPr dirty="0"/>
              <a:t>The F</a:t>
            </a:r>
            <a:r>
              <a:rPr baseline="-5999" dirty="0"/>
              <a:t>1</a:t>
            </a:r>
            <a:r>
              <a:rPr dirty="0"/>
              <a:t> score can be generalized to give more weight to either the precision or recall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equation.pdf"/>
              <p:cNvSpPr txBox="1"/>
              <p:nvPr/>
            </p:nvSpPr>
            <p:spPr>
              <a:xfrm>
                <a:off x="2421234" y="2912755"/>
                <a:ext cx="6266331" cy="923843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sz="2672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=(1+</m:t>
                      </m:r>
                      <m:sSup>
                        <m:sSupPr>
                          <m:ctrlP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672" i="1">
                          <a:solidFill>
                            <a:srgbClr val="4E8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sz="2672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num>
                            <m:den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sz="2672" i="1">
                                      <a:solidFill>
                                        <a:srgbClr val="4E8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𝑝𝑟𝑒𝑐𝑖𝑠𝑖𝑜𝑛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sz="2672" i="1">
                                  <a:solidFill>
                                    <a:srgbClr val="4E8F00"/>
                                  </a:solidFill>
                                  <a:latin typeface="Cambria Math" panose="02040503050406030204" pitchFamily="18" charset="0"/>
                                </a:rPr>
                                <m:t>𝑟𝑒𝑐𝑎𝑙𝑙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2672" dirty="0">
                  <a:solidFill>
                    <a:srgbClr val="4F8F00"/>
                  </a:solidFill>
                </a:endParaRPr>
              </a:p>
            </p:txBody>
          </p:sp>
        </mc:Choice>
        <mc:Fallback xmlns="">
          <p:sp>
            <p:nvSpPr>
              <p:cNvPr id="470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234" y="2912755"/>
                <a:ext cx="6266331" cy="923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0 &lt; 𝛽 &lt; 1 ⟹ More weight given to the precision       𝛽 &gt; 1 ⟹ More weight given to the recall…"/>
          <p:cNvSpPr txBox="1"/>
          <p:nvPr/>
        </p:nvSpPr>
        <p:spPr>
          <a:xfrm>
            <a:off x="1711281" y="4706841"/>
            <a:ext cx="8669969" cy="117589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3400">
                <a:solidFill>
                  <a:srgbClr val="42424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2391"/>
              <a:t>0 &lt; 𝛽 &lt; 1 </a:t>
            </a:r>
            <a:r>
              <a:rPr sz="2391">
                <a:latin typeface="Gill Sans"/>
                <a:ea typeface="Gill Sans"/>
                <a:cs typeface="Gill Sans"/>
                <a:sym typeface="Gill Sans"/>
              </a:rPr>
              <a:t>⟹ </a:t>
            </a:r>
            <a:r>
              <a:rPr sz="2391"/>
              <a:t>More weight given to the precision</a:t>
            </a:r>
            <a:br>
              <a:rPr sz="2391"/>
            </a:br>
            <a:r>
              <a:rPr sz="2391"/>
              <a:t>      𝛽 &gt; 1 </a:t>
            </a:r>
            <a:r>
              <a:rPr sz="2391">
                <a:latin typeface="Gill Sans"/>
                <a:ea typeface="Gill Sans"/>
                <a:cs typeface="Gill Sans"/>
                <a:sym typeface="Gill Sans"/>
              </a:rPr>
              <a:t>⟹</a:t>
            </a:r>
            <a:r>
              <a:rPr sz="2391"/>
              <a:t> More weight given to the recall</a:t>
            </a:r>
          </a:p>
          <a:p>
            <a:pPr>
              <a:defRPr sz="3400">
                <a:solidFill>
                  <a:srgbClr val="42424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2391"/>
              <a:t>      𝛽 = 1 </a:t>
            </a:r>
            <a:r>
              <a:rPr sz="2391">
                <a:latin typeface="Gill Sans"/>
                <a:ea typeface="Gill Sans"/>
                <a:cs typeface="Gill Sans"/>
                <a:sym typeface="Gill Sans"/>
              </a:rPr>
              <a:t>⟹ </a:t>
            </a:r>
            <a:r>
              <a:rPr sz="2250"/>
              <a:t>Equal weight given to precision and recall (F</a:t>
            </a:r>
            <a:r>
              <a:rPr sz="2250" baseline="-5999"/>
              <a:t>1</a:t>
            </a:r>
            <a:r>
              <a:rPr sz="2250"/>
              <a:t>)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Other Measures"/>
          <p:cNvSpPr txBox="1">
            <a:spLocks noGrp="1"/>
          </p:cNvSpPr>
          <p:nvPr>
            <p:ph type="title"/>
          </p:nvPr>
        </p:nvSpPr>
        <p:spPr>
          <a:xfrm>
            <a:off x="855238" y="77288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dirty="0"/>
              <a:t>Other Measures</a:t>
            </a:r>
          </a:p>
        </p:txBody>
      </p:sp>
      <p:sp>
        <p:nvSpPr>
          <p:cNvPr id="474" name="TP"/>
          <p:cNvSpPr/>
          <p:nvPr/>
        </p:nvSpPr>
        <p:spPr>
          <a:xfrm>
            <a:off x="1791136" y="2084070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TP</a:t>
            </a:r>
          </a:p>
        </p:txBody>
      </p:sp>
      <p:sp>
        <p:nvSpPr>
          <p:cNvPr id="475" name="FN"/>
          <p:cNvSpPr/>
          <p:nvPr/>
        </p:nvSpPr>
        <p:spPr>
          <a:xfrm>
            <a:off x="2447289" y="2084070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FN</a:t>
            </a:r>
          </a:p>
        </p:txBody>
      </p:sp>
      <p:sp>
        <p:nvSpPr>
          <p:cNvPr id="476" name="FP"/>
          <p:cNvSpPr/>
          <p:nvPr/>
        </p:nvSpPr>
        <p:spPr>
          <a:xfrm>
            <a:off x="1791136" y="273593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FP</a:t>
            </a:r>
          </a:p>
        </p:txBody>
      </p:sp>
      <p:sp>
        <p:nvSpPr>
          <p:cNvPr id="477" name="TN"/>
          <p:cNvSpPr/>
          <p:nvPr/>
        </p:nvSpPr>
        <p:spPr>
          <a:xfrm>
            <a:off x="2447289" y="273593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TN</a:t>
            </a:r>
          </a:p>
        </p:txBody>
      </p:sp>
      <p:sp>
        <p:nvSpPr>
          <p:cNvPr id="478" name="Recall / Sensitivity / True Positive Rate"/>
          <p:cNvSpPr txBox="1"/>
          <p:nvPr/>
        </p:nvSpPr>
        <p:spPr>
          <a:xfrm>
            <a:off x="1449699" y="1080258"/>
            <a:ext cx="2053080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200">
                <a:solidFill>
                  <a:srgbClr val="94175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1600"/>
              <a:t>Recall / Sensitivity / True Positive Rate</a:t>
            </a:r>
          </a:p>
        </p:txBody>
      </p:sp>
      <p:sp>
        <p:nvSpPr>
          <p:cNvPr id="479" name="Precision /  Positive Predictive Rate"/>
          <p:cNvSpPr txBox="1"/>
          <p:nvPr/>
        </p:nvSpPr>
        <p:spPr>
          <a:xfrm>
            <a:off x="6780751" y="1083471"/>
            <a:ext cx="2710891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/>
              <a:t>Precision / </a:t>
            </a:r>
            <a:br>
              <a:rPr sz="1600"/>
            </a:br>
            <a:r>
              <a:rPr sz="1600"/>
              <a:t>Positive Predictive Rate </a:t>
            </a:r>
          </a:p>
        </p:txBody>
      </p:sp>
      <p:sp>
        <p:nvSpPr>
          <p:cNvPr id="480" name="Specificity /  True Negative Rate"/>
          <p:cNvSpPr txBox="1"/>
          <p:nvPr/>
        </p:nvSpPr>
        <p:spPr>
          <a:xfrm>
            <a:off x="6871756" y="3757943"/>
            <a:ext cx="1843080" cy="564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100">
                <a:solidFill>
                  <a:srgbClr val="FF9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/>
              <a:t>Specificity / </a:t>
            </a:r>
            <a:br>
              <a:rPr sz="1600"/>
            </a:br>
            <a:r>
              <a:rPr sz="1600"/>
              <a:t>True Negative Rate</a:t>
            </a:r>
          </a:p>
        </p:txBody>
      </p:sp>
      <p:sp>
        <p:nvSpPr>
          <p:cNvPr id="481" name="FN"/>
          <p:cNvSpPr/>
          <p:nvPr/>
        </p:nvSpPr>
        <p:spPr>
          <a:xfrm>
            <a:off x="2478481" y="4934059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FN</a:t>
            </a:r>
          </a:p>
        </p:txBody>
      </p:sp>
      <p:sp>
        <p:nvSpPr>
          <p:cNvPr id="482" name="TP"/>
          <p:cNvSpPr/>
          <p:nvPr/>
        </p:nvSpPr>
        <p:spPr>
          <a:xfrm>
            <a:off x="7091571" y="1992352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TP</a:t>
            </a:r>
          </a:p>
        </p:txBody>
      </p:sp>
      <p:sp>
        <p:nvSpPr>
          <p:cNvPr id="483" name="FP"/>
          <p:cNvSpPr/>
          <p:nvPr/>
        </p:nvSpPr>
        <p:spPr>
          <a:xfrm>
            <a:off x="7091571" y="2644219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FP</a:t>
            </a:r>
          </a:p>
        </p:txBody>
      </p:sp>
      <p:sp>
        <p:nvSpPr>
          <p:cNvPr id="484" name="FP"/>
          <p:cNvSpPr/>
          <p:nvPr/>
        </p:nvSpPr>
        <p:spPr>
          <a:xfrm>
            <a:off x="7049003" y="5557611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solidFill>
                  <a:srgbClr val="FF7E7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FP</a:t>
            </a:r>
          </a:p>
        </p:txBody>
      </p:sp>
      <p:sp>
        <p:nvSpPr>
          <p:cNvPr id="485" name="TN"/>
          <p:cNvSpPr/>
          <p:nvPr/>
        </p:nvSpPr>
        <p:spPr>
          <a:xfrm>
            <a:off x="7705156" y="5557611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TN</a:t>
            </a:r>
          </a:p>
        </p:txBody>
      </p:sp>
      <p:sp>
        <p:nvSpPr>
          <p:cNvPr id="486" name="Negative Predictive Value"/>
          <p:cNvSpPr txBox="1"/>
          <p:nvPr/>
        </p:nvSpPr>
        <p:spPr>
          <a:xfrm>
            <a:off x="1271033" y="4075838"/>
            <a:ext cx="3164389" cy="3183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1600"/>
              <a:t>Negative Predictive Value </a:t>
            </a:r>
          </a:p>
        </p:txBody>
      </p:sp>
      <p:sp>
        <p:nvSpPr>
          <p:cNvPr id="487" name="TN"/>
          <p:cNvSpPr/>
          <p:nvPr/>
        </p:nvSpPr>
        <p:spPr>
          <a:xfrm>
            <a:off x="2478481" y="5584397"/>
            <a:ext cx="625079" cy="625079"/>
          </a:xfrm>
          <a:prstGeom prst="rect">
            <a:avLst/>
          </a:prstGeom>
          <a:solidFill>
            <a:srgbClr val="009193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 b="1">
                <a:solidFill>
                  <a:srgbClr val="00FA9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sz="2109"/>
              <a:t>TN</a:t>
            </a:r>
          </a:p>
        </p:txBody>
      </p:sp>
      <p:sp>
        <p:nvSpPr>
          <p:cNvPr id="488" name="FN"/>
          <p:cNvSpPr/>
          <p:nvPr/>
        </p:nvSpPr>
        <p:spPr>
          <a:xfrm>
            <a:off x="7747724" y="1992352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FN</a:t>
            </a:r>
          </a:p>
        </p:txBody>
      </p:sp>
      <p:sp>
        <p:nvSpPr>
          <p:cNvPr id="489" name="TN"/>
          <p:cNvSpPr/>
          <p:nvPr/>
        </p:nvSpPr>
        <p:spPr>
          <a:xfrm>
            <a:off x="7747724" y="2644219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TN</a:t>
            </a:r>
          </a:p>
        </p:txBody>
      </p:sp>
      <p:sp>
        <p:nvSpPr>
          <p:cNvPr id="490" name="TP"/>
          <p:cNvSpPr/>
          <p:nvPr/>
        </p:nvSpPr>
        <p:spPr>
          <a:xfrm>
            <a:off x="7055797" y="489370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TP</a:t>
            </a:r>
          </a:p>
        </p:txBody>
      </p:sp>
      <p:sp>
        <p:nvSpPr>
          <p:cNvPr id="491" name="FN"/>
          <p:cNvSpPr/>
          <p:nvPr/>
        </p:nvSpPr>
        <p:spPr>
          <a:xfrm>
            <a:off x="7711950" y="4893707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FN</a:t>
            </a:r>
          </a:p>
        </p:txBody>
      </p:sp>
      <p:sp>
        <p:nvSpPr>
          <p:cNvPr id="492" name="TP"/>
          <p:cNvSpPr/>
          <p:nvPr/>
        </p:nvSpPr>
        <p:spPr>
          <a:xfrm>
            <a:off x="1813288" y="4934322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TP</a:t>
            </a:r>
          </a:p>
        </p:txBody>
      </p:sp>
      <p:sp>
        <p:nvSpPr>
          <p:cNvPr id="493" name="FP"/>
          <p:cNvSpPr/>
          <p:nvPr/>
        </p:nvSpPr>
        <p:spPr>
          <a:xfrm>
            <a:off x="1813288" y="5586189"/>
            <a:ext cx="625079" cy="625079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algn="ctr" defTabSz="825500">
              <a:spcBef>
                <a:spcPts val="0"/>
              </a:spcBef>
              <a:defRPr sz="3000">
                <a:ln w="12700" cap="flat">
                  <a:solidFill>
                    <a:srgbClr val="EBEBEB"/>
                  </a:solidFill>
                  <a:prstDash val="solid"/>
                  <a:miter lim="400000"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109"/>
              <a:t>FP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4" name="equation.pdf"/>
              <p:cNvSpPr txBox="1"/>
              <p:nvPr/>
            </p:nvSpPr>
            <p:spPr>
              <a:xfrm>
                <a:off x="3201099" y="2269887"/>
                <a:ext cx="876009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94165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941751"/>
                  </a:solidFill>
                </a:endParaRPr>
              </a:p>
            </p:txBody>
          </p:sp>
        </mc:Choice>
        <mc:Fallback xmlns="">
          <p:sp>
            <p:nvSpPr>
              <p:cNvPr id="494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99" y="2269887"/>
                <a:ext cx="876009" cy="4900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equation.pdf"/>
              <p:cNvSpPr txBox="1"/>
              <p:nvPr/>
            </p:nvSpPr>
            <p:spPr>
              <a:xfrm>
                <a:off x="8658201" y="2029141"/>
                <a:ext cx="851965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005493"/>
                  </a:solidFill>
                </a:endParaRPr>
              </a:p>
            </p:txBody>
          </p:sp>
        </mc:Choice>
        <mc:Fallback xmlns="">
          <p:sp>
            <p:nvSpPr>
              <p:cNvPr id="495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8201" y="2029141"/>
                <a:ext cx="851965" cy="4900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equation.pdf"/>
              <p:cNvSpPr txBox="1"/>
              <p:nvPr/>
            </p:nvSpPr>
            <p:spPr>
              <a:xfrm>
                <a:off x="3267865" y="5016213"/>
                <a:ext cx="900055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4E8F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4F8F00"/>
                  </a:solidFill>
                </a:endParaRPr>
              </a:p>
            </p:txBody>
          </p:sp>
        </mc:Choice>
        <mc:Fallback xmlns="">
          <p:sp>
            <p:nvSpPr>
              <p:cNvPr id="496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865" y="5016213"/>
                <a:ext cx="900055" cy="4900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equation.pdf"/>
              <p:cNvSpPr txBox="1"/>
              <p:nvPr/>
            </p:nvSpPr>
            <p:spPr>
              <a:xfrm>
                <a:off x="8615633" y="5013152"/>
                <a:ext cx="876009" cy="49000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1687" i="1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sz="1687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497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633" y="5013152"/>
                <a:ext cx="876009" cy="4900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8" name="Predicted Output"/>
          <p:cNvSpPr txBox="1"/>
          <p:nvPr/>
        </p:nvSpPr>
        <p:spPr>
          <a:xfrm>
            <a:off x="1882375" y="1684843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499" name="True Values"/>
          <p:cNvSpPr txBox="1"/>
          <p:nvPr/>
        </p:nvSpPr>
        <p:spPr>
          <a:xfrm>
            <a:off x="1022526" y="2435668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00" name="Positive (P)"/>
          <p:cNvSpPr txBox="1"/>
          <p:nvPr/>
        </p:nvSpPr>
        <p:spPr>
          <a:xfrm rot="16200000">
            <a:off x="1297749" y="2248788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01" name="Negative (N)"/>
          <p:cNvSpPr txBox="1"/>
          <p:nvPr/>
        </p:nvSpPr>
        <p:spPr>
          <a:xfrm rot="16200000">
            <a:off x="1265688" y="3002248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02" name="Positive (PP)"/>
          <p:cNvSpPr txBox="1"/>
          <p:nvPr/>
        </p:nvSpPr>
        <p:spPr>
          <a:xfrm>
            <a:off x="1588752" y="1837080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03" name="Negative (PN)"/>
          <p:cNvSpPr txBox="1"/>
          <p:nvPr/>
        </p:nvSpPr>
        <p:spPr>
          <a:xfrm>
            <a:off x="2365865" y="1847487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04" name="Predicted Output"/>
          <p:cNvSpPr txBox="1"/>
          <p:nvPr/>
        </p:nvSpPr>
        <p:spPr>
          <a:xfrm>
            <a:off x="7186434" y="1595475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05" name="True Values"/>
          <p:cNvSpPr txBox="1"/>
          <p:nvPr/>
        </p:nvSpPr>
        <p:spPr>
          <a:xfrm>
            <a:off x="6326584" y="2346300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06" name="Positive (P)"/>
          <p:cNvSpPr txBox="1"/>
          <p:nvPr/>
        </p:nvSpPr>
        <p:spPr>
          <a:xfrm rot="16200000">
            <a:off x="6601808" y="2159420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07" name="Negative (N)"/>
          <p:cNvSpPr txBox="1"/>
          <p:nvPr/>
        </p:nvSpPr>
        <p:spPr>
          <a:xfrm rot="16200000">
            <a:off x="6569747" y="2912881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08" name="Positive (PP)"/>
          <p:cNvSpPr txBox="1"/>
          <p:nvPr/>
        </p:nvSpPr>
        <p:spPr>
          <a:xfrm>
            <a:off x="6892810" y="1747712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09" name="Negative (PN)"/>
          <p:cNvSpPr txBox="1"/>
          <p:nvPr/>
        </p:nvSpPr>
        <p:spPr>
          <a:xfrm>
            <a:off x="7713544" y="1747712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10" name="Predicted Output"/>
          <p:cNvSpPr txBox="1"/>
          <p:nvPr/>
        </p:nvSpPr>
        <p:spPr>
          <a:xfrm>
            <a:off x="1891900" y="4469026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11" name="True Values"/>
          <p:cNvSpPr txBox="1"/>
          <p:nvPr/>
        </p:nvSpPr>
        <p:spPr>
          <a:xfrm>
            <a:off x="1032051" y="5253675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12" name="Positive (P)"/>
          <p:cNvSpPr txBox="1"/>
          <p:nvPr/>
        </p:nvSpPr>
        <p:spPr>
          <a:xfrm rot="16200000">
            <a:off x="1307274" y="5066796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13" name="Negative (N)"/>
          <p:cNvSpPr txBox="1"/>
          <p:nvPr/>
        </p:nvSpPr>
        <p:spPr>
          <a:xfrm rot="16200000">
            <a:off x="1284739" y="5820256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14" name="Positive (PP)"/>
          <p:cNvSpPr txBox="1"/>
          <p:nvPr/>
        </p:nvSpPr>
        <p:spPr>
          <a:xfrm>
            <a:off x="1598277" y="4655087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15" name="Negative (PN)"/>
          <p:cNvSpPr txBox="1"/>
          <p:nvPr/>
        </p:nvSpPr>
        <p:spPr>
          <a:xfrm>
            <a:off x="2375390" y="4665495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sp>
        <p:nvSpPr>
          <p:cNvPr id="516" name="Predicted Output"/>
          <p:cNvSpPr txBox="1"/>
          <p:nvPr/>
        </p:nvSpPr>
        <p:spPr>
          <a:xfrm>
            <a:off x="7134410" y="4356914"/>
            <a:ext cx="102111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Predicted Output</a:t>
            </a:r>
          </a:p>
        </p:txBody>
      </p:sp>
      <p:sp>
        <p:nvSpPr>
          <p:cNvPr id="517" name="True Values"/>
          <p:cNvSpPr txBox="1"/>
          <p:nvPr/>
        </p:nvSpPr>
        <p:spPr>
          <a:xfrm>
            <a:off x="6274560" y="5250614"/>
            <a:ext cx="497014" cy="3750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True Values</a:t>
            </a:r>
          </a:p>
        </p:txBody>
      </p:sp>
      <p:sp>
        <p:nvSpPr>
          <p:cNvPr id="518" name="Positive (P)"/>
          <p:cNvSpPr txBox="1"/>
          <p:nvPr/>
        </p:nvSpPr>
        <p:spPr>
          <a:xfrm rot="16200000">
            <a:off x="6549784" y="5063735"/>
            <a:ext cx="71654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(P)</a:t>
            </a:r>
          </a:p>
        </p:txBody>
      </p:sp>
      <p:sp>
        <p:nvSpPr>
          <p:cNvPr id="519" name="Negative (N)"/>
          <p:cNvSpPr txBox="1"/>
          <p:nvPr/>
        </p:nvSpPr>
        <p:spPr>
          <a:xfrm rot="16200000">
            <a:off x="6517724" y="5817195"/>
            <a:ext cx="78066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(N)</a:t>
            </a:r>
          </a:p>
        </p:txBody>
      </p:sp>
      <p:sp>
        <p:nvSpPr>
          <p:cNvPr id="520" name="Positive (PP)"/>
          <p:cNvSpPr txBox="1"/>
          <p:nvPr/>
        </p:nvSpPr>
        <p:spPr>
          <a:xfrm>
            <a:off x="6840787" y="4652026"/>
            <a:ext cx="801502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Positive (PP)</a:t>
            </a:r>
          </a:p>
        </p:txBody>
      </p:sp>
      <p:sp>
        <p:nvSpPr>
          <p:cNvPr id="521" name="Negative (PN)"/>
          <p:cNvSpPr txBox="1"/>
          <p:nvPr/>
        </p:nvSpPr>
        <p:spPr>
          <a:xfrm>
            <a:off x="7617900" y="4662434"/>
            <a:ext cx="865623" cy="2235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400">
                <a:solidFill>
                  <a:srgbClr val="42424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984"/>
              <a:t>Negative (PN)</a:t>
            </a:r>
          </a:p>
        </p:txBody>
      </p:sp>
      <p:grpSp>
        <p:nvGrpSpPr>
          <p:cNvPr id="2" name="Group">
            <a:extLst>
              <a:ext uri="{FF2B5EF4-FFF2-40B4-BE49-F238E27FC236}">
                <a16:creationId xmlns:a16="http://schemas.microsoft.com/office/drawing/2014/main" id="{4E5FBC4C-5DE1-9E0D-B3C7-AAD63E0C586F}"/>
              </a:ext>
            </a:extLst>
          </p:cNvPr>
          <p:cNvGrpSpPr/>
          <p:nvPr/>
        </p:nvGrpSpPr>
        <p:grpSpPr>
          <a:xfrm>
            <a:off x="4458711" y="1751538"/>
            <a:ext cx="1829965" cy="609165"/>
            <a:chOff x="-21282" y="79029"/>
            <a:chExt cx="2602615" cy="866368"/>
          </a:xfrm>
        </p:grpSpPr>
        <p:pic>
          <p:nvPicPr>
            <p:cNvPr id="3" name="Line Line" descr="Line Line">
              <a:extLst>
                <a:ext uri="{FF2B5EF4-FFF2-40B4-BE49-F238E27FC236}">
                  <a16:creationId xmlns:a16="http://schemas.microsoft.com/office/drawing/2014/main" id="{A0F4A8CA-2402-1C63-3358-85364B82B3FE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1282" y="486841"/>
              <a:ext cx="2602615" cy="458556"/>
            </a:xfrm>
            <a:prstGeom prst="rect">
              <a:avLst/>
            </a:prstGeom>
            <a:effectLst/>
          </p:spPr>
        </p:pic>
        <p:sp>
          <p:nvSpPr>
            <p:cNvPr id="4" name="F1">
              <a:extLst>
                <a:ext uri="{FF2B5EF4-FFF2-40B4-BE49-F238E27FC236}">
                  <a16:creationId xmlns:a16="http://schemas.microsoft.com/office/drawing/2014/main" id="{9A5DBCF4-4210-8CC1-EF9F-3AE506986677}"/>
                </a:ext>
              </a:extLst>
            </p:cNvPr>
            <p:cNvSpPr txBox="1"/>
            <p:nvPr/>
          </p:nvSpPr>
          <p:spPr>
            <a:xfrm>
              <a:off x="1280025" y="79029"/>
              <a:ext cx="440007" cy="61035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 sz="3300">
                  <a:solidFill>
                    <a:srgbClr val="009193"/>
                  </a:solidFill>
                  <a:latin typeface="Noteworthy Light"/>
                  <a:ea typeface="Noteworthy Light"/>
                  <a:cs typeface="Noteworthy Light"/>
                  <a:sym typeface="Noteworthy Light"/>
                </a:defRPr>
              </a:pPr>
              <a:r>
                <a:rPr sz="2320"/>
                <a:t>F</a:t>
              </a:r>
              <a:r>
                <a:rPr sz="2320" baseline="-5999"/>
                <a:t>1</a:t>
              </a:r>
            </a:p>
          </p:txBody>
        </p:sp>
      </p:grpSp>
      <p:grpSp>
        <p:nvGrpSpPr>
          <p:cNvPr id="5" name="Group">
            <a:extLst>
              <a:ext uri="{FF2B5EF4-FFF2-40B4-BE49-F238E27FC236}">
                <a16:creationId xmlns:a16="http://schemas.microsoft.com/office/drawing/2014/main" id="{776D1503-AD0E-5D61-9CF0-4160CAD1A5B0}"/>
              </a:ext>
            </a:extLst>
          </p:cNvPr>
          <p:cNvGrpSpPr/>
          <p:nvPr/>
        </p:nvGrpSpPr>
        <p:grpSpPr>
          <a:xfrm>
            <a:off x="5233296" y="1951703"/>
            <a:ext cx="1030075" cy="3520494"/>
            <a:chOff x="1466005" y="-650014"/>
            <a:chExt cx="1464998" cy="5006924"/>
          </a:xfrm>
        </p:grpSpPr>
        <p:pic>
          <p:nvPicPr>
            <p:cNvPr id="6" name="Line Line" descr="Line Line">
              <a:extLst>
                <a:ext uri="{FF2B5EF4-FFF2-40B4-BE49-F238E27FC236}">
                  <a16:creationId xmlns:a16="http://schemas.microsoft.com/office/drawing/2014/main" id="{CEDF20D0-BB6D-D742-9C29-0656DC7C724C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853116">
              <a:off x="-808179" y="1624170"/>
              <a:ext cx="5006924" cy="458555"/>
            </a:xfrm>
            <a:prstGeom prst="rect">
              <a:avLst/>
            </a:prstGeom>
            <a:effectLst/>
          </p:spPr>
        </p:pic>
        <p:sp>
          <p:nvSpPr>
            <p:cNvPr id="7" name="ROC Curve &amp; AUC">
              <a:extLst>
                <a:ext uri="{FF2B5EF4-FFF2-40B4-BE49-F238E27FC236}">
                  <a16:creationId xmlns:a16="http://schemas.microsoft.com/office/drawing/2014/main" id="{BF3D2932-1632-5FCD-813F-8E2597F5E2CC}"/>
                </a:ext>
              </a:extLst>
            </p:cNvPr>
            <p:cNvSpPr txBox="1"/>
            <p:nvPr/>
          </p:nvSpPr>
          <p:spPr>
            <a:xfrm rot="2816071">
              <a:off x="1410541" y="2084923"/>
              <a:ext cx="2045734" cy="995190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 sz="2900">
                  <a:solidFill>
                    <a:srgbClr val="009193"/>
                  </a:solidFill>
                  <a:latin typeface="Noteworthy Light"/>
                  <a:ea typeface="Noteworthy Light"/>
                  <a:cs typeface="Noteworthy Light"/>
                  <a:sym typeface="Noteworthy Light"/>
                </a:defRPr>
              </a:pPr>
              <a:r>
                <a:rPr sz="2039"/>
                <a:t>ROC Curve &amp;</a:t>
              </a:r>
              <a:br>
                <a:rPr sz="2039"/>
              </a:br>
              <a:r>
                <a:rPr sz="2039"/>
                <a:t>AUC</a:t>
              </a:r>
            </a:p>
          </p:txBody>
        </p: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ROC Curve and AU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ROC Curve and AUC</a:t>
            </a:r>
          </a:p>
        </p:txBody>
      </p:sp>
      <p:sp>
        <p:nvSpPr>
          <p:cNvPr id="584" name="ROC stands for Receiver Operating Curv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>
            <a:normAutofit/>
          </a:bodyPr>
          <a:lstStyle/>
          <a:p>
            <a:pPr marL="196446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rPr lang="en-US"/>
              <a:t>A threshold converts a predicted probability or score into a class label.</a:t>
            </a:r>
          </a:p>
          <a:p>
            <a:pPr lvl="1">
              <a:spcBef>
                <a:spcPts val="0"/>
              </a:spcBef>
              <a:spcAft>
                <a:spcPts val="1400"/>
              </a:spcAft>
            </a:pPr>
            <a:r>
              <a:rPr lang="en-US"/>
              <a:t>Predict positive if </a:t>
            </a:r>
            <a:r>
              <a:rPr lang="en-US" i="1">
                <a:latin typeface="Graphik"/>
                <a:ea typeface="Graphik"/>
                <a:cs typeface="Graphik"/>
                <a:sym typeface="Graphik"/>
              </a:rPr>
              <a:t>P(y</a:t>
            </a:r>
            <a:r>
              <a:rPr lang="en-US" i="1" baseline="-5999">
                <a:latin typeface="Graphik"/>
                <a:ea typeface="Graphik"/>
                <a:cs typeface="Graphik"/>
                <a:sym typeface="Graphik"/>
              </a:rPr>
              <a:t>i </a:t>
            </a:r>
            <a:r>
              <a:rPr lang="en-US" i="1">
                <a:latin typeface="Graphik"/>
                <a:ea typeface="Graphik"/>
                <a:cs typeface="Graphik"/>
                <a:sym typeface="Graphik"/>
              </a:rPr>
              <a:t>= positive) &gt; p</a:t>
            </a:r>
            <a:r>
              <a:rPr lang="en-US"/>
              <a:t> (</a:t>
            </a:r>
            <a:r>
              <a:rPr lang="en-US" i="1">
                <a:latin typeface="Graphik"/>
                <a:ea typeface="Graphik"/>
                <a:cs typeface="Graphik"/>
                <a:sym typeface="Graphik"/>
              </a:rPr>
              <a:t>0 &lt; p &lt; 1)</a:t>
            </a:r>
          </a:p>
          <a:p>
            <a:pPr marL="196446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t>ROC </a:t>
            </a:r>
            <a:r>
              <a:rPr lang="en-US"/>
              <a:t>plots true positive rate vs. </a:t>
            </a:r>
            <a:r>
              <a:t>false positive </a:t>
            </a:r>
            <a:r>
              <a:rPr lang="en-US"/>
              <a:t>rate as the threshold varies.</a:t>
            </a:r>
          </a:p>
          <a:p>
            <a:pPr marL="394464" lvl="1" indent="-198018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t>True </a:t>
            </a:r>
            <a:r>
              <a:rPr lang="en-US"/>
              <a:t>positive rate = </a:t>
            </a:r>
            <a:r>
              <a:t>sensitivity</a:t>
            </a:r>
            <a:r>
              <a:rPr lang="en-US"/>
              <a:t>. </a:t>
            </a:r>
            <a:r>
              <a:t>False </a:t>
            </a:r>
            <a:r>
              <a:rPr lang="en-US"/>
              <a:t>positive rate = </a:t>
            </a:r>
            <a:r>
              <a:t>1 </a:t>
            </a:r>
            <a:r>
              <a:rPr lang="en-US"/>
              <a:t>− </a:t>
            </a:r>
            <a:r>
              <a:t>specificity</a:t>
            </a:r>
            <a:r>
              <a:rPr lang="en-US"/>
              <a:t>.</a:t>
            </a:r>
          </a:p>
          <a:p>
            <a:pPr marL="196446" indent="-196446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t>AUC (</a:t>
            </a:r>
            <a:r>
              <a:rPr lang="en-US"/>
              <a:t>area under </a:t>
            </a:r>
            <a:r>
              <a:t>the ROC curve</a:t>
            </a:r>
            <a:r>
              <a:rPr lang="en-US"/>
              <a:t>) summarizes performance.</a:t>
            </a:r>
          </a:p>
          <a:p>
            <a:pPr marL="590910" lvl="1" indent="-198018" defTabSz="156458">
              <a:spcBef>
                <a:spcPts val="0"/>
              </a:spcBef>
              <a:spcAft>
                <a:spcPts val="1400"/>
              </a:spcAft>
              <a:defRPr sz="2464"/>
            </a:pPr>
            <a:r>
              <a:t>AUC =</a:t>
            </a:r>
            <a:r>
              <a:rPr lang="en-US"/>
              <a:t> </a:t>
            </a:r>
            <a:r>
              <a:t>1</a:t>
            </a:r>
            <a:r>
              <a:rPr lang="en-US"/>
              <a:t>:</a:t>
            </a:r>
            <a:r>
              <a:t> perfect model</a:t>
            </a:r>
            <a:r>
              <a:rPr lang="en-US"/>
              <a:t>. </a:t>
            </a:r>
            <a:r>
              <a:t>AUC = 0.5</a:t>
            </a:r>
            <a:r>
              <a:rPr lang="en-US"/>
              <a:t>:</a:t>
            </a:r>
            <a:r>
              <a:t> random </a:t>
            </a:r>
            <a:r>
              <a:rPr lang="en-US"/>
              <a:t>performance.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Example ROC Curv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ROC Curve</a:t>
            </a:r>
          </a:p>
        </p:txBody>
      </p:sp>
      <p:pic>
        <p:nvPicPr>
          <p:cNvPr id="592" name="unknown.png" descr="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56231"/>
            <a:ext cx="5715000" cy="4115984"/>
          </a:xfrm>
          <a:prstGeom prst="rect">
            <a:avLst/>
          </a:prstGeom>
          <a:ln w="3175">
            <a:miter lim="400000"/>
          </a:ln>
        </p:spPr>
      </p:pic>
      <p:sp>
        <p:nvSpPr>
          <p:cNvPr id="593" name="How thresholds affect TPR and FPR"/>
          <p:cNvSpPr txBox="1">
            <a:spLocks noGrp="1"/>
          </p:cNvSpPr>
          <p:nvPr>
            <p:ph type="body" idx="1"/>
          </p:nvPr>
        </p:nvSpPr>
        <p:spPr>
          <a:xfrm>
            <a:off x="6812280" y="1993392"/>
            <a:ext cx="4526280" cy="4069080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marL="196446" indent="-196446" defTabSz="156458">
              <a:lnSpc>
                <a:spcPct val="105000"/>
              </a:lnSpc>
              <a:spcBef>
                <a:spcPts val="0"/>
              </a:spcBef>
              <a:spcAft>
                <a:spcPts val="1700"/>
              </a:spcAft>
              <a:defRPr sz="2464"/>
            </a:pPr>
            <a:r>
              <a:rPr sz="2200" b="1"/>
              <a:t>Each point uses a threshold.</a:t>
            </a:r>
            <a:r>
              <a:rPr sz="2200"/>
              <a:t> Predict positive when the score exceeds it.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700"/>
              </a:spcAft>
            </a:pPr>
            <a:r>
              <a:rPr sz="2200" b="1"/>
              <a:t>Lower threshold:</a:t>
            </a:r>
            <a:r>
              <a:rPr sz="2200"/>
              <a:t> </a:t>
            </a:r>
            <a:r>
              <a:rPr lang="en-US" sz="2200"/>
              <a:t>More positives</a:t>
            </a:r>
            <a:r>
              <a:rPr sz="2200"/>
              <a:t>. TPR and FPR </a:t>
            </a:r>
            <a:r>
              <a:rPr lang="en-US" sz="2200"/>
              <a:t>cannot decrease. Move </a:t>
            </a:r>
            <a:r>
              <a:rPr sz="2200"/>
              <a:t>up/right toward (1, 1).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700"/>
              </a:spcAft>
            </a:pPr>
            <a:r>
              <a:rPr sz="2200" b="1"/>
              <a:t>Higher threshold:</a:t>
            </a:r>
            <a:r>
              <a:rPr sz="2200"/>
              <a:t> </a:t>
            </a:r>
            <a:r>
              <a:rPr lang="en-US" sz="2200"/>
              <a:t>Fewer positives</a:t>
            </a:r>
            <a:r>
              <a:rPr sz="2200"/>
              <a:t>. TPR and FPR </a:t>
            </a:r>
            <a:r>
              <a:rPr lang="en-US" sz="2200"/>
              <a:t>cannot increase. Move</a:t>
            </a:r>
            <a:r>
              <a:rPr sz="2200"/>
              <a:t> down/left toward (0, 0).</a:t>
            </a:r>
          </a:p>
          <a:p>
            <a:pPr marL="196446" indent="-196446" defTabSz="156458">
              <a:lnSpc>
                <a:spcPct val="105000"/>
              </a:lnSpc>
              <a:spcBef>
                <a:spcPts val="0"/>
              </a:spcBef>
              <a:spcAft>
                <a:spcPts val="1700"/>
              </a:spcAft>
              <a:defRPr sz="2464"/>
            </a:pPr>
            <a:r>
              <a:rPr lang="en-US" sz="2200" b="1"/>
              <a:t>Tradeoff:</a:t>
            </a:r>
            <a:r>
              <a:rPr lang="en-US" sz="2200"/>
              <a:t> Lower thresholds miss fewer positives but raise false alarms. Higher thresholds do the reverse.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Metrics in Scikit-Lear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Metrics in Scikit-Learn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Function names"/>
          <p:cNvSpPr txBox="1">
            <a:spLocks noGrp="1"/>
          </p:cNvSpPr>
          <p:nvPr>
            <p:ph type="title"/>
          </p:nvPr>
        </p:nvSpPr>
        <p:spPr>
          <a:xfrm>
            <a:off x="767358" y="776403"/>
            <a:ext cx="8161734" cy="803673"/>
          </a:xfrm>
          <a:prstGeom prst="rect">
            <a:avLst/>
          </a:prstGeom>
        </p:spPr>
        <p:txBody>
          <a:bodyPr/>
          <a:lstStyle/>
          <a:p>
            <a:r>
              <a:rPr dirty="0"/>
              <a:t>Function names</a:t>
            </a:r>
          </a:p>
        </p:txBody>
      </p:sp>
      <p:sp>
        <p:nvSpPr>
          <p:cNvPr id="597" name="accuracy_score(y_true, y_pred)  (default for many functions)…"/>
          <p:cNvSpPr txBox="1">
            <a:spLocks noGrp="1"/>
          </p:cNvSpPr>
          <p:nvPr>
            <p:ph type="body" idx="1"/>
          </p:nvPr>
        </p:nvSpPr>
        <p:spPr>
          <a:xfrm>
            <a:off x="1757958" y="1580076"/>
            <a:ext cx="8161734" cy="4672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accuracy_score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 </a:t>
            </a:r>
            <a:br>
              <a:rPr dirty="0"/>
            </a:br>
            <a:r>
              <a:rPr dirty="0">
                <a:latin typeface="Graphik"/>
                <a:ea typeface="Graphik"/>
                <a:cs typeface="Graphik"/>
                <a:sym typeface="Graphik"/>
              </a:rPr>
              <a:t>(default for many functions)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classification_report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confusion_matrix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f1_score(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precision_score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recall_score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 marL="200911" indent="-200911" defTabSz="160014">
              <a:spcBef>
                <a:spcPts val="2039"/>
              </a:spcBef>
              <a:defRPr sz="252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roc_auc_score</a:t>
            </a:r>
            <a:r>
              <a:rPr dirty="0"/>
              <a:t>(</a:t>
            </a:r>
            <a:r>
              <a:rPr dirty="0" err="1"/>
              <a:t>y_true</a:t>
            </a:r>
            <a:r>
              <a:rPr dirty="0"/>
              <a:t>, </a:t>
            </a:r>
            <a:r>
              <a:rPr b="1" dirty="0" err="1"/>
              <a:t>y_score</a:t>
            </a:r>
            <a:r>
              <a:rPr lang="en-US" b="1" dirty="0"/>
              <a:t>) Note:(</a:t>
            </a:r>
            <a:r>
              <a:rPr lang="en-US" dirty="0"/>
              <a:t>The </a:t>
            </a:r>
            <a:r>
              <a:rPr lang="en-US" dirty="0">
                <a:latin typeface="Graphik"/>
                <a:sym typeface="Graphik"/>
              </a:rPr>
              <a:t>s</a:t>
            </a:r>
            <a:r>
              <a:rPr lang="en-US" dirty="0">
                <a:latin typeface="Graphik"/>
                <a:ea typeface="Graphik"/>
                <a:cs typeface="Graphik"/>
                <a:sym typeface="Graphik"/>
              </a:rPr>
              <a:t>econ</a:t>
            </a:r>
            <a:r>
              <a:rPr dirty="0">
                <a:latin typeface="Graphik"/>
                <a:ea typeface="Graphik"/>
                <a:cs typeface="Graphik"/>
                <a:sym typeface="Graphik"/>
              </a:rPr>
              <a:t>d argument must be a score (e.g. probability) and not a class prediction</a:t>
            </a:r>
            <a:br>
              <a:rPr dirty="0"/>
            </a:br>
            <a:endParaRPr dirty="0"/>
          </a:p>
        </p:txBody>
      </p:sp>
      <p:sp>
        <p:nvSpPr>
          <p:cNvPr id="598" name="https://scikit-learn.org/stable/api/sklearn.metrics.html#"/>
          <p:cNvSpPr txBox="1"/>
          <p:nvPr/>
        </p:nvSpPr>
        <p:spPr>
          <a:xfrm>
            <a:off x="2022259" y="1313143"/>
            <a:ext cx="4026616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>
                <a:hlinkClick r:id="rId2"/>
              </a:rPr>
              <a:t>https://scikit-learn.org/stable/api/sklearn.metrics.html#</a:t>
            </a:r>
            <a:endParaRPr sz="1266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.predict() vs .predict_proba(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160729">
              <a:defRPr sz="5400" spc="-53"/>
            </a:pP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.predict()</a:t>
            </a:r>
            <a:r>
              <a:rPr dirty="0"/>
              <a:t> vs 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dirty="0" err="1">
                <a:latin typeface="Courier New"/>
                <a:ea typeface="Courier New"/>
                <a:cs typeface="Courier New"/>
                <a:sym typeface="Courier New"/>
              </a:rPr>
              <a:t>predict_proba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</p:txBody>
      </p:sp>
      <p:sp>
        <p:nvSpPr>
          <p:cNvPr id="602" name="For classification estimators, there are two ways to product predic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21002" indent="-221002" defTabSz="176015">
              <a:spcBef>
                <a:spcPts val="2250"/>
              </a:spcBef>
              <a:defRPr sz="2772"/>
            </a:pPr>
            <a:r>
              <a:t>For classification estimators, there are two ways to product predictions</a:t>
            </a:r>
          </a:p>
          <a:p>
            <a:pPr marL="221002" indent="-221002" defTabSz="176015">
              <a:spcBef>
                <a:spcPts val="2250"/>
              </a:spcBef>
              <a:defRPr sz="2772"/>
            </a:pPr>
            <a:r>
              <a:rPr>
                <a:latin typeface="Courier New"/>
                <a:ea typeface="Courier New"/>
                <a:cs typeface="Courier New"/>
                <a:sym typeface="Courier New"/>
              </a:rPr>
              <a:t>.predict() </a:t>
            </a:r>
            <a:r>
              <a:t>will produce an 1D array with n rows with the class prediction</a:t>
            </a:r>
          </a:p>
          <a:p>
            <a:pPr marL="885775" lvl="3" indent="-222770" defTabSz="176015">
              <a:spcBef>
                <a:spcPts val="2250"/>
              </a:spcBef>
              <a:defRPr sz="2772"/>
            </a:pPr>
            <a:r>
              <a:t>Class with the highest probability </a:t>
            </a:r>
          </a:p>
          <a:p>
            <a:pPr marL="221002" indent="-221002" defTabSz="176015">
              <a:spcBef>
                <a:spcPts val="2250"/>
              </a:spcBef>
              <a:defRPr sz="2772"/>
            </a:pPr>
            <a:r>
              <a:t>.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predict_proba() </a:t>
            </a:r>
            <a:r>
              <a:t>will produce a 2D array with n rows and n-class columns </a:t>
            </a:r>
          </a:p>
          <a:p>
            <a:pPr marL="885775" lvl="3" indent="-222770" defTabSz="176015">
              <a:spcBef>
                <a:spcPts val="2250"/>
              </a:spcBef>
              <a:defRPr sz="2772"/>
            </a:pPr>
            <a:r>
              <a:t>Each column is the probability of the row observation being in class 0 to n-class 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Classification Repor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Classification Report</a:t>
            </a:r>
          </a:p>
        </p:txBody>
      </p:sp>
      <p:sp>
        <p:nvSpPr>
          <p:cNvPr id="605" name="This special function will show precision, recall, f1, and accuracy for all class (treat each class as positive class)"/>
          <p:cNvSpPr txBox="1">
            <a:spLocks noGrp="1"/>
          </p:cNvSpPr>
          <p:nvPr>
            <p:ph type="body" sz="quarter" idx="1"/>
          </p:nvPr>
        </p:nvSpPr>
        <p:spPr>
          <a:xfrm>
            <a:off x="2015133" y="1398985"/>
            <a:ext cx="8161734" cy="1033507"/>
          </a:xfrm>
          <a:prstGeom prst="rect">
            <a:avLst/>
          </a:prstGeom>
        </p:spPr>
        <p:txBody>
          <a:bodyPr/>
          <a:lstStyle/>
          <a:p>
            <a:r>
              <a:rPr dirty="0"/>
              <a:t>This special function will show precision, recall, f1, and accuracy for all class (treat each class as positive class) </a:t>
            </a:r>
          </a:p>
        </p:txBody>
      </p:sp>
      <p:pic>
        <p:nvPicPr>
          <p:cNvPr id="60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37" y="2276886"/>
            <a:ext cx="4430613" cy="3666714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Multi-class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Multi-class Classification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Multi-class Strateg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Multi-class Strategies </a:t>
            </a:r>
          </a:p>
        </p:txBody>
      </p:sp>
      <p:sp>
        <p:nvSpPr>
          <p:cNvPr id="612" name="Some classifiers (e.g., Random Forest, Naive Bayes, KNN) are capable of handling multiple classes directl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Some classifiers (e.g., Naive Bayes, KNN) are capable of handling multiple classes directly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Other classifiers (e.g.,</a:t>
            </a:r>
            <a:r>
              <a:rPr lang="en-US" sz="2600" dirty="0"/>
              <a:t> </a:t>
            </a:r>
            <a:r>
              <a:rPr sz="2600" dirty="0"/>
              <a:t>logistic regression) are binary classifiers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For binary classifiers, there are two strategies for extending to multiple classes: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One-versus-all (</a:t>
            </a:r>
            <a:r>
              <a:rPr sz="2600" dirty="0" err="1"/>
              <a:t>OvA</a:t>
            </a:r>
            <a:r>
              <a:rPr sz="2600" dirty="0"/>
              <a:t>) </a:t>
            </a:r>
            <a:r>
              <a:rPr lang="en-US" sz="2600" dirty="0"/>
              <a:t>(sometimes called </a:t>
            </a:r>
            <a:r>
              <a:rPr sz="2600" dirty="0"/>
              <a:t>One-versus-rest (</a:t>
            </a:r>
            <a:r>
              <a:rPr sz="2600" dirty="0" err="1"/>
              <a:t>OvR</a:t>
            </a:r>
            <a:r>
              <a:rPr sz="2600" dirty="0"/>
              <a:t>)</a:t>
            </a:r>
            <a:r>
              <a:rPr lang="en-US" sz="2600" dirty="0"/>
              <a:t>)</a:t>
            </a:r>
            <a:endParaRPr sz="2600" dirty="0"/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One-versus-one (</a:t>
            </a:r>
            <a:r>
              <a:rPr sz="2600" dirty="0" err="1"/>
              <a:t>OvO</a:t>
            </a:r>
            <a:r>
              <a:rPr sz="2600" dirty="0"/>
              <a:t>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One Versus All (OvA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 Versus All (OvA)</a:t>
            </a:r>
          </a:p>
        </p:txBody>
      </p:sp>
      <p:sp>
        <p:nvSpPr>
          <p:cNvPr id="616" name="For each class, train a model that classify that class versus all the res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For each class, train a model that classify that class versus all the rest: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</a:t>
            </a:r>
            <a:r>
              <a:rPr sz="2600"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sz="2600" dirty="0"/>
              <a:t> versus </a:t>
            </a:r>
            <a:r>
              <a:rPr sz="2600"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1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</a:t>
            </a:r>
            <a:r>
              <a:rPr sz="2600" b="1" dirty="0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sz="2600" dirty="0"/>
              <a:t> versus </a:t>
            </a:r>
            <a:r>
              <a:rPr sz="2600" b="1" dirty="0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2</a:t>
            </a:r>
          </a:p>
          <a:p>
            <a:pPr marL="857220" lvl="2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etc.</a:t>
            </a:r>
          </a:p>
          <a:p>
            <a:pPr marL="285740" indent="-285740">
              <a:buSzPct val="75000"/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00" dirty="0"/>
              <a:t>Classify a value into the classier whose classifier outputs the highest score</a:t>
            </a:r>
            <a:r>
              <a:rPr lang="en-US" sz="2600" dirty="0"/>
              <a:t> (e.g., predictive probabilities)</a:t>
            </a:r>
            <a:endParaRPr sz="2600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One Versus One (OvO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 Versus One (OvO)</a:t>
            </a:r>
          </a:p>
        </p:txBody>
      </p:sp>
      <p:sp>
        <p:nvSpPr>
          <p:cNvPr id="620" name="Train a binary classifier for every pair of class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27145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Train a binary classifier for every pair of classes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t> vs</a:t>
            </a:r>
            <a:r>
              <a:rPr b="1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t> vs</a:t>
            </a:r>
            <a:r>
              <a:rPr b="1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t> vs</a:t>
            </a:r>
            <a:r>
              <a:rPr b="1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solidFill>
                  <a:srgbClr val="4F8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t> vs</a:t>
            </a:r>
            <a:r>
              <a:rPr b="1">
                <a:solidFill>
                  <a:srgbClr val="0054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5</a:t>
            </a:r>
          </a:p>
          <a:p>
            <a:pPr marL="814358" lvl="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etc</a:t>
            </a:r>
          </a:p>
          <a:p>
            <a:pPr marL="271452" indent="-271452" defTabSz="168904">
              <a:spcBef>
                <a:spcPts val="2180"/>
              </a:spcBef>
              <a:buSzPct val="75000"/>
              <a:defRPr sz="323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Classify value into the class that wins the most duels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OvA Versus Ov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OvA Versus OvO</a:t>
            </a:r>
          </a:p>
        </p:txBody>
      </p:sp>
      <p:sp>
        <p:nvSpPr>
          <p:cNvPr id="624" name="Suppose there are q class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Suppose there are q classes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 err="1"/>
              <a:t>OvO</a:t>
            </a:r>
            <a:r>
              <a:rPr dirty="0"/>
              <a:t> requires training q(q-1)/2 classifiers </a:t>
            </a:r>
          </a:p>
          <a:p>
            <a:pPr marL="788641" lvl="2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For the MNIST example this means 10(10-1)/2 = 45 classifiers</a:t>
            </a:r>
          </a:p>
          <a:p>
            <a:pPr marL="788641" lvl="2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However, each classifier needs only use a small subset of the data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In general </a:t>
            </a:r>
            <a:r>
              <a:rPr dirty="0" err="1"/>
              <a:t>OvA</a:t>
            </a:r>
            <a:r>
              <a:rPr dirty="0"/>
              <a:t> is the preferred strategy</a:t>
            </a:r>
            <a:r>
              <a:rPr lang="en-US" dirty="0"/>
              <a:t> (only trains q classifiers)</a:t>
            </a:r>
          </a:p>
          <a:p>
            <a:pPr marL="262881" indent="-262881" defTabSz="163570">
              <a:spcBef>
                <a:spcPts val="2109"/>
              </a:spcBef>
              <a:buSzPct val="75000"/>
              <a:defRPr sz="3128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dirty="0"/>
              <a:t>B</a:t>
            </a:r>
            <a:r>
              <a:rPr dirty="0"/>
              <a:t>ut for classifiers that scale poorly with the size of the training set (e.g., SVM) </a:t>
            </a:r>
            <a:r>
              <a:rPr dirty="0" err="1"/>
              <a:t>OvO</a:t>
            </a:r>
            <a:r>
              <a:rPr dirty="0"/>
              <a:t> is preferred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oftmax fun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Softmax</a:t>
            </a:r>
            <a:r>
              <a:rPr dirty="0"/>
              <a:t> function</a:t>
            </a:r>
          </a:p>
        </p:txBody>
      </p:sp>
      <p:sp>
        <p:nvSpPr>
          <p:cNvPr id="628" name="A mathematical function that converts a vector of real-valued scores into a probability distribution…"/>
          <p:cNvSpPr txBox="1">
            <a:spLocks noGrp="1"/>
          </p:cNvSpPr>
          <p:nvPr>
            <p:ph type="body" sz="half" idx="1"/>
          </p:nvPr>
        </p:nvSpPr>
        <p:spPr>
          <a:xfrm>
            <a:off x="1338858" y="1825415"/>
            <a:ext cx="8161734" cy="2236294"/>
          </a:xfrm>
          <a:prstGeom prst="rect">
            <a:avLst/>
          </a:prstGeom>
        </p:spPr>
        <p:txBody>
          <a:bodyPr/>
          <a:lstStyle/>
          <a:p>
            <a:r>
              <a:rPr dirty="0"/>
              <a:t>A mathematical function that converts a vector of real-valued scores into a probability distribution</a:t>
            </a:r>
            <a:endParaRPr lang="en-US" dirty="0"/>
          </a:p>
          <a:p>
            <a:r>
              <a:rPr lang="en-US" dirty="0"/>
              <a:t>Used to convert real-valued outputs to “probabilities”</a:t>
            </a:r>
            <a:endParaRPr dirty="0"/>
          </a:p>
          <a:p>
            <a:r>
              <a:rPr dirty="0"/>
              <a:t>Can be used as a way to extend logistic regression</a:t>
            </a:r>
          </a:p>
          <a:p>
            <a:r>
              <a:rPr dirty="0"/>
              <a:t>Often used in multi-class NN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equation.pdf"/>
              <p:cNvSpPr txBox="1"/>
              <p:nvPr/>
            </p:nvSpPr>
            <p:spPr>
              <a:xfrm>
                <a:off x="4649120" y="4508795"/>
                <a:ext cx="2608278" cy="9930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812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2812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sz="2812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812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sz="2812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sz="2812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629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120" y="4508795"/>
                <a:ext cx="2608278" cy="9930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0" name="Probability of class"/>
              <p:cNvSpPr txBox="1"/>
              <p:nvPr/>
            </p:nvSpPr>
            <p:spPr>
              <a:xfrm>
                <a:off x="3037725" y="5923597"/>
                <a:ext cx="1915333" cy="44005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r>
                  <a:rPr sz="1500"/>
                  <a:t>Probability of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sz="1266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630" name="Probability of clas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725" y="5923597"/>
                <a:ext cx="1915333" cy="440057"/>
              </a:xfrm>
              <a:prstGeom prst="rect">
                <a:avLst/>
              </a:prstGeom>
              <a:blipFill>
                <a:blip r:embed="rId3"/>
                <a:stretch>
                  <a:fillRect l="-4127" r="-317" b="-11111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1" name="Sum over all classes"/>
          <p:cNvSpPr txBox="1"/>
          <p:nvPr/>
        </p:nvSpPr>
        <p:spPr>
          <a:xfrm>
            <a:off x="6597694" y="6176513"/>
            <a:ext cx="1684628" cy="3029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500"/>
              <a:t>Sum over all classes</a:t>
            </a:r>
          </a:p>
        </p:txBody>
      </p:sp>
      <p:pic>
        <p:nvPicPr>
          <p:cNvPr id="632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7979901">
            <a:off x="4148146" y="5461751"/>
            <a:ext cx="832334" cy="234094"/>
          </a:xfrm>
          <a:prstGeom prst="rect">
            <a:avLst/>
          </a:prstGeom>
        </p:spPr>
      </p:pic>
      <p:pic>
        <p:nvPicPr>
          <p:cNvPr id="634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2343661">
            <a:off x="6338689" y="5760363"/>
            <a:ext cx="1213820" cy="2340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36" name="is a raw score for the class (for example the class logit)"/>
              <p:cNvSpPr txBox="1"/>
              <p:nvPr/>
            </p:nvSpPr>
            <p:spPr>
              <a:xfrm>
                <a:off x="8007989" y="4328131"/>
                <a:ext cx="2670449" cy="662297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266"/>
                  <a:t> </a:t>
                </a:r>
                <a:r>
                  <a:rPr sz="1500"/>
                  <a:t>is a raw score for the class (for example the class logit)</a:t>
                </a:r>
                <a:endParaRPr sz="1500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636" name="is a raw score for the class (for example the class logi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989" y="4328131"/>
                <a:ext cx="2670449" cy="662297"/>
              </a:xfrm>
              <a:prstGeom prst="rect">
                <a:avLst/>
              </a:prstGeom>
              <a:blipFill>
                <a:blip r:embed="rId6"/>
                <a:stretch>
                  <a:fillRect l="-2968" b="-10092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7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6959347" y="4542231"/>
            <a:ext cx="927705" cy="2340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1468</Words>
  <Application>Microsoft Office PowerPoint</Application>
  <PresentationFormat>Widescreen</PresentationFormat>
  <Paragraphs>203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Calisto MT</vt:lpstr>
      <vt:lpstr>Cambria Math</vt:lpstr>
      <vt:lpstr>Courier New</vt:lpstr>
      <vt:lpstr>Gill Sans</vt:lpstr>
      <vt:lpstr>Graphik</vt:lpstr>
      <vt:lpstr>Helvetica Neue</vt:lpstr>
      <vt:lpstr>Univers Condensed</vt:lpstr>
      <vt:lpstr>ChronicleVTI</vt:lpstr>
      <vt:lpstr>Classification Metrics</vt:lpstr>
      <vt:lpstr>Regression vs Classification (Review)</vt:lpstr>
      <vt:lpstr>Accuracy and error rate</vt:lpstr>
      <vt:lpstr>Confusion Matrix</vt:lpstr>
      <vt:lpstr>Precision</vt:lpstr>
      <vt:lpstr>Recall</vt:lpstr>
      <vt:lpstr>F1 Score</vt:lpstr>
      <vt:lpstr>F𝛽 Score</vt:lpstr>
      <vt:lpstr>Other Measures</vt:lpstr>
      <vt:lpstr>ROC Curve and AUC</vt:lpstr>
      <vt:lpstr>Example ROC Curve</vt:lpstr>
      <vt:lpstr>Metrics in Scikit-Learn</vt:lpstr>
      <vt:lpstr>Function names</vt:lpstr>
      <vt:lpstr>.predict() vs .predict_proba()</vt:lpstr>
      <vt:lpstr>Classification Report</vt:lpstr>
      <vt:lpstr>Multi-class Classification</vt:lpstr>
      <vt:lpstr>Multi-class Strategies </vt:lpstr>
      <vt:lpstr>One Versus All (OvA)</vt:lpstr>
      <vt:lpstr>One Versus One (OvO)</vt:lpstr>
      <vt:lpstr>OvA Versus OvO</vt:lpstr>
      <vt:lpstr>Softmax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24</cp:revision>
  <dcterms:created xsi:type="dcterms:W3CDTF">2025-10-28T15:32:43Z</dcterms:created>
  <dcterms:modified xsi:type="dcterms:W3CDTF">2026-10-05T13:13:22Z</dcterms:modified>
</cp:coreProperties>
</file>