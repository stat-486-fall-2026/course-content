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74" d="100"/>
          <a:sy n="74" d="100"/>
        </p:scale>
        <p:origin x="3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43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29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0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47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02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65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6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88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54844" y="1017985"/>
            <a:ext cx="10882313" cy="473273"/>
          </a:xfrm>
          <a:prstGeom prst="rect">
            <a:avLst/>
          </a:prstGeom>
        </p:spPr>
        <p:txBody>
          <a:bodyPr/>
          <a:lstStyle>
            <a:lvl1pPr marL="0" indent="0" defTabSz="178587">
              <a:spcBef>
                <a:spcPts val="0"/>
              </a:spcBef>
              <a:buSzTx/>
              <a:buNone/>
              <a:defRPr sz="225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43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956759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54844" y="1017985"/>
            <a:ext cx="10882313" cy="473273"/>
          </a:xfrm>
          <a:prstGeom prst="rect">
            <a:avLst/>
          </a:prstGeom>
        </p:spPr>
        <p:txBody>
          <a:bodyPr/>
          <a:lstStyle>
            <a:lvl1pPr marL="0" indent="0" defTabSz="178587">
              <a:spcBef>
                <a:spcPts val="0"/>
              </a:spcBef>
              <a:buSzTx/>
              <a:buNone/>
              <a:defRPr sz="225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100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1" name="01"/>
          <p:cNvSpPr txBox="1">
            <a:spLocks noGrp="1"/>
          </p:cNvSpPr>
          <p:nvPr>
            <p:ph type="sldNum" sz="quarter" idx="2"/>
          </p:nvPr>
        </p:nvSpPr>
        <p:spPr>
          <a:xfrm>
            <a:off x="11727656" y="6152554"/>
            <a:ext cx="274321" cy="222082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712434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454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  <p:sldLayoutId id="2147483687" r:id="rId12"/>
    <p:sldLayoutId id="2147483688" r:id="rId13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visualstudio.com/download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downloads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stral.sh/uv/getting-started/installation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CACC86-D8EA-022C-304F-D1C7EBC976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7" y="871759"/>
            <a:ext cx="9474055" cy="3497042"/>
          </a:xfrm>
        </p:spPr>
        <p:txBody>
          <a:bodyPr anchor="t">
            <a:normAutofit/>
          </a:bodyPr>
          <a:lstStyle/>
          <a:p>
            <a:pPr marL="0" lvl="0" indent="0">
              <a:buNone/>
            </a:pPr>
            <a:r>
              <a:rPr lang="en-US" dirty="0">
                <a:solidFill>
                  <a:srgbClr val="FFFFFF"/>
                </a:solidFill>
              </a:rPr>
              <a:t>Course </a:t>
            </a:r>
            <a:r>
              <a:rPr lang="en-US" dirty="0" err="1">
                <a:solidFill>
                  <a:srgbClr val="FFFFFF"/>
                </a:solidFill>
              </a:rPr>
              <a:t>ToolS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5157694"/>
            <a:ext cx="5019676" cy="976406"/>
          </a:xfrm>
        </p:spPr>
        <p:txBody>
          <a:bodyPr anchor="t">
            <a:normAutofit/>
          </a:bodyPr>
          <a:lstStyle/>
          <a:p>
            <a:pPr marL="0" lvl="0" indent="0">
              <a:buNone/>
            </a:pPr>
            <a:r>
              <a:rPr lang="en-US" dirty="0">
                <a:solidFill>
                  <a:srgbClr val="FFFFFF"/>
                </a:solidFill>
              </a:rPr>
              <a:t>VS Code, Git, UV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49564" cy="365125"/>
          </a:xfrm>
        </p:spPr>
        <p:txBody>
          <a:bodyPr>
            <a:normAutofit/>
          </a:bodyPr>
          <a:lstStyle/>
          <a:p>
            <a:pPr marL="0" lvl="0" indent="0">
              <a:spcAft>
                <a:spcPts val="600"/>
              </a:spcAft>
              <a:buNone/>
            </a:pPr>
            <a:r>
              <a:rPr lang="en-US">
                <a:solidFill>
                  <a:srgbClr val="FFFFFF"/>
                </a:solidFill>
              </a:rPr>
              <a:t>Fall 2026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VS Code: install and open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Install from </a:t>
            </a:r>
            <a:r>
              <a:rPr dirty="0">
                <a:hlinkClick r:id="rId2"/>
              </a:rPr>
              <a:t>code.visualstudio.com/download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VS Code: make the environment agree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Install </a:t>
            </a:r>
            <a:r>
              <a:rPr b="1" dirty="0"/>
              <a:t>Python</a:t>
            </a:r>
            <a:r>
              <a:rPr dirty="0"/>
              <a:t> and </a:t>
            </a:r>
            <a:r>
              <a:rPr b="1" dirty="0"/>
              <a:t>Jupyter</a:t>
            </a:r>
            <a:r>
              <a:rPr dirty="0"/>
              <a:t> extensions</a:t>
            </a:r>
          </a:p>
          <a:p>
            <a:pPr lvl="0"/>
            <a:r>
              <a:rPr b="1" dirty="0"/>
              <a:t>Python: Select Interpreter</a:t>
            </a:r>
            <a:r>
              <a:rPr dirty="0"/>
              <a:t> → repository </a:t>
            </a:r>
            <a:r>
              <a:rPr dirty="0">
                <a:latin typeface="Courier"/>
              </a:rPr>
              <a:t>.</a:t>
            </a:r>
            <a:r>
              <a:rPr dirty="0" err="1">
                <a:latin typeface="Courier"/>
              </a:rPr>
              <a:t>venv</a:t>
            </a:r>
            <a:endParaRPr dirty="0">
              <a:latin typeface="Courier"/>
            </a:endParaRPr>
          </a:p>
          <a:p>
            <a:pPr lvl="0"/>
            <a:r>
              <a:rPr dirty="0"/>
              <a:t>Notebook kernel → that same environment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Git: install and configure once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Install from </a:t>
            </a:r>
            <a:r>
              <a:rPr>
                <a:hlinkClick r:id="rId2"/>
              </a:rPr>
              <a:t>git-scm.com/downloads</a:t>
            </a:r>
          </a:p>
          <a:p>
            <a:pPr lvl="0"/>
            <a:r>
              <a:t>Windows: Git for Windows • macOS: Xcode tools or installer • Linux: package manager</a:t>
            </a:r>
          </a:p>
          <a:p>
            <a:pPr lvl="0" indent="0">
              <a:buNone/>
            </a:pPr>
            <a:r>
              <a:rPr>
                <a:latin typeface="Courier"/>
              </a:rPr>
              <a:t>git --version
git config --global user.name "Your Name"
git config --global user.email "your-email@example.edu"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Git: the everyday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working files  →  stage  →  commit  →  GitHub
                   git add    git commit   git push</a:t>
            </a:r>
          </a:p>
          <a:p>
            <a:pPr lvl="0" indent="0">
              <a:buNone/>
            </a:pPr>
            <a:r>
              <a:rPr>
                <a:latin typeface="Courier"/>
              </a:rPr>
              <a:t>git status
git add path/to/file
git commit -m "Describe completed work"
git pull
git push</a:t>
            </a:r>
          </a:p>
          <a:p>
            <a:pPr marL="0" lvl="0" indent="0">
              <a:buNone/>
            </a:pPr>
            <a:r>
              <a:t>Use </a:t>
            </a:r>
            <a:r>
              <a:rPr>
                <a:latin typeface="Courier"/>
              </a:rPr>
              <a:t>git status</a:t>
            </a:r>
            <a:r>
              <a:t> before every decision.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Git: protect a clean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Commit small, meaningful milestones</a:t>
            </a:r>
          </a:p>
          <a:p>
            <a:pPr lvl="0"/>
            <a:r>
              <a:rPr dirty="0"/>
              <a:t>Read </a:t>
            </a:r>
            <a:r>
              <a:rPr dirty="0">
                <a:latin typeface="Courier"/>
              </a:rPr>
              <a:t>git status</a:t>
            </a:r>
            <a:r>
              <a:rPr dirty="0"/>
              <a:t>; stage only intended files</a:t>
            </a:r>
          </a:p>
          <a:p>
            <a:pPr lvl="0"/>
            <a:r>
              <a:rPr dirty="0"/>
              <a:t>Ignore local/generated files: </a:t>
            </a:r>
            <a:r>
              <a:rPr dirty="0">
                <a:latin typeface="Courier"/>
              </a:rPr>
              <a:t>.</a:t>
            </a:r>
            <a:r>
              <a:rPr dirty="0" err="1">
                <a:latin typeface="Courier"/>
              </a:rPr>
              <a:t>venv</a:t>
            </a:r>
            <a:r>
              <a:rPr dirty="0">
                <a:latin typeface="Courier"/>
              </a:rPr>
              <a:t>/</a:t>
            </a:r>
            <a:r>
              <a:rPr dirty="0"/>
              <a:t>, caches, raw data</a:t>
            </a:r>
          </a:p>
          <a:p>
            <a:pPr lvl="0"/>
            <a:r>
              <a:rPr dirty="0"/>
              <a:t>If a push is rejected: save work → </a:t>
            </a:r>
            <a:r>
              <a:rPr dirty="0">
                <a:latin typeface="Courier"/>
              </a:rPr>
              <a:t>git pull</a:t>
            </a:r>
            <a:r>
              <a:rPr dirty="0"/>
              <a:t> → read carefully</a:t>
            </a:r>
          </a:p>
          <a:p>
            <a:pPr lvl="0"/>
            <a:r>
              <a:rPr dirty="0"/>
              <a:t>If there is a conflict: pause and ask early if unsure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uv</a:t>
            </a:r>
            <a:r>
              <a:rPr dirty="0"/>
              <a:t>: install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I</a:t>
            </a:r>
            <a:r>
              <a:rPr dirty="0"/>
              <a:t>nstructions: </a:t>
            </a:r>
            <a:r>
              <a:rPr dirty="0">
                <a:hlinkClick r:id="rId2"/>
              </a:rPr>
              <a:t>docs.astral.sh/</a:t>
            </a:r>
            <a:r>
              <a:rPr dirty="0" err="1">
                <a:hlinkClick r:id="rId2"/>
              </a:rPr>
              <a:t>uv</a:t>
            </a:r>
            <a:endParaRPr dirty="0">
              <a:hlinkClick r:id="rId2"/>
            </a:endParaRPr>
          </a:p>
          <a:p>
            <a:pPr lvl="0" indent="0">
              <a:buNone/>
            </a:pPr>
            <a:r>
              <a:rPr i="1" dirty="0">
                <a:solidFill>
                  <a:srgbClr val="60A0B0"/>
                </a:solidFill>
                <a:latin typeface="Courier"/>
              </a:rPr>
              <a:t># Windows PowerShell</a:t>
            </a:r>
            <a:br>
              <a:rPr dirty="0"/>
            </a:br>
            <a:r>
              <a:rPr dirty="0" err="1">
                <a:latin typeface="Courier"/>
              </a:rPr>
              <a:t>powershell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-</a:t>
            </a:r>
            <a:r>
              <a:rPr dirty="0" err="1">
                <a:latin typeface="Courier"/>
              </a:rPr>
              <a:t>ExecutionPolicy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ByPass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-</a:t>
            </a:r>
            <a:r>
              <a:rPr dirty="0">
                <a:latin typeface="Courier"/>
              </a:rPr>
              <a:t>c 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irm</a:t>
            </a:r>
            <a:r>
              <a:rPr dirty="0">
                <a:solidFill>
                  <a:srgbClr val="4070A0"/>
                </a:solidFill>
                <a:latin typeface="Courier"/>
              </a:rPr>
              <a:t> https://astral.sh/uv/install.ps1 | </a:t>
            </a:r>
            <a:r>
              <a:rPr dirty="0" err="1">
                <a:solidFill>
                  <a:srgbClr val="4070A0"/>
                </a:solidFill>
                <a:latin typeface="Courier"/>
              </a:rPr>
              <a:t>iex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</a:p>
          <a:p>
            <a:pPr lvl="0" indent="0">
              <a:buNone/>
            </a:pPr>
            <a:r>
              <a:rPr i="1" dirty="0">
                <a:solidFill>
                  <a:srgbClr val="60A0B0"/>
                </a:solidFill>
                <a:latin typeface="Courier"/>
              </a:rPr>
              <a:t># macOS / Linux</a:t>
            </a:r>
            <a:br>
              <a:rPr dirty="0"/>
            </a:br>
            <a:r>
              <a:rPr dirty="0">
                <a:latin typeface="Courier"/>
              </a:rPr>
              <a:t>curl </a:t>
            </a:r>
            <a:r>
              <a:rPr dirty="0">
                <a:solidFill>
                  <a:srgbClr val="7D9029"/>
                </a:solidFill>
                <a:latin typeface="Courier"/>
              </a:rPr>
              <a:t>-</a:t>
            </a:r>
            <a:r>
              <a:rPr dirty="0" err="1">
                <a:solidFill>
                  <a:srgbClr val="7D9029"/>
                </a:solidFill>
                <a:latin typeface="Courier"/>
              </a:rPr>
              <a:t>LsSf</a:t>
            </a:r>
            <a:r>
              <a:rPr dirty="0">
                <a:latin typeface="Courier"/>
              </a:rPr>
              <a:t> https://astral.sh/uv/install.sh </a:t>
            </a:r>
            <a:r>
              <a:rPr b="1" dirty="0">
                <a:solidFill>
                  <a:srgbClr val="007020"/>
                </a:solidFill>
                <a:latin typeface="Courier"/>
              </a:rPr>
              <a:t>|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sh</a:t>
            </a:r>
            <a:endParaRPr dirty="0">
              <a:solidFill>
                <a:srgbClr val="06287E"/>
              </a:solidFill>
              <a:latin typeface="Courier"/>
            </a:endParaRPr>
          </a:p>
          <a:p>
            <a:pPr lvl="0" indent="0">
              <a:buNone/>
            </a:pPr>
            <a:r>
              <a:rPr dirty="0" err="1">
                <a:latin typeface="Courier"/>
              </a:rPr>
              <a:t>uv</a:t>
            </a:r>
            <a:r>
              <a:rPr dirty="0">
                <a:latin typeface="Courier"/>
              </a:rPr>
              <a:t> --version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uv: let the project define the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pyproject.toml  →  dependencies and project settings
uv.lock         →  exact resolved versions
.venv/          →  local environment (do not commit)</a:t>
            </a:r>
          </a:p>
          <a:p>
            <a:pPr lvl="0" indent="0">
              <a:buNone/>
            </a:pPr>
            <a:r>
              <a:rPr>
                <a:latin typeface="Courier"/>
              </a:rPr>
              <a:t>uv sync          # match the repository environment
uv run ...       # run inside that environment</a:t>
            </a:r>
          </a:p>
          <a:p>
            <a:pPr marL="0" lvl="0" indent="0">
              <a:buNone/>
            </a:pPr>
            <a:r>
              <a:t>Avoid global </a:t>
            </a:r>
            <a:r>
              <a:rPr>
                <a:latin typeface="Courier"/>
              </a:rPr>
              <a:t>pip install</a:t>
            </a:r>
            <a:r>
              <a:t> commands for a uv-managed course repository.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uv: the normal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uv sync
uv run python scripts/run.py
uv run pytest
uv run jupyter lab</a:t>
            </a:r>
          </a:p>
          <a:p>
            <a:pPr marL="0" lvl="0" indent="0">
              <a:buNone/>
            </a:pPr>
            <a:r>
              <a:t>Existing class repo:</a:t>
            </a:r>
          </a:p>
          <a:p>
            <a:pPr lvl="0" indent="0">
              <a:buNone/>
            </a:pPr>
            <a:r>
              <a:rPr>
                <a:latin typeface="Courier"/>
              </a:rPr>
              <a:t>git clone &lt;repository-url&gt;
cd &lt;repository-folder&gt;
uv sync</a:t>
            </a:r>
          </a:p>
          <a:p>
            <a:pPr marL="0" lvl="0" indent="0">
              <a:buNone/>
            </a:pPr>
            <a:r>
              <a:t>New project: </a:t>
            </a:r>
            <a:r>
              <a:rPr>
                <a:latin typeface="Courier"/>
              </a:rPr>
              <a:t>git init</a:t>
            </a:r>
            <a:r>
              <a:t> → </a:t>
            </a:r>
            <a:r>
              <a:rPr>
                <a:latin typeface="Courier"/>
              </a:rPr>
              <a:t>uv init</a:t>
            </a:r>
            <a:r>
              <a:t> → </a:t>
            </a:r>
            <a:r>
              <a:rPr>
                <a:latin typeface="Courier"/>
              </a:rPr>
              <a:t>uv sync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 err="1"/>
              <a:t>REproducibility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Open repository root in VS Code
              ↓
uv sync  →  work  →  uv run scripts/tests
              ↓
git status  →  stage  →  commit  →  push</a:t>
            </a:r>
          </a:p>
          <a:p>
            <a:pPr lvl="0"/>
            <a:r>
              <a:rPr>
                <a:latin typeface="Courier"/>
              </a:rPr>
              <a:t>src/</a:t>
            </a:r>
            <a:r>
              <a:t> for reusable code • </a:t>
            </a:r>
            <a:r>
              <a:rPr>
                <a:latin typeface="Courier"/>
              </a:rPr>
              <a:t>scripts/</a:t>
            </a:r>
            <a:r>
              <a:t> for runnable workflows • </a:t>
            </a:r>
            <a:r>
              <a:rPr>
                <a:latin typeface="Courier"/>
              </a:rPr>
              <a:t>tests/</a:t>
            </a:r>
            <a:r>
              <a:t> for checks</a:t>
            </a:r>
          </a:p>
          <a:p>
            <a:pPr lvl="0"/>
            <a:r>
              <a:t>Keep </a:t>
            </a:r>
            <a:r>
              <a:rPr>
                <a:latin typeface="Courier"/>
              </a:rPr>
              <a:t>README.md</a:t>
            </a:r>
            <a:r>
              <a:t> current: goal, setup, run command, file 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Before </a:t>
            </a:r>
            <a:r>
              <a:rPr lang="en-US" dirty="0"/>
              <a:t>submitting labs</a:t>
            </a:r>
            <a:r>
              <a:rPr lang="en-US"/>
              <a:t>/projects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buAutoNum type="arabicPeriod"/>
            </a:pPr>
            <a:r>
              <a:t>Opened the repository root</a:t>
            </a:r>
          </a:p>
          <a:p>
            <a:pPr marL="457200" lvl="0" indent="-457200">
              <a:buAutoNum type="arabicPeriod"/>
            </a:pPr>
            <a:r>
              <a:rPr>
                <a:latin typeface="Courier"/>
              </a:rPr>
              <a:t>uv sync</a:t>
            </a:r>
            <a:r>
              <a:t> completed; interpreter/kernel is correct</a:t>
            </a:r>
          </a:p>
          <a:p>
            <a:pPr marL="457200" lvl="0" indent="-457200">
              <a:buAutoNum type="arabicPeriod"/>
            </a:pPr>
            <a:r>
              <a:t>Work runs with </a:t>
            </a:r>
            <a:r>
              <a:rPr>
                <a:latin typeface="Courier"/>
              </a:rPr>
              <a:t>uv run ...</a:t>
            </a:r>
          </a:p>
          <a:p>
            <a:pPr marL="457200" lvl="0" indent="-457200">
              <a:buAutoNum type="arabicPeriod"/>
            </a:pPr>
            <a:r>
              <a:rPr>
                <a:latin typeface="Courier"/>
              </a:rPr>
              <a:t>git status</a:t>
            </a:r>
            <a:r>
              <a:t> shows only intended files</a:t>
            </a:r>
          </a:p>
          <a:p>
            <a:pPr marL="457200" lvl="0" indent="-457200">
              <a:buAutoNum type="arabicPeriod"/>
            </a:pPr>
            <a:r>
              <a:t>Meaningful commit created and </a:t>
            </a:r>
            <a:r>
              <a:rPr>
                <a:latin typeface="Courier"/>
              </a:rPr>
              <a:t>git push</a:t>
            </a:r>
            <a:r>
              <a:t> succeeded</a:t>
            </a:r>
          </a:p>
          <a:p>
            <a:pPr marL="0" lvl="0" indent="0">
              <a:buNone/>
            </a:pPr>
            <a:r>
              <a:t>When stuck, share your OS, exact command, full error, tool versions, and </a:t>
            </a:r>
            <a:r>
              <a:rPr>
                <a:latin typeface="Courier"/>
              </a:rPr>
              <a:t>git status</a:t>
            </a:r>
            <a: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525</Words>
  <Application>Microsoft Office PowerPoint</Application>
  <PresentationFormat>Widescreen</PresentationFormat>
  <Paragraphs>48</Paragraphs>
  <Slides>11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Calisto MT</vt:lpstr>
      <vt:lpstr>Courier</vt:lpstr>
      <vt:lpstr>Univers Condensed</vt:lpstr>
      <vt:lpstr>ChronicleVTI</vt:lpstr>
      <vt:lpstr>Course ToolS</vt:lpstr>
      <vt:lpstr>VS Code: install and open the project</vt:lpstr>
      <vt:lpstr>VS Code: make the environment agree</vt:lpstr>
      <vt:lpstr>Git: install and configure once</vt:lpstr>
      <vt:lpstr>Git: the everyday workflow</vt:lpstr>
      <vt:lpstr>Git: protect a clean history</vt:lpstr>
      <vt:lpstr>uv: install</vt:lpstr>
      <vt:lpstr>uv: let the project define the environment</vt:lpstr>
      <vt:lpstr>uv: the normal session</vt:lpstr>
      <vt:lpstr>REproducibility</vt:lpstr>
      <vt:lpstr>Before submitting labs/projects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498</TotalTime>
  <Words>1673</Words>
  <Application>Microsoft Office PowerPoint</Application>
  <PresentationFormat>Widescreen</PresentationFormat>
  <Paragraphs>259</Paragraphs>
  <Slides>38</Slides>
  <Notes>13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Aptos</vt:lpstr>
      <vt:lpstr>Arial</vt:lpstr>
      <vt:lpstr>Calisto MT</vt:lpstr>
      <vt:lpstr>Cambria Math</vt:lpstr>
      <vt:lpstr>Graphik</vt:lpstr>
      <vt:lpstr>Univers Condensed</vt:lpstr>
      <vt:lpstr>ChronicleVTI</vt:lpstr>
      <vt:lpstr>Intro to Machine Learning</vt:lpstr>
      <vt:lpstr>What is Machine Learning?</vt:lpstr>
      <vt:lpstr>What is Machine Learning?</vt:lpstr>
      <vt:lpstr>Machine learning tasks</vt:lpstr>
      <vt:lpstr>Wait, I’ve also heard about statistical learning…</vt:lpstr>
      <vt:lpstr>Success of Machine Learning</vt:lpstr>
      <vt:lpstr>Success of Machine Learning</vt:lpstr>
      <vt:lpstr>Success of Machine Learning</vt:lpstr>
      <vt:lpstr>Success of Machine Learning</vt:lpstr>
      <vt:lpstr>Success of Machine Learning</vt:lpstr>
      <vt:lpstr>Success of Machine Learning</vt:lpstr>
      <vt:lpstr>Other Machine Learning Applications</vt:lpstr>
      <vt:lpstr>Success of Machine Learning</vt:lpstr>
      <vt:lpstr>Success of Machine Learning</vt:lpstr>
      <vt:lpstr>Categories of ml</vt:lpstr>
      <vt:lpstr>Machine Learning Vocabulary</vt:lpstr>
      <vt:lpstr>Some notation</vt:lpstr>
      <vt:lpstr>Why estimate f?</vt:lpstr>
      <vt:lpstr>Goals of Supervised ML</vt:lpstr>
      <vt:lpstr>Supervised learning</vt:lpstr>
      <vt:lpstr>Regression</vt:lpstr>
      <vt:lpstr>Classification</vt:lpstr>
      <vt:lpstr>Unsupervised Learning</vt:lpstr>
      <vt:lpstr>Challenges in Machine Learning</vt:lpstr>
      <vt:lpstr>Artificial intelligence vs. machine learning</vt:lpstr>
      <vt:lpstr>Instance-based vs Model-based</vt:lpstr>
      <vt:lpstr>Instance-based vs Model-based</vt:lpstr>
      <vt:lpstr>Some terms</vt:lpstr>
      <vt:lpstr>Interpretability vs Flexibility </vt:lpstr>
      <vt:lpstr>Example:  simple linear regression</vt:lpstr>
      <vt:lpstr>Example:  simple linear regression</vt:lpstr>
      <vt:lpstr>General model-based training framework</vt:lpstr>
      <vt:lpstr>Challenges in ml</vt:lpstr>
      <vt:lpstr>Main Challenge of Machine Learning </vt:lpstr>
      <vt:lpstr>Main Challenge of Machine Learning </vt:lpstr>
      <vt:lpstr>The importance of data</vt:lpstr>
      <vt:lpstr>Things to ask of your data</vt:lpstr>
      <vt:lpstr>Potential biases in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Tools Review</dc:title>
  <dc:creator>STAT 486</dc:creator>
  <cp:keywords/>
  <cp:lastModifiedBy>Jake Rhodes</cp:lastModifiedBy>
  <cp:revision>4</cp:revision>
  <dcterms:created xsi:type="dcterms:W3CDTF">2026-08-24T12:41:48Z</dcterms:created>
  <dcterms:modified xsi:type="dcterms:W3CDTF">2026-08-26T12:26:59Z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Fall 2026</vt:lpwstr>
  </property>
  <property fmtid="{D5CDD505-2E9C-101B-9397-08002B2CF9AE}" pid="3" name="subtitle">
    <vt:lpwstr>VS Code → Git → uv</vt:lpwstr>
  </property>
</Properties>
</file>